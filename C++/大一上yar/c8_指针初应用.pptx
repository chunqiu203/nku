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721" autoAdjust="0"/>
  </p:normalViewPr>
  <p:slideViewPr>
    <p:cSldViewPr>
      <p:cViewPr varScale="1">
        <p:scale>
          <a:sx n="100" d="100"/>
          <a:sy n="100" d="100"/>
        </p:scale>
        <p:origin x="43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17691-73CF-4467-B6B6-AAE4F44C1DDE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E3E28-534E-4D44-ACB9-1D3084CF55B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E3E28-534E-4D44-ACB9-1D3084CF55B8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画图讲解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5206D-904B-4230-84F4-E1C0F70D07E4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2023/11/8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2800" b="1" dirty="0">
                <a:latin typeface="+mj-ea"/>
                <a:ea typeface="+mj-ea"/>
              </a:rPr>
              <a:t>初识指针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14290"/>
            <a:ext cx="8286808" cy="607223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数组回顾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一组指定类型的变量构成数组，数组的每一个元素等价于一个同类型变量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占据存储空间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数组名</a:t>
            </a:r>
            <a:r>
              <a:rPr lang="en-US" altLang="zh-CN" sz="2400" b="1" dirty="0">
                <a:latin typeface="+mj-ea"/>
                <a:ea typeface="+mj-ea"/>
              </a:rPr>
              <a:t>[</a:t>
            </a:r>
            <a:r>
              <a:rPr lang="zh-CN" altLang="en-US" sz="2400" b="1" dirty="0">
                <a:latin typeface="+mj-ea"/>
                <a:ea typeface="+mj-ea"/>
              </a:rPr>
              <a:t>下标</a:t>
            </a:r>
            <a:r>
              <a:rPr lang="en-US" altLang="zh-CN" sz="2400" b="1" dirty="0">
                <a:latin typeface="+mj-ea"/>
                <a:ea typeface="+mj-ea"/>
              </a:rPr>
              <a:t>]</a:t>
            </a:r>
            <a:r>
              <a:rPr lang="zh-CN" altLang="en-US" sz="2400" b="1" dirty="0">
                <a:latin typeface="+mj-ea"/>
                <a:ea typeface="+mj-ea"/>
              </a:rPr>
              <a:t>构成变量名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数组名等价于数组第一个元素的首地址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】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整型数组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 a[10];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数组名是</a:t>
            </a:r>
            <a:r>
              <a:rPr lang="en-US" altLang="zh-CN" sz="2400" b="1" dirty="0">
                <a:latin typeface="+mj-ea"/>
                <a:ea typeface="+mj-ea"/>
              </a:rPr>
              <a:t>a</a:t>
            </a:r>
            <a:r>
              <a:rPr lang="zh-CN" altLang="en-US" sz="2400" b="1" dirty="0">
                <a:latin typeface="+mj-ea"/>
                <a:ea typeface="+mj-ea"/>
              </a:rPr>
              <a:t>，表示数组第一个元素</a:t>
            </a:r>
            <a:r>
              <a:rPr lang="en-US" altLang="zh-CN" sz="2400" b="1" dirty="0">
                <a:latin typeface="+mj-ea"/>
                <a:ea typeface="+mj-ea"/>
              </a:rPr>
              <a:t>a[0]</a:t>
            </a:r>
            <a:r>
              <a:rPr lang="zh-CN" altLang="en-US" sz="2400" b="1" dirty="0">
                <a:latin typeface="+mj-ea"/>
                <a:ea typeface="+mj-ea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首地址</a:t>
            </a:r>
            <a:r>
              <a:rPr lang="zh-CN" altLang="en-US" sz="2400" b="1" dirty="0">
                <a:latin typeface="+mj-ea"/>
                <a:ea typeface="+mj-ea"/>
              </a:rPr>
              <a:t>，从该地址开始数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个字节存储整型数组元素</a:t>
            </a:r>
            <a:r>
              <a:rPr lang="en-US" altLang="zh-CN" sz="2400" b="1" dirty="0">
                <a:latin typeface="+mj-ea"/>
                <a:ea typeface="+mj-ea"/>
              </a:rPr>
              <a:t>a[0]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数组其它元素分别用</a:t>
            </a:r>
            <a:r>
              <a:rPr lang="en-US" altLang="zh-CN" sz="2400" b="1" dirty="0">
                <a:latin typeface="+mj-ea"/>
                <a:ea typeface="+mj-ea"/>
              </a:rPr>
              <a:t>a[1]…a[9]</a:t>
            </a:r>
            <a:r>
              <a:rPr lang="zh-CN" altLang="en-US" sz="2400" b="1" dirty="0">
                <a:latin typeface="+mj-ea"/>
                <a:ea typeface="+mj-ea"/>
              </a:rPr>
              <a:t>表示和访问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357166"/>
            <a:ext cx="8429684" cy="621510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从地址的角度理解数组元素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数组元素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a[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]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的首地址为：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数组第一个元素首地址 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+ </a:t>
            </a:r>
            <a:r>
              <a:rPr lang="zh-CN" altLang="en-US" sz="2400" b="1" dirty="0">
                <a:latin typeface="+mj-ea"/>
                <a:ea typeface="+mj-ea"/>
              </a:rPr>
              <a:t>下标</a:t>
            </a:r>
            <a:r>
              <a:rPr lang="en-US" altLang="zh-CN" sz="2400" b="1" dirty="0" err="1"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r>
              <a:rPr lang="zh-CN" altLang="en-US" sz="2400" b="1" dirty="0">
                <a:latin typeface="+mj-ea"/>
                <a:ea typeface="+mj-ea"/>
              </a:rPr>
              <a:t>数据类型所占字节数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设数组</a:t>
            </a:r>
            <a:r>
              <a:rPr lang="en-US" altLang="zh-CN" sz="2400" b="1" dirty="0">
                <a:latin typeface="+mj-ea"/>
                <a:ea typeface="+mj-ea"/>
              </a:rPr>
              <a:t>a</a:t>
            </a:r>
            <a:r>
              <a:rPr lang="zh-CN" altLang="en-US" sz="2400" b="1" dirty="0">
                <a:latin typeface="+mj-ea"/>
                <a:ea typeface="+mj-ea"/>
              </a:rPr>
              <a:t>的首地址为</a:t>
            </a:r>
            <a:r>
              <a:rPr lang="en-US" altLang="zh-CN" sz="2400" b="1" dirty="0">
                <a:latin typeface="+mj-ea"/>
                <a:ea typeface="+mj-ea"/>
              </a:rPr>
              <a:t>1000</a:t>
            </a:r>
            <a:r>
              <a:rPr lang="zh-CN" altLang="en-US" sz="2400" b="1" dirty="0">
                <a:latin typeface="+mj-ea"/>
                <a:ea typeface="+mj-ea"/>
              </a:rPr>
              <a:t>，数组元素</a:t>
            </a:r>
            <a:r>
              <a:rPr lang="en-US" altLang="zh-CN" sz="2400" b="1" dirty="0">
                <a:latin typeface="+mj-ea"/>
                <a:ea typeface="+mj-ea"/>
              </a:rPr>
              <a:t>a[2]</a:t>
            </a:r>
            <a:r>
              <a:rPr lang="zh-CN" altLang="en-US" sz="2400" b="1" dirty="0">
                <a:latin typeface="+mj-ea"/>
                <a:ea typeface="+mj-ea"/>
              </a:rPr>
              <a:t>的首地址为：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1000+2*4=1008</a:t>
            </a: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从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1008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到地址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100B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这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个字节存储整数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a[2]</a:t>
            </a: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可以使用地址访问数组元素，亦可使用地址访问普通变量，这个地址由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指针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表示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85728"/>
            <a:ext cx="8715436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什么是指针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指针是一种导出数据类型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基本类型的指针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数组类型的指针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指针类型的指针（多重指针）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函数的指针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类类型的指针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指针指向内存地址（指针表示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地址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可以提取所指内存地址的值，这是指针的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操作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地址由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取地址</a:t>
            </a:r>
            <a:r>
              <a:rPr lang="zh-CN" altLang="en-US" sz="2400" b="1" dirty="0">
                <a:latin typeface="+mj-ea"/>
                <a:ea typeface="+mj-ea"/>
              </a:rPr>
              <a:t>运算表达式（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&amp;&lt;</a:t>
            </a:r>
            <a:r>
              <a:rPr lang="zh-CN" altLang="en-US" sz="2400" b="1" dirty="0">
                <a:solidFill>
                  <a:schemeClr val="tx2"/>
                </a:solidFill>
                <a:latin typeface="+mj-ea"/>
                <a:ea typeface="+mj-ea"/>
              </a:rPr>
              <a:t>变量名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&gt;</a:t>
            </a:r>
            <a:r>
              <a:rPr lang="zh-CN" altLang="en-US" sz="2400" b="1" dirty="0">
                <a:latin typeface="+mj-ea"/>
                <a:ea typeface="+mj-ea"/>
              </a:rPr>
              <a:t>）、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数组名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指针变量名</a:t>
            </a:r>
            <a:r>
              <a:rPr lang="zh-CN" altLang="en-US" sz="2400" b="1" dirty="0">
                <a:latin typeface="+mj-ea"/>
                <a:ea typeface="+mj-ea"/>
              </a:rPr>
              <a:t>描述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428604"/>
            <a:ext cx="7239000" cy="484632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指针的引入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grpSp>
        <p:nvGrpSpPr>
          <p:cNvPr id="13" name="组合 12"/>
          <p:cNvGrpSpPr/>
          <p:nvPr/>
        </p:nvGrpSpPr>
        <p:grpSpPr>
          <a:xfrm>
            <a:off x="1214414" y="1285860"/>
            <a:ext cx="6014435" cy="4071966"/>
            <a:chOff x="1404000" y="2071678"/>
            <a:chExt cx="6014435" cy="4071966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04000" y="2071678"/>
              <a:ext cx="631857" cy="4071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44983" y="3054977"/>
              <a:ext cx="741067" cy="26600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786050" y="2071678"/>
              <a:ext cx="1193507" cy="4071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929058" y="2071678"/>
              <a:ext cx="2074987" cy="4071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786578" y="2071678"/>
              <a:ext cx="631857" cy="4071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80" name="Picture 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037711" y="2786058"/>
              <a:ext cx="748867" cy="31670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85728"/>
            <a:ext cx="8572560" cy="571504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指针的引入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对数据的间接访问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利用地址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说明动态数组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可将动态数组的大小设置为变量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800" b="1" dirty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函数返回值</a:t>
            </a:r>
            <a:endParaRPr lang="en-US" altLang="zh-CN" sz="2800" b="1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希望函数的返回值为数组，而不允许使用数组作为返回值类型，可以采用指针作为函数返回值，实现返回数组的功能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42918"/>
            <a:ext cx="8153400" cy="1347782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6.1】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实现对一组整型数由小到大排序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42910" y="1316070"/>
            <a:ext cx="792961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sort(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a[],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=0;i&lt;n-1;i++)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j=n-1;j&gt;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i;j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(a[j]&lt;a[j-1])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swap(a[j],a[j-1]);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00042"/>
            <a:ext cx="8153400" cy="1347782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6.1】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实现对一组整型数由小到大排序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928662" y="1643050"/>
            <a:ext cx="7143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swap(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&amp;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&amp;y)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temp = x;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x = y;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y = temp;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28604"/>
            <a:ext cx="8153400" cy="1347782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6.1】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使用指针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642910" y="1357298"/>
            <a:ext cx="828680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sort(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n)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=0;i&lt;n-1;i++)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j=n-1;j&gt;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i;j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(*(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a+j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)&lt;*(a+j-1))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swap((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a+j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),(a+j-1));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285728"/>
            <a:ext cx="8153400" cy="1347782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6.1】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使用指针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714348" y="1000108"/>
            <a:ext cx="7143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swap(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*y)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temp = *x;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*x = *y;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*y = temp;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8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142852"/>
            <a:ext cx="8153400" cy="1347782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6.1】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两种写法的区别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428596" y="714356"/>
            <a:ext cx="84296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sort(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a[]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=0;i&lt;n-1;i++)	{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j=n-1;j&gt;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i;j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--)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a[j]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a[j-1]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swap(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a[j]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a[j-1]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0034" y="3537426"/>
            <a:ext cx="821537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sort(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n){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=0;i&lt;n-1;i++)	{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j=n-1;j&gt;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i;j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--)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*(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a+j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*(a+j-1)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swap(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a+j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(a+j-1)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14290"/>
            <a:ext cx="8153400" cy="1347782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6.1】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两种写法的区别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2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928662" y="1000108"/>
            <a:ext cx="71438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swap(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altLang="zh-CN" sz="2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&amp;y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temp = x;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x = y;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y = temp;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7224" y="3071810"/>
            <a:ext cx="71438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swap(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altLang="zh-CN" sz="28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temp =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*x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*y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temp;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142" y="161662"/>
            <a:ext cx="8535322" cy="5643602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latin typeface="+mj-ea"/>
                <a:ea typeface="+mj-ea"/>
              </a:rPr>
              <a:t>指针类型说明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数据类型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 * &lt;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指针变量名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&gt;;</a:t>
            </a: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数据类型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基本数据类型及其派生类型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类类型、结构类型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指针变量名</a:t>
            </a:r>
            <a:endParaRPr lang="en-US" altLang="zh-CN" sz="28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指针的名称为标识符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指针变量值内存中的地址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*&lt;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指针变量名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&gt;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代表指针所指内存地址存放的值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13</a:t>
            </a:fld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378256"/>
            <a:ext cx="8246720" cy="571504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指针与数组的关系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指针与数组首地址建立联系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a[20];</a:t>
            </a:r>
          </a:p>
          <a:p>
            <a:pPr lvl="1">
              <a:lnSpc>
                <a:spcPct val="130000"/>
              </a:lnSpc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*pa=a;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将数组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a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的首地址（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a[0]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的地址）赋值给指针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pa</a:t>
            </a: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利用指针访问数组元素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=0;i&lt;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n;i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//n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为指针所表示数组的大小</a:t>
            </a:r>
            <a:endParaRPr lang="en-US" altLang="zh-CN" sz="2400" b="1" dirty="0">
              <a:solidFill>
                <a:srgbClr val="007434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&lt;&lt;*(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pa+i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可以利用指针设置动态数组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最有代表性的就是表示字符串的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字符数组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14</a:t>
            </a:fld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357166"/>
            <a:ext cx="7239000" cy="571504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b="1" dirty="0">
                <a:latin typeface="+mj-ea"/>
                <a:ea typeface="+mj-ea"/>
              </a:rPr>
              <a:t>代码分析</a:t>
            </a: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40000"/>
              </a:lnSpc>
            </a:pP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40000"/>
              </a:lnSpc>
            </a:pPr>
            <a:endParaRPr lang="en-US" altLang="zh-CN" sz="2800" b="1" dirty="0">
              <a:latin typeface="+mj-ea"/>
              <a:ea typeface="+mj-ea"/>
            </a:endParaRPr>
          </a:p>
          <a:p>
            <a:pPr>
              <a:lnSpc>
                <a:spcPct val="140000"/>
              </a:lnSpc>
            </a:pP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x,y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是指针类型，都表示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地址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将地址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x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存储的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值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赋给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temp</a:t>
            </a:r>
          </a:p>
          <a:p>
            <a:pPr lvl="1">
              <a:lnSpc>
                <a:spcPct val="14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交换地址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x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和地址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y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上存储的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值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将地址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y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上存储的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值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设置为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temp</a:t>
            </a:r>
            <a:endParaRPr lang="zh-CN" altLang="en-US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500034" y="1000108"/>
            <a:ext cx="650085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swap(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altLang="zh-CN" sz="2800" b="1" dirty="0" err="1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en-US" altLang="zh-CN" sz="28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*y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temp = </a:t>
            </a:r>
            <a:r>
              <a:rPr lang="en-US" altLang="zh-CN" sz="28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*x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*x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zh-CN" sz="28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*y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800" b="1" dirty="0">
                <a:solidFill>
                  <a:srgbClr val="007434"/>
                </a:solidFill>
                <a:latin typeface="Courier New" pitchFamily="49" charset="0"/>
                <a:cs typeface="Courier New" pitchFamily="49" charset="0"/>
              </a:rPr>
              <a:t>*y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temp;</a:t>
            </a:r>
          </a:p>
          <a:p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sz="2800" b="1" dirty="0">
                <a:latin typeface="+mj-ea"/>
                <a:ea typeface="+mj-ea"/>
              </a:rPr>
              <a:t>指针类型</a:t>
            </a:r>
            <a:endParaRPr lang="zh-CN" altLang="en-US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1060671" y="1071546"/>
            <a:ext cx="7297543" cy="3786198"/>
            <a:chOff x="1060671" y="1071546"/>
            <a:chExt cx="7297543" cy="3786198"/>
          </a:xfrm>
        </p:grpSpPr>
        <p:sp>
          <p:nvSpPr>
            <p:cNvPr id="51203" name="AutoShape 3"/>
            <p:cNvSpPr>
              <a:spLocks noChangeArrowheads="1"/>
            </p:cNvSpPr>
            <p:nvPr/>
          </p:nvSpPr>
          <p:spPr bwMode="gray">
            <a:xfrm rot="39573186">
              <a:off x="4777581" y="1753388"/>
              <a:ext cx="792163" cy="288925"/>
            </a:xfrm>
            <a:prstGeom prst="rightArrow">
              <a:avLst>
                <a:gd name="adj1" fmla="val 35167"/>
                <a:gd name="adj2" fmla="val 111029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4" name="AutoShape 4"/>
            <p:cNvSpPr>
              <a:spLocks noChangeArrowheads="1"/>
            </p:cNvSpPr>
            <p:nvPr/>
          </p:nvSpPr>
          <p:spPr bwMode="gray">
            <a:xfrm rot="3465783">
              <a:off x="4777582" y="3917150"/>
              <a:ext cx="792162" cy="288925"/>
            </a:xfrm>
            <a:prstGeom prst="rightArrow">
              <a:avLst>
                <a:gd name="adj1" fmla="val 35167"/>
                <a:gd name="adj2" fmla="val 111028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5" name="AutoShape 5"/>
            <p:cNvSpPr>
              <a:spLocks noChangeArrowheads="1"/>
            </p:cNvSpPr>
            <p:nvPr/>
          </p:nvSpPr>
          <p:spPr bwMode="gray">
            <a:xfrm rot="35969022">
              <a:off x="3558381" y="1829588"/>
              <a:ext cx="792163" cy="288925"/>
            </a:xfrm>
            <a:prstGeom prst="rightArrow">
              <a:avLst>
                <a:gd name="adj1" fmla="val 35167"/>
                <a:gd name="adj2" fmla="val 111029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6" name="AutoShape 6"/>
            <p:cNvSpPr>
              <a:spLocks noChangeArrowheads="1"/>
            </p:cNvSpPr>
            <p:nvPr/>
          </p:nvSpPr>
          <p:spPr bwMode="gray">
            <a:xfrm rot="7535209">
              <a:off x="3520281" y="3883813"/>
              <a:ext cx="792163" cy="288925"/>
            </a:xfrm>
            <a:prstGeom prst="rightArrow">
              <a:avLst>
                <a:gd name="adj1" fmla="val 35167"/>
                <a:gd name="adj2" fmla="val 111029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7" name="AutoShape 7"/>
            <p:cNvSpPr>
              <a:spLocks noChangeArrowheads="1"/>
            </p:cNvSpPr>
            <p:nvPr/>
          </p:nvSpPr>
          <p:spPr bwMode="gray">
            <a:xfrm>
              <a:off x="5356225" y="2881307"/>
              <a:ext cx="792163" cy="288925"/>
            </a:xfrm>
            <a:prstGeom prst="rightArrow">
              <a:avLst>
                <a:gd name="adj1" fmla="val 35167"/>
                <a:gd name="adj2" fmla="val 111029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8" name="AutoShape 8"/>
            <p:cNvSpPr>
              <a:spLocks noChangeArrowheads="1"/>
            </p:cNvSpPr>
            <p:nvPr/>
          </p:nvSpPr>
          <p:spPr bwMode="gray">
            <a:xfrm rot="-10800000">
              <a:off x="2946400" y="2874957"/>
              <a:ext cx="863600" cy="288925"/>
            </a:xfrm>
            <a:prstGeom prst="rightArrow">
              <a:avLst>
                <a:gd name="adj1" fmla="val 35167"/>
                <a:gd name="adj2" fmla="val 121041"/>
              </a:avLst>
            </a:prstGeom>
            <a:gradFill rotWithShape="1">
              <a:gsLst>
                <a:gs pos="0">
                  <a:schemeClr val="tx2">
                    <a:gamma/>
                    <a:shade val="89020"/>
                    <a:invGamma/>
                    <a:alpha val="0"/>
                  </a:schemeClr>
                </a:gs>
                <a:gs pos="100000">
                  <a:schemeClr val="tx2"/>
                </a:gs>
              </a:gsLst>
              <a:lin ang="0" scaled="1"/>
            </a:gradFill>
            <a:ln w="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09" name="Oval 9"/>
            <p:cNvSpPr>
              <a:spLocks noChangeArrowheads="1"/>
            </p:cNvSpPr>
            <p:nvPr/>
          </p:nvSpPr>
          <p:spPr bwMode="gray">
            <a:xfrm>
              <a:off x="2692400" y="1112832"/>
              <a:ext cx="3743325" cy="3744912"/>
            </a:xfrm>
            <a:prstGeom prst="ellipse">
              <a:avLst/>
            </a:prstGeom>
            <a:noFill/>
            <a:ln w="38100" algn="ctr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" name="Group 10"/>
            <p:cNvGrpSpPr>
              <a:grpSpLocks/>
            </p:cNvGrpSpPr>
            <p:nvPr/>
          </p:nvGrpSpPr>
          <p:grpSpPr bwMode="auto">
            <a:xfrm>
              <a:off x="3429000" y="1171569"/>
              <a:ext cx="360363" cy="360363"/>
              <a:chOff x="1973" y="1706"/>
              <a:chExt cx="227" cy="227"/>
            </a:xfrm>
          </p:grpSpPr>
          <p:sp>
            <p:nvSpPr>
              <p:cNvPr id="51211" name="Oval 11"/>
              <p:cNvSpPr>
                <a:spLocks noChangeArrowheads="1"/>
              </p:cNvSpPr>
              <p:nvPr/>
            </p:nvSpPr>
            <p:spPr bwMode="gray">
              <a:xfrm>
                <a:off x="1973" y="1706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2" name="Oval 12"/>
              <p:cNvSpPr>
                <a:spLocks noChangeArrowheads="1"/>
              </p:cNvSpPr>
              <p:nvPr/>
            </p:nvSpPr>
            <p:spPr bwMode="gray">
              <a:xfrm>
                <a:off x="1983" y="1725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2484438" y="2827332"/>
              <a:ext cx="360362" cy="360362"/>
              <a:chOff x="1565" y="2659"/>
              <a:chExt cx="227" cy="227"/>
            </a:xfrm>
          </p:grpSpPr>
          <p:sp>
            <p:nvSpPr>
              <p:cNvPr id="51214" name="Oval 14"/>
              <p:cNvSpPr>
                <a:spLocks noChangeArrowheads="1"/>
              </p:cNvSpPr>
              <p:nvPr/>
            </p:nvSpPr>
            <p:spPr bwMode="gray">
              <a:xfrm>
                <a:off x="1565" y="2659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5" name="Oval 15"/>
              <p:cNvSpPr>
                <a:spLocks noChangeArrowheads="1"/>
              </p:cNvSpPr>
              <p:nvPr/>
            </p:nvSpPr>
            <p:spPr bwMode="gray">
              <a:xfrm>
                <a:off x="1575" y="2678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3348038" y="4370382"/>
              <a:ext cx="360362" cy="360362"/>
              <a:chOff x="2109" y="3612"/>
              <a:chExt cx="227" cy="227"/>
            </a:xfrm>
          </p:grpSpPr>
          <p:sp>
            <p:nvSpPr>
              <p:cNvPr id="51217" name="Oval 17"/>
              <p:cNvSpPr>
                <a:spLocks noChangeArrowheads="1"/>
              </p:cNvSpPr>
              <p:nvPr/>
            </p:nvSpPr>
            <p:spPr bwMode="gray">
              <a:xfrm>
                <a:off x="2109" y="3612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18" name="Oval 18"/>
              <p:cNvSpPr>
                <a:spLocks noChangeArrowheads="1"/>
              </p:cNvSpPr>
              <p:nvPr/>
            </p:nvSpPr>
            <p:spPr bwMode="gray">
              <a:xfrm>
                <a:off x="2119" y="3631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5278438" y="1150932"/>
              <a:ext cx="360362" cy="360362"/>
              <a:chOff x="3470" y="1706"/>
              <a:chExt cx="227" cy="227"/>
            </a:xfrm>
          </p:grpSpPr>
          <p:sp>
            <p:nvSpPr>
              <p:cNvPr id="51220" name="Oval 20"/>
              <p:cNvSpPr>
                <a:spLocks noChangeArrowheads="1"/>
              </p:cNvSpPr>
              <p:nvPr/>
            </p:nvSpPr>
            <p:spPr bwMode="gray">
              <a:xfrm>
                <a:off x="3470" y="1706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21" name="Oval 21"/>
              <p:cNvSpPr>
                <a:spLocks noChangeArrowheads="1"/>
              </p:cNvSpPr>
              <p:nvPr/>
            </p:nvSpPr>
            <p:spPr bwMode="gray">
              <a:xfrm>
                <a:off x="3480" y="1725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6227763" y="2827332"/>
              <a:ext cx="360362" cy="360362"/>
              <a:chOff x="3923" y="2659"/>
              <a:chExt cx="227" cy="227"/>
            </a:xfrm>
          </p:grpSpPr>
          <p:sp>
            <p:nvSpPr>
              <p:cNvPr id="51223" name="Oval 23"/>
              <p:cNvSpPr>
                <a:spLocks noChangeArrowheads="1"/>
              </p:cNvSpPr>
              <p:nvPr/>
            </p:nvSpPr>
            <p:spPr bwMode="gray">
              <a:xfrm>
                <a:off x="3923" y="2659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24" name="Oval 24"/>
              <p:cNvSpPr>
                <a:spLocks noChangeArrowheads="1"/>
              </p:cNvSpPr>
              <p:nvPr/>
            </p:nvSpPr>
            <p:spPr bwMode="gray">
              <a:xfrm>
                <a:off x="3933" y="2678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5334000" y="4427532"/>
              <a:ext cx="360363" cy="360362"/>
              <a:chOff x="3515" y="3521"/>
              <a:chExt cx="227" cy="227"/>
            </a:xfrm>
          </p:grpSpPr>
          <p:sp>
            <p:nvSpPr>
              <p:cNvPr id="51226" name="Oval 26"/>
              <p:cNvSpPr>
                <a:spLocks noChangeArrowheads="1"/>
              </p:cNvSpPr>
              <p:nvPr/>
            </p:nvSpPr>
            <p:spPr bwMode="gray">
              <a:xfrm>
                <a:off x="3515" y="3521"/>
                <a:ext cx="227" cy="22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/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227" name="Oval 27"/>
              <p:cNvSpPr>
                <a:spLocks noChangeArrowheads="1"/>
              </p:cNvSpPr>
              <p:nvPr/>
            </p:nvSpPr>
            <p:spPr bwMode="gray">
              <a:xfrm>
                <a:off x="3525" y="3540"/>
                <a:ext cx="141" cy="14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33725"/>
                      <a:invGamma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1228" name="Oval 28"/>
            <p:cNvSpPr>
              <a:spLocks noChangeArrowheads="1"/>
            </p:cNvSpPr>
            <p:nvPr/>
          </p:nvSpPr>
          <p:spPr bwMode="gray">
            <a:xfrm>
              <a:off x="3624263" y="2065332"/>
              <a:ext cx="1944687" cy="1944687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29" name="Oval 29"/>
            <p:cNvSpPr>
              <a:spLocks noChangeArrowheads="1"/>
            </p:cNvSpPr>
            <p:nvPr/>
          </p:nvSpPr>
          <p:spPr bwMode="gray">
            <a:xfrm>
              <a:off x="3617913" y="2049457"/>
              <a:ext cx="1944687" cy="1944687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alpha val="32001"/>
                  </a:schemeClr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0" name="Oval 30"/>
            <p:cNvSpPr>
              <a:spLocks noChangeArrowheads="1"/>
            </p:cNvSpPr>
            <p:nvPr/>
          </p:nvSpPr>
          <p:spPr bwMode="gray">
            <a:xfrm>
              <a:off x="3751263" y="2192332"/>
              <a:ext cx="1690687" cy="1690687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1" name="Oval 31"/>
            <p:cNvSpPr>
              <a:spLocks noChangeArrowheads="1"/>
            </p:cNvSpPr>
            <p:nvPr/>
          </p:nvSpPr>
          <p:spPr bwMode="gray">
            <a:xfrm>
              <a:off x="3733800" y="2165344"/>
              <a:ext cx="1690688" cy="1690688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63529"/>
                    <a:invGamma/>
                  </a:schemeClr>
                </a:gs>
                <a:gs pos="100000">
                  <a:schemeClr val="hlink">
                    <a:alpha val="0"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2" name="Oval 32"/>
            <p:cNvSpPr>
              <a:spLocks noChangeArrowheads="1"/>
            </p:cNvSpPr>
            <p:nvPr/>
          </p:nvSpPr>
          <p:spPr bwMode="gray">
            <a:xfrm>
              <a:off x="3835400" y="2276469"/>
              <a:ext cx="1522413" cy="1522413"/>
            </a:xfrm>
            <a:prstGeom prst="ellipse">
              <a:avLst/>
            </a:prstGeom>
            <a:solidFill>
              <a:srgbClr val="333333"/>
            </a:soli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233" name="Oval 33"/>
            <p:cNvSpPr>
              <a:spLocks noChangeArrowheads="1"/>
            </p:cNvSpPr>
            <p:nvPr/>
          </p:nvSpPr>
          <p:spPr bwMode="auto">
            <a:xfrm>
              <a:off x="3857625" y="2295519"/>
              <a:ext cx="1471613" cy="147320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46275"/>
                    <a:invGamma/>
                  </a:srgbClr>
                </a:gs>
                <a:gs pos="100000">
                  <a:srgbClr val="D6E1E2"/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1234" name="Oval 34"/>
            <p:cNvSpPr>
              <a:spLocks noChangeArrowheads="1"/>
            </p:cNvSpPr>
            <p:nvPr/>
          </p:nvSpPr>
          <p:spPr bwMode="auto">
            <a:xfrm>
              <a:off x="3875088" y="2305044"/>
              <a:ext cx="1438275" cy="143510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D6E1E2">
                    <a:gamma/>
                    <a:tint val="34902"/>
                    <a:invGamma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1235" name="Oval 35"/>
            <p:cNvSpPr>
              <a:spLocks noChangeArrowheads="1"/>
            </p:cNvSpPr>
            <p:nvPr/>
          </p:nvSpPr>
          <p:spPr bwMode="auto">
            <a:xfrm>
              <a:off x="3890963" y="2319332"/>
              <a:ext cx="1366837" cy="1341437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shade val="79216"/>
                    <a:invGamma/>
                  </a:srgbClr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1236" name="Oval 36"/>
            <p:cNvSpPr>
              <a:spLocks noChangeArrowheads="1"/>
            </p:cNvSpPr>
            <p:nvPr/>
          </p:nvSpPr>
          <p:spPr bwMode="auto">
            <a:xfrm>
              <a:off x="3971925" y="2355844"/>
              <a:ext cx="1214438" cy="109061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gamma/>
                    <a:tint val="0"/>
                    <a:invGamma/>
                  </a:srgbClr>
                </a:gs>
                <a:gs pos="100000">
                  <a:srgbClr val="D6E1E2">
                    <a:alpha val="38000"/>
                  </a:srgbClr>
                </a:gs>
              </a:gsLst>
              <a:lin ang="5400000" scaled="1"/>
            </a:gradFill>
            <a:ln w="9525" algn="ctr">
              <a:noFill/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51237" name="Text Box 37"/>
            <p:cNvSpPr txBox="1">
              <a:spLocks noChangeArrowheads="1"/>
            </p:cNvSpPr>
            <p:nvPr/>
          </p:nvSpPr>
          <p:spPr bwMode="auto">
            <a:xfrm>
              <a:off x="4097817" y="2500306"/>
              <a:ext cx="902811" cy="95410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指针</a:t>
              </a:r>
              <a:endPara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algn="ctr" eaLnBrk="0" hangingPunct="0"/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类型</a:t>
              </a:r>
              <a:endParaRPr lang="en-US" altLang="zh-CN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38" name="Text Box 38"/>
            <p:cNvSpPr txBox="1">
              <a:spLocks noChangeArrowheads="1"/>
            </p:cNvSpPr>
            <p:nvPr/>
          </p:nvSpPr>
          <p:spPr bwMode="auto">
            <a:xfrm>
              <a:off x="5911715" y="1071546"/>
              <a:ext cx="803425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zh-CN" altLang="en-US" sz="2400" b="1" dirty="0">
                  <a:solidFill>
                    <a:srgbClr val="0070C0"/>
                  </a:solidFill>
                  <a:latin typeface="楷体_GB2312" pitchFamily="49" charset="-122"/>
                  <a:ea typeface="楷体_GB2312" pitchFamily="49" charset="-122"/>
                </a:rPr>
                <a:t>赋值</a:t>
              </a:r>
              <a:endParaRPr lang="en-US" altLang="zh-CN" sz="24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39" name="Text Box 39"/>
            <p:cNvSpPr txBox="1">
              <a:spLocks noChangeArrowheads="1"/>
            </p:cNvSpPr>
            <p:nvPr/>
          </p:nvSpPr>
          <p:spPr bwMode="auto">
            <a:xfrm>
              <a:off x="1365927" y="1098544"/>
              <a:ext cx="2031325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zh-CN" altLang="en-US" sz="2400" b="1" dirty="0">
                  <a:solidFill>
                    <a:srgbClr val="0070C0"/>
                  </a:solidFill>
                  <a:latin typeface="楷体_GB2312" pitchFamily="49" charset="-122"/>
                  <a:ea typeface="楷体_GB2312" pitchFamily="49" charset="-122"/>
                </a:rPr>
                <a:t>说明与初始化</a:t>
              </a:r>
              <a:endParaRPr lang="en-US" altLang="zh-CN" sz="24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40" name="Text Box 40"/>
            <p:cNvSpPr txBox="1">
              <a:spLocks noChangeArrowheads="1"/>
            </p:cNvSpPr>
            <p:nvPr/>
          </p:nvSpPr>
          <p:spPr bwMode="auto">
            <a:xfrm>
              <a:off x="6626650" y="2786058"/>
              <a:ext cx="173156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zh-CN" altLang="en-US" sz="2400" b="1" dirty="0">
                  <a:solidFill>
                    <a:srgbClr val="0070C0"/>
                  </a:solidFill>
                  <a:latin typeface="楷体_GB2312" pitchFamily="49" charset="-122"/>
                  <a:ea typeface="楷体_GB2312" pitchFamily="49" charset="-122"/>
                </a:rPr>
                <a:t>指针与常量</a:t>
              </a:r>
              <a:endParaRPr lang="en-US" altLang="zh-CN" sz="24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41" name="Text Box 41"/>
            <p:cNvSpPr txBox="1">
              <a:spLocks noChangeArrowheads="1"/>
            </p:cNvSpPr>
            <p:nvPr/>
          </p:nvSpPr>
          <p:spPr bwMode="auto">
            <a:xfrm>
              <a:off x="5857884" y="4357694"/>
              <a:ext cx="173156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zh-CN" altLang="en-US" sz="2400" b="1" dirty="0">
                  <a:solidFill>
                    <a:srgbClr val="0070C0"/>
                  </a:solidFill>
                  <a:latin typeface="楷体_GB2312" pitchFamily="49" charset="-122"/>
                  <a:ea typeface="楷体_GB2312" pitchFamily="49" charset="-122"/>
                </a:rPr>
                <a:t>指针与函数</a:t>
              </a:r>
              <a:endParaRPr lang="en-US" altLang="zh-CN" sz="24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42" name="Text Box 42"/>
            <p:cNvSpPr txBox="1">
              <a:spLocks noChangeArrowheads="1"/>
            </p:cNvSpPr>
            <p:nvPr/>
          </p:nvSpPr>
          <p:spPr bwMode="auto">
            <a:xfrm>
              <a:off x="1060671" y="2753021"/>
              <a:ext cx="142218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zh-CN" altLang="en-US" sz="2400" b="1" dirty="0">
                  <a:solidFill>
                    <a:srgbClr val="0070C0"/>
                  </a:solidFill>
                  <a:latin typeface="楷体_GB2312" pitchFamily="49" charset="-122"/>
                  <a:ea typeface="楷体_GB2312" pitchFamily="49" charset="-122"/>
                </a:rPr>
                <a:t>主要运算</a:t>
              </a:r>
              <a:endParaRPr lang="en-US" altLang="zh-CN" sz="24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43" name="Text Box 43"/>
            <p:cNvSpPr txBox="1">
              <a:spLocks noChangeArrowheads="1"/>
            </p:cNvSpPr>
            <p:nvPr/>
          </p:nvSpPr>
          <p:spPr bwMode="auto">
            <a:xfrm>
              <a:off x="1500166" y="4324657"/>
              <a:ext cx="1731564" cy="46166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r" eaLnBrk="0" hangingPunct="0"/>
              <a:r>
                <a:rPr lang="zh-CN" altLang="en-US" sz="2400" b="1" dirty="0">
                  <a:solidFill>
                    <a:srgbClr val="0070C0"/>
                  </a:solidFill>
                  <a:latin typeface="楷体_GB2312" pitchFamily="49" charset="-122"/>
                  <a:ea typeface="楷体_GB2312" pitchFamily="49" charset="-122"/>
                </a:rPr>
                <a:t>指针与数组</a:t>
              </a:r>
              <a:endParaRPr lang="en-US" altLang="zh-CN" sz="2400" b="1" dirty="0">
                <a:solidFill>
                  <a:srgbClr val="0070C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44" name="灯片编号占位符 43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88640"/>
            <a:ext cx="8534752" cy="600079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指针变量说明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数据类型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&gt;*&lt;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指针变量名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&gt;[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,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*&lt;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指针变量名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&gt;]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数据类型：基本数据类型、用户定义类型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指针变量名：标识符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表示指针指向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数据类型</a:t>
            </a:r>
            <a:r>
              <a:rPr lang="en-US" altLang="zh-CN" sz="2400" b="1" dirty="0">
                <a:latin typeface="+mj-ea"/>
                <a:ea typeface="+mj-ea"/>
              </a:rPr>
              <a:t>&gt;</a:t>
            </a:r>
            <a:r>
              <a:rPr lang="zh-CN" altLang="en-US" sz="2400" b="1" dirty="0">
                <a:latin typeface="+mj-ea"/>
                <a:ea typeface="+mj-ea"/>
              </a:rPr>
              <a:t>类型变量的首地址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不同数据类型在内存中占空间不同，指向第一个字节所在的地址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指针指向的地址空间大小由数据类型决定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*p;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指针变量名为</a:t>
            </a:r>
            <a:r>
              <a:rPr lang="en-US" altLang="zh-CN" sz="2400" b="1" dirty="0">
                <a:latin typeface="+mj-ea"/>
                <a:ea typeface="+mj-ea"/>
              </a:rPr>
              <a:t>p</a:t>
            </a:r>
            <a:r>
              <a:rPr lang="zh-CN" altLang="en-US" sz="2400" b="1" dirty="0">
                <a:latin typeface="+mj-ea"/>
                <a:ea typeface="+mj-ea"/>
              </a:rPr>
              <a:t>，指向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某</a:t>
            </a:r>
            <a:r>
              <a:rPr lang="zh-CN" altLang="en-US" sz="2400" b="1" dirty="0">
                <a:latin typeface="+mj-ea"/>
                <a:ea typeface="+mj-ea"/>
              </a:rPr>
              <a:t>整型变量的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首地址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未赋初值，属于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悬挂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状态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214290"/>
            <a:ext cx="7239000" cy="607223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指针变量说明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指针变量的值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该指针变量指向的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地址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系统同样为指针变量分配空间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一般为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个字节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指针可以指向的“成分”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变量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常量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函数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类对象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19</a:t>
            </a:fld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28604"/>
            <a:ext cx="8329642" cy="557216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指针变量初始化</a:t>
            </a:r>
            <a:endParaRPr lang="en-US" altLang="zh-CN" sz="32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初始化为内存地址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初始化时，“</a:t>
            </a:r>
            <a:r>
              <a:rPr lang="en-US" altLang="zh-CN" sz="2800" b="1" dirty="0">
                <a:latin typeface="+mj-ea"/>
                <a:ea typeface="+mj-ea"/>
              </a:rPr>
              <a:t>=</a:t>
            </a:r>
            <a:r>
              <a:rPr lang="zh-CN" altLang="en-US" sz="2800" b="1" dirty="0">
                <a:latin typeface="+mj-ea"/>
                <a:ea typeface="+mj-ea"/>
              </a:rPr>
              <a:t>”右边是能够表示地址的值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 = 18;</a:t>
            </a:r>
          </a:p>
          <a:p>
            <a:pPr lvl="2"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*p = &amp;a;</a:t>
            </a: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初始化为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（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NULL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空指针，表示指针不指向任何变量</a:t>
            </a:r>
            <a:endParaRPr lang="en-US" altLang="zh-CN" sz="28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*p=0;</a:t>
            </a:r>
          </a:p>
          <a:p>
            <a:pPr lvl="2"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*p=NULL;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graphicFrame>
        <p:nvGraphicFramePr>
          <p:cNvPr id="6" name="Group 67"/>
          <p:cNvGraphicFramePr>
            <a:graphicFrameLocks noGrp="1"/>
          </p:cNvGraphicFramePr>
          <p:nvPr/>
        </p:nvGraphicFramePr>
        <p:xfrm>
          <a:off x="5076056" y="2671192"/>
          <a:ext cx="1143000" cy="685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65"/>
          <p:cNvGraphicFramePr>
            <a:graphicFrameLocks noGrp="1"/>
          </p:cNvGraphicFramePr>
          <p:nvPr/>
        </p:nvGraphicFramePr>
        <p:xfrm>
          <a:off x="6828656" y="2671192"/>
          <a:ext cx="1143000" cy="685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 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Line 27"/>
          <p:cNvSpPr>
            <a:spLocks noChangeShapeType="1"/>
          </p:cNvSpPr>
          <p:nvPr/>
        </p:nvSpPr>
        <p:spPr bwMode="auto">
          <a:xfrm>
            <a:off x="5838056" y="3052192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Text Box 55"/>
          <p:cNvSpPr txBox="1">
            <a:spLocks noChangeArrowheads="1"/>
          </p:cNvSpPr>
          <p:nvPr/>
        </p:nvSpPr>
        <p:spPr bwMode="auto">
          <a:xfrm>
            <a:off x="7255464" y="2137792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0" dirty="0">
                <a:latin typeface="Times New Roman" pitchFamily="18" charset="0"/>
                <a:ea typeface="宋体" charset="-122"/>
              </a:rPr>
              <a:t>a</a:t>
            </a:r>
          </a:p>
        </p:txBody>
      </p:sp>
      <p:sp>
        <p:nvSpPr>
          <p:cNvPr id="10" name="Text Box 56"/>
          <p:cNvSpPr txBox="1">
            <a:spLocks noChangeArrowheads="1"/>
          </p:cNvSpPr>
          <p:nvPr/>
        </p:nvSpPr>
        <p:spPr bwMode="auto">
          <a:xfrm>
            <a:off x="5433246" y="213779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0" dirty="0">
                <a:latin typeface="Times New Roman" pitchFamily="18" charset="0"/>
                <a:ea typeface="宋体" charset="-122"/>
              </a:rPr>
              <a:t>p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19173" y="2814073"/>
            <a:ext cx="368300" cy="439738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  <p:graphicFrame>
        <p:nvGraphicFramePr>
          <p:cNvPr id="12" name="Group 67"/>
          <p:cNvGraphicFramePr>
            <a:graphicFrameLocks noGrp="1"/>
          </p:cNvGraphicFramePr>
          <p:nvPr/>
        </p:nvGraphicFramePr>
        <p:xfrm>
          <a:off x="5214942" y="4831432"/>
          <a:ext cx="1143000" cy="685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Line 27"/>
          <p:cNvSpPr>
            <a:spLocks noChangeShapeType="1"/>
          </p:cNvSpPr>
          <p:nvPr/>
        </p:nvSpPr>
        <p:spPr bwMode="auto">
          <a:xfrm>
            <a:off x="5976942" y="5212432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Text Box 56"/>
          <p:cNvSpPr txBox="1">
            <a:spLocks noChangeArrowheads="1"/>
          </p:cNvSpPr>
          <p:nvPr/>
        </p:nvSpPr>
        <p:spPr bwMode="auto">
          <a:xfrm>
            <a:off x="5572132" y="429803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0" dirty="0">
                <a:latin typeface="Times New Roman" pitchFamily="18" charset="0"/>
                <a:ea typeface="宋体" charset="-122"/>
              </a:rPr>
              <a:t>p</a:t>
            </a:r>
          </a:p>
        </p:txBody>
      </p:sp>
      <p:graphicFrame>
        <p:nvGraphicFramePr>
          <p:cNvPr id="15" name="Group 65"/>
          <p:cNvGraphicFramePr>
            <a:graphicFrameLocks noGrp="1"/>
          </p:cNvGraphicFramePr>
          <p:nvPr/>
        </p:nvGraphicFramePr>
        <p:xfrm>
          <a:off x="7000900" y="4826678"/>
          <a:ext cx="1143000" cy="685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 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66009" y="4898093"/>
            <a:ext cx="249237" cy="542925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3" grpId="0" animBg="1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501122" cy="5857916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指针变量初始化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例如：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algn="just">
              <a:lnSpc>
                <a:spcPct val="130000"/>
              </a:lnSpc>
              <a:buNone/>
            </a:pPr>
            <a:r>
              <a:rPr lang="en-US" altLang="zh-CN" sz="32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32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=3;</a:t>
            </a:r>
          </a:p>
          <a:p>
            <a:pPr lvl="1" algn="just">
              <a:lnSpc>
                <a:spcPct val="130000"/>
              </a:lnSpc>
              <a:buNone/>
            </a:pPr>
            <a:r>
              <a:rPr lang="en-US" altLang="zh-CN" sz="32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*pi;</a:t>
            </a:r>
          </a:p>
          <a:p>
            <a:pPr lvl="1" algn="just">
              <a:lnSpc>
                <a:spcPct val="130000"/>
              </a:lnSpc>
              <a:buNone/>
            </a:pPr>
            <a:r>
              <a:rPr lang="en-US" altLang="zh-CN" sz="2600" b="1" dirty="0">
                <a:solidFill>
                  <a:srgbClr val="007434"/>
                </a:solidFill>
                <a:latin typeface="+mj-ea"/>
                <a:ea typeface="+mj-ea"/>
              </a:rPr>
              <a:t>//pi</a:t>
            </a: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为</a:t>
            </a:r>
            <a:r>
              <a:rPr lang="en-US" altLang="zh-CN" sz="2600" b="1" dirty="0" err="1">
                <a:solidFill>
                  <a:srgbClr val="007434"/>
                </a:solidFill>
                <a:latin typeface="+mj-ea"/>
                <a:ea typeface="+mj-ea"/>
              </a:rPr>
              <a:t>int</a:t>
            </a:r>
            <a:r>
              <a:rPr lang="en-US" altLang="zh-CN" sz="2600" b="1" dirty="0">
                <a:solidFill>
                  <a:srgbClr val="007434"/>
                </a:solidFill>
                <a:latin typeface="+mj-ea"/>
                <a:ea typeface="+mj-ea"/>
              </a:rPr>
              <a:t>*</a:t>
            </a: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型变量，其取值为一个</a:t>
            </a:r>
            <a:r>
              <a:rPr lang="en-US" altLang="zh-CN" sz="2600" b="1" dirty="0" err="1">
                <a:solidFill>
                  <a:srgbClr val="007434"/>
                </a:solidFill>
                <a:latin typeface="+mj-ea"/>
                <a:ea typeface="+mj-ea"/>
              </a:rPr>
              <a:t>int</a:t>
            </a: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型变量的地址，</a:t>
            </a:r>
          </a:p>
          <a:p>
            <a:pPr lvl="1" algn="just">
              <a:lnSpc>
                <a:spcPct val="130000"/>
              </a:lnSpc>
              <a:buNone/>
            </a:pP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//也称</a:t>
            </a:r>
            <a:r>
              <a:rPr lang="en-US" altLang="zh-CN" sz="2600" b="1" dirty="0">
                <a:solidFill>
                  <a:srgbClr val="007434"/>
                </a:solidFill>
                <a:latin typeface="+mj-ea"/>
                <a:ea typeface="+mj-ea"/>
              </a:rPr>
              <a:t>pi</a:t>
            </a: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为指向</a:t>
            </a:r>
            <a:r>
              <a:rPr lang="en-US" altLang="zh-CN" sz="2600" b="1" dirty="0" err="1">
                <a:solidFill>
                  <a:srgbClr val="007434"/>
                </a:solidFill>
                <a:latin typeface="+mj-ea"/>
                <a:ea typeface="+mj-ea"/>
              </a:rPr>
              <a:t>int</a:t>
            </a: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型数据的指针变量（简称指针）</a:t>
            </a:r>
            <a:endParaRPr lang="en-US" altLang="zh-CN" sz="2600" b="1" dirty="0">
              <a:solidFill>
                <a:srgbClr val="007434"/>
              </a:solidFill>
              <a:latin typeface="+mj-ea"/>
              <a:ea typeface="+mj-ea"/>
            </a:endParaRPr>
          </a:p>
          <a:p>
            <a:pPr marL="533400" indent="-533400"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pi = &amp;</a:t>
            </a:r>
            <a:r>
              <a:rPr lang="en-US" altLang="zh-CN" sz="32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 </a:t>
            </a:r>
            <a:endParaRPr lang="en-US" altLang="zh-CN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  <a:p>
            <a:pPr lvl="1" algn="just">
              <a:lnSpc>
                <a:spcPct val="130000"/>
              </a:lnSpc>
              <a:buNone/>
            </a:pPr>
            <a:r>
              <a:rPr lang="en-US" altLang="zh-CN" sz="2600" b="1" dirty="0">
                <a:solidFill>
                  <a:srgbClr val="007434"/>
                </a:solidFill>
                <a:latin typeface="+mj-ea"/>
                <a:ea typeface="+mj-ea"/>
              </a:rPr>
              <a:t>//&amp;</a:t>
            </a: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作单目算符时为“取变量地址”，</a:t>
            </a:r>
          </a:p>
          <a:p>
            <a:pPr lvl="1" algn="just">
              <a:lnSpc>
                <a:spcPct val="130000"/>
              </a:lnSpc>
              <a:buNone/>
            </a:pP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//此处将变量</a:t>
            </a:r>
            <a:r>
              <a:rPr lang="en-US" altLang="zh-CN" sz="2600" b="1" dirty="0" err="1">
                <a:solidFill>
                  <a:srgbClr val="007434"/>
                </a:solidFill>
                <a:latin typeface="+mj-ea"/>
                <a:ea typeface="+mj-ea"/>
              </a:rPr>
              <a:t>i</a:t>
            </a:r>
            <a:r>
              <a:rPr lang="zh-CN" altLang="en-US" sz="2600" b="1" dirty="0">
                <a:solidFill>
                  <a:srgbClr val="007434"/>
                </a:solidFill>
                <a:latin typeface="+mj-ea"/>
                <a:ea typeface="+mj-ea"/>
              </a:rPr>
              <a:t>的地址赋给指针变量</a:t>
            </a:r>
            <a:r>
              <a:rPr lang="en-US" altLang="zh-CN" sz="2600" b="1" dirty="0">
                <a:solidFill>
                  <a:srgbClr val="007434"/>
                </a:solidFill>
                <a:latin typeface="+mj-ea"/>
                <a:ea typeface="+mj-ea"/>
              </a:rPr>
              <a:t>pi</a:t>
            </a:r>
          </a:p>
          <a:p>
            <a:pPr lvl="1" algn="just">
              <a:buNone/>
            </a:pPr>
            <a:endParaRPr lang="zh-CN" altLang="en-US" sz="2400" dirty="0">
              <a:solidFill>
                <a:srgbClr val="00B050"/>
              </a:solidFill>
            </a:endParaRPr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501122" cy="628654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指针变量的赋值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赋值运算符“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=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类型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一致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左边：指针变量（注意与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初始化表达式</a:t>
            </a:r>
            <a:r>
              <a:rPr lang="zh-CN" altLang="en-US" sz="2400" b="1" dirty="0">
                <a:latin typeface="+mj-ea"/>
                <a:ea typeface="+mj-ea"/>
              </a:rPr>
              <a:t>的区别）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*p = &amp;a;</a:t>
            </a:r>
          </a:p>
          <a:p>
            <a:pPr lvl="3">
              <a:lnSpc>
                <a:spcPct val="130000"/>
              </a:lnSpc>
            </a:pP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*p;</a:t>
            </a:r>
          </a:p>
          <a:p>
            <a:pPr lvl="3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p = &amp;a;</a:t>
            </a: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右边：描述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地址</a:t>
            </a:r>
            <a:r>
              <a:rPr lang="zh-CN" altLang="en-US" sz="2400" b="1" dirty="0">
                <a:latin typeface="+mj-ea"/>
                <a:ea typeface="+mj-ea"/>
              </a:rPr>
              <a:t>的表达式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地址存放数据的类型与指针说明的类型一致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对指针绝不可任意赋一个内存地址，只能取一个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已经分配了内存的变量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的地址赋给指针变量，或者赋值为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0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（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NULL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），不可赋地址常量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71414"/>
            <a:ext cx="8572560" cy="484632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指针变量赋值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b="1" dirty="0">
                <a:solidFill>
                  <a:srgbClr val="002060"/>
                </a:solidFill>
                <a:latin typeface="+mj-ea"/>
                <a:ea typeface="+mj-ea"/>
              </a:rPr>
              <a:t>例如：</a:t>
            </a:r>
            <a:endParaRPr lang="en-US" altLang="zh-CN" sz="20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algn="just">
              <a:lnSpc>
                <a:spcPct val="120000"/>
              </a:lnSpc>
              <a:buNone/>
            </a:pP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=3,*pi;</a:t>
            </a:r>
          </a:p>
          <a:p>
            <a:pPr lvl="1" algn="just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pi = &amp;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 lvl="1" algn="just">
              <a:lnSpc>
                <a:spcPct val="120000"/>
              </a:lnSpc>
              <a:buNone/>
            </a:pP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&lt;&lt;*pi; 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输出：*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pi</a:t>
            </a: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之值即3</a:t>
            </a:r>
          </a:p>
          <a:p>
            <a:pPr lvl="1" algn="jus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//“*”作单目算符时为“取内容”</a:t>
            </a:r>
          </a:p>
          <a:p>
            <a:pPr lvl="1" algn="jus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//（取指针所指向的那一变量的内容）</a:t>
            </a:r>
          </a:p>
          <a:p>
            <a:pPr lvl="1" algn="just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*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pi = 123; 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给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pi</a:t>
            </a: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所指向的那一变量，既</a:t>
            </a:r>
            <a:r>
              <a:rPr lang="en-US" altLang="zh-CN" sz="2400" b="1" dirty="0" err="1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赋值123</a:t>
            </a:r>
            <a:endParaRPr lang="en-US" altLang="zh-CN" sz="2400" b="1" dirty="0">
              <a:solidFill>
                <a:srgbClr val="007434"/>
              </a:solidFill>
              <a:latin typeface="+mj-ea"/>
              <a:ea typeface="+mj-ea"/>
              <a:cs typeface="Courier New" pitchFamily="49" charset="0"/>
            </a:endParaRPr>
          </a:p>
          <a:p>
            <a:pPr lvl="1" algn="jus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//（等同于: </a:t>
            </a:r>
            <a:r>
              <a:rPr lang="en-US" altLang="zh-CN" sz="2400" b="1" dirty="0" err="1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=123;）</a:t>
            </a:r>
          </a:p>
          <a:p>
            <a:pPr lvl="1" algn="just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float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*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pn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=NULL;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/*NULL </a:t>
            </a: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的指针变量，规则规定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NULL </a:t>
            </a: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与整数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0 </a:t>
            </a:r>
            <a:r>
              <a:rPr lang="zh-CN" altLang="en-US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通用，它是唯一可以赋给任一类型指针变量的值，表示当前该指针未指向任一变量。</a:t>
            </a:r>
            <a:r>
              <a:rPr lang="en-US" altLang="zh-CN" sz="2400" b="1" dirty="0">
                <a:solidFill>
                  <a:srgbClr val="007434"/>
                </a:solidFill>
                <a:latin typeface="+mj-ea"/>
                <a:ea typeface="+mj-ea"/>
                <a:cs typeface="Courier New" pitchFamily="49" charset="0"/>
              </a:rPr>
              <a:t>*/</a:t>
            </a:r>
            <a:endParaRPr lang="zh-CN" altLang="en-US" sz="2000" b="1" dirty="0">
              <a:solidFill>
                <a:srgbClr val="007434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214290"/>
            <a:ext cx="7239000" cy="48463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指针类型的运算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*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”取内容运算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运算表达式：</a:t>
            </a:r>
            <a:r>
              <a:rPr lang="en-US" altLang="zh-CN" sz="2400" b="1" dirty="0">
                <a:latin typeface="+mj-ea"/>
                <a:ea typeface="+mj-ea"/>
              </a:rPr>
              <a:t>*&lt;</a:t>
            </a:r>
            <a:r>
              <a:rPr lang="zh-CN" altLang="en-US" sz="2400" b="1" dirty="0">
                <a:latin typeface="+mj-ea"/>
                <a:ea typeface="+mj-ea"/>
              </a:rPr>
              <a:t>指针变量名</a:t>
            </a:r>
            <a:r>
              <a:rPr lang="en-US" altLang="zh-CN" sz="2400" b="1" dirty="0">
                <a:latin typeface="+mj-ea"/>
                <a:ea typeface="+mj-ea"/>
              </a:rPr>
              <a:t>&gt;</a:t>
            </a:r>
          </a:p>
          <a:p>
            <a:pPr lvl="3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可看作一个变量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作用于一个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指针类型</a:t>
            </a:r>
            <a:r>
              <a:rPr lang="zh-CN" altLang="en-US" sz="2400" b="1" dirty="0">
                <a:latin typeface="+mj-ea"/>
                <a:ea typeface="+mj-ea"/>
              </a:rPr>
              <a:t>的变量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访问该指针所指向的内存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数据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71406" y="3704586"/>
            <a:ext cx="892975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a=18,*p;</a:t>
            </a:r>
          </a:p>
          <a:p>
            <a:pPr lvl="1" algn="just"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 = &amp;a;</a:t>
            </a:r>
          </a:p>
          <a:p>
            <a:pPr lvl="1" algn="just">
              <a:buNone/>
            </a:pP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&lt;&lt;p;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输出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0x1234abcd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，是变量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的地址</a:t>
            </a:r>
            <a:endParaRPr lang="en-US" altLang="zh-CN" sz="2400" b="1" dirty="0">
              <a:solidFill>
                <a:srgbClr val="007434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lvl="1" algn="just">
              <a:buNone/>
            </a:pP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&lt;&lt;*p;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输出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18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，是变量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所在地址的数据值，即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a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的值</a:t>
            </a:r>
            <a:endParaRPr lang="en-US" altLang="zh-CN" sz="2400" b="1" dirty="0">
              <a:solidFill>
                <a:srgbClr val="007434"/>
              </a:solidFill>
              <a:latin typeface="Courier New" pitchFamily="49" charset="0"/>
              <a:ea typeface="楷体_GB2312" pitchFamily="49" charset="-122"/>
              <a:cs typeface="Courier New" pitchFamily="49" charset="0"/>
            </a:endParaRPr>
          </a:p>
          <a:p>
            <a:pPr lvl="1" algn="just">
              <a:buNone/>
            </a:pP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&lt;&lt;</a:t>
            </a:r>
            <a:r>
              <a:rPr lang="en-US" altLang="zh-CN" sz="28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&amp;p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输出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0x456789bcd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，是指针变量</a:t>
            </a:r>
            <a:r>
              <a:rPr lang="en-US" altLang="zh-CN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p</a:t>
            </a:r>
            <a:r>
              <a:rPr lang="zh-CN" altLang="en-US" sz="2400" b="1" dirty="0">
                <a:solidFill>
                  <a:srgbClr val="007434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的地址</a:t>
            </a:r>
            <a:endParaRPr lang="zh-CN" altLang="en-US" b="1" dirty="0">
              <a:solidFill>
                <a:srgbClr val="007434"/>
              </a:solidFill>
              <a:ea typeface="楷体_GB2312" pitchFamily="49" charset="-122"/>
            </a:endParaRPr>
          </a:p>
        </p:txBody>
      </p:sp>
      <p:graphicFrame>
        <p:nvGraphicFramePr>
          <p:cNvPr id="7" name="Group 67"/>
          <p:cNvGraphicFramePr>
            <a:graphicFrameLocks noGrp="1"/>
          </p:cNvGraphicFramePr>
          <p:nvPr/>
        </p:nvGraphicFramePr>
        <p:xfrm>
          <a:off x="5643570" y="1747822"/>
          <a:ext cx="1143000" cy="685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65"/>
          <p:cNvGraphicFramePr>
            <a:graphicFrameLocks noGrp="1"/>
          </p:cNvGraphicFramePr>
          <p:nvPr/>
        </p:nvGraphicFramePr>
        <p:xfrm>
          <a:off x="7396170" y="1747822"/>
          <a:ext cx="1143000" cy="685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  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6405570" y="2128822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Text Box 55"/>
          <p:cNvSpPr txBox="1">
            <a:spLocks noChangeArrowheads="1"/>
          </p:cNvSpPr>
          <p:nvPr/>
        </p:nvSpPr>
        <p:spPr bwMode="auto">
          <a:xfrm>
            <a:off x="7822978" y="1214422"/>
            <a:ext cx="320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0" dirty="0">
                <a:latin typeface="Times New Roman" pitchFamily="18" charset="0"/>
                <a:ea typeface="宋体" charset="-122"/>
              </a:rPr>
              <a:t>a</a:t>
            </a:r>
          </a:p>
        </p:txBody>
      </p:sp>
      <p:sp>
        <p:nvSpPr>
          <p:cNvPr id="11" name="Text Box 56"/>
          <p:cNvSpPr txBox="1">
            <a:spLocks noChangeArrowheads="1"/>
          </p:cNvSpPr>
          <p:nvPr/>
        </p:nvSpPr>
        <p:spPr bwMode="auto">
          <a:xfrm>
            <a:off x="6000760" y="121442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zh-CN" sz="2400" b="0" dirty="0">
                <a:latin typeface="Times New Roman" pitchFamily="18" charset="0"/>
                <a:ea typeface="宋体" charset="-122"/>
              </a:rPr>
              <a:t>p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86665" y="1890708"/>
            <a:ext cx="368300" cy="439737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572560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指针类型的运算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&amp;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”取地址运算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运算表达式：</a:t>
            </a:r>
            <a:r>
              <a:rPr lang="en-US" altLang="zh-CN" sz="2400" b="1" dirty="0">
                <a:latin typeface="+mj-ea"/>
                <a:ea typeface="+mj-ea"/>
              </a:rPr>
              <a:t>&amp;&lt;</a:t>
            </a:r>
            <a:r>
              <a:rPr lang="zh-CN" altLang="en-US" sz="2400" b="1" dirty="0">
                <a:latin typeface="+mj-ea"/>
                <a:ea typeface="+mj-ea"/>
              </a:rPr>
              <a:t>可寻址数据名</a:t>
            </a:r>
            <a:r>
              <a:rPr lang="en-US" altLang="zh-CN" sz="2400" b="1" dirty="0">
                <a:latin typeface="+mj-ea"/>
                <a:ea typeface="+mj-ea"/>
              </a:rPr>
              <a:t>&gt;</a:t>
            </a: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可寻址数据包括：变量、数组元素、类对象等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作用于内存中一个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可寻址</a:t>
            </a:r>
            <a:r>
              <a:rPr lang="zh-CN" altLang="en-US" sz="2400" b="1" dirty="0">
                <a:latin typeface="+mj-ea"/>
                <a:ea typeface="+mj-ea"/>
              </a:rPr>
              <a:t>的数据</a:t>
            </a:r>
            <a:endParaRPr lang="en-US" altLang="zh-CN" sz="2400" b="1" dirty="0"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操作的结果是获得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该数据的地址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例如：如下3处出现的*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pi，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其含义各不相同：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32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32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=23, *pi=&amp;</a:t>
            </a:r>
            <a:r>
              <a:rPr lang="en-US" altLang="zh-CN" sz="32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i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	  	</a:t>
            </a:r>
            <a:r>
              <a:rPr lang="en-US" altLang="zh-CN" sz="3200" b="1" dirty="0" err="1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cout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&lt;&lt;*pi;  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    	*pi=56; 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25</a:t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844" y="1714488"/>
            <a:ext cx="8858312" cy="507209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第一行</a:t>
            </a:r>
            <a:r>
              <a:rPr lang="zh-CN" altLang="en-US" sz="2400" b="1" dirty="0">
                <a:latin typeface="+mj-ea"/>
                <a:ea typeface="+mj-ea"/>
              </a:rPr>
              <a:t>的“*</a:t>
            </a:r>
            <a:r>
              <a:rPr lang="en-US" altLang="zh-CN" sz="2400" b="1" dirty="0">
                <a:latin typeface="+mj-ea"/>
                <a:ea typeface="+mj-ea"/>
              </a:rPr>
              <a:t>pi”</a:t>
            </a:r>
            <a:r>
              <a:rPr lang="zh-CN" altLang="en-US" sz="2400" b="1" dirty="0">
                <a:latin typeface="+mj-ea"/>
                <a:ea typeface="+mj-ea"/>
              </a:rPr>
              <a:t>处于变量说明处，是说明</a:t>
            </a:r>
            <a:r>
              <a:rPr lang="en-US" altLang="zh-CN" sz="2400" b="1" dirty="0">
                <a:latin typeface="+mj-ea"/>
                <a:ea typeface="+mj-ea"/>
              </a:rPr>
              <a:t>pi</a:t>
            </a:r>
            <a:r>
              <a:rPr lang="zh-CN" altLang="en-US" sz="2400" b="1" dirty="0">
                <a:latin typeface="+mj-ea"/>
                <a:ea typeface="+mj-ea"/>
              </a:rPr>
              <a:t>为“</a:t>
            </a:r>
            <a:r>
              <a:rPr lang="en-US" altLang="zh-CN" sz="2400" b="1" dirty="0" err="1">
                <a:latin typeface="+mj-ea"/>
                <a:ea typeface="+mj-ea"/>
              </a:rPr>
              <a:t>int</a:t>
            </a:r>
            <a:r>
              <a:rPr lang="en-US" altLang="zh-CN" sz="2400" b="1" dirty="0">
                <a:latin typeface="+mj-ea"/>
                <a:ea typeface="+mj-ea"/>
              </a:rPr>
              <a:t>*”</a:t>
            </a:r>
            <a:r>
              <a:rPr lang="zh-CN" altLang="en-US" sz="2400" b="1" dirty="0">
                <a:latin typeface="+mj-ea"/>
                <a:ea typeface="+mj-ea"/>
              </a:rPr>
              <a:t>型变量，并同时将该指针变量初始化为</a:t>
            </a:r>
            <a:r>
              <a:rPr lang="en-US" altLang="zh-CN" sz="2400" b="1" dirty="0" err="1">
                <a:latin typeface="+mj-ea"/>
                <a:ea typeface="+mj-ea"/>
              </a:rPr>
              <a:t>i</a:t>
            </a:r>
            <a:r>
              <a:rPr lang="zh-CN" altLang="en-US" sz="2400" b="1" dirty="0">
                <a:latin typeface="+mj-ea"/>
                <a:ea typeface="+mj-ea"/>
              </a:rPr>
              <a:t>的地址。不可将此处的“*”理解为“取内容”运算，它与前面的</a:t>
            </a:r>
            <a:r>
              <a:rPr lang="en-US" altLang="zh-CN" sz="2400" b="1" dirty="0" err="1">
                <a:latin typeface="+mj-ea"/>
                <a:ea typeface="+mj-ea"/>
              </a:rPr>
              <a:t>int</a:t>
            </a:r>
            <a:r>
              <a:rPr lang="zh-CN" altLang="en-US" sz="2400" b="1" dirty="0">
                <a:latin typeface="+mj-ea"/>
                <a:ea typeface="+mj-ea"/>
              </a:rPr>
              <a:t>联合起来以说明</a:t>
            </a:r>
            <a:r>
              <a:rPr lang="en-US" altLang="zh-CN" sz="2400" b="1" dirty="0">
                <a:latin typeface="+mj-ea"/>
                <a:ea typeface="+mj-ea"/>
              </a:rPr>
              <a:t>pi</a:t>
            </a:r>
            <a:r>
              <a:rPr lang="zh-CN" altLang="en-US" sz="2400" b="1" dirty="0">
                <a:latin typeface="+mj-ea"/>
                <a:ea typeface="+mj-ea"/>
              </a:rPr>
              <a:t>为“</a:t>
            </a:r>
            <a:r>
              <a:rPr lang="en-US" altLang="zh-CN" sz="2400" b="1" dirty="0" err="1">
                <a:latin typeface="+mj-ea"/>
                <a:ea typeface="+mj-ea"/>
              </a:rPr>
              <a:t>int</a:t>
            </a:r>
            <a:r>
              <a:rPr lang="en-US" altLang="zh-CN" sz="2400" b="1" dirty="0">
                <a:latin typeface="+mj-ea"/>
                <a:ea typeface="+mj-ea"/>
              </a:rPr>
              <a:t>*”</a:t>
            </a:r>
            <a:r>
              <a:rPr lang="zh-CN" altLang="en-US" sz="2400" b="1" dirty="0">
                <a:latin typeface="+mj-ea"/>
                <a:ea typeface="+mj-ea"/>
              </a:rPr>
              <a:t>型变量。</a:t>
            </a:r>
            <a:endParaRPr lang="en-US" altLang="zh-CN" sz="2400" b="1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第二行</a:t>
            </a:r>
            <a:r>
              <a:rPr lang="zh-CN" altLang="en-US" sz="2400" b="1" dirty="0">
                <a:latin typeface="+mj-ea"/>
                <a:ea typeface="+mj-ea"/>
              </a:rPr>
              <a:t>的“*</a:t>
            </a:r>
            <a:r>
              <a:rPr lang="en-US" altLang="zh-CN" sz="2400" b="1" dirty="0">
                <a:latin typeface="+mj-ea"/>
                <a:ea typeface="+mj-ea"/>
              </a:rPr>
              <a:t>pi”</a:t>
            </a:r>
            <a:r>
              <a:rPr lang="zh-CN" altLang="en-US" sz="2400" b="1" dirty="0">
                <a:latin typeface="+mj-ea"/>
                <a:ea typeface="+mj-ea"/>
              </a:rPr>
              <a:t>表示指针变量</a:t>
            </a:r>
            <a:r>
              <a:rPr lang="en-US" altLang="zh-CN" sz="2400" b="1" dirty="0">
                <a:latin typeface="+mj-ea"/>
                <a:ea typeface="+mj-ea"/>
              </a:rPr>
              <a:t>pi</a:t>
            </a:r>
            <a:r>
              <a:rPr lang="zh-CN" altLang="en-US" sz="2400" b="1" dirty="0">
                <a:latin typeface="+mj-ea"/>
                <a:ea typeface="+mj-ea"/>
              </a:rPr>
              <a:t>所指向的那一变量（即</a:t>
            </a:r>
            <a:r>
              <a:rPr lang="en-US" altLang="zh-CN" sz="2400" b="1" dirty="0" err="1">
                <a:latin typeface="+mj-ea"/>
                <a:ea typeface="+mj-ea"/>
              </a:rPr>
              <a:t>i</a:t>
            </a:r>
            <a:r>
              <a:rPr lang="en-US" altLang="zh-CN" sz="2400" b="1" dirty="0">
                <a:latin typeface="+mj-ea"/>
                <a:ea typeface="+mj-ea"/>
              </a:rPr>
              <a:t>）</a:t>
            </a:r>
            <a:r>
              <a:rPr lang="zh-CN" altLang="en-US" sz="2400" b="1" dirty="0">
                <a:latin typeface="+mj-ea"/>
                <a:ea typeface="+mj-ea"/>
              </a:rPr>
              <a:t>的内容（*理解为“取内容”运算，使用其值）。</a:t>
            </a:r>
            <a:endParaRPr lang="en-US" altLang="zh-CN" sz="2400" b="1" dirty="0">
              <a:latin typeface="+mj-ea"/>
              <a:ea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第三行</a:t>
            </a:r>
            <a:r>
              <a:rPr lang="zh-CN" altLang="en-US" sz="2400" b="1" dirty="0">
                <a:latin typeface="+mj-ea"/>
                <a:ea typeface="+mj-ea"/>
              </a:rPr>
              <a:t>的“*</a:t>
            </a:r>
            <a:r>
              <a:rPr lang="en-US" altLang="zh-CN" sz="2400" b="1" dirty="0">
                <a:latin typeface="+mj-ea"/>
                <a:ea typeface="+mj-ea"/>
              </a:rPr>
              <a:t>pi”</a:t>
            </a:r>
            <a:r>
              <a:rPr lang="zh-CN" altLang="en-US" sz="2400" b="1" dirty="0">
                <a:latin typeface="+mj-ea"/>
                <a:ea typeface="+mj-ea"/>
              </a:rPr>
              <a:t>为左值（存储空间概念），表示要改变指针变量</a:t>
            </a:r>
            <a:r>
              <a:rPr lang="en-US" altLang="zh-CN" sz="2400" b="1" dirty="0">
                <a:latin typeface="+mj-ea"/>
                <a:ea typeface="+mj-ea"/>
              </a:rPr>
              <a:t>pi</a:t>
            </a:r>
            <a:r>
              <a:rPr lang="zh-CN" altLang="en-US" sz="2400" b="1" dirty="0">
                <a:latin typeface="+mj-ea"/>
                <a:ea typeface="+mj-ea"/>
              </a:rPr>
              <a:t>所指向的那一变量（即</a:t>
            </a:r>
            <a:r>
              <a:rPr lang="en-US" altLang="zh-CN" sz="2400" b="1" dirty="0" err="1">
                <a:latin typeface="+mj-ea"/>
                <a:ea typeface="+mj-ea"/>
              </a:rPr>
              <a:t>i</a:t>
            </a:r>
            <a:r>
              <a:rPr lang="en-US" altLang="zh-CN" sz="2400" b="1" dirty="0">
                <a:latin typeface="+mj-ea"/>
                <a:ea typeface="+mj-ea"/>
              </a:rPr>
              <a:t>）</a:t>
            </a:r>
            <a:r>
              <a:rPr lang="zh-CN" altLang="en-US" sz="2400" b="1" dirty="0">
                <a:latin typeface="+mj-ea"/>
                <a:ea typeface="+mj-ea"/>
              </a:rPr>
              <a:t>空间中的内容（使用其存储空间）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857224" y="21139"/>
            <a:ext cx="5715040" cy="16933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cs typeface="Courier New" pitchFamily="49" charset="0"/>
              </a:rPr>
              <a:t> 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cs typeface="Courier New" pitchFamily="49" charset="0"/>
              </a:rPr>
              <a:t>=23, *pi=&amp;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cs typeface="Courier New" pitchFamily="49" charset="0"/>
              </a:rPr>
              <a:t>i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cs typeface="Courier New" pitchFamily="49" charset="0"/>
              </a:rPr>
              <a:t>;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cs typeface="Courier New" pitchFamily="49" charset="0"/>
              </a:rPr>
              <a:t>	</a:t>
            </a:r>
            <a:r>
              <a:rPr lang="en-US" altLang="zh-CN" sz="2800" b="1" dirty="0" err="1">
                <a:solidFill>
                  <a:schemeClr val="tx2"/>
                </a:solidFill>
                <a:latin typeface="+mj-ea"/>
                <a:cs typeface="Courier New" pitchFamily="49" charset="0"/>
              </a:rPr>
              <a:t>cout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cs typeface="Courier New" pitchFamily="49" charset="0"/>
              </a:rPr>
              <a:t>&lt;&lt;*pi;  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cs typeface="Courier New" pitchFamily="49" charset="0"/>
              </a:rPr>
              <a:t>    	*pi=56;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54316"/>
            <a:ext cx="8462174" cy="484632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数组指针的算术运算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当指针变量指向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数组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时，可以进行算术运算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+</a:t>
            </a:r>
            <a:r>
              <a:rPr lang="zh-CN" altLang="en-US" sz="2400" b="1" dirty="0">
                <a:latin typeface="+mj-ea"/>
                <a:ea typeface="+mj-ea"/>
                <a:cs typeface="Courier New" pitchFamily="49" charset="0"/>
              </a:rPr>
              <a:t>、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-</a:t>
            </a:r>
            <a:r>
              <a:rPr lang="zh-CN" altLang="en-US" sz="2400" b="1" dirty="0">
                <a:latin typeface="+mj-ea"/>
                <a:ea typeface="+mj-ea"/>
                <a:cs typeface="Courier New" pitchFamily="49" charset="0"/>
              </a:rPr>
              <a:t>、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++</a:t>
            </a:r>
            <a:r>
              <a:rPr lang="zh-CN" altLang="en-US" sz="2400" b="1" dirty="0">
                <a:latin typeface="+mj-ea"/>
                <a:ea typeface="+mj-ea"/>
                <a:cs typeface="Courier New" pitchFamily="49" charset="0"/>
              </a:rPr>
              <a:t>、</a:t>
            </a:r>
            <a:r>
              <a:rPr lang="en-US" altLang="zh-CN" sz="2400" b="1" dirty="0">
                <a:latin typeface="+mj-ea"/>
                <a:ea typeface="+mj-ea"/>
                <a:cs typeface="Courier New" pitchFamily="49" charset="0"/>
              </a:rPr>
              <a:t>--</a:t>
            </a:r>
          </a:p>
          <a:p>
            <a:pPr lvl="1" algn="just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p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为指针，已指向数组的某一元素，则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p+i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 (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或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p-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,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其中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为正整数)也为一指针，它指向当前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p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已指元素的后面(或前面)第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个元素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algn="just">
              <a:lnSpc>
                <a:spcPct val="130000"/>
              </a:lnSpc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6.2】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数组名做指针常量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algn="just">
              <a:lnSpc>
                <a:spcPct val="130000"/>
              </a:lnSpc>
              <a:buNone/>
            </a:pPr>
            <a:r>
              <a:rPr lang="en-US" altLang="zh-CN" sz="3200" b="1" dirty="0">
                <a:solidFill>
                  <a:srgbClr val="C00000"/>
                </a:solidFill>
                <a:latin typeface="+mj-ea"/>
                <a:ea typeface="+mj-ea"/>
              </a:rPr>
              <a:t>	</a:t>
            </a: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</a:rPr>
              <a:t>  </a:t>
            </a:r>
            <a:r>
              <a:rPr lang="en-US" altLang="zh-CN" sz="32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a[10];</a:t>
            </a:r>
            <a:r>
              <a:rPr lang="en-US" altLang="zh-CN" sz="32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</a:rPr>
              <a:t> </a:t>
            </a:r>
            <a:endParaRPr lang="en-US" altLang="zh-CN" sz="3200" b="1" dirty="0">
              <a:solidFill>
                <a:schemeClr val="hlink"/>
              </a:solidFill>
              <a:latin typeface="+mj-ea"/>
              <a:ea typeface="+mj-ea"/>
            </a:endParaRP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  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/*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任一数组名字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都是一个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指针常量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, 代表数组的首地址, 也即, 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总等同于&amp;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a[0]*/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428604"/>
            <a:ext cx="7572428" cy="600079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无论何时, 下述两种表示数组元素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a[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]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的方式总是相同的：</a:t>
            </a:r>
          </a:p>
          <a:p>
            <a:pPr algn="just">
              <a:lnSpc>
                <a:spcPct val="130000"/>
              </a:lnSpc>
              <a:buNone/>
            </a:pPr>
            <a:r>
              <a:rPr lang="zh-CN" altLang="en-US" sz="4000" b="1" dirty="0">
                <a:solidFill>
                  <a:srgbClr val="0000FF"/>
                </a:solidFill>
                <a:latin typeface="+mj-ea"/>
                <a:ea typeface="+mj-ea"/>
              </a:rPr>
              <a:t>		</a:t>
            </a:r>
            <a:r>
              <a:rPr lang="en-US" altLang="zh-CN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a[0]</a:t>
            </a: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40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&lt;==&gt;</a:t>
            </a: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*a</a:t>
            </a: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    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a[1]</a:t>
            </a:r>
            <a:r>
              <a:rPr lang="en-US" altLang="zh-CN" sz="40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 &lt;==&gt; </a:t>
            </a:r>
            <a:r>
              <a:rPr lang="en-US" altLang="zh-CN" sz="40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*(a+1) 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...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a[9]</a:t>
            </a: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40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&lt;==&gt;</a:t>
            </a: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*(a+9)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 	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另外，下述两种表示数组元素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a[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]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之地址的方式也总是相同的：</a:t>
            </a:r>
          </a:p>
          <a:p>
            <a:pPr algn="just">
              <a:lnSpc>
                <a:spcPct val="130000"/>
              </a:lnSpc>
              <a:buNone/>
            </a:pPr>
            <a:r>
              <a:rPr lang="zh-CN" altLang="en-US" sz="4000" b="1" dirty="0">
                <a:solidFill>
                  <a:srgbClr val="0000FF"/>
                </a:solidFill>
                <a:latin typeface="+mj-ea"/>
                <a:ea typeface="+mj-ea"/>
              </a:rPr>
              <a:t>		</a:t>
            </a:r>
            <a:r>
              <a:rPr lang="zh-CN" altLang="en-US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</a:t>
            </a:r>
            <a:r>
              <a:rPr lang="en-US" altLang="zh-CN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a[0] </a:t>
            </a:r>
            <a:r>
              <a:rPr lang="en-US" altLang="zh-CN" sz="40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&lt;==&gt; </a:t>
            </a:r>
            <a:r>
              <a:rPr lang="en-US" altLang="zh-CN" sz="40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 </a:t>
            </a: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 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&amp;a[1]</a:t>
            </a:r>
            <a:r>
              <a:rPr lang="en-US" altLang="zh-CN" sz="40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 &lt;==&gt; </a:t>
            </a:r>
            <a:r>
              <a:rPr lang="en-US" altLang="zh-CN" sz="40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a+1 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...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40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&amp;a[9] </a:t>
            </a:r>
            <a:r>
              <a:rPr lang="en-US" altLang="zh-CN" sz="40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&lt;==&gt;</a:t>
            </a:r>
            <a:r>
              <a:rPr lang="en-US" altLang="zh-CN" sz="40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a+9</a:t>
            </a:r>
            <a:endParaRPr lang="zh-CN" altLang="en-US" sz="4000" b="1" dirty="0">
              <a:solidFill>
                <a:srgbClr val="C00000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357166"/>
            <a:ext cx="8286808" cy="5857916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6.3】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指针变量与数组的联系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8000"/>
                </a:solidFill>
                <a:latin typeface="+mj-ea"/>
                <a:ea typeface="+mj-ea"/>
              </a:rPr>
              <a:t>	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a[10]; 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int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* pa=a;  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  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/*pa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为变量指针，此时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pa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与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均指向数组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a</a:t>
            </a:r>
            <a:r>
              <a:rPr lang="zh-CN" altLang="en-US" sz="2800" b="1" dirty="0">
                <a:solidFill>
                  <a:srgbClr val="00B050"/>
                </a:solidFill>
                <a:latin typeface="+mj-ea"/>
                <a:ea typeface="+mj-ea"/>
              </a:rPr>
              <a:t>的首元素 </a:t>
            </a:r>
            <a:r>
              <a:rPr lang="en-US" altLang="zh-CN" sz="2800" b="1" dirty="0">
                <a:solidFill>
                  <a:srgbClr val="00B050"/>
                </a:solidFill>
                <a:latin typeface="+mj-ea"/>
                <a:ea typeface="+mj-ea"/>
              </a:rPr>
              <a:t>*/</a:t>
            </a:r>
            <a:endParaRPr lang="zh-CN" altLang="en-US" sz="2800" b="1" dirty="0">
              <a:solidFill>
                <a:srgbClr val="0000FF"/>
              </a:solidFill>
              <a:latin typeface="+mj-ea"/>
              <a:ea typeface="+mj-ea"/>
            </a:endParaRP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下述三种表示数组元素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a[</a:t>
            </a:r>
            <a:r>
              <a:rPr lang="en-US" altLang="zh-CN" sz="2800" b="1" dirty="0" err="1">
                <a:solidFill>
                  <a:srgbClr val="0000FF"/>
                </a:solidFill>
                <a:latin typeface="+mj-ea"/>
                <a:ea typeface="+mj-ea"/>
              </a:rPr>
              <a:t>i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]</a:t>
            </a: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的方式是等同的：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a[0]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*a    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*pa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a[1]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 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*(a+1)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*(pa+1)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...</a:t>
            </a:r>
          </a:p>
          <a:p>
            <a:pPr algn="just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a[9]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*(a+9)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 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*(pa+9)</a:t>
            </a:r>
            <a:endParaRPr lang="zh-CN" altLang="en-US" sz="2800" b="1" dirty="0">
              <a:solidFill>
                <a:srgbClr val="002060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406" y="714356"/>
            <a:ext cx="8715436" cy="484632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	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下述三种表示数组元素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a[</a:t>
            </a:r>
            <a:r>
              <a:rPr lang="en-US" altLang="zh-CN" sz="2400" b="1" dirty="0" err="1">
                <a:solidFill>
                  <a:srgbClr val="0000FF"/>
                </a:solidFill>
                <a:latin typeface="+mj-ea"/>
                <a:ea typeface="+mj-ea"/>
              </a:rPr>
              <a:t>i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]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之地址的方式也是等同的：</a:t>
            </a:r>
            <a:endParaRPr lang="zh-CN" altLang="en-US" sz="2400" b="1" dirty="0">
              <a:solidFill>
                <a:schemeClr val="hlink"/>
              </a:solidFill>
              <a:latin typeface="+mj-ea"/>
              <a:ea typeface="+mj-ea"/>
            </a:endParaRPr>
          </a:p>
          <a:p>
            <a:pPr algn="just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+mj-ea"/>
                <a:ea typeface="+mj-ea"/>
              </a:rPr>
              <a:t>		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a[0]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 &lt;==&gt; 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 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pa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&amp;a[1]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 &lt;==&gt; 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a+1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 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pa+1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...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		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&amp;a[9]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 &lt;==&gt; 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  <a:cs typeface="Courier New" pitchFamily="49" charset="0"/>
              </a:rPr>
              <a:t>a+9</a:t>
            </a:r>
            <a:r>
              <a:rPr lang="en-US" altLang="zh-CN" sz="2800" b="1" dirty="0">
                <a:solidFill>
                  <a:schemeClr val="hlink"/>
                </a:solidFill>
                <a:latin typeface="+mj-ea"/>
                <a:ea typeface="+mj-ea"/>
                <a:cs typeface="Courier New" pitchFamily="49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  <a:cs typeface="Courier New" pitchFamily="49" charset="0"/>
              </a:rPr>
              <a:t>&lt;==&gt; 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pa+9</a:t>
            </a: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	</a:t>
            </a:r>
            <a:endParaRPr lang="en-US" altLang="zh-CN" sz="2800" b="1" dirty="0">
              <a:solidFill>
                <a:schemeClr val="hlink"/>
              </a:solidFill>
              <a:latin typeface="+mj-ea"/>
              <a:ea typeface="+mj-ea"/>
              <a:cs typeface="Courier New" pitchFamily="49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而 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pa+=3;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及 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pa--;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也都为正确的句子(但，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a+=3;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及 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a--;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却都是不正确的句子! )</a:t>
            </a:r>
            <a:endParaRPr lang="zh-CN" altLang="en-US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357166"/>
            <a:ext cx="8429684" cy="592935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数组指针的算术运算</a:t>
            </a:r>
            <a:endParaRPr lang="en-US" altLang="zh-CN" sz="28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若</a:t>
            </a:r>
            <a:r>
              <a:rPr lang="en-US" altLang="zh-CN" sz="2400" b="1" dirty="0" err="1">
                <a:solidFill>
                  <a:srgbClr val="0000FF"/>
                </a:solidFill>
                <a:latin typeface="+mj-ea"/>
                <a:ea typeface="+mj-ea"/>
              </a:rPr>
              <a:t>p,q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都为同类型的指针,则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p-q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为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p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与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q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之间的数据项数(当</a:t>
            </a:r>
            <a:r>
              <a:rPr lang="en-US" altLang="zh-CN" sz="2400" b="1" dirty="0" err="1">
                <a:solidFill>
                  <a:srgbClr val="0000FF"/>
                </a:solidFill>
                <a:latin typeface="+mj-ea"/>
                <a:ea typeface="+mj-ea"/>
              </a:rPr>
              <a:t>p,q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指向同一数组时,结果有意义)</a:t>
            </a:r>
            <a:endParaRPr lang="en-US" altLang="zh-CN" sz="2400" b="1" dirty="0">
              <a:solidFill>
                <a:srgbClr val="0000FF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指针的关系运算</a:t>
            </a:r>
            <a:endParaRPr lang="en-US" altLang="zh-CN" sz="2800" b="1" dirty="0">
              <a:latin typeface="+mj-ea"/>
              <a:ea typeface="+mj-ea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若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p,q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都为同类型的指针，可进行关系运算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相等或不相等</a:t>
            </a:r>
            <a:endParaRPr lang="en-US" altLang="zh-CN" sz="2400" b="1" dirty="0"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根据指针指向的地址判断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3">
              <a:lnSpc>
                <a:spcPct val="13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与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NULL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进行比较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数组指针可以进行</a:t>
            </a:r>
            <a:r>
              <a:rPr lang="en-US" altLang="zh-CN" sz="2400" b="1" dirty="0">
                <a:latin typeface="+mj-ea"/>
                <a:ea typeface="+mj-ea"/>
              </a:rPr>
              <a:t>6</a:t>
            </a:r>
            <a:r>
              <a:rPr lang="zh-CN" altLang="en-US" sz="2400" b="1" dirty="0">
                <a:latin typeface="+mj-ea"/>
                <a:ea typeface="+mj-ea"/>
              </a:rPr>
              <a:t>种比较运算(通常用于</a:t>
            </a:r>
            <a:r>
              <a:rPr lang="en-US" altLang="zh-CN" sz="2400" b="1" dirty="0" err="1">
                <a:latin typeface="+mj-ea"/>
                <a:ea typeface="+mj-ea"/>
              </a:rPr>
              <a:t>p,q</a:t>
            </a:r>
            <a:r>
              <a:rPr lang="zh-CN" altLang="en-US" sz="2400" b="1" dirty="0">
                <a:latin typeface="+mj-ea"/>
                <a:ea typeface="+mj-ea"/>
              </a:rPr>
              <a:t>指向同一数组的情况，靠前者其指针值小)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31</a:t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142852"/>
            <a:ext cx="8153400" cy="1276344"/>
          </a:xfrm>
        </p:spPr>
        <p:txBody>
          <a:bodyPr/>
          <a:lstStyle/>
          <a:p>
            <a:pPr>
              <a:buNone/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6.4】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读程序，写出运行结果</a:t>
            </a:r>
            <a:r>
              <a:rPr lang="en-US" altLang="zh-CN" dirty="0"/>
              <a:t>	</a:t>
            </a:r>
          </a:p>
          <a:p>
            <a:pPr lvl="1"/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357190" y="714356"/>
            <a:ext cx="8215338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iostream.h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std;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=3,j=6,*pi,*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pi = &amp;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&amp;j;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&lt;&lt;", "&lt;&lt;j&lt;&lt;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&lt;&lt;"*pi,*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="&lt;&lt;*pi&lt;&lt;", "&lt;&lt;*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*pi = 123;	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 *pi + 2;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&lt;&lt;"*pi,*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="&lt;&lt;*pi&lt;&lt;", "&lt;&lt;*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&lt;&lt;", "&lt;&lt;j&lt;&lt;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500042"/>
            <a:ext cx="7239000" cy="4846320"/>
          </a:xfrm>
        </p:spPr>
        <p:txBody>
          <a:bodyPr/>
          <a:lstStyle/>
          <a:p>
            <a:pPr>
              <a:buNone/>
            </a:pP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6.4】</a:t>
            </a:r>
            <a:r>
              <a:rPr lang="zh-CN" altLang="en-US" sz="2700" b="1" dirty="0">
                <a:solidFill>
                  <a:schemeClr val="accent2"/>
                </a:solidFill>
                <a:latin typeface="+mj-ea"/>
                <a:ea typeface="+mj-ea"/>
              </a:rPr>
              <a:t>程序执行后的显示结果如下：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宋体" charset="-122"/>
              </a:rPr>
              <a:t>		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=3, 6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*pi,*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=3, 6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*pi,*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pj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=123, 125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altLang="zh-CN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=123, 125</a:t>
            </a:r>
            <a:endParaRPr lang="zh-CN" altLang="en-US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33</a:t>
            </a:fld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428604"/>
            <a:ext cx="8358246" cy="5929354"/>
          </a:xfrm>
        </p:spPr>
        <p:txBody>
          <a:bodyPr>
            <a:normAutofit lnSpcReduction="10000"/>
          </a:bodyPr>
          <a:lstStyle/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6.5】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编程序，首先输入5个整数放入数组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a，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而后按输入的相反顺序输出这5个数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iostream.h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[5],*p; 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指针变量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&lt;&lt;"input 5 integers:"&lt;&lt;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&lt;5;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&gt;&gt;*(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a+i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    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&lt;&lt;"==== Reverse output: ===="&lt;&lt;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(p=a+4; p&gt;=a; p--)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p&gt;=a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为指针比较运算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&lt;&lt;*p&lt;&lt;"  “;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//*p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指向各不同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a[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]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0" hangingPunct="0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循环过程中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值总在变化(通过指针加减运算)</a:t>
            </a:r>
            <a:endParaRPr lang="zh-CN" altLang="en-US" sz="28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3705228" y="6481786"/>
            <a:ext cx="1652590" cy="292100"/>
          </a:xfrm>
          <a:prstGeom prst="rect">
            <a:avLst/>
          </a:prstGeom>
        </p:spPr>
        <p:txBody>
          <a:bodyPr/>
          <a:lstStyle/>
          <a:p>
            <a:fld id="{E24BA5DA-9399-4747-BBF5-65A2C2316885}" type="slidenum">
              <a:rPr lang="en-US" altLang="zh-CN" smtClean="0"/>
              <a:pPr/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1578</TotalTime>
  <Words>2737</Words>
  <Application>Microsoft Office PowerPoint</Application>
  <PresentationFormat>全屏显示(4:3)</PresentationFormat>
  <Paragraphs>338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楷体_GB2312</vt:lpstr>
      <vt:lpstr>黑体</vt:lpstr>
      <vt:lpstr>宋体</vt:lpstr>
      <vt:lpstr>华文新魏</vt:lpstr>
      <vt:lpstr>Arial</vt:lpstr>
      <vt:lpstr>Calibri</vt:lpstr>
      <vt:lpstr>Courier New</vt:lpstr>
      <vt:lpstr>Times New Roman</vt:lpstr>
      <vt:lpstr>Trebuchet MS</vt:lpstr>
      <vt:lpstr>Wingdings</vt:lpstr>
      <vt:lpstr>Wingdings 2</vt:lpstr>
      <vt:lpstr>华丽</vt:lpstr>
      <vt:lpstr>C/C++程序设计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C/C++程序设计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C/C++程序设计</dc:title>
  <dc:creator>user</dc:creator>
  <cp:lastModifiedBy>86186</cp:lastModifiedBy>
  <cp:revision>47</cp:revision>
  <dcterms:created xsi:type="dcterms:W3CDTF">2016-11-30T02:09:14Z</dcterms:created>
  <dcterms:modified xsi:type="dcterms:W3CDTF">2023-11-08T08:29:01Z</dcterms:modified>
</cp:coreProperties>
</file>