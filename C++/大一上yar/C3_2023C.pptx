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5"/>
  </p:notesMasterIdLst>
  <p:sldIdLst>
    <p:sldId id="256" r:id="rId2"/>
    <p:sldId id="259" r:id="rId3"/>
    <p:sldId id="262" r:id="rId4"/>
    <p:sldId id="263" r:id="rId5"/>
    <p:sldId id="264" r:id="rId6"/>
    <p:sldId id="271" r:id="rId7"/>
    <p:sldId id="272" r:id="rId8"/>
    <p:sldId id="274" r:id="rId9"/>
    <p:sldId id="275" r:id="rId10"/>
    <p:sldId id="295" r:id="rId11"/>
    <p:sldId id="296" r:id="rId12"/>
    <p:sldId id="297" r:id="rId13"/>
    <p:sldId id="298" r:id="rId14"/>
    <p:sldId id="299" r:id="rId15"/>
    <p:sldId id="300" r:id="rId16"/>
    <p:sldId id="302" r:id="rId17"/>
    <p:sldId id="303" r:id="rId18"/>
    <p:sldId id="304" r:id="rId19"/>
    <p:sldId id="305" r:id="rId20"/>
    <p:sldId id="308" r:id="rId21"/>
    <p:sldId id="316" r:id="rId22"/>
    <p:sldId id="317" r:id="rId23"/>
    <p:sldId id="318" r:id="rId24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9" d="100"/>
          <a:sy n="99" d="100"/>
        </p:scale>
        <p:origin x="555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9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6BDDFF-5BC4-41D5-9E9A-B8CC69B7DB98}" type="datetimeFigureOut">
              <a:rPr lang="zh-CN" altLang="en-US" smtClean="0"/>
              <a:pPr/>
              <a:t>2020/10/22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BF1C4F-CF2F-4B89-87A6-DAE527F813DF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4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4499" name="备注占位符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zh-CN" altLang="en-US"/>
              <a:t>斐波那契数列</a:t>
            </a:r>
          </a:p>
        </p:txBody>
      </p:sp>
      <p:sp>
        <p:nvSpPr>
          <p:cNvPr id="189444" name="灯片编号占位符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>
              <a:defRPr/>
            </a:pPr>
            <a:fld id="{F01D8397-ADD9-4B3B-9586-8247E594B118}" type="slidenum">
              <a:rPr lang="zh-CN" altLang="en-US" smtClean="0"/>
              <a:pPr>
                <a:defRPr/>
              </a:pPr>
              <a:t>8</a:t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flipH="1">
            <a:off x="2667000" y="0"/>
            <a:ext cx="6477000" cy="6858000"/>
          </a:xfrm>
          <a:prstGeom prst="rect">
            <a:avLst/>
          </a:prstGeom>
          <a:blipFill>
            <a:blip r:embed="rId2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00000" r="50000"/>
                </a:path>
                <a:tileRect/>
              </a:gradFill>
            </a:fillOverlay>
            <a:innerShdw blurRad="63500" dist="44450" dir="10800000">
              <a:srgbClr val="000000">
                <a:alpha val="50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直接连接符 8"/>
          <p:cNvSpPr>
            <a:spLocks noChangeShapeType="1"/>
          </p:cNvSpPr>
          <p:nvPr/>
        </p:nvSpPr>
        <p:spPr bwMode="auto">
          <a:xfrm rot="16200000">
            <a:off x="-762000" y="3429000"/>
            <a:ext cx="6858000" cy="0"/>
          </a:xfrm>
          <a:prstGeom prst="line">
            <a:avLst/>
          </a:prstGeom>
          <a:noFill/>
          <a:ln w="11430" cap="flat" cmpd="sng" algn="ctr">
            <a:solidFill>
              <a:schemeClr val="bg1">
                <a:shade val="9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标题 11"/>
          <p:cNvSpPr>
            <a:spLocks noGrp="1"/>
          </p:cNvSpPr>
          <p:nvPr>
            <p:ph type="ctrTitle"/>
          </p:nvPr>
        </p:nvSpPr>
        <p:spPr>
          <a:xfrm>
            <a:off x="3366868" y="533400"/>
            <a:ext cx="5105400" cy="2868168"/>
          </a:xfrm>
        </p:spPr>
        <p:txBody>
          <a:bodyPr lIns="45720" tIns="0" rIns="45720">
            <a:noAutofit/>
          </a:bodyPr>
          <a:lstStyle>
            <a:lvl1pPr algn="r">
              <a:defRPr sz="4200" b="1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25" name="副标题 24"/>
          <p:cNvSpPr>
            <a:spLocks noGrp="1"/>
          </p:cNvSpPr>
          <p:nvPr>
            <p:ph type="subTitle" idx="1"/>
          </p:nvPr>
        </p:nvSpPr>
        <p:spPr>
          <a:xfrm>
            <a:off x="3354442" y="3539864"/>
            <a:ext cx="5114778" cy="1101248"/>
          </a:xfrm>
        </p:spPr>
        <p:txBody>
          <a:bodyPr lIns="45720" tIns="0" rIns="45720" bIns="0"/>
          <a:lstStyle>
            <a:lvl1pPr marL="0" indent="0" algn="r">
              <a:buNone/>
              <a:defRPr sz="2200">
                <a:solidFill>
                  <a:srgbClr val="FFFFFF"/>
                </a:solidFill>
                <a:effectLst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sp>
        <p:nvSpPr>
          <p:cNvPr id="31" name="日期占位符 30"/>
          <p:cNvSpPr>
            <a:spLocks noGrp="1"/>
          </p:cNvSpPr>
          <p:nvPr>
            <p:ph type="dt" sz="half" idx="10"/>
          </p:nvPr>
        </p:nvSpPr>
        <p:spPr>
          <a:xfrm>
            <a:off x="5871224" y="6557946"/>
            <a:ext cx="2002464" cy="226902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2020/10/22</a:t>
            </a:fld>
            <a:endParaRPr lang="zh-CN" altLang="en-US"/>
          </a:p>
        </p:txBody>
      </p:sp>
      <p:sp>
        <p:nvSpPr>
          <p:cNvPr id="18" name="页脚占位符 17"/>
          <p:cNvSpPr>
            <a:spLocks noGrp="1"/>
          </p:cNvSpPr>
          <p:nvPr>
            <p:ph type="ftr" sz="quarter" idx="11"/>
          </p:nvPr>
        </p:nvSpPr>
        <p:spPr>
          <a:xfrm>
            <a:off x="2819400" y="6557946"/>
            <a:ext cx="2927722" cy="228600"/>
          </a:xfrm>
        </p:spPr>
        <p:txBody>
          <a:bodyPr/>
          <a:lstStyle>
            <a:lvl1pPr>
              <a:defRPr lang="en-US" dirty="0">
                <a:solidFill>
                  <a:srgbClr val="FFFFFF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29" name="灯片编号占位符 28"/>
          <p:cNvSpPr>
            <a:spLocks noGrp="1"/>
          </p:cNvSpPr>
          <p:nvPr>
            <p:ph type="sldNum" sz="quarter" idx="12"/>
          </p:nvPr>
        </p:nvSpPr>
        <p:spPr>
          <a:xfrm>
            <a:off x="7880884" y="6556248"/>
            <a:ext cx="588336" cy="228600"/>
          </a:xfrm>
        </p:spPr>
        <p:txBody>
          <a:bodyPr/>
          <a:lstStyle>
            <a:lvl1pPr>
              <a:defRPr lang="en-US" smtClean="0">
                <a:solidFill>
                  <a:srgbClr val="FFFFFF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066800" y="2821837"/>
            <a:ext cx="6255488" cy="1362075"/>
          </a:xfrm>
        </p:spPr>
        <p:txBody>
          <a:bodyPr tIns="0" anchor="t"/>
          <a:lstStyle>
            <a:lvl1pPr algn="r">
              <a:buNone/>
              <a:defRPr sz="4200" b="1" cap="all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1066800" y="1905000"/>
            <a:ext cx="6255488" cy="743507"/>
          </a:xfrm>
        </p:spPr>
        <p:txBody>
          <a:bodyPr anchor="b"/>
          <a:lstStyle>
            <a:lvl1pPr marL="0" indent="0" algn="r">
              <a:buNone/>
              <a:defRPr sz="2000">
                <a:solidFill>
                  <a:schemeClr val="tx1"/>
                </a:solidFill>
                <a:effectLst/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724238" y="6556810"/>
            <a:ext cx="2002464" cy="226902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1735358" y="6556810"/>
            <a:ext cx="2895600" cy="228600"/>
          </a:xfrm>
        </p:spPr>
        <p:txBody>
          <a:bodyPr bIns="0" anchor="b"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733952" y="6555112"/>
            <a:ext cx="588336" cy="228600"/>
          </a:xfrm>
        </p:spPr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178808" y="1600200"/>
            <a:ext cx="3520440" cy="4525963"/>
          </a:xfrm>
        </p:spPr>
        <p:txBody>
          <a:bodyPr anchor="t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 anchor="b"/>
          <a:lstStyle>
            <a:lvl1pPr>
              <a:defRPr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178808" y="5867400"/>
            <a:ext cx="3520440" cy="457200"/>
          </a:xfrm>
          <a:noFill/>
          <a:ln w="12700" cap="flat" cmpd="sng" algn="ctr">
            <a:solidFill>
              <a:schemeClr val="tx2"/>
            </a:solidFill>
            <a:prstDash val="soli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anchor="ctr"/>
          <a:lstStyle>
            <a:lvl1pPr marL="0" indent="0" algn="ctr">
              <a:buNone/>
              <a:defRPr sz="1800" b="1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178808" y="1711840"/>
            <a:ext cx="3520440" cy="41148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2020/10/22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42048" cy="1143000"/>
          </a:xfrm>
        </p:spPr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2020/10/22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5897880" cy="1173480"/>
          </a:xfrm>
        </p:spPr>
        <p:txBody>
          <a:bodyPr wrap="square" anchor="b"/>
          <a:lstStyle>
            <a:lvl1pPr algn="l">
              <a:buNone/>
              <a:defRPr lang="en-US" sz="2400" baseline="0" smtClean="0"/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2"/>
          </p:nvPr>
        </p:nvSpPr>
        <p:spPr>
          <a:xfrm>
            <a:off x="457200" y="1497416"/>
            <a:ext cx="5897880" cy="602512"/>
          </a:xfrm>
        </p:spPr>
        <p:txBody>
          <a:bodyPr rot="0" spcFirstLastPara="0" vertOverflow="overflow" horzOverflow="overflow" vert="horz" wrap="square" lIns="45720" tIns="0" rIns="0" bIns="0" numCol="1" spcCol="0" rtlCol="0" fromWordArt="0" anchor="t" anchorCtr="0" forceAA="0" compatLnSpc="1">
            <a:norm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1"/>
          </p:nvPr>
        </p:nvSpPr>
        <p:spPr>
          <a:xfrm>
            <a:off x="457200" y="2133600"/>
            <a:ext cx="7239000" cy="437175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/>
        </p:nvSpPr>
        <p:spPr>
          <a:xfrm rot="21240000">
            <a:off x="597968" y="1004668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5000" dist="12700" dir="5400000" algn="t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矩形 8"/>
          <p:cNvSpPr/>
          <p:nvPr/>
        </p:nvSpPr>
        <p:spPr>
          <a:xfrm rot="21420000">
            <a:off x="596706" y="998816"/>
            <a:ext cx="4319527" cy="4312573"/>
          </a:xfrm>
          <a:prstGeom prst="rect">
            <a:avLst/>
          </a:prstGeom>
          <a:solidFill>
            <a:srgbClr val="FAFAFA"/>
          </a:solidFill>
          <a:ln w="1270" cap="rnd" cmpd="sng" algn="ctr">
            <a:solidFill>
              <a:srgbClr val="EAEAEA"/>
            </a:solidFill>
            <a:prstDash val="solid"/>
          </a:ln>
          <a:effectLst>
            <a:outerShdw blurRad="28000" dist="12700" dir="5400000" algn="tl" rotWithShape="0">
              <a:srgbClr val="000000">
                <a:alpha val="4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389098" y="1143000"/>
            <a:ext cx="3429000" cy="2057400"/>
          </a:xfrm>
        </p:spPr>
        <p:txBody>
          <a:bodyPr vert="horz" anchor="b"/>
          <a:lstStyle>
            <a:lvl1pPr algn="l">
              <a:buNone/>
              <a:defRPr sz="3000" b="1" baseline="0">
                <a:ln w="500">
                  <a:solidFill>
                    <a:schemeClr val="tx2">
                      <a:shade val="10000"/>
                      <a:satMod val="135000"/>
                    </a:schemeClr>
                  </a:solidFill>
                </a:ln>
                <a:gradFill>
                  <a:gsLst>
                    <a:gs pos="0">
                      <a:schemeClr val="accent4">
                        <a:tint val="13000"/>
                      </a:schemeClr>
                    </a:gs>
                    <a:gs pos="10000">
                      <a:schemeClr val="accent4">
                        <a:tint val="20000"/>
                      </a:schemeClr>
                    </a:gs>
                    <a:gs pos="49000">
                      <a:schemeClr val="accent4">
                        <a:tint val="70000"/>
                      </a:schemeClr>
                    </a:gs>
                    <a:gs pos="50000">
                      <a:schemeClr val="accent4">
                        <a:tint val="97000"/>
                      </a:schemeClr>
                    </a:gs>
                    <a:gs pos="100000">
                      <a:schemeClr val="accent4">
                        <a:tint val="20000"/>
                      </a:schemeClr>
                    </a:gs>
                  </a:gsLst>
                  <a:lin ang="5400000" scaled="1"/>
                </a:gradFill>
                <a:effectLst/>
              </a:defRPr>
            </a:lvl1pPr>
            <a:extLst/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389098" y="3283634"/>
            <a:ext cx="3429000" cy="1920240"/>
          </a:xfrm>
        </p:spPr>
        <p:txBody>
          <a:bodyPr rot="0" spcFirstLastPara="0" vertOverflow="overflow" horzOverflow="overflow" vert="horz" wrap="square" lIns="82296" tIns="0" rIns="0" bIns="0" numCol="1" spcCol="0" rtlCol="0" fromWordArt="0" anchor="t" anchorCtr="0" forceAA="0" compatLnSpc="1"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400" baseline="0">
                <a:solidFill>
                  <a:schemeClr val="tx1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marL="0" marR="0" lvl="0" indent="0" algn="l" defTabSz="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tx2"/>
              </a:buClr>
              <a:buSzPct val="73000"/>
              <a:buFontTx/>
              <a:buNone/>
              <a:tabLst/>
              <a:defRPr/>
            </a:pPr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2020/10/22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  <p:sp>
        <p:nvSpPr>
          <p:cNvPr id="10" name="图片占位符 9"/>
          <p:cNvSpPr>
            <a:spLocks noGrp="1"/>
          </p:cNvSpPr>
          <p:nvPr>
            <p:ph type="pic" idx="1"/>
          </p:nvPr>
        </p:nvSpPr>
        <p:spPr>
          <a:xfrm>
            <a:off x="663682" y="1041002"/>
            <a:ext cx="4206240" cy="4206240"/>
          </a:xfrm>
          <a:solidFill>
            <a:schemeClr val="bg2">
              <a:shade val="50000"/>
            </a:schemeClr>
          </a:solidFill>
          <a:ln w="107950">
            <a:solidFill>
              <a:srgbClr val="FFFFFF"/>
            </a:solidFill>
            <a:miter lim="800000"/>
          </a:ln>
          <a:effectLst>
            <a:outerShdw blurRad="44450" dist="3810" dir="5400000" algn="tl" rotWithShape="0">
              <a:srgbClr val="000000">
                <a:alpha val="60000"/>
              </a:srgbClr>
            </a:outerShdw>
          </a:effectLst>
          <a:scene3d>
            <a:camera prst="orthographicFront"/>
            <a:lightRig rig="threePt" dir="t"/>
          </a:scene3d>
          <a:sp3d contourW="3810">
            <a:contourClr>
              <a:srgbClr val="969696"/>
            </a:contourClr>
          </a:sp3d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zh-CN" altLang="en-US"/>
              <a:t>单击图标添加图片</a:t>
            </a:r>
            <a:endParaRPr kumimoji="0" lang="en-US" dirty="0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53200" y="274955"/>
            <a:ext cx="1524000" cy="5851525"/>
          </a:xfrm>
        </p:spPr>
        <p:txBody>
          <a:bodyPr vert="eaVert" anchor="t"/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2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242816" y="6557946"/>
            <a:ext cx="2002464" cy="226902"/>
          </a:xfrm>
        </p:spPr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2020/10/22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57200" y="6556248"/>
            <a:ext cx="3657600" cy="2286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254496" y="6553200"/>
            <a:ext cx="588336" cy="2286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矩形 8"/>
          <p:cNvSpPr/>
          <p:nvPr/>
        </p:nvSpPr>
        <p:spPr>
          <a:xfrm flipH="1">
            <a:off x="8153400" y="0"/>
            <a:ext cx="990600" cy="6858000"/>
          </a:xfrm>
          <a:prstGeom prst="rect">
            <a:avLst/>
          </a:prstGeom>
          <a:blipFill>
            <a:blip r:embed="rId13" cstate="print">
              <a:alphaModFix amt="43000"/>
            </a:blip>
            <a:tile tx="0" ty="0" sx="50000" sy="50000" flip="none" algn="tl"/>
          </a:blipFill>
          <a:ln w="0" cap="flat" cmpd="sng" algn="ctr">
            <a:noFill/>
            <a:prstDash val="solid"/>
          </a:ln>
          <a:effectLst>
            <a:fillOverlay blend="mult">
              <a:gradFill rotWithShape="1">
                <a:gsLst>
                  <a:gs pos="0">
                    <a:schemeClr val="tx2">
                      <a:tint val="62000"/>
                      <a:satMod val="420000"/>
                    </a:schemeClr>
                  </a:gs>
                  <a:gs pos="100000">
                    <a:schemeClr val="tx2">
                      <a:shade val="20000"/>
                      <a:satMod val="170000"/>
                    </a:schemeClr>
                  </a:gs>
                </a:gsLst>
                <a:path path="circle">
                  <a:fillToRect l="50000" t="110000" r="50000" b="-10000"/>
                </a:path>
                <a:tileRect/>
              </a:gradFill>
            </a:fillOverlay>
            <a:innerShdw blurRad="63500" dist="44450" dir="10800000">
              <a:srgbClr val="000000">
                <a:alpha val="45000"/>
              </a:srgbClr>
            </a:inn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" name="标题占位符 2"/>
          <p:cNvSpPr>
            <a:spLocks noGrp="1"/>
          </p:cNvSpPr>
          <p:nvPr>
            <p:ph type="title"/>
          </p:nvPr>
        </p:nvSpPr>
        <p:spPr>
          <a:xfrm>
            <a:off x="457200" y="320040"/>
            <a:ext cx="7239000" cy="1143000"/>
          </a:xfrm>
          <a:prstGeom prst="rect">
            <a:avLst/>
          </a:prstGeom>
        </p:spPr>
        <p:txBody>
          <a:bodyPr vert="horz" lIns="45720" tIns="0" rIns="45720" bIns="0" anchor="b" anchorCtr="0">
            <a:normAutofit/>
          </a:bodyPr>
          <a:lstStyle/>
          <a:p>
            <a:r>
              <a:rPr kumimoji="0" lang="zh-CN" altLang="en-US"/>
              <a:t>单击此处编辑母版标题样式</a:t>
            </a:r>
            <a:endParaRPr kumimoji="0" lang="en-US"/>
          </a:p>
        </p:txBody>
      </p:sp>
      <p:sp>
        <p:nvSpPr>
          <p:cNvPr id="31" name="文本占位符 30"/>
          <p:cNvSpPr>
            <a:spLocks noGrp="1"/>
          </p:cNvSpPr>
          <p:nvPr>
            <p:ph type="body" idx="1"/>
          </p:nvPr>
        </p:nvSpPr>
        <p:spPr>
          <a:xfrm>
            <a:off x="457200" y="1609416"/>
            <a:ext cx="7239000" cy="48463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  <a:p>
            <a:pPr lvl="1" eaLnBrk="1" latinLnBrk="0" hangingPunct="1"/>
            <a:r>
              <a:rPr kumimoji="0" lang="zh-CN" altLang="en-US"/>
              <a:t>第二级</a:t>
            </a:r>
          </a:p>
          <a:p>
            <a:pPr lvl="2" eaLnBrk="1" latinLnBrk="0" hangingPunct="1"/>
            <a:r>
              <a:rPr kumimoji="0" lang="zh-CN" altLang="en-US"/>
              <a:t>第三级</a:t>
            </a:r>
          </a:p>
          <a:p>
            <a:pPr lvl="3" eaLnBrk="1" latinLnBrk="0" hangingPunct="1"/>
            <a:r>
              <a:rPr kumimoji="0" lang="zh-CN" altLang="en-US"/>
              <a:t>第四级</a:t>
            </a:r>
          </a:p>
          <a:p>
            <a:pPr lvl="4" eaLnBrk="1" latinLnBrk="0" hangingPunct="1"/>
            <a:r>
              <a:rPr kumimoji="0" lang="zh-CN" altLang="en-US"/>
              <a:t>第五级</a:t>
            </a:r>
            <a:endParaRPr kumimoji="0" lang="en-US"/>
          </a:p>
        </p:txBody>
      </p:sp>
      <p:sp>
        <p:nvSpPr>
          <p:cNvPr id="27" name="日期占位符 26"/>
          <p:cNvSpPr>
            <a:spLocks noGrp="1"/>
          </p:cNvSpPr>
          <p:nvPr>
            <p:ph type="dt" sz="half" idx="2"/>
          </p:nvPr>
        </p:nvSpPr>
        <p:spPr>
          <a:xfrm>
            <a:off x="4245936" y="6557946"/>
            <a:ext cx="2002464" cy="226902"/>
          </a:xfrm>
          <a:prstGeom prst="rect">
            <a:avLst/>
          </a:prstGeom>
        </p:spPr>
        <p:txBody>
          <a:bodyPr vert="horz" tIns="0" bIns="0" anchor="b"/>
          <a:lstStyle>
            <a:lvl1pPr algn="l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fld id="{530820CF-B880-4189-942D-D702A7CBA730}" type="datetimeFigureOut">
              <a:rPr lang="zh-CN" altLang="en-US" smtClean="0"/>
              <a:pPr/>
              <a:t>2020/10/22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3"/>
          </p:nvPr>
        </p:nvSpPr>
        <p:spPr>
          <a:xfrm>
            <a:off x="457200" y="6557946"/>
            <a:ext cx="3657600" cy="228600"/>
          </a:xfrm>
          <a:prstGeom prst="rect">
            <a:avLst/>
          </a:prstGeom>
        </p:spPr>
        <p:txBody>
          <a:bodyPr vert="horz" tIns="0" bIns="0" anchor="b"/>
          <a:lstStyle>
            <a:lvl1pPr algn="r" eaLnBrk="1" latinLnBrk="0" hangingPunct="1">
              <a:defRPr kumimoji="0" sz="1000">
                <a:solidFill>
                  <a:schemeClr val="tx2"/>
                </a:solidFill>
              </a:defRPr>
            </a:lvl1pPr>
            <a:extLst/>
          </a:lstStyle>
          <a:p>
            <a:endParaRPr lang="zh-CN" altLang="en-US"/>
          </a:p>
        </p:txBody>
      </p:sp>
      <p:sp>
        <p:nvSpPr>
          <p:cNvPr id="16" name="灯片编号占位符 15"/>
          <p:cNvSpPr>
            <a:spLocks noGrp="1"/>
          </p:cNvSpPr>
          <p:nvPr>
            <p:ph type="sldNum" sz="quarter" idx="4"/>
          </p:nvPr>
        </p:nvSpPr>
        <p:spPr>
          <a:xfrm>
            <a:off x="6251448" y="6556248"/>
            <a:ext cx="588336" cy="228600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100">
                <a:solidFill>
                  <a:schemeClr val="tx2"/>
                </a:solidFill>
              </a:defRPr>
            </a:lvl1pPr>
            <a:extLst/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800" b="1" kern="1200" cap="all" baseline="0">
          <a:ln w="500">
            <a:solidFill>
              <a:schemeClr val="tx2">
                <a:shade val="20000"/>
                <a:satMod val="120000"/>
              </a:schemeClr>
            </a:solidFill>
          </a:ln>
          <a:gradFill>
            <a:gsLst>
              <a:gs pos="0">
                <a:schemeClr val="accent4">
                  <a:tint val="13000"/>
                </a:schemeClr>
              </a:gs>
              <a:gs pos="10000">
                <a:schemeClr val="accent4">
                  <a:tint val="20000"/>
                </a:schemeClr>
              </a:gs>
              <a:gs pos="49000">
                <a:schemeClr val="accent4">
                  <a:tint val="70000"/>
                </a:schemeClr>
              </a:gs>
              <a:gs pos="50000">
                <a:schemeClr val="accent4">
                  <a:tint val="97000"/>
                </a:schemeClr>
              </a:gs>
              <a:gs pos="100000">
                <a:schemeClr val="accent4">
                  <a:tint val="20000"/>
                </a:schemeClr>
              </a:gs>
            </a:gsLst>
            <a:lin ang="5400000" scaled="1"/>
          </a:gradFill>
          <a:effectLst/>
          <a:latin typeface="+mj-lt"/>
          <a:ea typeface="+mj-ea"/>
          <a:cs typeface="+mj-cs"/>
        </a:defRPr>
      </a:lvl1pPr>
      <a:extLst/>
    </p:titleStyle>
    <p:bodyStyle>
      <a:lvl1pPr marL="274320" indent="-274320" algn="l" rtl="0" eaLnBrk="1" latinLnBrk="0" hangingPunct="1">
        <a:spcBef>
          <a:spcPts val="600"/>
        </a:spcBef>
        <a:buClr>
          <a:schemeClr val="tx2"/>
        </a:buClr>
        <a:buSzPct val="73000"/>
        <a:buFont typeface="Wingdings 2"/>
        <a:buChar char=""/>
        <a:defRPr kumimoji="0" sz="2600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521208" indent="-228600" algn="l" rtl="0" eaLnBrk="1" latinLnBrk="0" hangingPunct="1">
        <a:spcBef>
          <a:spcPts val="500"/>
        </a:spcBef>
        <a:buClr>
          <a:schemeClr val="accent4"/>
        </a:buClr>
        <a:buSzPct val="80000"/>
        <a:buFont typeface="Wingdings 2"/>
        <a:buChar char=""/>
        <a:defRPr kumimoji="0" sz="23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2pPr>
      <a:lvl3pPr marL="758952" indent="-228600" algn="l" rtl="0" eaLnBrk="1" latinLnBrk="0" hangingPunct="1">
        <a:spcBef>
          <a:spcPts val="400"/>
        </a:spcBef>
        <a:buClr>
          <a:schemeClr val="accent4"/>
        </a:buClr>
        <a:buSzPct val="60000"/>
        <a:buFont typeface="Wingdings"/>
        <a:buChar char="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"/>
        <a:defRPr kumimoji="0" sz="20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4pPr>
      <a:lvl5pPr marL="1280160" indent="-228600" algn="l" rtl="0" eaLnBrk="1" latinLnBrk="0" hangingPunct="1">
        <a:spcBef>
          <a:spcPts val="400"/>
        </a:spcBef>
        <a:buClr>
          <a:schemeClr val="accent4"/>
        </a:buClr>
        <a:buSzPct val="70000"/>
        <a:buFont typeface="Wingdings"/>
        <a:buChar char="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472184" indent="-182880" algn="l" rtl="0" eaLnBrk="1" latinLnBrk="0" hangingPunct="1">
        <a:spcBef>
          <a:spcPts val="400"/>
        </a:spcBef>
        <a:buClr>
          <a:schemeClr val="accent4"/>
        </a:buClr>
        <a:buSzPct val="80000"/>
        <a:buFont typeface="Wingdings 2"/>
        <a:buChar char=""/>
        <a:defRPr kumimoji="0" sz="1800" kern="120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6pPr>
      <a:lvl7pPr marL="1673352" indent="-182880" algn="l" rtl="0" eaLnBrk="1" latinLnBrk="0" hangingPunct="1">
        <a:spcBef>
          <a:spcPct val="20000"/>
        </a:spcBef>
        <a:buClr>
          <a:schemeClr val="accent4"/>
        </a:buClr>
        <a:buSzPct val="80000"/>
        <a:buFont typeface="Wingdings 2"/>
        <a:buChar char="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47088" indent="-182880" algn="l" rtl="0" eaLnBrk="1" latinLnBrk="0" hangingPunct="1">
        <a:spcBef>
          <a:spcPts val="300"/>
        </a:spcBef>
        <a:buClr>
          <a:schemeClr val="accent4"/>
        </a:buClr>
        <a:buSzPct val="100000"/>
        <a:buChar char="•"/>
        <a:defRPr kumimoji="0" sz="1600" kern="1200" baseline="0">
          <a:solidFill>
            <a:schemeClr val="tx1">
              <a:tint val="85000"/>
            </a:schemeClr>
          </a:solidFill>
          <a:latin typeface="+mn-lt"/>
          <a:ea typeface="+mn-ea"/>
          <a:cs typeface="+mn-cs"/>
        </a:defRPr>
      </a:lvl8pPr>
      <a:lvl9pPr marL="2057400" indent="-182880" algn="l" rtl="0" eaLnBrk="1" latinLnBrk="0" hangingPunct="1">
        <a:spcBef>
          <a:spcPct val="20000"/>
        </a:spcBef>
        <a:buClr>
          <a:schemeClr val="accent4"/>
        </a:buClr>
        <a:buSzPct val="100000"/>
        <a:buFont typeface="Wingdings"/>
        <a:buChar char="§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13" Type="http://schemas.openxmlformats.org/officeDocument/2006/relationships/image" Target="../media/image14.wmf"/><Relationship Id="rId3" Type="http://schemas.openxmlformats.org/officeDocument/2006/relationships/image" Target="../media/image4.wmf"/><Relationship Id="rId7" Type="http://schemas.openxmlformats.org/officeDocument/2006/relationships/image" Target="../media/image8.wmf"/><Relationship Id="rId12" Type="http://schemas.openxmlformats.org/officeDocument/2006/relationships/image" Target="../media/image13.w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wmf"/><Relationship Id="rId11" Type="http://schemas.openxmlformats.org/officeDocument/2006/relationships/image" Target="../media/image12.wmf"/><Relationship Id="rId5" Type="http://schemas.openxmlformats.org/officeDocument/2006/relationships/image" Target="../media/image6.wmf"/><Relationship Id="rId15" Type="http://schemas.openxmlformats.org/officeDocument/2006/relationships/image" Target="../media/image16.wmf"/><Relationship Id="rId10" Type="http://schemas.openxmlformats.org/officeDocument/2006/relationships/image" Target="../media/image11.wmf"/><Relationship Id="rId4" Type="http://schemas.openxmlformats.org/officeDocument/2006/relationships/image" Target="../media/image5.wmf"/><Relationship Id="rId9" Type="http://schemas.openxmlformats.org/officeDocument/2006/relationships/image" Target="../media/image10.wmf"/><Relationship Id="rId1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wm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19.wmf"/><Relationship Id="rId4" Type="http://schemas.openxmlformats.org/officeDocument/2006/relationships/oleObject" Target="../embeddings/oleObject1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emf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emf"/><Relationship Id="rId13" Type="http://schemas.openxmlformats.org/officeDocument/2006/relationships/image" Target="../media/image36.emf"/><Relationship Id="rId3" Type="http://schemas.openxmlformats.org/officeDocument/2006/relationships/image" Target="../media/image26.emf"/><Relationship Id="rId7" Type="http://schemas.openxmlformats.org/officeDocument/2006/relationships/image" Target="../media/image30.emf"/><Relationship Id="rId12" Type="http://schemas.openxmlformats.org/officeDocument/2006/relationships/image" Target="../media/image35.emf"/><Relationship Id="rId2" Type="http://schemas.openxmlformats.org/officeDocument/2006/relationships/image" Target="../media/image25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emf"/><Relationship Id="rId11" Type="http://schemas.openxmlformats.org/officeDocument/2006/relationships/image" Target="../media/image34.emf"/><Relationship Id="rId5" Type="http://schemas.openxmlformats.org/officeDocument/2006/relationships/image" Target="../media/image28.emf"/><Relationship Id="rId10" Type="http://schemas.openxmlformats.org/officeDocument/2006/relationships/image" Target="../media/image33.emf"/><Relationship Id="rId4" Type="http://schemas.openxmlformats.org/officeDocument/2006/relationships/image" Target="../media/image27.emf"/><Relationship Id="rId9" Type="http://schemas.openxmlformats.org/officeDocument/2006/relationships/image" Target="../media/image32.emf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emf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emf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/>
              <a:t>C/C++</a:t>
            </a:r>
            <a:r>
              <a:rPr lang="zh-CN" altLang="en-US" dirty="0"/>
              <a:t>程序设计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endParaRPr lang="en-US" altLang="zh-CN" sz="2800" dirty="0">
              <a:latin typeface="+mj-ea"/>
              <a:ea typeface="+mj-ea"/>
            </a:endParaRPr>
          </a:p>
          <a:p>
            <a:r>
              <a:rPr lang="zh-CN" altLang="en-US" sz="2800" dirty="0">
                <a:latin typeface="+mj-ea"/>
                <a:ea typeface="+mj-ea"/>
              </a:rPr>
              <a:t>循环语句</a:t>
            </a:r>
            <a:r>
              <a:rPr lang="en-US" altLang="zh-CN" sz="3200" dirty="0">
                <a:solidFill>
                  <a:srgbClr val="00B050"/>
                </a:solidFill>
                <a:latin typeface="+mj-ea"/>
                <a:ea typeface="+mj-ea"/>
              </a:rPr>
              <a:t>-</a:t>
            </a:r>
            <a:r>
              <a:rPr lang="zh-CN" altLang="en-US" sz="3200" dirty="0">
                <a:solidFill>
                  <a:srgbClr val="00B050"/>
                </a:solidFill>
                <a:latin typeface="+mj-ea"/>
                <a:ea typeface="+mj-ea"/>
              </a:rPr>
              <a:t>初步</a:t>
            </a:r>
            <a:endParaRPr lang="en-US" altLang="zh-CN" sz="2800" dirty="0">
              <a:solidFill>
                <a:srgbClr val="00B050"/>
              </a:solidFill>
              <a:latin typeface="+mj-ea"/>
              <a:ea typeface="+mj-ea"/>
            </a:endParaRPr>
          </a:p>
          <a:p>
            <a:endParaRPr lang="zh-CN" altLang="en-US" dirty="0">
              <a:latin typeface="+mj-ea"/>
              <a:ea typeface="+mj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标题 1"/>
          <p:cNvSpPr>
            <a:spLocks noGrp="1"/>
          </p:cNvSpPr>
          <p:nvPr>
            <p:ph type="title"/>
          </p:nvPr>
        </p:nvSpPr>
        <p:spPr>
          <a:xfrm>
            <a:off x="457200" y="7141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循环语句</a:t>
            </a:r>
          </a:p>
        </p:txBody>
      </p:sp>
      <p:sp>
        <p:nvSpPr>
          <p:cNvPr id="71683" name="内容占位符 2"/>
          <p:cNvSpPr>
            <a:spLocks noGrp="1"/>
          </p:cNvSpPr>
          <p:nvPr>
            <p:ph idx="1"/>
          </p:nvPr>
        </p:nvSpPr>
        <p:spPr>
          <a:xfrm>
            <a:off x="457200" y="785794"/>
            <a:ext cx="8329642" cy="4846320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根据一定的条件控制一段程序重复执行若干次</a:t>
            </a:r>
            <a:endParaRPr lang="en-US" altLang="zh-CN" sz="2800" b="1" dirty="0">
              <a:latin typeface="+mj-ea"/>
              <a:ea typeface="+mj-ea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三类循环语句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for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while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do...while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循环语句可以嵌套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循环语句的循环体中包括其它循环语句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FB1E404-5062-42EB-B79F-FF9B27DE23AE}" type="slidenum">
              <a:rPr lang="en-US" altLang="zh-CN"/>
              <a:pPr>
                <a:defRPr/>
              </a:pPr>
              <a:t>2</a:t>
            </a:fld>
            <a:endParaRPr lang="en-US" altLang="zh-C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标题 1"/>
          <p:cNvSpPr>
            <a:spLocks noGrp="1"/>
          </p:cNvSpPr>
          <p:nvPr>
            <p:ph type="title"/>
          </p:nvPr>
        </p:nvSpPr>
        <p:spPr>
          <a:xfrm>
            <a:off x="428596" y="-2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循环语句</a:t>
            </a:r>
          </a:p>
        </p:txBody>
      </p:sp>
      <p:sp>
        <p:nvSpPr>
          <p:cNvPr id="74755" name="内容占位符 2"/>
          <p:cNvSpPr>
            <a:spLocks noGrp="1"/>
          </p:cNvSpPr>
          <p:nvPr>
            <p:ph idx="1"/>
          </p:nvPr>
        </p:nvSpPr>
        <p:spPr>
          <a:xfrm>
            <a:off x="179512" y="590860"/>
            <a:ext cx="8678198" cy="5286412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for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执行过程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400" b="1" dirty="0">
                <a:latin typeface="+mj-ea"/>
                <a:ea typeface="+mj-ea"/>
              </a:rPr>
              <a:t>(1)</a:t>
            </a:r>
            <a:r>
              <a:rPr lang="zh-CN" altLang="en-US" sz="2400" b="1" dirty="0">
                <a:latin typeface="+mj-ea"/>
                <a:ea typeface="+mj-ea"/>
              </a:rPr>
              <a:t>计算“&lt;表达式1&gt;”；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400" b="1" dirty="0">
                <a:latin typeface="+mj-ea"/>
                <a:ea typeface="+mj-ea"/>
              </a:rPr>
              <a:t>(2)</a:t>
            </a:r>
            <a:r>
              <a:rPr lang="zh-CN" altLang="en-US" sz="2400" b="1" dirty="0">
                <a:latin typeface="+mj-ea"/>
                <a:ea typeface="+mj-ea"/>
              </a:rPr>
              <a:t>计算“&lt;表达式2&gt;”，若结果值为0（假）则结束本</a:t>
            </a:r>
            <a:r>
              <a:rPr lang="en-US" altLang="zh-CN" sz="2400" b="1" dirty="0">
                <a:latin typeface="+mj-ea"/>
                <a:ea typeface="+mj-ea"/>
              </a:rPr>
              <a:t>for</a:t>
            </a:r>
            <a:r>
              <a:rPr lang="zh-CN" altLang="en-US" sz="2400" b="1" dirty="0">
                <a:latin typeface="+mj-ea"/>
                <a:ea typeface="+mj-ea"/>
              </a:rPr>
              <a:t>语句，否则，先执行一遍作为循环体的那一“&lt;语句&gt;”，再计算“&lt;表达式3&gt;”，而后转(2)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循环控制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每执行一次循环之前，判断表达式</a:t>
            </a:r>
            <a:r>
              <a:rPr lang="en-US" altLang="zh-CN" sz="2400" b="1" dirty="0">
                <a:latin typeface="+mj-ea"/>
                <a:ea typeface="+mj-ea"/>
              </a:rPr>
              <a:t>E2</a:t>
            </a:r>
            <a:r>
              <a:rPr lang="zh-CN" altLang="en-US" sz="2400" b="1" dirty="0">
                <a:latin typeface="+mj-ea"/>
                <a:ea typeface="+mj-ea"/>
              </a:rPr>
              <a:t>的值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为真值则继续执行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为假值则结束循环</a:t>
            </a:r>
            <a:endParaRPr lang="zh-CN" altLang="en-US" b="1" dirty="0">
              <a:solidFill>
                <a:srgbClr val="002060"/>
              </a:solidFill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B60E91-F2BB-464D-8FBC-847E85C7354D}" type="slidenum">
              <a:rPr lang="en-US" altLang="zh-CN"/>
              <a:pPr>
                <a:defRPr/>
              </a:pPr>
              <a:t>3</a:t>
            </a:fld>
            <a:endParaRPr lang="en-US" altLang="zh-C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9" name="内容占位符 2"/>
          <p:cNvSpPr>
            <a:spLocks noGrp="1"/>
          </p:cNvSpPr>
          <p:nvPr>
            <p:ph idx="1"/>
          </p:nvPr>
        </p:nvSpPr>
        <p:spPr>
          <a:xfrm>
            <a:off x="107504" y="63277"/>
            <a:ext cx="8153400" cy="1133475"/>
          </a:xfrm>
        </p:spPr>
        <p:txBody>
          <a:bodyPr/>
          <a:lstStyle/>
          <a:p>
            <a:pPr eaLnBrk="1" hangingPunct="1"/>
            <a:r>
              <a:rPr lang="en-US" altLang="zh-CN" b="1" dirty="0">
                <a:latin typeface="+mj-ea"/>
                <a:ea typeface="+mj-ea"/>
              </a:rPr>
              <a:t>for</a:t>
            </a:r>
            <a:r>
              <a:rPr lang="zh-CN" altLang="en-US" b="1" dirty="0">
                <a:latin typeface="+mj-ea"/>
                <a:ea typeface="+mj-ea"/>
              </a:rPr>
              <a:t>语句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执行流程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840631F-5170-45B3-B182-4291BAEDDB2C}" type="slidenum">
              <a:rPr lang="en-US" altLang="zh-CN"/>
              <a:pPr>
                <a:defRPr/>
              </a:pPr>
              <a:t>4</a:t>
            </a:fld>
            <a:endParaRPr lang="en-US" altLang="zh-CN" dirty="0"/>
          </a:p>
        </p:txBody>
      </p:sp>
      <p:pic>
        <p:nvPicPr>
          <p:cNvPr id="75782" name="Picture 8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9295" y="764704"/>
            <a:ext cx="5901097" cy="5562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标题 1"/>
          <p:cNvSpPr>
            <a:spLocks noGrp="1"/>
          </p:cNvSpPr>
          <p:nvPr>
            <p:ph type="title"/>
          </p:nvPr>
        </p:nvSpPr>
        <p:spPr>
          <a:xfrm>
            <a:off x="357158" y="-24"/>
            <a:ext cx="7239000" cy="605808"/>
          </a:xfrm>
        </p:spPr>
        <p:txBody>
          <a:bodyPr/>
          <a:lstStyle/>
          <a:p>
            <a:pPr eaLnBrk="1" hangingPunct="1"/>
            <a:r>
              <a:rPr lang="zh-CN" altLang="en-US" dirty="0">
                <a:latin typeface="黑体" pitchFamily="49" charset="-122"/>
                <a:ea typeface="黑体" pitchFamily="49" charset="-122"/>
              </a:rPr>
              <a:t>循环语句</a:t>
            </a:r>
          </a:p>
        </p:txBody>
      </p:sp>
      <p:sp>
        <p:nvSpPr>
          <p:cNvPr id="76803" name="内容占位符 2"/>
          <p:cNvSpPr>
            <a:spLocks noGrp="1"/>
          </p:cNvSpPr>
          <p:nvPr>
            <p:ph idx="1"/>
          </p:nvPr>
        </p:nvSpPr>
        <p:spPr>
          <a:xfrm>
            <a:off x="357158" y="714356"/>
            <a:ext cx="8153400" cy="127635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2800" b="1" dirty="0">
                <a:latin typeface="+mj-ea"/>
                <a:ea typeface="+mj-ea"/>
              </a:rPr>
              <a:t>for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执行流程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6AED8BF7-3013-4C36-910D-78A41D6ADCA0}" type="slidenum">
              <a:rPr lang="en-US" altLang="zh-CN"/>
              <a:pPr>
                <a:defRPr/>
              </a:pPr>
              <a:t>5</a:t>
            </a:fld>
            <a:endParaRPr lang="en-US" altLang="zh-CN" dirty="0"/>
          </a:p>
        </p:txBody>
      </p:sp>
      <p:pic>
        <p:nvPicPr>
          <p:cNvPr id="7680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14500" y="3071813"/>
            <a:ext cx="5762625" cy="205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428875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1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71938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2286000" y="3806825"/>
            <a:ext cx="16970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2" name="Picture 6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5794375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4" name="Picture 7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4079875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6" name="Picture 8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2286000" y="3806825"/>
            <a:ext cx="16970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5" name="Picture 9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5794375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7" name="Picture 10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4079875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9" name="Picture 11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286000" y="3806825"/>
            <a:ext cx="1697038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8" name="Picture 12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5786438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0" name="Picture 13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4079875" y="3071813"/>
            <a:ext cx="1492250" cy="4778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0910" name="Picture 14"/>
          <p:cNvPicPr>
            <a:picLocks noChangeAspect="1" noChangeArrowheads="1"/>
          </p:cNvPicPr>
          <p:nvPr/>
        </p:nvPicPr>
        <p:blipFill>
          <a:blip r:embed="rId14" cstate="print"/>
          <a:srcRect/>
          <a:stretch>
            <a:fillRect/>
          </a:stretch>
        </p:blipFill>
        <p:spPr bwMode="auto">
          <a:xfrm>
            <a:off x="4643438" y="2000250"/>
            <a:ext cx="619125" cy="1000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31" name="Picture 15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1643063" y="4714875"/>
            <a:ext cx="1431925" cy="4778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809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1" name="内容占位符 2"/>
          <p:cNvSpPr>
            <a:spLocks noGrp="1"/>
          </p:cNvSpPr>
          <p:nvPr>
            <p:ph idx="1"/>
          </p:nvPr>
        </p:nvSpPr>
        <p:spPr>
          <a:xfrm>
            <a:off x="251520" y="-27384"/>
            <a:ext cx="8606760" cy="4846320"/>
          </a:xfrm>
        </p:spPr>
        <p:txBody>
          <a:bodyPr>
            <a:normAutofit/>
          </a:bodyPr>
          <a:lstStyle/>
          <a:p>
            <a:pPr eaLnBrk="1" hangingPunct="1"/>
            <a:r>
              <a:rPr lang="en-US" altLang="zh-CN" sz="3200" b="1" dirty="0">
                <a:latin typeface="+mj-ea"/>
                <a:ea typeface="+mj-ea"/>
              </a:rPr>
              <a:t>for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/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4.16】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读下述程序，注意其中的三个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for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循环语句以及所累加出的三个不同的</a:t>
            </a:r>
            <a:r>
              <a:rPr lang="en-US" altLang="zh-CN" sz="2800" b="1" dirty="0">
                <a:solidFill>
                  <a:srgbClr val="C00000"/>
                </a:solidFill>
                <a:latin typeface="+mj-ea"/>
                <a:ea typeface="+mj-ea"/>
              </a:rPr>
              <a:t>sum</a:t>
            </a:r>
            <a:r>
              <a:rPr lang="zh-CN" altLang="en-US" sz="2800" b="1" dirty="0">
                <a:solidFill>
                  <a:srgbClr val="C00000"/>
                </a:solidFill>
                <a:latin typeface="+mj-ea"/>
                <a:ea typeface="+mj-ea"/>
              </a:rPr>
              <a:t>结果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5654986-71EF-4EE6-8FDD-413B54753651}" type="slidenum">
              <a:rPr lang="en-US" altLang="zh-CN"/>
              <a:pPr>
                <a:defRPr/>
              </a:pPr>
              <a:t>6</a:t>
            </a:fld>
            <a:endParaRPr lang="en-US" altLang="zh-CN" dirty="0"/>
          </a:p>
        </p:txBody>
      </p:sp>
      <p:pic>
        <p:nvPicPr>
          <p:cNvPr id="83974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285887" y="1484784"/>
            <a:ext cx="6758117" cy="50405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3325CCBC-0785-4147-9643-F7BE88B2B4C1}" type="slidenum">
              <a:rPr lang="en-US" altLang="zh-CN"/>
              <a:pPr>
                <a:defRPr/>
              </a:pPr>
              <a:t>7</a:t>
            </a:fld>
            <a:endParaRPr lang="en-US" altLang="zh-CN" dirty="0"/>
          </a:p>
        </p:txBody>
      </p:sp>
      <p:pic>
        <p:nvPicPr>
          <p:cNvPr id="84997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71600" y="188640"/>
            <a:ext cx="5536607" cy="34895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内容占位符 2"/>
          <p:cNvSpPr>
            <a:spLocks noGrp="1"/>
          </p:cNvSpPr>
          <p:nvPr>
            <p:ph idx="1"/>
          </p:nvPr>
        </p:nvSpPr>
        <p:spPr>
          <a:xfrm>
            <a:off x="214282" y="3654778"/>
            <a:ext cx="8929750" cy="2846056"/>
          </a:xfrm>
        </p:spPr>
        <p:txBody>
          <a:bodyPr/>
          <a:lstStyle/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第一个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for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语句，循环10次，每次往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sum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上累加2</a:t>
            </a:r>
            <a:r>
              <a:rPr lang="zh-CN" altLang="en-US" b="1" dirty="0">
                <a:latin typeface="+mj-ea"/>
                <a:ea typeface="+mj-ea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注意，循环体中并没有使用循环变量</a:t>
            </a:r>
            <a:r>
              <a:rPr lang="en-US" altLang="zh-CN" b="1" dirty="0" err="1">
                <a:solidFill>
                  <a:srgbClr val="FF0000"/>
                </a:solidFill>
                <a:latin typeface="+mj-ea"/>
                <a:ea typeface="+mj-ea"/>
              </a:rPr>
              <a:t>i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之值，</a:t>
            </a:r>
            <a:r>
              <a:rPr lang="en-US" altLang="zh-CN" b="1" dirty="0" err="1">
                <a:solidFill>
                  <a:srgbClr val="FF0000"/>
                </a:solidFill>
                <a:latin typeface="+mj-ea"/>
                <a:ea typeface="+mj-ea"/>
              </a:rPr>
              <a:t>i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只起控制次数的作用</a:t>
            </a:r>
            <a:r>
              <a:rPr lang="zh-CN" altLang="en-US" b="1" dirty="0">
                <a:latin typeface="+mj-ea"/>
                <a:ea typeface="+mj-ea"/>
              </a:rPr>
              <a:t>）。</a:t>
            </a:r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第二个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for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语句，循环10次，每次往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sum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上累加</a:t>
            </a:r>
            <a:r>
              <a:rPr lang="en-US" altLang="zh-CN" b="1" dirty="0" err="1">
                <a:solidFill>
                  <a:srgbClr val="002060"/>
                </a:solidFill>
                <a:latin typeface="+mj-ea"/>
                <a:ea typeface="+mj-ea"/>
              </a:rPr>
              <a:t>i</a:t>
            </a:r>
            <a:r>
              <a:rPr lang="en-US" altLang="zh-CN" b="1" dirty="0">
                <a:latin typeface="+mj-ea"/>
                <a:ea typeface="+mj-ea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循环体中使用了循环变量</a:t>
            </a:r>
            <a:r>
              <a:rPr lang="en-US" altLang="zh-CN" b="1" dirty="0" err="1">
                <a:solidFill>
                  <a:srgbClr val="FF0000"/>
                </a:solidFill>
                <a:latin typeface="+mj-ea"/>
                <a:ea typeface="+mj-ea"/>
              </a:rPr>
              <a:t>i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之值</a:t>
            </a:r>
            <a:r>
              <a:rPr lang="zh-CN" altLang="en-US" b="1" dirty="0">
                <a:latin typeface="+mj-ea"/>
                <a:ea typeface="+mj-ea"/>
              </a:rPr>
              <a:t>）。</a:t>
            </a:r>
          </a:p>
          <a:p>
            <a:pPr lvl="1">
              <a:lnSpc>
                <a:spcPct val="12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第三个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for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语句，循环10次，每次往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sum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上累加一个从键盘输入的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x</a:t>
            </a:r>
            <a:r>
              <a:rPr lang="en-US" altLang="zh-CN" b="1" dirty="0">
                <a:latin typeface="+mj-ea"/>
                <a:ea typeface="+mj-ea"/>
              </a:rPr>
              <a:t>（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注意，循环体中并没有使用循环变量</a:t>
            </a:r>
            <a:r>
              <a:rPr lang="en-US" altLang="zh-CN" b="1" dirty="0" err="1">
                <a:solidFill>
                  <a:srgbClr val="FF0000"/>
                </a:solidFill>
                <a:latin typeface="+mj-ea"/>
                <a:ea typeface="+mj-ea"/>
              </a:rPr>
              <a:t>i</a:t>
            </a:r>
            <a:r>
              <a:rPr lang="zh-CN" altLang="en-US" b="1" dirty="0">
                <a:solidFill>
                  <a:srgbClr val="FF0000"/>
                </a:solidFill>
                <a:latin typeface="+mj-ea"/>
                <a:ea typeface="+mj-ea"/>
              </a:rPr>
              <a:t>之值</a:t>
            </a:r>
            <a:r>
              <a:rPr lang="zh-CN" altLang="en-US" b="1" dirty="0">
                <a:latin typeface="+mj-ea"/>
                <a:ea typeface="+mj-ea"/>
              </a:rPr>
              <a:t>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8" name="内容占位符 2"/>
          <p:cNvSpPr>
            <a:spLocks noGrp="1"/>
          </p:cNvSpPr>
          <p:nvPr>
            <p:ph idx="1"/>
          </p:nvPr>
        </p:nvSpPr>
        <p:spPr>
          <a:xfrm>
            <a:off x="142844" y="238864"/>
            <a:ext cx="8572560" cy="4846320"/>
          </a:xfrm>
        </p:spPr>
        <p:txBody>
          <a:bodyPr>
            <a:noAutofit/>
          </a:bodyPr>
          <a:lstStyle/>
          <a:p>
            <a:pPr eaLnBrk="1" hangingPunct="1">
              <a:lnSpc>
                <a:spcPct val="120000"/>
              </a:lnSpc>
            </a:pPr>
            <a:r>
              <a:rPr lang="en-US" altLang="zh-CN" sz="2800" b="1" dirty="0">
                <a:latin typeface="+mj-ea"/>
                <a:ea typeface="+mj-ea"/>
              </a:rPr>
              <a:t>for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2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4.17】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设计程序输出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Fibonacci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数列的前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20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项，要求每行输出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5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个数据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en-US" altLang="zh-CN" sz="2400" b="1" dirty="0">
                <a:latin typeface="+mj-ea"/>
                <a:ea typeface="+mj-ea"/>
              </a:rPr>
              <a:t>Fibonacci</a:t>
            </a:r>
            <a:r>
              <a:rPr lang="zh-CN" altLang="en-US" sz="2400" b="1" dirty="0">
                <a:latin typeface="+mj-ea"/>
                <a:ea typeface="+mj-ea"/>
              </a:rPr>
              <a:t>数列：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  <a:buNone/>
            </a:pP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20000"/>
              </a:lnSpc>
            </a:pPr>
            <a:r>
              <a:rPr lang="zh-CN" altLang="en-US" sz="2400" b="1" dirty="0">
                <a:latin typeface="+mj-ea"/>
                <a:ea typeface="+mj-ea"/>
              </a:rPr>
              <a:t>除了第</a:t>
            </a:r>
            <a:r>
              <a:rPr lang="en-US" altLang="zh-CN" sz="2400" b="1" dirty="0">
                <a:latin typeface="+mj-ea"/>
                <a:ea typeface="+mj-ea"/>
              </a:rPr>
              <a:t>0</a:t>
            </a:r>
            <a:r>
              <a:rPr lang="zh-CN" altLang="en-US" sz="2400" b="1" dirty="0">
                <a:latin typeface="+mj-ea"/>
                <a:ea typeface="+mj-ea"/>
              </a:rPr>
              <a:t>项和第</a:t>
            </a:r>
            <a:r>
              <a:rPr lang="en-US" altLang="zh-CN" sz="2400" b="1" dirty="0">
                <a:latin typeface="+mj-ea"/>
                <a:ea typeface="+mj-ea"/>
              </a:rPr>
              <a:t>1</a:t>
            </a:r>
            <a:r>
              <a:rPr lang="zh-CN" altLang="en-US" sz="2400" b="1" dirty="0">
                <a:latin typeface="+mj-ea"/>
                <a:ea typeface="+mj-ea"/>
              </a:rPr>
              <a:t>项外，每一项都是由类似方法产生，即前两项之和；所以求当前项时，只需要记住前两项；程序不需要为每一项设置专用变量。</a:t>
            </a:r>
            <a:endParaRPr lang="en-US" altLang="zh-CN" sz="2400" b="1" dirty="0">
              <a:latin typeface="+mj-ea"/>
              <a:ea typeface="+mj-ea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2C6349-744B-4A89-AD4F-D8EE6AC9142B}" type="slidenum">
              <a:rPr lang="en-US" altLang="zh-CN"/>
              <a:pPr>
                <a:defRPr/>
              </a:pPr>
              <a:t>8</a:t>
            </a:fld>
            <a:endParaRPr lang="en-US" altLang="zh-CN" dirty="0"/>
          </a:p>
        </p:txBody>
      </p:sp>
      <p:graphicFrame>
        <p:nvGraphicFramePr>
          <p:cNvPr id="1026" name="Object 2"/>
          <p:cNvGraphicFramePr>
            <a:graphicFrameLocks noChangeAspect="1"/>
          </p:cNvGraphicFramePr>
          <p:nvPr/>
        </p:nvGraphicFramePr>
        <p:xfrm>
          <a:off x="1500166" y="2348880"/>
          <a:ext cx="5618163" cy="159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0" name="公式" r:id="rId4" imgW="2438400" imgH="685800" progId="Equation.3">
                  <p:embed/>
                </p:oleObj>
              </mc:Choice>
              <mc:Fallback>
                <p:oleObj name="公式" r:id="rId4" imgW="2438400" imgH="685800" progId="Equation.3">
                  <p:embed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lum bright="-88000" contrast="94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500166" y="2348880"/>
                        <a:ext cx="5618163" cy="159067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76823CE-702B-45F9-8535-CCE576975C81}" type="slidenum">
              <a:rPr lang="en-US" altLang="zh-CN"/>
              <a:pPr>
                <a:defRPr/>
              </a:pPr>
              <a:t>9</a:t>
            </a:fld>
            <a:endParaRPr lang="en-US" altLang="zh-CN" dirty="0"/>
          </a:p>
        </p:txBody>
      </p:sp>
      <p:pic>
        <p:nvPicPr>
          <p:cNvPr id="8704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79460" y="260648"/>
            <a:ext cx="8266469" cy="58369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523" name="内容占位符 2"/>
          <p:cNvSpPr>
            <a:spLocks noGrp="1"/>
          </p:cNvSpPr>
          <p:nvPr>
            <p:ph idx="1"/>
          </p:nvPr>
        </p:nvSpPr>
        <p:spPr>
          <a:xfrm>
            <a:off x="357158" y="142852"/>
            <a:ext cx="8153400" cy="4438276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循环嵌套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循环语句的循环体中仍然包含循环语句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先执行内层循环，后执行外层循环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嵌套层次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一般不超过</a:t>
            </a:r>
            <a:r>
              <a:rPr lang="en-US" altLang="zh-CN" sz="2400" b="1" dirty="0">
                <a:latin typeface="+mj-ea"/>
                <a:ea typeface="+mj-ea"/>
              </a:rPr>
              <a:t>3</a:t>
            </a:r>
            <a:r>
              <a:rPr lang="zh-CN" altLang="en-US" sz="2400" b="1" dirty="0">
                <a:latin typeface="+mj-ea"/>
                <a:ea typeface="+mj-ea"/>
              </a:rPr>
              <a:t>层，以保证可读性</a:t>
            </a:r>
            <a:endParaRPr lang="en-US" altLang="zh-CN" sz="24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举例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4.22】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打印九九表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4.23】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打印图形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：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55DC4380-AC82-4742-A5F4-896FA5EF1AA0}" type="slidenum">
              <a:rPr lang="en-US" altLang="zh-CN"/>
              <a:pPr>
                <a:defRPr/>
              </a:pPr>
              <a:t>10</a:t>
            </a:fld>
            <a:endParaRPr lang="en-US" altLang="zh-CN" dirty="0"/>
          </a:p>
        </p:txBody>
      </p:sp>
      <p:pic>
        <p:nvPicPr>
          <p:cNvPr id="1075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214678" y="3571876"/>
            <a:ext cx="40513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47" name="内容占位符 2"/>
          <p:cNvSpPr>
            <a:spLocks noGrp="1"/>
          </p:cNvSpPr>
          <p:nvPr>
            <p:ph idx="1"/>
          </p:nvPr>
        </p:nvSpPr>
        <p:spPr>
          <a:xfrm>
            <a:off x="214282" y="223852"/>
            <a:ext cx="8153400" cy="3490913"/>
          </a:xfrm>
        </p:spPr>
        <p:txBody>
          <a:bodyPr/>
          <a:lstStyle/>
          <a:p>
            <a:pPr eaLnBrk="1" hangingPunct="1"/>
            <a:r>
              <a:rPr lang="zh-CN" altLang="en-US" b="1" dirty="0">
                <a:latin typeface="+mj-ea"/>
                <a:ea typeface="+mj-ea"/>
              </a:rPr>
              <a:t>循环嵌套</a:t>
            </a:r>
            <a:endParaRPr lang="en-US" altLang="zh-CN" b="1" dirty="0">
              <a:latin typeface="+mj-ea"/>
              <a:ea typeface="+mj-ea"/>
            </a:endParaRPr>
          </a:p>
          <a:p>
            <a:pPr lvl="1" eaLnBrk="1" hangingPunct="1"/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4.22】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打印九九表，格式为：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algn="just" eaLnBrk="1" hangingPunct="1">
              <a:spcBef>
                <a:spcPct val="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C00000"/>
                </a:solidFill>
                <a:latin typeface="Times New Roman" pitchFamily="18" charset="0"/>
                <a:ea typeface="宋体" charset="-122"/>
              </a:rPr>
              <a:t>		</a:t>
            </a:r>
            <a:r>
              <a:rPr lang="zh-CN" altLang="en-US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*      </a:t>
            </a: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1    2    3    4    5    6    7    8    9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		1      1   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		2      2    4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		3      3    6    9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		…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r>
              <a:rPr lang="en-US" altLang="zh-CN" dirty="0">
                <a:solidFill>
                  <a:srgbClr val="0000FF"/>
                </a:solidFill>
                <a:latin typeface="Times New Roman" pitchFamily="18" charset="0"/>
                <a:ea typeface="宋体" charset="-122"/>
              </a:rPr>
              <a:t>		9      9   18   27  36  45  54  63  72  81</a:t>
            </a:r>
          </a:p>
          <a:p>
            <a:pPr algn="just" eaLnBrk="1" hangingPunct="1">
              <a:lnSpc>
                <a:spcPct val="80000"/>
              </a:lnSpc>
              <a:spcBef>
                <a:spcPct val="0"/>
              </a:spcBef>
              <a:buFont typeface="Wingdings" pitchFamily="2" charset="2"/>
              <a:buNone/>
            </a:pPr>
            <a:endParaRPr lang="en-US" altLang="zh-CN" dirty="0">
              <a:solidFill>
                <a:srgbClr val="C00000"/>
              </a:solidFill>
              <a:latin typeface="Times New Roman" pitchFamily="18" charset="0"/>
              <a:ea typeface="宋体" charset="-122"/>
            </a:endParaRPr>
          </a:p>
          <a:p>
            <a:pPr lvl="1" eaLnBrk="1" hangingPunct="1">
              <a:buFont typeface="Wingdings" pitchFamily="2" charset="2"/>
              <a:buNone/>
            </a:pPr>
            <a:endParaRPr lang="zh-CN" altLang="en-US" dirty="0">
              <a:solidFill>
                <a:srgbClr val="C00000"/>
              </a:solidFill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3A20CD1-2D5B-49EF-903F-A744F1E99F04}" type="slidenum">
              <a:rPr lang="en-US" altLang="zh-CN"/>
              <a:pPr>
                <a:defRPr/>
              </a:pPr>
              <a:t>11</a:t>
            </a:fld>
            <a:endParaRPr lang="en-US" altLang="zh-CN" dirty="0"/>
          </a:p>
        </p:txBody>
      </p:sp>
      <p:sp>
        <p:nvSpPr>
          <p:cNvPr id="6" name="内容占位符 2"/>
          <p:cNvSpPr txBox="1">
            <a:spLocks/>
          </p:cNvSpPr>
          <p:nvPr/>
        </p:nvSpPr>
        <p:spPr bwMode="auto">
          <a:xfrm>
            <a:off x="214282" y="3652852"/>
            <a:ext cx="8153400" cy="22050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marL="1200150" lvl="2" indent="-285750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输出表头</a:t>
            </a:r>
            <a:endParaRPr lang="en-US" altLang="zh-CN" sz="2400" b="1" dirty="0">
              <a:latin typeface="黑体" pitchFamily="49" charset="-122"/>
              <a:ea typeface="黑体" pitchFamily="49" charset="-122"/>
            </a:endParaRPr>
          </a:p>
          <a:p>
            <a:pPr marL="1200150" lvl="2" indent="-285750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输出第</a:t>
            </a: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n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行，每一行输出</a:t>
            </a: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n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个数（</a:t>
            </a:r>
            <a:r>
              <a:rPr lang="en-US" altLang="zh-CN" sz="2400" b="1" dirty="0">
                <a:latin typeface="黑体" pitchFamily="49" charset="-122"/>
                <a:ea typeface="黑体" pitchFamily="49" charset="-122"/>
              </a:rPr>
              <a:t>n=1,2,…9</a:t>
            </a:r>
            <a:r>
              <a:rPr lang="zh-CN" altLang="en-US" sz="2400" b="1" dirty="0">
                <a:latin typeface="黑体" pitchFamily="49" charset="-122"/>
                <a:ea typeface="黑体" pitchFamily="49" charset="-122"/>
              </a:rPr>
              <a:t>）</a:t>
            </a:r>
            <a:endParaRPr lang="en-US" altLang="zh-CN" sz="2400" b="1" dirty="0">
              <a:latin typeface="黑体" pitchFamily="49" charset="-122"/>
              <a:ea typeface="黑体" pitchFamily="49" charset="-122"/>
            </a:endParaRPr>
          </a:p>
          <a:p>
            <a:pPr marL="1657350" lvl="3" indent="-285750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内层循环输出数</a:t>
            </a:r>
            <a:endParaRPr lang="en-US" altLang="zh-CN" sz="20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  <a:p>
            <a:pPr marL="1657350" lvl="3" indent="-285750">
              <a:lnSpc>
                <a:spcPct val="130000"/>
              </a:lnSpc>
              <a:spcBef>
                <a:spcPct val="20000"/>
              </a:spcBef>
              <a:buClr>
                <a:schemeClr val="accent1"/>
              </a:buClr>
              <a:buFont typeface="Wingdings" pitchFamily="2" charset="2"/>
              <a:buChar char="§"/>
              <a:defRPr/>
            </a:pPr>
            <a:r>
              <a:rPr lang="zh-CN" altLang="en-US" sz="2000" b="1" dirty="0">
                <a:solidFill>
                  <a:srgbClr val="C00000"/>
                </a:solidFill>
                <a:latin typeface="黑体" pitchFamily="49" charset="-122"/>
                <a:ea typeface="黑体" pitchFamily="49" charset="-122"/>
              </a:rPr>
              <a:t>外层循环输出行</a:t>
            </a:r>
            <a:endParaRPr lang="en-US" altLang="zh-CN" sz="2000" b="1" dirty="0">
              <a:solidFill>
                <a:srgbClr val="C00000"/>
              </a:solidFill>
              <a:latin typeface="黑体" pitchFamily="49" charset="-122"/>
              <a:ea typeface="黑体" pitchFamily="49" charset="-122"/>
            </a:endParaRPr>
          </a:p>
          <a:p>
            <a:pPr marL="342900" indent="-342900" algn="just">
              <a:lnSpc>
                <a:spcPct val="80000"/>
              </a:lnSpc>
              <a:buClr>
                <a:schemeClr val="hlink"/>
              </a:buClr>
              <a:buFont typeface="Wingdings" pitchFamily="2" charset="2"/>
              <a:buNone/>
              <a:defRPr/>
            </a:pPr>
            <a:r>
              <a:rPr lang="en-US" altLang="zh-CN" sz="3200" b="1" kern="0" dirty="0">
                <a:solidFill>
                  <a:srgbClr val="C00000"/>
                </a:solidFill>
                <a:latin typeface="Times New Roman" pitchFamily="18" charset="0"/>
              </a:rPr>
              <a:t>		</a:t>
            </a:r>
            <a:endParaRPr lang="zh-CN" altLang="en-US" sz="2800" b="1" kern="0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E66BB08-A4D4-4BF7-A3CD-AB6932FB3C3D}" type="slidenum">
              <a:rPr lang="en-US" altLang="zh-CN"/>
              <a:pPr>
                <a:defRPr/>
              </a:pPr>
              <a:t>12</a:t>
            </a:fld>
            <a:endParaRPr lang="en-US" altLang="zh-CN" dirty="0"/>
          </a:p>
        </p:txBody>
      </p:sp>
      <p:sp>
        <p:nvSpPr>
          <p:cNvPr id="8" name="矩形 7"/>
          <p:cNvSpPr/>
          <p:nvPr/>
        </p:nvSpPr>
        <p:spPr>
          <a:xfrm>
            <a:off x="142844" y="279513"/>
            <a:ext cx="8858312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b="1" dirty="0">
                <a:solidFill>
                  <a:srgbClr val="0000FF"/>
                </a:solidFill>
                <a:latin typeface="Courier New"/>
              </a:rPr>
              <a:t>#include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&lt;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iostream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&gt;</a:t>
            </a:r>
            <a:endParaRPr lang="zh-CN" altLang="en-US" b="1" dirty="0">
              <a:solidFill>
                <a:srgbClr val="000000"/>
              </a:solidFill>
              <a:latin typeface="Courier New"/>
            </a:endParaRPr>
          </a:p>
          <a:p>
            <a:pPr algn="just"/>
            <a:r>
              <a:rPr lang="en-US" altLang="zh-CN" b="1" dirty="0">
                <a:solidFill>
                  <a:srgbClr val="0000FF"/>
                </a:solidFill>
                <a:latin typeface="Courier New"/>
              </a:rPr>
              <a:t>#include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&lt;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iomanip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&gt;</a:t>
            </a:r>
            <a:endParaRPr lang="zh-CN" altLang="en-US" b="1" dirty="0">
              <a:solidFill>
                <a:srgbClr val="000000"/>
              </a:solidFill>
              <a:latin typeface="Courier New"/>
            </a:endParaRPr>
          </a:p>
          <a:p>
            <a:pPr algn="just"/>
            <a:r>
              <a:rPr lang="en-US" altLang="zh-CN" b="1" dirty="0">
                <a:solidFill>
                  <a:srgbClr val="0000FF"/>
                </a:solidFill>
                <a:latin typeface="Courier New"/>
              </a:rPr>
              <a:t>using namespace</a:t>
            </a:r>
            <a:r>
              <a:rPr lang="zh-CN" altLang="en-US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std;</a:t>
            </a:r>
            <a:endParaRPr lang="zh-CN" altLang="en-US" b="1" dirty="0">
              <a:solidFill>
                <a:srgbClr val="000000"/>
              </a:solidFill>
              <a:latin typeface="Courier New"/>
            </a:endParaRPr>
          </a:p>
          <a:p>
            <a:pPr algn="just"/>
            <a:r>
              <a:rPr lang="en-US" altLang="zh-CN" b="1" dirty="0" err="1">
                <a:solidFill>
                  <a:srgbClr val="0000FF"/>
                </a:solidFill>
                <a:latin typeface="Courier New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 main(){</a:t>
            </a: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altLang="zh-CN" b="1" dirty="0" err="1">
                <a:solidFill>
                  <a:srgbClr val="0000FF"/>
                </a:solidFill>
                <a:latin typeface="Courier New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i,j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cout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&lt;&lt;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setw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(3)&lt;&lt;'*'&lt;&lt;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setw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(4)&lt;&lt;' ';</a:t>
            </a: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/>
              </a:rPr>
              <a:t>for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=1;i&lt;10;i++){</a:t>
            </a:r>
            <a:endParaRPr lang="zh-CN" altLang="en-US" b="1" dirty="0">
              <a:solidFill>
                <a:srgbClr val="000000"/>
              </a:solidFill>
              <a:latin typeface="Courier New"/>
            </a:endParaRPr>
          </a:p>
          <a:p>
            <a:pPr algn="just"/>
            <a:r>
              <a:rPr lang="zh-CN" altLang="en-US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cout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&lt;&lt;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setw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(4)&lt;&lt;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; 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输出表头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乘数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  <a:endParaRPr lang="zh-CN" altLang="en-US" b="1" dirty="0">
              <a:solidFill>
                <a:srgbClr val="0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/>
            <a:r>
              <a:rPr lang="zh-CN" altLang="en-US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cout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&lt;&lt;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endl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;</a:t>
            </a: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/>
              </a:rPr>
              <a:t>for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=1;i&lt;10;i++){</a:t>
            </a: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zh-CN" altLang="en-US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cout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&lt;&lt;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setw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(3)&lt;&lt;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&lt;&lt;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setw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(4)&lt;&lt;' ';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输出行号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被乘数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zh-CN" altLang="en-US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altLang="zh-CN" b="1" dirty="0">
                <a:solidFill>
                  <a:srgbClr val="0000FF"/>
                </a:solidFill>
                <a:latin typeface="Courier New"/>
              </a:rPr>
              <a:t>for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(j=1;j&lt;=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i;j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++)</a:t>
            </a: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zh-CN" altLang="en-US" b="1" dirty="0">
                <a:solidFill>
                  <a:srgbClr val="000000"/>
                </a:solidFill>
                <a:latin typeface="Courier New"/>
              </a:rPr>
              <a:t>		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cout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&lt;&lt;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setw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(4)&lt;&lt;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*j;	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输出表中数据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(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乘积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)</a:t>
            </a: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zh-CN" altLang="en-US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cout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&lt;&lt;</a:t>
            </a:r>
            <a:r>
              <a:rPr lang="en-US" altLang="zh-CN" b="1" dirty="0" err="1">
                <a:solidFill>
                  <a:srgbClr val="000000"/>
                </a:solidFill>
                <a:latin typeface="Courier New"/>
              </a:rPr>
              <a:t>endl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;  </a:t>
            </a:r>
            <a:r>
              <a:rPr lang="en-US" altLang="zh-CN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//</a:t>
            </a:r>
            <a:r>
              <a:rPr lang="zh-CN" altLang="en-US" b="1" dirty="0">
                <a:solidFill>
                  <a:srgbClr val="00B050"/>
                </a:solidFill>
                <a:latin typeface="楷体_GB2312" pitchFamily="49" charset="-122"/>
                <a:ea typeface="楷体_GB2312" pitchFamily="49" charset="-122"/>
              </a:rPr>
              <a:t>准备输出下一行</a:t>
            </a:r>
          </a:p>
          <a:p>
            <a:pPr algn="just"/>
            <a:r>
              <a:rPr lang="zh-CN" altLang="en-US" b="1" dirty="0">
                <a:solidFill>
                  <a:srgbClr val="000000"/>
                </a:solidFill>
                <a:latin typeface="Courier New"/>
              </a:rPr>
              <a:t>	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}</a:t>
            </a: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  </a:t>
            </a:r>
            <a:r>
              <a:rPr lang="en-US" altLang="zh-CN" b="1" dirty="0">
                <a:solidFill>
                  <a:srgbClr val="0000FF"/>
                </a:solidFill>
                <a:latin typeface="Courier New"/>
              </a:rPr>
              <a:t>return</a:t>
            </a:r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 0;  </a:t>
            </a:r>
          </a:p>
          <a:p>
            <a:pPr algn="just"/>
            <a:r>
              <a:rPr lang="en-US" altLang="zh-CN" b="1" dirty="0">
                <a:solidFill>
                  <a:srgbClr val="000000"/>
                </a:solidFill>
                <a:latin typeface="Courier New"/>
              </a:rPr>
              <a:t>}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5" name="内容占位符 2"/>
          <p:cNvSpPr>
            <a:spLocks noGrp="1"/>
          </p:cNvSpPr>
          <p:nvPr>
            <p:ph idx="1"/>
          </p:nvPr>
        </p:nvSpPr>
        <p:spPr>
          <a:xfrm>
            <a:off x="71438" y="428604"/>
            <a:ext cx="9001156" cy="4846320"/>
          </a:xfrm>
        </p:spPr>
        <p:txBody>
          <a:bodyPr>
            <a:noAutofit/>
          </a:bodyPr>
          <a:lstStyle/>
          <a:p>
            <a:pPr eaLnBrk="1" hangingPunct="1">
              <a:lnSpc>
                <a:spcPct val="130000"/>
              </a:lnSpc>
            </a:pPr>
            <a:r>
              <a:rPr lang="zh-CN" altLang="en-US" sz="2800" b="1" dirty="0">
                <a:latin typeface="+mj-ea"/>
                <a:ea typeface="+mj-ea"/>
              </a:rPr>
              <a:t>循环嵌套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4.23】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打印图形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根据图形，可以书写如下语句</a:t>
            </a: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endParaRPr lang="en-US" altLang="zh-CN" sz="24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核心代码是如何输出第</a:t>
            </a:r>
            <a:r>
              <a:rPr lang="en-US" altLang="zh-CN" sz="2400" b="1" dirty="0" err="1">
                <a:latin typeface="+mj-ea"/>
                <a:ea typeface="+mj-ea"/>
              </a:rPr>
              <a:t>i</a:t>
            </a:r>
            <a:r>
              <a:rPr lang="zh-CN" altLang="en-US" sz="2400" b="1" dirty="0">
                <a:latin typeface="+mj-ea"/>
                <a:ea typeface="+mj-ea"/>
              </a:rPr>
              <a:t>行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第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i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行可以看作两部分，先输出若干空格，接着输出若干*。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每行输出的*数是相同的，而空格数则与所在行相关，很明显，第</a:t>
            </a:r>
            <a:r>
              <a:rPr lang="en-US" altLang="zh-CN" sz="2400" b="1" dirty="0" err="1">
                <a:solidFill>
                  <a:srgbClr val="002060"/>
                </a:solidFill>
                <a:latin typeface="+mj-ea"/>
                <a:ea typeface="+mj-ea"/>
              </a:rPr>
              <a:t>i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行空格数为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5-i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065C4F8-E1C4-46C8-91EC-C6D7DDFE7B82}" type="slidenum">
              <a:rPr lang="en-US" altLang="zh-CN"/>
              <a:pPr>
                <a:defRPr/>
              </a:pPr>
              <a:t>13</a:t>
            </a:fld>
            <a:endParaRPr lang="en-US" altLang="zh-CN" dirty="0"/>
          </a:p>
        </p:txBody>
      </p:sp>
      <p:pic>
        <p:nvPicPr>
          <p:cNvPr id="1105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929188" y="1785938"/>
            <a:ext cx="4051300" cy="2066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0599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984726" y="1998530"/>
            <a:ext cx="4091330" cy="1718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循环语句</a:t>
            </a:r>
          </a:p>
        </p:txBody>
      </p:sp>
      <p:sp>
        <p:nvSpPr>
          <p:cNvPr id="13315" name="灯片编号占位符 3"/>
          <p:cNvSpPr>
            <a:spLocks noGrp="1"/>
          </p:cNvSpPr>
          <p:nvPr>
            <p:ph type="sldNum" sz="quarter" idx="4294967295"/>
          </p:nvPr>
        </p:nvSpPr>
        <p:spPr>
          <a:xfrm>
            <a:off x="755650" y="6381750"/>
            <a:ext cx="2133600" cy="215900"/>
          </a:xfrm>
          <a:prstGeom prst="rect">
            <a:avLst/>
          </a:prstGeom>
          <a:noFill/>
        </p:spPr>
        <p:txBody>
          <a:bodyPr/>
          <a:lstStyle/>
          <a:p>
            <a:fld id="{A3B17EA6-4AEA-4B32-B1BC-404670B6634B}" type="slidenum">
              <a:rPr lang="en-US" altLang="zh-CN" smtClean="0"/>
              <a:pPr/>
              <a:t>14</a:t>
            </a:fld>
            <a:endParaRPr lang="en-US" altLang="zh-CN"/>
          </a:p>
        </p:txBody>
      </p:sp>
      <p:graphicFrame>
        <p:nvGraphicFramePr>
          <p:cNvPr id="7" name="表格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6180716"/>
              </p:ext>
            </p:extLst>
          </p:nvPr>
        </p:nvGraphicFramePr>
        <p:xfrm>
          <a:off x="827584" y="1844824"/>
          <a:ext cx="7704856" cy="3474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383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3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383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2383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32383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3238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2383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23838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647747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647747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511244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903456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108012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chemeClr val="tx1"/>
                          </a:solidFill>
                        </a:rPr>
                        <a:t>行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>
                          <a:solidFill>
                            <a:srgbClr val="FF0000"/>
                          </a:solidFill>
                        </a:rPr>
                        <a:t>空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rgbClr val="FF0000"/>
                          </a:solidFill>
                        </a:rPr>
                        <a:t>规律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3200" dirty="0">
                          <a:solidFill>
                            <a:srgbClr val="FF0000"/>
                          </a:solidFill>
                        </a:rPr>
                        <a:t>规律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zh-CN" altLang="en-US" sz="3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zh-CN" altLang="en-US" sz="3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5-1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zh-CN" altLang="en-US" sz="320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200" kern="1200" dirty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zh-CN" altLang="en-US" sz="3200" kern="1200" dirty="0">
                        <a:solidFill>
                          <a:srgbClr val="FF0000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5-2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2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5-3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5-4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*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altLang="zh-CN" sz="3200" kern="12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  <a:endParaRPr lang="zh-CN" altLang="en-US" sz="3200" kern="12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 dirty="0">
                          <a:solidFill>
                            <a:srgbClr val="FF0000"/>
                          </a:solidFill>
                        </a:rPr>
                        <a:t>5-5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chemeClr val="tx1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3200">
                          <a:solidFill>
                            <a:srgbClr val="FF0000"/>
                          </a:solidFill>
                        </a:rPr>
                        <a:t>10</a:t>
                      </a:r>
                      <a:endParaRPr lang="zh-CN" altLang="en-US" sz="3200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2" name="图片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68144" y="2420888"/>
            <a:ext cx="288032" cy="2952328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923928" y="2423184"/>
            <a:ext cx="288032" cy="295232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DD88B8EC-B362-464D-8040-917D2FD4C8A0}" type="slidenum">
              <a:rPr lang="en-US" altLang="zh-CN"/>
              <a:pPr>
                <a:defRPr/>
              </a:pPr>
              <a:t>15</a:t>
            </a:fld>
            <a:endParaRPr lang="en-US" altLang="zh-CN" dirty="0"/>
          </a:p>
        </p:txBody>
      </p:sp>
      <p:pic>
        <p:nvPicPr>
          <p:cNvPr id="111621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68341" y="428604"/>
            <a:ext cx="8247063" cy="521497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1" name="内容占位符 2"/>
          <p:cNvSpPr>
            <a:spLocks noGrp="1"/>
          </p:cNvSpPr>
          <p:nvPr>
            <p:ph idx="1"/>
          </p:nvPr>
        </p:nvSpPr>
        <p:spPr>
          <a:xfrm>
            <a:off x="214282" y="428604"/>
            <a:ext cx="8822214" cy="5786478"/>
          </a:xfrm>
        </p:spPr>
        <p:txBody>
          <a:bodyPr>
            <a:normAutofit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200" b="1" dirty="0">
                <a:latin typeface="+mj-ea"/>
                <a:ea typeface="+mj-ea"/>
              </a:rPr>
              <a:t>break</a:t>
            </a:r>
            <a:r>
              <a:rPr lang="zh-CN" altLang="en-US" sz="3200" b="1" dirty="0">
                <a:latin typeface="+mj-ea"/>
                <a:ea typeface="+mj-ea"/>
              </a:rPr>
              <a:t>语句</a:t>
            </a:r>
            <a:endParaRPr lang="en-US" altLang="zh-CN" sz="32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用于无条件地从某个循环体（三类循环语句）或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switch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句体中跳出（而转移到该循环语句或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switch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语句的下一个语句处去执行）。注意，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break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语句无条件地结束了本循环语句或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switch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语句的执行过程。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多重循环中，</a:t>
            </a:r>
            <a:r>
              <a:rPr lang="en-US" altLang="zh-CN" sz="2800" b="1" dirty="0">
                <a:solidFill>
                  <a:srgbClr val="002060"/>
                </a:solidFill>
                <a:latin typeface="+mj-ea"/>
                <a:ea typeface="+mj-ea"/>
              </a:rPr>
              <a:t>break</a:t>
            </a: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语句只能终止其所在的循环语句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sz="2800" b="1" dirty="0">
                <a:solidFill>
                  <a:srgbClr val="002060"/>
                </a:solidFill>
                <a:latin typeface="+mj-ea"/>
                <a:ea typeface="+mj-ea"/>
              </a:rPr>
              <a:t>格式</a:t>
            </a:r>
            <a:endParaRPr lang="en-US" altLang="zh-CN" sz="28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en-US" altLang="zh-CN" sz="2800" b="1" dirty="0">
                <a:solidFill>
                  <a:srgbClr val="0000FF"/>
                </a:solidFill>
                <a:latin typeface="+mj-ea"/>
                <a:ea typeface="+mj-ea"/>
                <a:cs typeface="Courier New" pitchFamily="49" charset="0"/>
              </a:rPr>
              <a:t>break</a:t>
            </a:r>
            <a:r>
              <a:rPr lang="en-US" altLang="zh-CN" sz="2800" b="1" dirty="0">
                <a:solidFill>
                  <a:schemeClr val="tx2"/>
                </a:solidFill>
                <a:latin typeface="+mj-ea"/>
                <a:ea typeface="+mj-ea"/>
                <a:cs typeface="Courier New" pitchFamily="49" charset="0"/>
              </a:rPr>
              <a:t>;</a:t>
            </a:r>
            <a:endParaRPr lang="zh-CN" altLang="en-US" sz="2800" b="1" dirty="0">
              <a:solidFill>
                <a:schemeClr val="tx2"/>
              </a:solidFill>
              <a:latin typeface="+mj-ea"/>
              <a:ea typeface="+mj-ea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5CE4ECC-051D-44CB-A723-C52527996BAE}" type="slidenum">
              <a:rPr lang="en-US" altLang="zh-CN"/>
              <a:pPr>
                <a:defRPr/>
              </a:pPr>
              <a:t>16</a:t>
            </a:fld>
            <a:endParaRPr lang="en-US" altLang="zh-C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CN" altLang="en-US">
                <a:latin typeface="黑体" pitchFamily="49" charset="-122"/>
                <a:ea typeface="黑体" pitchFamily="49" charset="-122"/>
              </a:rPr>
              <a:t>无条件转向语句</a:t>
            </a:r>
          </a:p>
        </p:txBody>
      </p:sp>
      <p:sp>
        <p:nvSpPr>
          <p:cNvPr id="115715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US" altLang="zh-CN" dirty="0">
                <a:latin typeface="+mj-ea"/>
                <a:ea typeface="+mj-ea"/>
              </a:rPr>
              <a:t>break</a:t>
            </a:r>
            <a:r>
              <a:rPr lang="zh-CN" altLang="en-US" dirty="0">
                <a:latin typeface="+mj-ea"/>
                <a:ea typeface="+mj-ea"/>
              </a:rPr>
              <a:t>语句</a:t>
            </a:r>
            <a:endParaRPr lang="en-US" altLang="zh-CN" dirty="0">
              <a:latin typeface="+mj-ea"/>
              <a:ea typeface="+mj-ea"/>
            </a:endParaRPr>
          </a:p>
          <a:p>
            <a:pPr lvl="1" eaLnBrk="1" hangingPunct="1"/>
            <a:r>
              <a:rPr lang="zh-CN" altLang="en-US" dirty="0">
                <a:latin typeface="+mj-ea"/>
                <a:ea typeface="+mj-ea"/>
              </a:rPr>
              <a:t>执行流程示例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E2863A16-99AE-4DDD-A9AA-B93E901B7A22}" type="slidenum">
              <a:rPr lang="en-US" altLang="zh-CN" smtClean="0"/>
              <a:pPr>
                <a:defRPr/>
              </a:pPr>
              <a:t>17</a:t>
            </a:fld>
            <a:endParaRPr lang="en-US" altLang="zh-CN" dirty="0"/>
          </a:p>
        </p:txBody>
      </p:sp>
      <p:pic>
        <p:nvPicPr>
          <p:cNvPr id="11571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43000" y="2928938"/>
            <a:ext cx="4830763" cy="2914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19" name="Picture 4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891463" y="2786063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0" name="Picture 5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358063" y="2214563"/>
            <a:ext cx="1404937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11" name="直接连接符 10"/>
          <p:cNvCxnSpPr/>
          <p:nvPr/>
        </p:nvCxnSpPr>
        <p:spPr>
          <a:xfrm rot="5400000">
            <a:off x="4822031" y="4036219"/>
            <a:ext cx="407193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5722" name="Picture 7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1643063" y="4314825"/>
            <a:ext cx="1576387" cy="542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3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885113" y="2786063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4" name="Picture 9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619250" y="4300538"/>
            <a:ext cx="1576388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5" name="Picture 10"/>
          <p:cNvPicPr>
            <a:picLocks noChangeAspect="1" noChangeArrowheads="1"/>
          </p:cNvPicPr>
          <p:nvPr/>
        </p:nvPicPr>
        <p:blipFill>
          <a:blip r:embed="rId8" cstate="print"/>
          <a:srcRect/>
          <a:stretch>
            <a:fillRect/>
          </a:stretch>
        </p:blipFill>
        <p:spPr bwMode="auto">
          <a:xfrm>
            <a:off x="7885113" y="2781300"/>
            <a:ext cx="395287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6" name="Picture 12"/>
          <p:cNvPicPr>
            <a:picLocks noChangeAspect="1" noChangeArrowheads="1"/>
          </p:cNvPicPr>
          <p:nvPr/>
        </p:nvPicPr>
        <p:blipFill>
          <a:blip r:embed="rId9" cstate="print"/>
          <a:srcRect/>
          <a:stretch>
            <a:fillRect/>
          </a:stretch>
        </p:blipFill>
        <p:spPr bwMode="auto">
          <a:xfrm>
            <a:off x="1619250" y="4300538"/>
            <a:ext cx="1576388" cy="5572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7" name="Picture 13"/>
          <p:cNvPicPr>
            <a:picLocks noChangeAspect="1" noChangeArrowheads="1"/>
          </p:cNvPicPr>
          <p:nvPr/>
        </p:nvPicPr>
        <p:blipFill>
          <a:blip r:embed="rId10" cstate="print"/>
          <a:srcRect/>
          <a:stretch>
            <a:fillRect/>
          </a:stretch>
        </p:blipFill>
        <p:spPr bwMode="auto">
          <a:xfrm>
            <a:off x="7880350" y="2794000"/>
            <a:ext cx="406400" cy="850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8" name="Picture 16"/>
          <p:cNvPicPr>
            <a:picLocks noChangeAspect="1" noChangeArrowheads="1"/>
          </p:cNvPicPr>
          <p:nvPr/>
        </p:nvPicPr>
        <p:blipFill>
          <a:blip r:embed="rId11" cstate="print"/>
          <a:srcRect/>
          <a:stretch>
            <a:fillRect/>
          </a:stretch>
        </p:blipFill>
        <p:spPr bwMode="auto">
          <a:xfrm>
            <a:off x="2058988" y="3786188"/>
            <a:ext cx="1576387" cy="5667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29" name="Picture 17"/>
          <p:cNvPicPr>
            <a:picLocks noChangeAspect="1" noChangeArrowheads="1"/>
          </p:cNvPicPr>
          <p:nvPr/>
        </p:nvPicPr>
        <p:blipFill>
          <a:blip r:embed="rId12" cstate="print"/>
          <a:srcRect/>
          <a:stretch>
            <a:fillRect/>
          </a:stretch>
        </p:blipFill>
        <p:spPr bwMode="auto">
          <a:xfrm>
            <a:off x="1143000" y="5286375"/>
            <a:ext cx="1576388" cy="5572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5730" name="Picture 19"/>
          <p:cNvPicPr>
            <a:picLocks noChangeAspect="1" noChangeArrowheads="1"/>
          </p:cNvPicPr>
          <p:nvPr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3571875" y="4872038"/>
            <a:ext cx="3084513" cy="1057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157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157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115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" dur="500"/>
                                        <p:tgtEl>
                                          <p:spTgt spid="115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9" dur="500"/>
                                        <p:tgtEl>
                                          <p:spTgt spid="115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8" dur="500"/>
                                        <p:tgtEl>
                                          <p:spTgt spid="115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1" dur="500"/>
                                        <p:tgtEl>
                                          <p:spTgt spid="115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9" name="内容占位符 2"/>
          <p:cNvSpPr>
            <a:spLocks noGrp="1"/>
          </p:cNvSpPr>
          <p:nvPr>
            <p:ph idx="1"/>
          </p:nvPr>
        </p:nvSpPr>
        <p:spPr>
          <a:xfrm>
            <a:off x="323528" y="165082"/>
            <a:ext cx="8568952" cy="6072230"/>
          </a:xfrm>
        </p:spPr>
        <p:txBody>
          <a:bodyPr>
            <a:normAutofit fontScale="92500" lnSpcReduction="10000"/>
          </a:bodyPr>
          <a:lstStyle/>
          <a:p>
            <a:pPr eaLnBrk="1" hangingPunct="1">
              <a:lnSpc>
                <a:spcPct val="130000"/>
              </a:lnSpc>
            </a:pPr>
            <a:r>
              <a:rPr lang="en-US" altLang="zh-CN" sz="3500" b="1" dirty="0">
                <a:latin typeface="+mj-ea"/>
                <a:ea typeface="+mj-ea"/>
              </a:rPr>
              <a:t>break</a:t>
            </a:r>
            <a:r>
              <a:rPr lang="zh-CN" altLang="en-US" sz="3500" b="1" dirty="0">
                <a:latin typeface="+mj-ea"/>
                <a:ea typeface="+mj-ea"/>
              </a:rPr>
              <a:t>语句</a:t>
            </a:r>
            <a:endParaRPr lang="en-US" altLang="zh-CN" sz="35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30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30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3000" b="1" dirty="0">
                <a:solidFill>
                  <a:srgbClr val="C00000"/>
                </a:solidFill>
                <a:latin typeface="+mj-ea"/>
                <a:ea typeface="+mj-ea"/>
              </a:rPr>
              <a:t>4.24】</a:t>
            </a:r>
            <a:r>
              <a:rPr lang="zh-CN" altLang="en-US" sz="3000" b="1" dirty="0">
                <a:solidFill>
                  <a:srgbClr val="C00000"/>
                </a:solidFill>
                <a:latin typeface="+mj-ea"/>
                <a:ea typeface="+mj-ea"/>
              </a:rPr>
              <a:t>给定整数</a:t>
            </a:r>
            <a:r>
              <a:rPr lang="en-US" altLang="zh-CN" sz="3000" b="1" dirty="0">
                <a:solidFill>
                  <a:srgbClr val="C00000"/>
                </a:solidFill>
                <a:latin typeface="+mj-ea"/>
                <a:ea typeface="+mj-ea"/>
              </a:rPr>
              <a:t>m</a:t>
            </a:r>
            <a:r>
              <a:rPr lang="zh-CN" altLang="en-US" sz="3000" b="1" dirty="0">
                <a:solidFill>
                  <a:srgbClr val="C00000"/>
                </a:solidFill>
                <a:latin typeface="+mj-ea"/>
                <a:ea typeface="+mj-ea"/>
              </a:rPr>
              <a:t>，判定其是否为素数</a:t>
            </a:r>
            <a:endParaRPr lang="en-US" altLang="zh-CN" sz="30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3000" b="1" dirty="0">
                <a:latin typeface="+mj-ea"/>
                <a:ea typeface="+mj-ea"/>
              </a:rPr>
              <a:t>输入整数</a:t>
            </a:r>
            <a:r>
              <a:rPr lang="en-US" altLang="zh-CN" sz="3000" b="1" dirty="0">
                <a:latin typeface="+mj-ea"/>
                <a:ea typeface="+mj-ea"/>
              </a:rPr>
              <a:t>m</a:t>
            </a:r>
          </a:p>
          <a:p>
            <a:pPr lvl="2" eaLnBrk="1" hangingPunct="1">
              <a:lnSpc>
                <a:spcPct val="130000"/>
              </a:lnSpc>
            </a:pPr>
            <a:r>
              <a:rPr lang="zh-CN" altLang="en-US" sz="3000" b="1" dirty="0">
                <a:latin typeface="+mj-ea"/>
                <a:ea typeface="+mj-ea"/>
              </a:rPr>
              <a:t>以</a:t>
            </a:r>
            <a:r>
              <a:rPr lang="en-US" altLang="zh-CN" sz="3000" b="1" dirty="0">
                <a:latin typeface="+mj-ea"/>
                <a:ea typeface="+mj-ea"/>
              </a:rPr>
              <a:t>m</a:t>
            </a:r>
            <a:r>
              <a:rPr lang="zh-CN" altLang="en-US" sz="3000" b="1" dirty="0">
                <a:latin typeface="+mj-ea"/>
                <a:ea typeface="+mj-ea"/>
              </a:rPr>
              <a:t>为被除数，以</a:t>
            </a:r>
            <a:r>
              <a:rPr lang="en-US" altLang="zh-CN" sz="3000" b="1" dirty="0">
                <a:latin typeface="+mj-ea"/>
                <a:ea typeface="+mj-ea"/>
              </a:rPr>
              <a:t>2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3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…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m-1</a:t>
            </a:r>
            <a:r>
              <a:rPr lang="zh-CN" altLang="en-US" sz="3000" b="1" dirty="0">
                <a:latin typeface="+mj-ea"/>
                <a:ea typeface="+mj-ea"/>
              </a:rPr>
              <a:t>为除数依次进行除法</a:t>
            </a:r>
            <a:endParaRPr lang="en-US" altLang="zh-CN" sz="30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600" b="1" dirty="0">
                <a:solidFill>
                  <a:srgbClr val="002060"/>
                </a:solidFill>
                <a:latin typeface="+mj-ea"/>
                <a:ea typeface="+mj-ea"/>
              </a:rPr>
              <a:t>有整除的情况，则说明</a:t>
            </a:r>
            <a:r>
              <a:rPr lang="en-US" altLang="zh-CN" sz="2600" b="1" dirty="0">
                <a:solidFill>
                  <a:srgbClr val="002060"/>
                </a:solidFill>
                <a:latin typeface="+mj-ea"/>
                <a:ea typeface="+mj-ea"/>
              </a:rPr>
              <a:t>m</a:t>
            </a:r>
            <a:r>
              <a:rPr lang="zh-CN" altLang="en-US" sz="2600" b="1" dirty="0">
                <a:solidFill>
                  <a:srgbClr val="002060"/>
                </a:solidFill>
                <a:latin typeface="+mj-ea"/>
                <a:ea typeface="+mj-ea"/>
              </a:rPr>
              <a:t>不是素数</a:t>
            </a:r>
            <a:endParaRPr lang="en-US" altLang="zh-CN" sz="26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600" b="1" dirty="0">
                <a:solidFill>
                  <a:srgbClr val="002060"/>
                </a:solidFill>
                <a:latin typeface="+mj-ea"/>
                <a:ea typeface="+mj-ea"/>
              </a:rPr>
              <a:t>全部不能整除，则</a:t>
            </a:r>
            <a:r>
              <a:rPr lang="en-US" altLang="zh-CN" sz="2600" b="1" dirty="0">
                <a:solidFill>
                  <a:srgbClr val="002060"/>
                </a:solidFill>
                <a:latin typeface="+mj-ea"/>
                <a:ea typeface="+mj-ea"/>
              </a:rPr>
              <a:t>m</a:t>
            </a:r>
            <a:r>
              <a:rPr lang="zh-CN" altLang="en-US" sz="2600" b="1" dirty="0">
                <a:solidFill>
                  <a:srgbClr val="002060"/>
                </a:solidFill>
                <a:latin typeface="+mj-ea"/>
                <a:ea typeface="+mj-ea"/>
              </a:rPr>
              <a:t>是素数</a:t>
            </a:r>
            <a:endParaRPr lang="en-US" altLang="zh-CN" sz="26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3000" b="1" dirty="0">
                <a:latin typeface="+mj-ea"/>
                <a:ea typeface="+mj-ea"/>
              </a:rPr>
              <a:t>以</a:t>
            </a:r>
            <a:r>
              <a:rPr lang="en-US" altLang="zh-CN" sz="3000" b="1" dirty="0">
                <a:latin typeface="+mj-ea"/>
                <a:ea typeface="+mj-ea"/>
              </a:rPr>
              <a:t>m</a:t>
            </a:r>
            <a:r>
              <a:rPr lang="zh-CN" altLang="en-US" sz="3000" b="1" dirty="0">
                <a:latin typeface="+mj-ea"/>
                <a:ea typeface="+mj-ea"/>
              </a:rPr>
              <a:t>为被除数，以</a:t>
            </a:r>
            <a:r>
              <a:rPr lang="en-US" altLang="zh-CN" sz="3000" b="1" dirty="0">
                <a:latin typeface="+mj-ea"/>
                <a:ea typeface="+mj-ea"/>
              </a:rPr>
              <a:t>2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3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…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m/2</a:t>
            </a:r>
            <a:r>
              <a:rPr lang="zh-CN" altLang="en-US" sz="3000" b="1" dirty="0">
                <a:latin typeface="+mj-ea"/>
                <a:ea typeface="+mj-ea"/>
              </a:rPr>
              <a:t>为除数依次进行除法</a:t>
            </a:r>
            <a:endParaRPr lang="en-US" altLang="zh-CN" sz="3000" b="1" dirty="0"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3000" b="1" dirty="0">
                <a:latin typeface="+mj-ea"/>
                <a:ea typeface="+mj-ea"/>
              </a:rPr>
              <a:t>以</a:t>
            </a:r>
            <a:r>
              <a:rPr lang="en-US" altLang="zh-CN" sz="3000" b="1" dirty="0">
                <a:latin typeface="+mj-ea"/>
                <a:ea typeface="+mj-ea"/>
              </a:rPr>
              <a:t>m</a:t>
            </a:r>
            <a:r>
              <a:rPr lang="zh-CN" altLang="en-US" sz="3000" b="1" dirty="0">
                <a:latin typeface="+mj-ea"/>
                <a:ea typeface="+mj-ea"/>
              </a:rPr>
              <a:t>为被除数，以</a:t>
            </a:r>
            <a:r>
              <a:rPr lang="en-US" altLang="zh-CN" sz="3000" b="1" dirty="0">
                <a:latin typeface="+mj-ea"/>
                <a:ea typeface="+mj-ea"/>
              </a:rPr>
              <a:t>2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3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>
                <a:latin typeface="+mj-ea"/>
                <a:ea typeface="+mj-ea"/>
              </a:rPr>
              <a:t>…</a:t>
            </a:r>
            <a:r>
              <a:rPr lang="zh-CN" altLang="en-US" sz="3000" b="1" dirty="0">
                <a:latin typeface="+mj-ea"/>
                <a:ea typeface="+mj-ea"/>
              </a:rPr>
              <a:t>，</a:t>
            </a:r>
            <a:r>
              <a:rPr lang="en-US" altLang="zh-CN" sz="3000" b="1" dirty="0" err="1">
                <a:latin typeface="+mj-ea"/>
                <a:ea typeface="+mj-ea"/>
              </a:rPr>
              <a:t>sqrt</a:t>
            </a:r>
            <a:r>
              <a:rPr lang="en-US" altLang="zh-CN" sz="3000" b="1" dirty="0">
                <a:latin typeface="+mj-ea"/>
                <a:ea typeface="+mj-ea"/>
              </a:rPr>
              <a:t>(m)</a:t>
            </a:r>
            <a:r>
              <a:rPr lang="zh-CN" altLang="en-US" sz="3000" b="1" dirty="0">
                <a:latin typeface="+mj-ea"/>
                <a:ea typeface="+mj-ea"/>
              </a:rPr>
              <a:t>为除数依次进行除法</a:t>
            </a:r>
            <a:endParaRPr lang="en-US" altLang="zh-CN" sz="3000" b="1" dirty="0">
              <a:latin typeface="+mj-ea"/>
              <a:ea typeface="+mj-ea"/>
            </a:endParaRPr>
          </a:p>
          <a:p>
            <a:pPr lvl="2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79F244F9-B632-457E-BD87-F094CDAE977F}" type="slidenum">
              <a:rPr lang="en-US" altLang="zh-CN"/>
              <a:pPr>
                <a:defRPr/>
              </a:pPr>
              <a:t>18</a:t>
            </a:fld>
            <a:endParaRPr lang="en-US" altLang="zh-C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97C5595B-7BA8-430C-AC44-1A28826E5F60}" type="slidenum">
              <a:rPr lang="en-US" altLang="zh-CN"/>
              <a:pPr>
                <a:defRPr/>
              </a:pPr>
              <a:t>19</a:t>
            </a:fld>
            <a:endParaRPr lang="en-US" altLang="zh-CN" dirty="0"/>
          </a:p>
        </p:txBody>
      </p:sp>
      <p:pic>
        <p:nvPicPr>
          <p:cNvPr id="117765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1" y="90038"/>
            <a:ext cx="8109153" cy="64353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835" name="内容占位符 2"/>
          <p:cNvSpPr>
            <a:spLocks noGrp="1"/>
          </p:cNvSpPr>
          <p:nvPr>
            <p:ph idx="1"/>
          </p:nvPr>
        </p:nvSpPr>
        <p:spPr>
          <a:xfrm>
            <a:off x="142844" y="71414"/>
            <a:ext cx="8072494" cy="484632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sz="2800" b="1" dirty="0">
                <a:latin typeface="+mj-ea"/>
                <a:ea typeface="+mj-ea"/>
              </a:rPr>
              <a:t>continue</a:t>
            </a:r>
            <a:r>
              <a:rPr lang="zh-CN" altLang="en-US" sz="2800" b="1" dirty="0">
                <a:latin typeface="+mj-ea"/>
                <a:ea typeface="+mj-ea"/>
              </a:rPr>
              <a:t>语句</a:t>
            </a:r>
            <a:endParaRPr lang="en-US" altLang="zh-CN" sz="2800" b="1" dirty="0"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4.25】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输出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1~100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之内</a:t>
            </a:r>
            <a:r>
              <a:rPr lang="en-US" altLang="zh-CN" sz="2400" b="1" dirty="0">
                <a:solidFill>
                  <a:srgbClr val="C00000"/>
                </a:solidFill>
                <a:latin typeface="+mj-ea"/>
                <a:ea typeface="+mj-ea"/>
              </a:rPr>
              <a:t>3</a:t>
            </a:r>
            <a:r>
              <a:rPr lang="zh-CN" altLang="en-US" sz="2400" b="1" dirty="0">
                <a:solidFill>
                  <a:srgbClr val="C00000"/>
                </a:solidFill>
                <a:latin typeface="+mj-ea"/>
                <a:ea typeface="+mj-ea"/>
              </a:rPr>
              <a:t>的倍数</a:t>
            </a:r>
            <a:endParaRPr lang="en-US" altLang="zh-CN" sz="2400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2" eaLnBrk="1" hangingPunct="1">
              <a:lnSpc>
                <a:spcPct val="130000"/>
              </a:lnSpc>
            </a:pPr>
            <a:r>
              <a:rPr lang="zh-CN" altLang="en-US" sz="2400" b="1" dirty="0">
                <a:latin typeface="+mj-ea"/>
                <a:ea typeface="+mj-ea"/>
              </a:rPr>
              <a:t>用</a:t>
            </a:r>
            <a:r>
              <a:rPr lang="en-US" altLang="zh-CN" sz="2400" b="1" dirty="0">
                <a:latin typeface="+mj-ea"/>
                <a:ea typeface="+mj-ea"/>
              </a:rPr>
              <a:t>1~100</a:t>
            </a:r>
            <a:r>
              <a:rPr lang="zh-CN" altLang="en-US" sz="2400" b="1" dirty="0">
                <a:latin typeface="+mj-ea"/>
                <a:ea typeface="+mj-ea"/>
              </a:rPr>
              <a:t>中的每个数与</a:t>
            </a:r>
            <a:r>
              <a:rPr lang="en-US" altLang="zh-CN" sz="2400" b="1" dirty="0">
                <a:latin typeface="+mj-ea"/>
                <a:ea typeface="+mj-ea"/>
              </a:rPr>
              <a:t>3</a:t>
            </a:r>
            <a:r>
              <a:rPr lang="zh-CN" altLang="en-US" sz="2400" b="1" dirty="0">
                <a:latin typeface="+mj-ea"/>
                <a:ea typeface="+mj-ea"/>
              </a:rPr>
              <a:t>相除</a:t>
            </a:r>
            <a:endParaRPr lang="en-US" altLang="zh-CN" sz="2400" b="1" dirty="0"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能够整除作为</a:t>
            </a:r>
            <a:r>
              <a:rPr lang="en-US" altLang="zh-CN" sz="2400" b="1" dirty="0">
                <a:solidFill>
                  <a:srgbClr val="002060"/>
                </a:solidFill>
                <a:latin typeface="+mj-ea"/>
                <a:ea typeface="+mj-ea"/>
              </a:rPr>
              <a:t>3</a:t>
            </a: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的倍数输出，然后进入下一次循环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3" eaLnBrk="1" hangingPunct="1">
              <a:lnSpc>
                <a:spcPct val="130000"/>
              </a:lnSpc>
            </a:pPr>
            <a:r>
              <a:rPr lang="zh-CN" altLang="en-US" sz="2400" b="1" dirty="0">
                <a:solidFill>
                  <a:srgbClr val="002060"/>
                </a:solidFill>
                <a:latin typeface="+mj-ea"/>
                <a:ea typeface="+mj-ea"/>
              </a:rPr>
              <a:t>不能整除则直接进入下一次循环</a:t>
            </a:r>
            <a:endParaRPr lang="en-US" altLang="zh-CN" sz="2400" b="1" dirty="0">
              <a:solidFill>
                <a:srgbClr val="002060"/>
              </a:solidFill>
              <a:latin typeface="+mj-ea"/>
              <a:ea typeface="+mj-ea"/>
            </a:endParaRPr>
          </a:p>
          <a:p>
            <a:pPr lvl="1" eaLnBrk="1" hangingPunct="1"/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C53FC869-3C3B-4EAD-8E9F-BEE64610BB3A}" type="slidenum">
              <a:rPr lang="en-US" altLang="zh-CN" smtClean="0"/>
              <a:pPr>
                <a:defRPr/>
              </a:pPr>
              <a:t>20</a:t>
            </a:fld>
            <a:endParaRPr lang="en-US" altLang="zh-CN" dirty="0"/>
          </a:p>
        </p:txBody>
      </p:sp>
      <p:pic>
        <p:nvPicPr>
          <p:cNvPr id="120838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85786" y="3006742"/>
            <a:ext cx="7516812" cy="27797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7" name="内容占位符 2"/>
          <p:cNvSpPr>
            <a:spLocks noGrp="1"/>
          </p:cNvSpPr>
          <p:nvPr>
            <p:ph idx="1"/>
          </p:nvPr>
        </p:nvSpPr>
        <p:spPr>
          <a:xfrm>
            <a:off x="457200" y="428604"/>
            <a:ext cx="8363272" cy="4846320"/>
          </a:xfrm>
        </p:spPr>
        <p:txBody>
          <a:bodyPr/>
          <a:lstStyle/>
          <a:p>
            <a:pPr eaLnBrk="1" hangingPunct="1">
              <a:lnSpc>
                <a:spcPct val="130000"/>
              </a:lnSpc>
            </a:pP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4.28】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求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1000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以内的素数，以每</a:t>
            </a:r>
            <a:r>
              <a:rPr lang="en-US" altLang="zh-CN" b="1" dirty="0">
                <a:solidFill>
                  <a:srgbClr val="C00000"/>
                </a:solidFill>
                <a:latin typeface="+mj-ea"/>
                <a:ea typeface="+mj-ea"/>
              </a:rPr>
              <a:t>10</a:t>
            </a:r>
            <a:r>
              <a:rPr lang="zh-CN" altLang="en-US" b="1" dirty="0">
                <a:solidFill>
                  <a:srgbClr val="C00000"/>
                </a:solidFill>
                <a:latin typeface="+mj-ea"/>
                <a:ea typeface="+mj-ea"/>
              </a:rPr>
              <a:t>个数为一行输出到屏幕</a:t>
            </a:r>
            <a:endParaRPr lang="en-US" altLang="zh-CN" b="1" dirty="0">
              <a:solidFill>
                <a:srgbClr val="C00000"/>
              </a:solidFill>
              <a:latin typeface="+mj-ea"/>
              <a:ea typeface="+mj-ea"/>
            </a:endParaRP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素数的判别方法参见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【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例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4.24】</a:t>
            </a:r>
          </a:p>
          <a:p>
            <a:pPr lvl="1" eaLnBrk="1" hangingPunct="1">
              <a:lnSpc>
                <a:spcPct val="130000"/>
              </a:lnSpc>
            </a:pP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对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2~1000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中的每个数进行素数判定，是素数则输出，输出到第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10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个、第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20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个、</a:t>
            </a:r>
            <a:r>
              <a:rPr lang="en-US" altLang="zh-CN" b="1" dirty="0">
                <a:solidFill>
                  <a:srgbClr val="002060"/>
                </a:solidFill>
                <a:latin typeface="+mj-ea"/>
                <a:ea typeface="+mj-ea"/>
              </a:rPr>
              <a:t>…</a:t>
            </a:r>
            <a:r>
              <a:rPr lang="zh-CN" altLang="en-US" b="1" dirty="0">
                <a:solidFill>
                  <a:srgbClr val="002060"/>
                </a:solidFill>
                <a:latin typeface="+mj-ea"/>
                <a:ea typeface="+mj-ea"/>
              </a:rPr>
              <a:t>后换行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ACD30330-9A52-4AB9-9857-6B803BFE128F}" type="slidenum">
              <a:rPr lang="en-US" altLang="zh-CN"/>
              <a:pPr>
                <a:defRPr/>
              </a:pPr>
              <a:t>21</a:t>
            </a:fld>
            <a:endParaRPr lang="en-US" altLang="zh-CN" dirty="0"/>
          </a:p>
        </p:txBody>
      </p:sp>
      <p:sp>
        <p:nvSpPr>
          <p:cNvPr id="129030" name="矩形 5"/>
          <p:cNvSpPr>
            <a:spLocks noChangeArrowheads="1"/>
          </p:cNvSpPr>
          <p:nvPr/>
        </p:nvSpPr>
        <p:spPr bwMode="auto">
          <a:xfrm>
            <a:off x="928688" y="3294075"/>
            <a:ext cx="6357937" cy="19208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0000FF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2    3    5    7   11   13   17   19   23   29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31   37   41   43   47   53   59   61   67   71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73   79   83   89   97  101  103  107  109  113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zh-CN" altLang="en-US" b="1" dirty="0">
                <a:solidFill>
                  <a:srgbClr val="C00000"/>
                </a:solidFill>
                <a:latin typeface="Times New Roman" pitchFamily="18" charset="0"/>
                <a:ea typeface="楷体_GB2312" pitchFamily="49" charset="-122"/>
              </a:rPr>
              <a:t>…</a:t>
            </a:r>
            <a:endParaRPr lang="zh-CN" altLang="en-US" b="1" dirty="0">
              <a:solidFill>
                <a:srgbClr val="C00000"/>
              </a:solidFill>
              <a:latin typeface="楷体_GB2312" pitchFamily="49" charset="-122"/>
              <a:ea typeface="楷体_GB2312" pitchFamily="49" charset="-122"/>
            </a:endParaRP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877  881  883  887  907  911  919  929  937  941</a:t>
            </a:r>
          </a:p>
          <a:p>
            <a:pPr algn="just">
              <a:lnSpc>
                <a:spcPct val="110000"/>
              </a:lnSpc>
              <a:buFont typeface="Wingdings" pitchFamily="2" charset="2"/>
              <a:buNone/>
            </a:pPr>
            <a:r>
              <a:rPr lang="zh-CN" altLang="en-US" b="1" dirty="0">
                <a:solidFill>
                  <a:srgbClr val="C00000"/>
                </a:solidFill>
                <a:latin typeface="楷体_GB2312" pitchFamily="49" charset="-122"/>
                <a:ea typeface="楷体_GB2312" pitchFamily="49" charset="-122"/>
              </a:rPr>
              <a:t>  947  953  967  971  977  983  991  997 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1" name="内容占位符 2"/>
          <p:cNvSpPr>
            <a:spLocks noGrp="1"/>
          </p:cNvSpPr>
          <p:nvPr>
            <p:ph idx="1"/>
          </p:nvPr>
        </p:nvSpPr>
        <p:spPr>
          <a:xfrm>
            <a:off x="428596" y="714356"/>
            <a:ext cx="8153400" cy="5286375"/>
          </a:xfrm>
        </p:spPr>
        <p:txBody>
          <a:bodyPr>
            <a:normAutofit lnSpcReduction="10000"/>
          </a:bodyPr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&lt;math&gt;  		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//use “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iomanip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  	     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//use “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”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#include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iostream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&gt;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using namespace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std;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main(){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const 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m=1000;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i,j,isprime,count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//count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记录素数个数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=2;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&lt;=m;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++){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求2到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m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间的所有素数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isprime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=1;		 	 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先认为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是素数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for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(j=2; j&lt;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sqrt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); j++){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  		if(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i%j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== 0 )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isprime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=0;}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//for j</a:t>
            </a:r>
            <a:endParaRPr lang="zh-CN" altLang="en-US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21E1598A-404C-4781-A1F1-8325197AD82D}" type="slidenum">
              <a:rPr lang="en-US" altLang="zh-CN"/>
              <a:pPr>
                <a:defRPr/>
              </a:pPr>
              <a:t>22</a:t>
            </a:fld>
            <a:endParaRPr lang="en-US" altLang="zh-C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075" name="内容占位符 2"/>
          <p:cNvSpPr>
            <a:spLocks noGrp="1"/>
          </p:cNvSpPr>
          <p:nvPr>
            <p:ph idx="1"/>
          </p:nvPr>
        </p:nvSpPr>
        <p:spPr>
          <a:xfrm>
            <a:off x="457200" y="642918"/>
            <a:ext cx="7239000" cy="4846320"/>
          </a:xfrm>
        </p:spPr>
        <p:txBody>
          <a:bodyPr/>
          <a:lstStyle/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isprime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){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count++;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 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setw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(5)&lt;&lt;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i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 	</a:t>
            </a: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if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(count%10==0) 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  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		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每输出10个素数换1行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 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    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if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	</a:t>
            </a:r>
            <a:r>
              <a:rPr lang="zh-CN" altLang="en-US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		</a:t>
            </a:r>
            <a:r>
              <a:rPr lang="zh-CN" altLang="en-US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//</a:t>
            </a:r>
            <a:r>
              <a:rPr lang="en-US" altLang="zh-CN" sz="2400" b="1" dirty="0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for </a:t>
            </a:r>
            <a:r>
              <a:rPr lang="en-US" altLang="zh-CN" sz="2400" b="1" dirty="0" err="1">
                <a:solidFill>
                  <a:srgbClr val="00B050"/>
                </a:solidFill>
                <a:latin typeface="Courier New" pitchFamily="49" charset="0"/>
                <a:cs typeface="Courier New" pitchFamily="49" charset="0"/>
              </a:rPr>
              <a:t>i</a:t>
            </a:r>
            <a:endParaRPr lang="en-US" altLang="zh-CN" sz="2400" b="1" dirty="0">
              <a:solidFill>
                <a:srgbClr val="00B050"/>
              </a:solidFill>
              <a:latin typeface="Courier New" pitchFamily="49" charset="0"/>
              <a:cs typeface="Courier New" pitchFamily="49" charset="0"/>
            </a:endParaRP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	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cout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&lt;&lt;</a:t>
            </a:r>
            <a:r>
              <a:rPr lang="en-US" altLang="zh-CN" sz="2400" b="1" dirty="0" err="1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endl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	return</a:t>
            </a: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 0;</a:t>
            </a:r>
          </a:p>
          <a:p>
            <a:pPr algn="just" eaLnBrk="1" hangingPunct="1">
              <a:buFont typeface="Wingdings" pitchFamily="2" charset="2"/>
              <a:buNone/>
            </a:pPr>
            <a:r>
              <a:rPr lang="en-US" altLang="zh-CN" sz="2400" b="1" dirty="0">
                <a:solidFill>
                  <a:schemeClr val="tx2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zh-CN" altLang="en-US" sz="2400" b="1" dirty="0">
              <a:solidFill>
                <a:schemeClr val="tx2"/>
              </a:solidFill>
              <a:latin typeface="Courier New" pitchFamily="49" charset="0"/>
              <a:cs typeface="Courier New" pitchFamily="49" charset="0"/>
            </a:endParaRP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pPr>
              <a:defRPr/>
            </a:pPr>
            <a:fld id="{163EBE46-3E92-45CF-A78B-A4F9886AE1BC}" type="slidenum">
              <a:rPr lang="en-US" altLang="zh-CN"/>
              <a:pPr>
                <a:defRPr/>
              </a:pPr>
              <a:t>23</a:t>
            </a:fld>
            <a:endParaRPr lang="en-US" altLang="zh-CN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华丽">
  <a:themeElements>
    <a:clrScheme name="华丽">
      <a:dk1>
        <a:sysClr val="windowText" lastClr="000000"/>
      </a:dk1>
      <a:lt1>
        <a:sysClr val="window" lastClr="FFFFFF"/>
      </a:lt1>
      <a:dk2>
        <a:srgbClr val="B13F9A"/>
      </a:dk2>
      <a:lt2>
        <a:srgbClr val="F4E7ED"/>
      </a:lt2>
      <a:accent1>
        <a:srgbClr val="B83D68"/>
      </a:accent1>
      <a:accent2>
        <a:srgbClr val="AC66BB"/>
      </a:accent2>
      <a:accent3>
        <a:srgbClr val="DE6C36"/>
      </a:accent3>
      <a:accent4>
        <a:srgbClr val="F9B639"/>
      </a:accent4>
      <a:accent5>
        <a:srgbClr val="CF6DA4"/>
      </a:accent5>
      <a:accent6>
        <a:srgbClr val="FA8D3D"/>
      </a:accent6>
      <a:hlink>
        <a:srgbClr val="FFDE66"/>
      </a:hlink>
      <a:folHlink>
        <a:srgbClr val="D490C5"/>
      </a:folHlink>
    </a:clrScheme>
    <a:fontScheme name="华丽">
      <a:majorFont>
        <a:latin typeface="Trebuchet MS"/>
        <a:ea typeface=""/>
        <a:cs typeface=""/>
        <a:font script="Jpan" typeface="HG丸ｺﾞｼｯｸM-PRO"/>
        <a:font script="Hang" typeface="HY그래픽M"/>
        <a:font script="Hans" typeface="黑体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Trebuchet MS"/>
        <a:ea typeface=""/>
        <a:cs typeface=""/>
        <a:font script="Jpan" typeface="HG丸ｺﾞｼｯｸM-PRO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华丽">
      <a:fillStyleLst>
        <a:solidFill>
          <a:schemeClr val="phClr"/>
        </a:solidFill>
        <a:gradFill rotWithShape="1">
          <a:gsLst>
            <a:gs pos="0">
              <a:schemeClr val="phClr">
                <a:tint val="15000"/>
                <a:satMod val="250000"/>
              </a:schemeClr>
            </a:gs>
            <a:gs pos="49000">
              <a:schemeClr val="phClr">
                <a:tint val="50000"/>
                <a:satMod val="200000"/>
              </a:schemeClr>
            </a:gs>
            <a:gs pos="49100">
              <a:schemeClr val="phClr">
                <a:tint val="64000"/>
                <a:satMod val="160000"/>
              </a:schemeClr>
            </a:gs>
            <a:gs pos="92000">
              <a:schemeClr val="phClr">
                <a:tint val="50000"/>
                <a:satMod val="200000"/>
              </a:schemeClr>
            </a:gs>
            <a:gs pos="100000">
              <a:schemeClr val="phClr">
                <a:tint val="43000"/>
                <a:satMod val="190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74000"/>
              </a:schemeClr>
            </a:gs>
            <a:gs pos="49000">
              <a:schemeClr val="phClr">
                <a:tint val="96000"/>
                <a:shade val="84000"/>
                <a:satMod val="110000"/>
              </a:schemeClr>
            </a:gs>
            <a:gs pos="49100">
              <a:schemeClr val="phClr">
                <a:shade val="55000"/>
                <a:satMod val="150000"/>
              </a:schemeClr>
            </a:gs>
            <a:gs pos="92000">
              <a:schemeClr val="phClr">
                <a:tint val="98000"/>
                <a:shade val="90000"/>
                <a:satMod val="128000"/>
              </a:schemeClr>
            </a:gs>
            <a:gs pos="100000">
              <a:schemeClr val="phClr">
                <a:tint val="90000"/>
                <a:shade val="97000"/>
                <a:satMod val="128000"/>
              </a:schemeClr>
            </a:gs>
          </a:gsLst>
          <a:lin ang="5400000" scaled="1"/>
        </a:gradFill>
      </a:fillStyleLst>
      <a:lnStyleLst>
        <a:ln w="11430" cap="flat" cmpd="sng" algn="ctr">
          <a:solidFill>
            <a:schemeClr val="phClr"/>
          </a:solidFill>
          <a:prstDash val="solid"/>
        </a:ln>
        <a:ln w="40000" cap="flat" cmpd="sng" algn="ctr">
          <a:solidFill>
            <a:schemeClr val="phClr"/>
          </a:solidFill>
          <a:prstDash val="solid"/>
        </a:ln>
        <a:ln w="318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000" dir="5400000" rotWithShape="0">
              <a:schemeClr val="phClr">
                <a:shade val="30000"/>
                <a:satMod val="150000"/>
                <a:alpha val="38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</a:effectStyle>
        <a:effectStyle>
          <a:effectLst>
            <a:outerShdw blurRad="39000" dist="25400" dir="5400000" rotWithShape="0">
              <a:schemeClr val="phClr">
                <a:shade val="33000"/>
                <a:alpha val="83000"/>
              </a:scheme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1500000"/>
            </a:lightRig>
          </a:scene3d>
          <a:sp3d extrusionH="127000" prstMaterial="powder">
            <a:bevelT w="50800" h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78000"/>
                <a:satMod val="220000"/>
              </a:schemeClr>
            </a:gs>
            <a:gs pos="100000">
              <a:schemeClr val="phClr">
                <a:shade val="35000"/>
                <a:satMod val="155000"/>
              </a:schemeClr>
            </a:gs>
          </a:gsLst>
          <a:path path="circle">
            <a:fillToRect l="50000" t="50000" r="50000" b="50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80000"/>
              </a:schemeClr>
              <a:schemeClr val="phClr">
                <a:tint val="500"/>
                <a:satMod val="150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Opulent</Template>
  <TotalTime>412</TotalTime>
  <Words>1333</Words>
  <Application>Microsoft Office PowerPoint</Application>
  <PresentationFormat>全屏显示(4:3)</PresentationFormat>
  <Paragraphs>217</Paragraphs>
  <Slides>23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23</vt:i4>
      </vt:variant>
    </vt:vector>
  </HeadingPairs>
  <TitlesOfParts>
    <vt:vector size="35" baseType="lpstr">
      <vt:lpstr>楷体_GB2312</vt:lpstr>
      <vt:lpstr>黑体</vt:lpstr>
      <vt:lpstr>宋体</vt:lpstr>
      <vt:lpstr>华文新魏</vt:lpstr>
      <vt:lpstr>Calibri</vt:lpstr>
      <vt:lpstr>Courier New</vt:lpstr>
      <vt:lpstr>Times New Roman</vt:lpstr>
      <vt:lpstr>Trebuchet MS</vt:lpstr>
      <vt:lpstr>Wingdings</vt:lpstr>
      <vt:lpstr>Wingdings 2</vt:lpstr>
      <vt:lpstr>华丽</vt:lpstr>
      <vt:lpstr>公式</vt:lpstr>
      <vt:lpstr>C/C++程序设计</vt:lpstr>
      <vt:lpstr>循环语句</vt:lpstr>
      <vt:lpstr>循环语句</vt:lpstr>
      <vt:lpstr>PowerPoint 演示文稿</vt:lpstr>
      <vt:lpstr>循环语句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循环语句</vt:lpstr>
      <vt:lpstr>PowerPoint 演示文稿</vt:lpstr>
      <vt:lpstr>PowerPoint 演示文稿</vt:lpstr>
      <vt:lpstr>无条件转向语句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C/C++程序设计</dc:title>
  <dc:creator>user</dc:creator>
  <cp:lastModifiedBy>86186</cp:lastModifiedBy>
  <cp:revision>25</cp:revision>
  <dcterms:created xsi:type="dcterms:W3CDTF">2016-10-27T06:59:17Z</dcterms:created>
  <dcterms:modified xsi:type="dcterms:W3CDTF">2020-10-22T13:10:08Z</dcterms:modified>
</cp:coreProperties>
</file>