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0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301" r:id="rId35"/>
    <p:sldId id="302" r:id="rId36"/>
    <p:sldId id="303" r:id="rId37"/>
    <p:sldId id="304" r:id="rId38"/>
    <p:sldId id="305" r:id="rId39"/>
    <p:sldId id="306" r:id="rId40"/>
    <p:sldId id="307" r:id="rId41"/>
    <p:sldId id="308" r:id="rId42"/>
    <p:sldId id="309" r:id="rId43"/>
    <p:sldId id="310" r:id="rId44"/>
    <p:sldId id="311" r:id="rId45"/>
    <p:sldId id="312" r:id="rId46"/>
    <p:sldId id="313" r:id="rId47"/>
    <p:sldId id="314" r:id="rId48"/>
    <p:sldId id="315" r:id="rId49"/>
    <p:sldId id="316" r:id="rId50"/>
    <p:sldId id="317" r:id="rId51"/>
    <p:sldId id="318" r:id="rId52"/>
    <p:sldId id="319" r:id="rId53"/>
    <p:sldId id="320" r:id="rId54"/>
    <p:sldId id="321" r:id="rId55"/>
    <p:sldId id="322" r:id="rId56"/>
    <p:sldId id="323" r:id="rId57"/>
    <p:sldId id="324" r:id="rId58"/>
    <p:sldId id="325" r:id="rId5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5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BDDFF-5BC4-41D5-9E9A-B8CC69B7DB98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F1C4F-CF2F-4B89-87A6-DAE527F813D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4.emf"/><Relationship Id="rId7" Type="http://schemas.openxmlformats.org/officeDocument/2006/relationships/image" Target="../media/image28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emf"/><Relationship Id="rId11" Type="http://schemas.openxmlformats.org/officeDocument/2006/relationships/image" Target="../media/image31.emf"/><Relationship Id="rId5" Type="http://schemas.openxmlformats.org/officeDocument/2006/relationships/image" Target="../media/image26.emf"/><Relationship Id="rId10" Type="http://schemas.openxmlformats.org/officeDocument/2006/relationships/image" Target="../media/image15.png"/><Relationship Id="rId4" Type="http://schemas.openxmlformats.org/officeDocument/2006/relationships/image" Target="../media/image25.emf"/><Relationship Id="rId9" Type="http://schemas.openxmlformats.org/officeDocument/2006/relationships/image" Target="../media/image30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image" Target="../media/image36.emf"/><Relationship Id="rId7" Type="http://schemas.openxmlformats.org/officeDocument/2006/relationships/image" Target="../media/image40.emf"/><Relationship Id="rId12" Type="http://schemas.openxmlformats.org/officeDocument/2006/relationships/image" Target="../media/image44.emf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emf"/><Relationship Id="rId11" Type="http://schemas.openxmlformats.org/officeDocument/2006/relationships/image" Target="../media/image15.png"/><Relationship Id="rId5" Type="http://schemas.openxmlformats.org/officeDocument/2006/relationships/image" Target="../media/image38.emf"/><Relationship Id="rId10" Type="http://schemas.openxmlformats.org/officeDocument/2006/relationships/image" Target="../media/image43.emf"/><Relationship Id="rId4" Type="http://schemas.openxmlformats.org/officeDocument/2006/relationships/image" Target="../media/image37.emf"/><Relationship Id="rId9" Type="http://schemas.openxmlformats.org/officeDocument/2006/relationships/image" Target="../media/image42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13" Type="http://schemas.openxmlformats.org/officeDocument/2006/relationships/image" Target="../media/image59.emf"/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12" Type="http://schemas.openxmlformats.org/officeDocument/2006/relationships/image" Target="../media/image58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emf"/><Relationship Id="rId11" Type="http://schemas.openxmlformats.org/officeDocument/2006/relationships/image" Target="../media/image57.emf"/><Relationship Id="rId5" Type="http://schemas.openxmlformats.org/officeDocument/2006/relationships/image" Target="../media/image51.emf"/><Relationship Id="rId10" Type="http://schemas.openxmlformats.org/officeDocument/2006/relationships/image" Target="../media/image56.emf"/><Relationship Id="rId4" Type="http://schemas.openxmlformats.org/officeDocument/2006/relationships/image" Target="../media/image50.emf"/><Relationship Id="rId9" Type="http://schemas.openxmlformats.org/officeDocument/2006/relationships/image" Target="../media/image55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e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emf"/><Relationship Id="rId3" Type="http://schemas.openxmlformats.org/officeDocument/2006/relationships/image" Target="../media/image49.emf"/><Relationship Id="rId7" Type="http://schemas.openxmlformats.org/officeDocument/2006/relationships/image" Target="../media/image56.emf"/><Relationship Id="rId12" Type="http://schemas.openxmlformats.org/officeDocument/2006/relationships/image" Target="../media/image66.emf"/><Relationship Id="rId17" Type="http://schemas.openxmlformats.org/officeDocument/2006/relationships/image" Target="../media/image71.png"/><Relationship Id="rId2" Type="http://schemas.openxmlformats.org/officeDocument/2006/relationships/image" Target="../media/image61.emf"/><Relationship Id="rId16" Type="http://schemas.openxmlformats.org/officeDocument/2006/relationships/image" Target="../media/image70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11" Type="http://schemas.openxmlformats.org/officeDocument/2006/relationships/image" Target="../media/image65.emf"/><Relationship Id="rId5" Type="http://schemas.openxmlformats.org/officeDocument/2006/relationships/image" Target="../media/image52.emf"/><Relationship Id="rId15" Type="http://schemas.openxmlformats.org/officeDocument/2006/relationships/image" Target="../media/image69.emf"/><Relationship Id="rId10" Type="http://schemas.openxmlformats.org/officeDocument/2006/relationships/image" Target="../media/image64.emf"/><Relationship Id="rId4" Type="http://schemas.openxmlformats.org/officeDocument/2006/relationships/image" Target="../media/image50.emf"/><Relationship Id="rId9" Type="http://schemas.openxmlformats.org/officeDocument/2006/relationships/image" Target="../media/image63.emf"/><Relationship Id="rId14" Type="http://schemas.openxmlformats.org/officeDocument/2006/relationships/image" Target="../media/image68.emf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循环语句和无条件转向语句</a:t>
            </a:r>
            <a:endParaRPr lang="en-US" altLang="zh-CN" sz="2800" dirty="0"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329642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根据一定的条件控制一段程序重复执行若干次</a:t>
            </a:r>
            <a:endParaRPr lang="en-US" altLang="zh-CN" sz="2800" b="1" dirty="0"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三类循环语句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for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while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do...while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循环语句可以嵌套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循环语句的循环体中包括其它循环语句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FB1E404-5062-42EB-B79F-FF9B27DE23AE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/>
          <p:cNvSpPr>
            <a:spLocks noGrp="1"/>
          </p:cNvSpPr>
          <p:nvPr>
            <p:ph type="title"/>
          </p:nvPr>
        </p:nvSpPr>
        <p:spPr>
          <a:xfrm>
            <a:off x="457200" y="-2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2707" name="内容占位符 2"/>
          <p:cNvSpPr>
            <a:spLocks noGrp="1"/>
          </p:cNvSpPr>
          <p:nvPr>
            <p:ph idx="1"/>
          </p:nvPr>
        </p:nvSpPr>
        <p:spPr>
          <a:xfrm>
            <a:off x="357158" y="757254"/>
            <a:ext cx="8572560" cy="502920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for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最常用、功能最强的循环语句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for(&lt;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E1&gt;;&lt;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E2&gt;;&lt;</a:t>
            </a: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E3&gt;</a:t>
            </a:r>
            <a:r>
              <a:rPr lang="zh-CN" altLang="en-US" sz="2400" b="1" dirty="0">
                <a:latin typeface="+mj-ea"/>
                <a:ea typeface="+mj-ea"/>
              </a:rPr>
              <a:t>）</a:t>
            </a:r>
            <a:r>
              <a:rPr lang="en-US" altLang="zh-CN" sz="2400" b="1" dirty="0">
                <a:latin typeface="+mj-ea"/>
                <a:ea typeface="+mj-ea"/>
              </a:rPr>
              <a:t>&lt;</a:t>
            </a: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S&gt;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E1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：说明并初始化循环控制变量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E2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：循环条件，一般是具有逻辑值的表达式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：循环控制变量进行增量运算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S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：可以是简单语句或者复合语句，也称为循环体，即反复执行的语句或语句块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D89715-76ED-4893-A7C4-E00E16A35AA7}" type="slidenum">
              <a:rPr lang="en-US" altLang="zh-CN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>
          <a:xfrm>
            <a:off x="457200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>
          <a:xfrm>
            <a:off x="214282" y="785794"/>
            <a:ext cx="8715436" cy="5572164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几点说明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E1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E2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E3</a:t>
            </a:r>
            <a:r>
              <a:rPr lang="zh-CN" altLang="en-US" sz="2400" b="1" dirty="0">
                <a:latin typeface="+mj-ea"/>
                <a:ea typeface="+mj-ea"/>
              </a:rPr>
              <a:t>可以为空。如果</a:t>
            </a:r>
            <a:r>
              <a:rPr lang="en-US" altLang="zh-CN" sz="2400" b="1" dirty="0">
                <a:latin typeface="+mj-ea"/>
                <a:ea typeface="+mj-ea"/>
              </a:rPr>
              <a:t>E2</a:t>
            </a:r>
            <a:r>
              <a:rPr lang="zh-CN" altLang="en-US" sz="2400" b="1" dirty="0">
                <a:latin typeface="+mj-ea"/>
                <a:ea typeface="+mj-ea"/>
              </a:rPr>
              <a:t>为空语句，则循环永远执行下去，除非遇到转向语句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E1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E2</a:t>
            </a:r>
            <a:r>
              <a:rPr lang="zh-CN" altLang="en-US" sz="2400" b="1" dirty="0">
                <a:latin typeface="+mj-ea"/>
                <a:ea typeface="+mj-ea"/>
              </a:rPr>
              <a:t>、</a:t>
            </a:r>
            <a:r>
              <a:rPr lang="en-US" altLang="zh-CN" sz="2400" b="1" dirty="0">
                <a:latin typeface="+mj-ea"/>
                <a:ea typeface="+mj-ea"/>
              </a:rPr>
              <a:t>E3</a:t>
            </a:r>
            <a:r>
              <a:rPr lang="zh-CN" altLang="en-US" sz="2400" b="1" dirty="0">
                <a:latin typeface="+mj-ea"/>
                <a:ea typeface="+mj-ea"/>
              </a:rPr>
              <a:t>可以为</a:t>
            </a:r>
            <a:r>
              <a:rPr lang="zh-CN" altLang="en-US" sz="2400" b="1" dirty="0">
                <a:solidFill>
                  <a:srgbClr val="FF0000"/>
                </a:solidFill>
                <a:latin typeface="+mj-ea"/>
                <a:ea typeface="+mj-ea"/>
              </a:rPr>
              <a:t>逗号表达式</a:t>
            </a:r>
            <a:r>
              <a:rPr lang="zh-CN" altLang="en-US" sz="2400" b="1" dirty="0">
                <a:latin typeface="+mj-ea"/>
                <a:ea typeface="+mj-ea"/>
              </a:rPr>
              <a:t>，除了操作循环控制变量之外，还可以操作其它成分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E1</a:t>
            </a:r>
            <a:r>
              <a:rPr lang="zh-CN" altLang="en-US" sz="2400" b="1" dirty="0">
                <a:latin typeface="+mj-ea"/>
                <a:ea typeface="+mj-ea"/>
              </a:rPr>
              <a:t>只执行一次，不仅可以对循环控制变量初始化，还可以初始化其它成分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latin typeface="+mj-ea"/>
                <a:ea typeface="+mj-ea"/>
              </a:rPr>
              <a:t>E2</a:t>
            </a:r>
            <a:r>
              <a:rPr lang="zh-CN" altLang="en-US" sz="2400" b="1" dirty="0">
                <a:latin typeface="+mj-ea"/>
                <a:ea typeface="+mj-ea"/>
              </a:rPr>
              <a:t>和</a:t>
            </a:r>
            <a:r>
              <a:rPr lang="en-US" altLang="zh-CN" sz="2400" b="1" dirty="0">
                <a:latin typeface="+mj-ea"/>
                <a:ea typeface="+mj-ea"/>
              </a:rPr>
              <a:t>E3</a:t>
            </a:r>
            <a:r>
              <a:rPr lang="zh-CN" altLang="en-US" sz="2400" b="1" dirty="0">
                <a:latin typeface="+mj-ea"/>
                <a:ea typeface="+mj-ea"/>
              </a:rPr>
              <a:t>在执行循环体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前后各要执行一次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语句</a:t>
            </a:r>
            <a:r>
              <a:rPr lang="en-US" altLang="zh-CN" sz="2400" b="1" dirty="0">
                <a:latin typeface="+mj-ea"/>
                <a:ea typeface="+mj-ea"/>
              </a:rPr>
              <a:t>S</a:t>
            </a:r>
            <a:r>
              <a:rPr lang="zh-CN" altLang="en-US" sz="2400" b="1" dirty="0">
                <a:latin typeface="+mj-ea"/>
                <a:ea typeface="+mj-ea"/>
              </a:rPr>
              <a:t>可以是空语句，可用于某种延时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2D0630-560E-4CC4-B499-FE6817423172}" type="slidenum">
              <a:rPr lang="en-US" altLang="zh-CN"/>
              <a:pPr>
                <a:defRPr/>
              </a:pPr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>
          <a:xfrm>
            <a:off x="428596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>
          <a:xfrm>
            <a:off x="179512" y="590860"/>
            <a:ext cx="8678198" cy="52864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执行过程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(1)</a:t>
            </a:r>
            <a:r>
              <a:rPr lang="zh-CN" altLang="en-US" sz="2400" b="1" dirty="0">
                <a:latin typeface="+mj-ea"/>
                <a:ea typeface="+mj-ea"/>
              </a:rPr>
              <a:t>计算“&lt;表达式1&gt;”；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(2)</a:t>
            </a:r>
            <a:r>
              <a:rPr lang="zh-CN" altLang="en-US" sz="2400" b="1" dirty="0">
                <a:latin typeface="+mj-ea"/>
                <a:ea typeface="+mj-ea"/>
              </a:rPr>
              <a:t>计算“&lt;表达式2&gt;”，若结果值为0（假）则结束本</a:t>
            </a:r>
            <a:r>
              <a:rPr lang="en-US" altLang="zh-CN" sz="2400" b="1" dirty="0">
                <a:latin typeface="+mj-ea"/>
                <a:ea typeface="+mj-ea"/>
              </a:rPr>
              <a:t>for</a:t>
            </a:r>
            <a:r>
              <a:rPr lang="zh-CN" altLang="en-US" sz="2400" b="1" dirty="0">
                <a:latin typeface="+mj-ea"/>
                <a:ea typeface="+mj-ea"/>
              </a:rPr>
              <a:t>语句，否则，先执行一遍作为循环体的那一“&lt;语句&gt;”，再计算“&lt;表达式3&gt;”，而后转(2)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循环控制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每执行一次循环之前，判断表达式</a:t>
            </a:r>
            <a:r>
              <a:rPr lang="en-US" altLang="zh-CN" sz="2400" b="1" dirty="0">
                <a:latin typeface="+mj-ea"/>
                <a:ea typeface="+mj-ea"/>
              </a:rPr>
              <a:t>E2</a:t>
            </a:r>
            <a:r>
              <a:rPr lang="zh-CN" altLang="en-US" sz="2400" b="1" dirty="0">
                <a:latin typeface="+mj-ea"/>
                <a:ea typeface="+mj-ea"/>
              </a:rPr>
              <a:t>的值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为真值则继续执行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为假值则结束循环</a:t>
            </a:r>
            <a:endParaRPr lang="zh-CN" altLang="en-US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B60E91-F2BB-464D-8FBC-847E85C7354D}" type="slidenum">
              <a:rPr lang="en-US" altLang="zh-CN"/>
              <a:pPr>
                <a:defRPr/>
              </a:pPr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107504" y="63277"/>
            <a:ext cx="8153400" cy="1133475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+mj-ea"/>
                <a:ea typeface="+mj-ea"/>
              </a:rPr>
              <a:t>for</a:t>
            </a:r>
            <a:r>
              <a:rPr lang="zh-CN" altLang="en-US" b="1" dirty="0">
                <a:latin typeface="+mj-ea"/>
                <a:ea typeface="+mj-ea"/>
              </a:rPr>
              <a:t>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40631F-5170-45B3-B182-4291BAEDDB2C}" type="slidenum">
              <a:rPr lang="en-US" altLang="zh-CN"/>
              <a:pPr>
                <a:defRPr/>
              </a:pPr>
              <a:t>6</a:t>
            </a:fld>
            <a:endParaRPr lang="en-US" altLang="zh-CN" dirty="0"/>
          </a:p>
        </p:txBody>
      </p:sp>
      <p:pic>
        <p:nvPicPr>
          <p:cNvPr id="7578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9295" y="764704"/>
            <a:ext cx="5901097" cy="55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>
          <a:xfrm>
            <a:off x="357158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>
          <a:xfrm>
            <a:off x="357158" y="714356"/>
            <a:ext cx="8153400" cy="1276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AED8BF7-3013-4C36-910D-78A41D6ADCA0}" type="slidenum">
              <a:rPr lang="en-US" altLang="zh-CN"/>
              <a:pPr>
                <a:defRPr/>
              </a:pPr>
              <a:t>7</a:t>
            </a:fld>
            <a:endParaRPr lang="en-US" altLang="zh-CN" dirty="0"/>
          </a:p>
        </p:txBody>
      </p:sp>
      <p:pic>
        <p:nvPicPr>
          <p:cNvPr id="768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3071813"/>
            <a:ext cx="57626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8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0" y="3806825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43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79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86000" y="3806825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7943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79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286000" y="3806825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786438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079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10" name="Picture 14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643438" y="2000250"/>
            <a:ext cx="619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15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643063" y="4714875"/>
            <a:ext cx="14319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42844" y="785794"/>
            <a:ext cx="7829576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4.15】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求累加和常用的“程序框架”为：</a:t>
            </a:r>
            <a:endParaRPr lang="en-US" altLang="zh-CN" sz="2400" b="1" dirty="0">
              <a:latin typeface="+mj-ea"/>
              <a:ea typeface="+mj-ea"/>
            </a:endParaRP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3200" b="1" dirty="0">
                <a:solidFill>
                  <a:srgbClr val="0000FF"/>
                </a:solidFill>
                <a:latin typeface="+mj-ea"/>
                <a:ea typeface="+mj-ea"/>
              </a:rPr>
              <a:t>		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sum = 0； 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//“sum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雪球”从0滚起</a:t>
            </a:r>
            <a:endParaRPr lang="zh-CN" altLang="en-US" sz="28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</a:rPr>
              <a:t>  	for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( … )	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控制要“滚”多少圈</a:t>
            </a: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</a:rPr>
              <a:t>	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+mj-ea"/>
                <a:ea typeface="+mj-ea"/>
              </a:rPr>
              <a:t>	   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	{    </a:t>
            </a: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		    sum = sum + …； 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“</a:t>
            </a:r>
            <a:r>
              <a:rPr lang="en-US" altLang="zh-CN" sz="2400" b="1" dirty="0">
                <a:solidFill>
                  <a:srgbClr val="00B050"/>
                </a:solidFill>
                <a:latin typeface="+mj-ea"/>
                <a:ea typeface="+mj-ea"/>
              </a:rPr>
              <a:t>sum</a:t>
            </a:r>
            <a:r>
              <a:rPr lang="zh-CN" altLang="en-US" sz="2400" b="1" dirty="0">
                <a:solidFill>
                  <a:srgbClr val="00B050"/>
                </a:solidFill>
                <a:latin typeface="+mj-ea"/>
                <a:ea typeface="+mj-ea"/>
              </a:rPr>
              <a:t>雪球”继续滚</a:t>
            </a:r>
            <a:endParaRPr lang="en-US" altLang="zh-CN" sz="2800" b="1" dirty="0">
              <a:solidFill>
                <a:srgbClr val="00B050"/>
              </a:solidFill>
              <a:latin typeface="+mj-ea"/>
              <a:ea typeface="+mj-ea"/>
            </a:endParaRPr>
          </a:p>
          <a:p>
            <a:pPr algn="just"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</a:rPr>
              <a:t>		}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</a:endParaRPr>
          </a:p>
          <a:p>
            <a:pPr lvl="3" eaLnBrk="1" hangingPunct="1"/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1EED8C-FE18-46DA-A273-94143CACC625}" type="slidenum">
              <a:rPr lang="en-US" altLang="zh-CN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153400" cy="199072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4.15】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程序代码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三个表达式都齐全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2DD92E-D99B-4AA9-9992-408ED54FD00A}" type="slidenum">
              <a:rPr lang="en-US" altLang="zh-CN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7885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3071810"/>
            <a:ext cx="5516563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内容占位符 2"/>
          <p:cNvSpPr>
            <a:spLocks noGrp="1"/>
          </p:cNvSpPr>
          <p:nvPr>
            <p:ph idx="1"/>
          </p:nvPr>
        </p:nvSpPr>
        <p:spPr>
          <a:xfrm>
            <a:off x="107504" y="260648"/>
            <a:ext cx="8153400" cy="199072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+mj-ea"/>
                <a:ea typeface="+mj-ea"/>
              </a:rPr>
              <a:t>for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4.15】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程序代码</a:t>
            </a:r>
            <a:r>
              <a:rPr lang="en-US" altLang="zh-CN" sz="2800" b="1" dirty="0">
                <a:latin typeface="+mj-ea"/>
                <a:ea typeface="+mj-ea"/>
              </a:rPr>
              <a:t>1</a:t>
            </a:r>
          </a:p>
          <a:p>
            <a:pPr lvl="3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sum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在循环语句中初始化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D725F89-5AB6-44EA-AAEF-B2EB6F29CE04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79878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8713" y="2780928"/>
            <a:ext cx="6888162" cy="191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内容占位符 2"/>
          <p:cNvSpPr>
            <a:spLocks noGrp="1"/>
          </p:cNvSpPr>
          <p:nvPr>
            <p:ph idx="1"/>
          </p:nvPr>
        </p:nvSpPr>
        <p:spPr>
          <a:xfrm>
            <a:off x="179512" y="286147"/>
            <a:ext cx="8153400" cy="1990725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latin typeface="+mj-ea"/>
                <a:ea typeface="+mj-ea"/>
              </a:rPr>
              <a:t>for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4.15】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800" b="1" dirty="0">
                <a:latin typeface="+mj-ea"/>
                <a:ea typeface="+mj-ea"/>
              </a:rPr>
              <a:t>程序代码</a:t>
            </a:r>
            <a:r>
              <a:rPr lang="en-US" altLang="zh-CN" sz="2800" b="1" dirty="0">
                <a:latin typeface="+mj-ea"/>
                <a:ea typeface="+mj-ea"/>
              </a:rPr>
              <a:t>1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省略表达式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E1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和表达式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E3</a:t>
            </a:r>
            <a:endParaRPr lang="zh-CN" altLang="en-US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81B2CBE-05F2-4B4F-A6B2-3380E23ECFD9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  <p:pic>
        <p:nvPicPr>
          <p:cNvPr id="8090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794" y="2714620"/>
            <a:ext cx="4600575" cy="2371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/>
          <p:cNvSpPr>
            <a:spLocks noGrp="1"/>
          </p:cNvSpPr>
          <p:nvPr>
            <p:ph type="title"/>
          </p:nvPr>
        </p:nvSpPr>
        <p:spPr>
          <a:xfrm>
            <a:off x="457200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81923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153400" cy="2214578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4.15】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程序代码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省略全部表达式</a:t>
            </a:r>
            <a:r>
              <a:rPr lang="en-US" altLang="zh-CN" sz="2800" dirty="0">
                <a:solidFill>
                  <a:srgbClr val="0000FF"/>
                </a:solidFill>
              </a:rPr>
              <a:t>	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63E447F-6BA0-4C0D-8A96-1819FE858F46}" type="slidenum">
              <a:rPr lang="en-US" altLang="zh-CN"/>
              <a:pPr>
                <a:defRPr/>
              </a:pPr>
              <a:t>12</a:t>
            </a:fld>
            <a:endParaRPr lang="en-US" altLang="zh-CN" dirty="0"/>
          </a:p>
        </p:txBody>
      </p:sp>
      <p:pic>
        <p:nvPicPr>
          <p:cNvPr id="81926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32" y="3000372"/>
            <a:ext cx="4602163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82947" name="内容占位符 2"/>
          <p:cNvSpPr>
            <a:spLocks noGrp="1"/>
          </p:cNvSpPr>
          <p:nvPr>
            <p:ph idx="1"/>
          </p:nvPr>
        </p:nvSpPr>
        <p:spPr>
          <a:xfrm>
            <a:off x="457200" y="1081089"/>
            <a:ext cx="8153400" cy="2633663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4.15】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程序代码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省略全部表达式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2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循环体为空语句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0B48DAA-54F3-4F01-9D91-5617B1359CC3}" type="slidenum">
              <a:rPr lang="en-US" altLang="zh-CN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8295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6875" y="4206875"/>
            <a:ext cx="8350250" cy="50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内容占位符 2"/>
          <p:cNvSpPr>
            <a:spLocks noGrp="1"/>
          </p:cNvSpPr>
          <p:nvPr>
            <p:ph idx="1"/>
          </p:nvPr>
        </p:nvSpPr>
        <p:spPr>
          <a:xfrm>
            <a:off x="251520" y="188640"/>
            <a:ext cx="8643998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40000"/>
              </a:lnSpc>
            </a:pP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形式简单的循环语句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是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for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语句中表达式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E1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E3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为空的特殊情形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4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while(&lt;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E&gt;) &lt;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语句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S&gt;</a:t>
            </a:r>
          </a:p>
          <a:p>
            <a:pPr lvl="3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是具有逻辑值的表达式用于判断循环是否继续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40000"/>
              </a:lnSpc>
            </a:pP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为真值，则循环继续</a:t>
            </a:r>
            <a:endParaRPr lang="en-US" altLang="zh-CN" sz="2400" b="1" dirty="0">
              <a:latin typeface="+mj-ea"/>
              <a:ea typeface="+mj-ea"/>
            </a:endParaRPr>
          </a:p>
          <a:p>
            <a:pPr lvl="4" eaLnBrk="1" hangingPunct="1">
              <a:lnSpc>
                <a:spcPct val="140000"/>
              </a:lnSpc>
            </a:pP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为假值，结束循环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4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可以是简单语句或者复合语句，为循环体</a:t>
            </a:r>
            <a:endParaRPr lang="zh-CN" altLang="en-US" sz="1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7F704E6-F648-44B4-9816-9B071428C064}" type="slidenum">
              <a:rPr lang="en-US" altLang="zh-CN"/>
              <a:pPr>
                <a:defRPr/>
              </a:pPr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1" name="内容占位符 2"/>
          <p:cNvSpPr>
            <a:spLocks noGrp="1"/>
          </p:cNvSpPr>
          <p:nvPr>
            <p:ph idx="1"/>
          </p:nvPr>
        </p:nvSpPr>
        <p:spPr>
          <a:xfrm>
            <a:off x="251520" y="260648"/>
            <a:ext cx="8524884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执行过程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计算</a:t>
            </a: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后“&lt;条件表达式&gt;”的值，为真（非0）则执行一遍由“&lt;语句&gt;”所指定的循环体；反复执行上述操作，直到“&lt;条件表达式&gt;”的值为假时结束该</a:t>
            </a: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语句。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可以看出，若“&lt;表达式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&gt;”的值一上来就为假时，会立刻结束该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while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语句（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即：此种情况下，作为循环体的&lt;语句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S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&gt;一次也没被执行则结束了该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while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语句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0D7743B-B7F8-49E6-8F6D-55B9D4A80235}" type="slidenum">
              <a:rPr lang="en-US" altLang="zh-CN"/>
              <a:pPr>
                <a:defRPr/>
              </a:pPr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内容占位符 2"/>
          <p:cNvSpPr>
            <a:spLocks noGrp="1"/>
          </p:cNvSpPr>
          <p:nvPr>
            <p:ph idx="1"/>
          </p:nvPr>
        </p:nvSpPr>
        <p:spPr>
          <a:xfrm>
            <a:off x="214282" y="260648"/>
            <a:ext cx="8153400" cy="1276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65DBACF-0DE2-4646-9A22-08DBC8BDE798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  <p:pic>
        <p:nvPicPr>
          <p:cNvPr id="901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7422" y="1214422"/>
            <a:ext cx="5476875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内容占位符 2"/>
          <p:cNvSpPr>
            <a:spLocks noGrp="1"/>
          </p:cNvSpPr>
          <p:nvPr>
            <p:ph idx="1"/>
          </p:nvPr>
        </p:nvSpPr>
        <p:spPr>
          <a:xfrm>
            <a:off x="611560" y="855935"/>
            <a:ext cx="8153400" cy="12049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1354EA2-8095-4A98-9CF9-1771BEDFA586}" type="slidenum">
              <a:rPr lang="en-US" altLang="zh-CN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911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0" y="2928938"/>
            <a:ext cx="288607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438" y="294957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0438" y="3663950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000500" y="294957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00438" y="3663950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00500" y="294957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500438" y="3663950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00500" y="294957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30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572000" y="1928813"/>
            <a:ext cx="619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786063" y="4572000"/>
            <a:ext cx="14319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>
          <a:xfrm>
            <a:off x="285720" y="179986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92163" name="内容占位符 2"/>
          <p:cNvSpPr>
            <a:spLocks noGrp="1"/>
          </p:cNvSpPr>
          <p:nvPr>
            <p:ph idx="1"/>
          </p:nvPr>
        </p:nvSpPr>
        <p:spPr>
          <a:xfrm>
            <a:off x="214282" y="797258"/>
            <a:ext cx="7239000" cy="5132072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循环的控制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通过</a:t>
            </a:r>
            <a:r>
              <a:rPr lang="zh-CN" altLang="en-US" sz="2400" b="1" dirty="0">
                <a:solidFill>
                  <a:srgbClr val="7030A0"/>
                </a:solidFill>
                <a:latin typeface="+mj-ea"/>
                <a:ea typeface="+mj-ea"/>
              </a:rPr>
              <a:t>表达式</a:t>
            </a:r>
            <a:r>
              <a:rPr lang="en-US" altLang="zh-CN" sz="2400" b="1" dirty="0">
                <a:solidFill>
                  <a:srgbClr val="7030A0"/>
                </a:solidFill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控制循环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循环体中应包含对表达式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的值有影响的操作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使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值为真值则循环继续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使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值为假值则结束循环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如果表达式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的值恒为真值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死循环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遇到转向语句结束循环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7BF1F87-068E-4D78-83FF-959173618A85}" type="slidenum">
              <a:rPr lang="en-US" altLang="zh-CN"/>
              <a:pPr>
                <a:defRPr/>
              </a:pPr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内容占位符 2"/>
          <p:cNvSpPr>
            <a:spLocks noGrp="1"/>
          </p:cNvSpPr>
          <p:nvPr>
            <p:ph idx="1"/>
          </p:nvPr>
        </p:nvSpPr>
        <p:spPr>
          <a:xfrm>
            <a:off x="323528" y="188640"/>
            <a:ext cx="7239000" cy="4846320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+mj-ea"/>
                <a:ea typeface="+mj-ea"/>
              </a:rPr>
              <a:t>while</a:t>
            </a:r>
            <a:r>
              <a:rPr lang="zh-CN" altLang="en-US" b="1" dirty="0">
                <a:latin typeface="+mj-ea"/>
                <a:ea typeface="+mj-ea"/>
              </a:rPr>
              <a:t>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4.18】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1+2+3+...+100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的值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064774-926F-4F2C-B9C3-5FFA0F984441}" type="slidenum">
              <a:rPr lang="en-US" altLang="zh-CN"/>
              <a:pPr>
                <a:defRPr/>
              </a:pPr>
              <a:t>19</a:t>
            </a:fld>
            <a:endParaRPr lang="en-US" altLang="zh-CN" dirty="0"/>
          </a:p>
        </p:txBody>
      </p:sp>
      <p:pic>
        <p:nvPicPr>
          <p:cNvPr id="931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31640" y="1150342"/>
            <a:ext cx="6670702" cy="479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内容占位符 2"/>
          <p:cNvSpPr>
            <a:spLocks noGrp="1"/>
          </p:cNvSpPr>
          <p:nvPr>
            <p:ph idx="1"/>
          </p:nvPr>
        </p:nvSpPr>
        <p:spPr>
          <a:xfrm>
            <a:off x="323528" y="476672"/>
            <a:ext cx="8064896" cy="6048672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4.19】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修改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4.12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计算器程序，增加控制计算器运行的功能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运行程序进行一次计算后，系统提示：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Do you want to continue?(y or n):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输入字符</a:t>
            </a:r>
            <a:r>
              <a:rPr lang="en-US" altLang="zh-CN" sz="2800" b="1" dirty="0">
                <a:latin typeface="+mj-ea"/>
                <a:ea typeface="+mj-ea"/>
              </a:rPr>
              <a:t>y</a:t>
            </a:r>
            <a:r>
              <a:rPr lang="zh-CN" altLang="en-US" sz="2800" b="1" dirty="0">
                <a:latin typeface="+mj-ea"/>
                <a:ea typeface="+mj-ea"/>
              </a:rPr>
              <a:t>则继续计算</a:t>
            </a:r>
            <a:endParaRPr lang="en-US" altLang="zh-CN" sz="28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输入其它字符则结束计算</a:t>
            </a:r>
            <a:endParaRPr lang="en-US" altLang="zh-CN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EC5EA0-234E-4151-A5C5-AF3E40C552B8}" type="slidenum">
              <a:rPr lang="en-US" altLang="zh-CN"/>
              <a:pPr>
                <a:defRPr/>
              </a:pPr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F340E1-A2BC-4738-B885-BD01583D1A49}" type="slidenum">
              <a:rPr lang="en-US" altLang="zh-CN"/>
              <a:pPr>
                <a:defRPr/>
              </a:pPr>
              <a:t>21</a:t>
            </a:fld>
            <a:endParaRPr lang="en-US" altLang="zh-CN" dirty="0"/>
          </a:p>
        </p:txBody>
      </p:sp>
      <p:pic>
        <p:nvPicPr>
          <p:cNvPr id="9523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0021" y="116632"/>
            <a:ext cx="7448493" cy="65527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9" name="内容占位符 2"/>
          <p:cNvSpPr>
            <a:spLocks noGrp="1"/>
          </p:cNvSpPr>
          <p:nvPr>
            <p:ph idx="1"/>
          </p:nvPr>
        </p:nvSpPr>
        <p:spPr>
          <a:xfrm>
            <a:off x="107504" y="44624"/>
            <a:ext cx="8820472" cy="612068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do...while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类似于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while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将循环的判定移至循环体之后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 do &lt;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语句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S&gt; while(&lt;</a:t>
            </a:r>
            <a:r>
              <a:rPr lang="zh-CN" altLang="en-US" sz="3200" b="1" dirty="0">
                <a:solidFill>
                  <a:srgbClr val="FF0000"/>
                </a:solidFill>
                <a:latin typeface="+mj-ea"/>
                <a:ea typeface="+mj-ea"/>
              </a:rPr>
              <a:t>表达式</a:t>
            </a:r>
            <a:r>
              <a:rPr lang="en-US" altLang="zh-CN" sz="3200" b="1" dirty="0">
                <a:solidFill>
                  <a:srgbClr val="FF0000"/>
                </a:solidFill>
                <a:latin typeface="+mj-ea"/>
                <a:ea typeface="+mj-ea"/>
              </a:rPr>
              <a:t>E&gt;);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是具有逻辑值的表达式用于判断循环是否继续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为真值，则循环继续</a:t>
            </a:r>
            <a:endParaRPr lang="en-US" altLang="zh-CN" sz="2400" b="1" dirty="0">
              <a:latin typeface="+mj-ea"/>
              <a:ea typeface="+mj-ea"/>
            </a:endParaRPr>
          </a:p>
          <a:p>
            <a:pPr lvl="4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为假值，结束循环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可以是简单语句或者复合语句，为循环体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5345F94-8CCD-47C7-B01A-6B615937C487}" type="slidenum">
              <a:rPr lang="en-US" altLang="zh-CN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3" name="内容占位符 2"/>
          <p:cNvSpPr>
            <a:spLocks noGrp="1"/>
          </p:cNvSpPr>
          <p:nvPr>
            <p:ph idx="1"/>
          </p:nvPr>
        </p:nvSpPr>
        <p:spPr>
          <a:xfrm>
            <a:off x="224720" y="166856"/>
            <a:ext cx="8667760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do...while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执行过程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先执行一遍由“&lt;语句&gt;”所指定的循环体；</a:t>
            </a:r>
            <a:br>
              <a:rPr lang="en-US" altLang="zh-CN" sz="2800" b="1" dirty="0">
                <a:latin typeface="+mj-ea"/>
                <a:ea typeface="+mj-ea"/>
              </a:rPr>
            </a:br>
            <a:r>
              <a:rPr lang="zh-CN" altLang="en-US" sz="2800" b="1" dirty="0">
                <a:latin typeface="+mj-ea"/>
                <a:ea typeface="+mj-ea"/>
              </a:rPr>
              <a:t>而后计算</a:t>
            </a: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后“&lt;条件表达式&gt;”的值：</a:t>
            </a:r>
            <a:br>
              <a:rPr lang="en-US" altLang="zh-CN" sz="2800" b="1" dirty="0">
                <a:latin typeface="+mj-ea"/>
                <a:ea typeface="+mj-ea"/>
              </a:rPr>
            </a:br>
            <a:r>
              <a:rPr lang="en-US" altLang="zh-CN" sz="2800" b="1" dirty="0">
                <a:latin typeface="+mj-ea"/>
                <a:ea typeface="+mj-ea"/>
              </a:rPr>
              <a:t>	</a:t>
            </a:r>
            <a:r>
              <a:rPr lang="zh-CN" altLang="en-US" sz="2800" b="1" dirty="0">
                <a:latin typeface="+mj-ea"/>
                <a:ea typeface="+mj-ea"/>
              </a:rPr>
              <a:t>若为0（假）则退出循环（结束</a:t>
            </a:r>
            <a:r>
              <a:rPr lang="en-US" altLang="zh-CN" sz="2800" b="1" dirty="0">
                <a:latin typeface="+mj-ea"/>
                <a:ea typeface="+mj-ea"/>
              </a:rPr>
              <a:t>do-while</a:t>
            </a:r>
            <a:r>
              <a:rPr lang="zh-CN" altLang="en-US" sz="2800" b="1" dirty="0">
                <a:latin typeface="+mj-ea"/>
                <a:ea typeface="+mj-ea"/>
              </a:rPr>
              <a:t>语句）</a:t>
            </a:r>
            <a:r>
              <a:rPr lang="en-US" altLang="zh-CN" sz="2800" b="1" dirty="0">
                <a:latin typeface="+mj-ea"/>
                <a:ea typeface="+mj-ea"/>
              </a:rPr>
              <a:t>	</a:t>
            </a:r>
            <a:r>
              <a:rPr lang="zh-CN" altLang="en-US" sz="2800" b="1" dirty="0">
                <a:latin typeface="+mj-ea"/>
                <a:ea typeface="+mj-ea"/>
              </a:rPr>
              <a:t>否则（条件为真时）返回</a:t>
            </a:r>
            <a:r>
              <a:rPr lang="en-US" altLang="zh-CN" sz="2800" b="1" dirty="0">
                <a:latin typeface="+mj-ea"/>
                <a:ea typeface="+mj-ea"/>
              </a:rPr>
              <a:t>do</a:t>
            </a:r>
            <a:r>
              <a:rPr lang="zh-CN" altLang="en-US" sz="2800" b="1" dirty="0">
                <a:latin typeface="+mj-ea"/>
                <a:ea typeface="+mj-ea"/>
              </a:rPr>
              <a:t>处继续循环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do...while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语句的循环体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至少要被执行一遍</a:t>
            </a:r>
            <a:b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</a:br>
            <a:r>
              <a:rPr lang="zh-CN" altLang="en-US" sz="2800" b="1" dirty="0">
                <a:latin typeface="+mj-ea"/>
                <a:ea typeface="+mj-ea"/>
              </a:rPr>
              <a:t>（这一点与</a:t>
            </a: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语句不同）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24898F9-60FF-4E47-957B-A4132150A255}" type="slidenum">
              <a:rPr lang="en-US" altLang="zh-CN"/>
              <a:pPr>
                <a:defRPr/>
              </a:pPr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内容占位符 2"/>
          <p:cNvSpPr>
            <a:spLocks noGrp="1"/>
          </p:cNvSpPr>
          <p:nvPr>
            <p:ph idx="1"/>
          </p:nvPr>
        </p:nvSpPr>
        <p:spPr>
          <a:xfrm>
            <a:off x="285720" y="723890"/>
            <a:ext cx="8153400" cy="1276350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+mj-ea"/>
                <a:ea typeface="+mj-ea"/>
              </a:rPr>
              <a:t>do...while</a:t>
            </a:r>
            <a:r>
              <a:rPr lang="zh-CN" altLang="en-US" b="1" dirty="0">
                <a:latin typeface="+mj-ea"/>
                <a:ea typeface="+mj-ea"/>
              </a:rPr>
              <a:t>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latin typeface="+mj-ea"/>
                <a:ea typeface="+mj-ea"/>
              </a:rPr>
              <a:t>执行流程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E1077B-EBC1-4F57-85C6-F64F66C61D87}" type="slidenum">
              <a:rPr lang="en-US" altLang="zh-CN"/>
              <a:pPr>
                <a:defRPr/>
              </a:pPr>
              <a:t>24</a:t>
            </a:fld>
            <a:endParaRPr lang="en-US" altLang="zh-CN" dirty="0"/>
          </a:p>
        </p:txBody>
      </p:sp>
      <p:pic>
        <p:nvPicPr>
          <p:cNvPr id="983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81207" y="1643050"/>
            <a:ext cx="547687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标题 1"/>
          <p:cNvSpPr>
            <a:spLocks noGrp="1"/>
          </p:cNvSpPr>
          <p:nvPr>
            <p:ph type="title"/>
          </p:nvPr>
        </p:nvSpPr>
        <p:spPr>
          <a:xfrm>
            <a:off x="357158" y="214290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99331" name="内容占位符 2"/>
          <p:cNvSpPr>
            <a:spLocks noGrp="1"/>
          </p:cNvSpPr>
          <p:nvPr>
            <p:ph idx="1"/>
          </p:nvPr>
        </p:nvSpPr>
        <p:spPr>
          <a:xfrm>
            <a:off x="457200" y="857232"/>
            <a:ext cx="8153400" cy="113347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>
                <a:latin typeface="+mj-ea"/>
                <a:ea typeface="+mj-ea"/>
              </a:rPr>
              <a:t>do…while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F522F0-0FB8-4F3F-909F-6AA0BCA75088}" type="slidenum">
              <a:rPr lang="en-US" altLang="zh-CN"/>
              <a:pPr>
                <a:defRPr/>
              </a:pPr>
              <a:t>25</a:t>
            </a:fld>
            <a:endParaRPr lang="en-US" altLang="zh-CN" dirty="0"/>
          </a:p>
        </p:txBody>
      </p:sp>
      <p:pic>
        <p:nvPicPr>
          <p:cNvPr id="993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0" y="2357430"/>
            <a:ext cx="31242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0438" y="3092442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94188" y="364330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500438" y="3092442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294188" y="364330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00438" y="3092442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4294188" y="364330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500438" y="3092442"/>
            <a:ext cx="16970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294188" y="3643305"/>
            <a:ext cx="1492250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55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5715000" y="2571742"/>
            <a:ext cx="619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786063" y="4092567"/>
            <a:ext cx="1431925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829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/>
          <p:cNvSpPr>
            <a:spLocks noGrp="1"/>
          </p:cNvSpPr>
          <p:nvPr>
            <p:ph type="title"/>
          </p:nvPr>
        </p:nvSpPr>
        <p:spPr>
          <a:xfrm>
            <a:off x="428596" y="71414"/>
            <a:ext cx="7239000" cy="53437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100355" name="内容占位符 2"/>
          <p:cNvSpPr>
            <a:spLocks noGrp="1"/>
          </p:cNvSpPr>
          <p:nvPr>
            <p:ph idx="1"/>
          </p:nvPr>
        </p:nvSpPr>
        <p:spPr>
          <a:xfrm>
            <a:off x="357158" y="857232"/>
            <a:ext cx="7239000" cy="484632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do...while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循环的控制（与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while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语句相似）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通过表达式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控制循环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循环体中应包含对表达式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的值有影响的操作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使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值为真值则循环继续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使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值为假值则结束循环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如果表达式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的值恒为真值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死循环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遇到转向语句结束循环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955E6D-2C1B-40EE-A50A-F662387AB7D8}" type="slidenum">
              <a:rPr lang="en-US" altLang="zh-CN"/>
              <a:pPr>
                <a:defRPr/>
              </a:pPr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9" name="内容占位符 2"/>
          <p:cNvSpPr>
            <a:spLocks noGrp="1"/>
          </p:cNvSpPr>
          <p:nvPr>
            <p:ph idx="1"/>
          </p:nvPr>
        </p:nvSpPr>
        <p:spPr>
          <a:xfrm>
            <a:off x="214282" y="44624"/>
            <a:ext cx="8678198" cy="5274948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do...while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4.20】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用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do…while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语句改写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4.19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的计算器程序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while</a:t>
            </a:r>
            <a:r>
              <a:rPr lang="zh-CN" altLang="en-US" sz="2800" b="1" dirty="0">
                <a:latin typeface="+mj-ea"/>
                <a:ea typeface="+mj-ea"/>
              </a:rPr>
              <a:t>语句首先判断字符</a:t>
            </a:r>
            <a:r>
              <a:rPr lang="en-US" altLang="zh-CN" sz="2800" b="1" dirty="0">
                <a:latin typeface="+mj-ea"/>
                <a:ea typeface="+mj-ea"/>
              </a:rPr>
              <a:t>cont</a:t>
            </a:r>
            <a:r>
              <a:rPr lang="zh-CN" altLang="en-US" sz="2800" b="1" dirty="0">
                <a:latin typeface="+mj-ea"/>
                <a:ea typeface="+mj-ea"/>
              </a:rPr>
              <a:t>的值，因此必须先对</a:t>
            </a:r>
            <a:r>
              <a:rPr lang="en-US" altLang="zh-CN" sz="2800" b="1" dirty="0">
                <a:latin typeface="+mj-ea"/>
                <a:ea typeface="+mj-ea"/>
              </a:rPr>
              <a:t>cont</a:t>
            </a:r>
            <a:r>
              <a:rPr lang="zh-CN" altLang="en-US" sz="2800" b="1" dirty="0">
                <a:latin typeface="+mj-ea"/>
                <a:ea typeface="+mj-ea"/>
              </a:rPr>
              <a:t>进行赋值，如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  <a:cs typeface="Courier New" pitchFamily="49" charset="0"/>
              </a:rPr>
              <a:t>cont = “Y”;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do…while</a:t>
            </a:r>
            <a:r>
              <a:rPr lang="zh-CN" altLang="en-US" sz="2800" b="1" dirty="0">
                <a:latin typeface="+mj-ea"/>
                <a:ea typeface="+mj-ea"/>
              </a:rPr>
              <a:t>的循环体至少执行一次，无论</a:t>
            </a:r>
            <a:r>
              <a:rPr lang="en-US" altLang="zh-CN" sz="2800" b="1" dirty="0">
                <a:latin typeface="+mj-ea"/>
                <a:ea typeface="+mj-ea"/>
              </a:rPr>
              <a:t>cont</a:t>
            </a:r>
            <a:r>
              <a:rPr lang="zh-CN" altLang="en-US" sz="2800" b="1" dirty="0">
                <a:latin typeface="+mj-ea"/>
                <a:ea typeface="+mj-ea"/>
              </a:rPr>
              <a:t>的初始值是什么，循环体都要执行，也就是计算器的第一次计算一定能够执行。因此，没有必要对</a:t>
            </a:r>
            <a:r>
              <a:rPr lang="en-US" altLang="zh-CN" sz="2800" b="1" dirty="0">
                <a:latin typeface="+mj-ea"/>
                <a:ea typeface="+mj-ea"/>
              </a:rPr>
              <a:t>cont</a:t>
            </a:r>
            <a:r>
              <a:rPr lang="zh-CN" altLang="en-US" sz="2800" b="1" dirty="0">
                <a:latin typeface="+mj-ea"/>
                <a:ea typeface="+mj-ea"/>
              </a:rPr>
              <a:t>进行初始化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8C182F2-1F7F-403B-A34A-5FEEFA7C2846}" type="slidenum">
              <a:rPr lang="en-US" altLang="zh-CN"/>
              <a:pPr>
                <a:defRPr/>
              </a:pPr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60D31C-9D1F-4216-9232-B9AAFC4DBAF4}" type="slidenum">
              <a:rPr lang="en-US" altLang="zh-CN"/>
              <a:pPr>
                <a:defRPr/>
              </a:pPr>
              <a:t>28</a:t>
            </a:fld>
            <a:endParaRPr lang="en-US" altLang="zh-CN" dirty="0"/>
          </a:p>
        </p:txBody>
      </p:sp>
      <p:pic>
        <p:nvPicPr>
          <p:cNvPr id="10240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4624"/>
            <a:ext cx="7200800" cy="66095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7" name="内容占位符 2"/>
          <p:cNvSpPr>
            <a:spLocks noGrp="1"/>
          </p:cNvSpPr>
          <p:nvPr>
            <p:ph idx="1"/>
          </p:nvPr>
        </p:nvSpPr>
        <p:spPr>
          <a:xfrm>
            <a:off x="179512" y="-54362"/>
            <a:ext cx="8821644" cy="5643602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do...while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4.21】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计算常数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e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的近似值（精确到累加项 1/(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n!) 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小于 0.1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e-10 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时为止）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计算公式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e = 1 + 1/(1!) + 1/(2!) + 1/(3!) + ... + 1/(n!) + ...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程序步骤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计算整数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n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的阶乘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取倒数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累加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8B62774-0AFE-407F-9472-CFD7C2D7D8DE}" type="slidenum">
              <a:rPr lang="en-US" altLang="zh-CN"/>
              <a:pPr>
                <a:defRPr/>
              </a:pPr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1" name="内容占位符 2"/>
          <p:cNvSpPr>
            <a:spLocks noGrp="1"/>
          </p:cNvSpPr>
          <p:nvPr>
            <p:ph idx="1"/>
          </p:nvPr>
        </p:nvSpPr>
        <p:spPr>
          <a:xfrm>
            <a:off x="107504" y="44624"/>
            <a:ext cx="8821644" cy="6215106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34000"/>
              </a:lnSpc>
            </a:pPr>
            <a:r>
              <a:rPr lang="en-US" altLang="zh-CN" sz="3200" b="1" dirty="0">
                <a:latin typeface="+mj-ea"/>
                <a:ea typeface="+mj-ea"/>
              </a:rPr>
              <a:t>do...while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4000"/>
              </a:lnSpc>
            </a:pP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4.21】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编程分析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4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循环语句选择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4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第一项为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！，值为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</a:t>
            </a:r>
          </a:p>
          <a:p>
            <a:pPr lvl="4" eaLnBrk="1" hangingPunct="1">
              <a:lnSpc>
                <a:spcPct val="134000"/>
              </a:lnSpc>
            </a:pPr>
            <a:r>
              <a:rPr lang="zh-CN" altLang="en-US" sz="2400" b="1" dirty="0">
                <a:latin typeface="+mj-ea"/>
                <a:ea typeface="+mj-ea"/>
              </a:rPr>
              <a:t>不是计算得到的，是约定的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4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与其它项存在“非共性”，选择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do…while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4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循环体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4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从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！开始计算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4" eaLnBrk="1" hangingPunct="1">
              <a:lnSpc>
                <a:spcPct val="134000"/>
              </a:lnSpc>
            </a:pPr>
            <a:r>
              <a:rPr lang="zh-CN" altLang="en-US" sz="2400" b="1" dirty="0">
                <a:latin typeface="+mj-ea"/>
                <a:ea typeface="+mj-ea"/>
              </a:rPr>
              <a:t>计算</a:t>
            </a:r>
            <a:r>
              <a:rPr lang="en-US" altLang="zh-CN" sz="2400" b="1" dirty="0">
                <a:latin typeface="+mj-ea"/>
                <a:ea typeface="+mj-ea"/>
              </a:rPr>
              <a:t>e</a:t>
            </a:r>
            <a:r>
              <a:rPr lang="zh-CN" altLang="en-US" sz="2400" b="1" dirty="0">
                <a:latin typeface="+mj-ea"/>
                <a:ea typeface="+mj-ea"/>
              </a:rPr>
              <a:t>值：</a:t>
            </a:r>
            <a:r>
              <a:rPr lang="en-US" altLang="zh-CN" sz="2400" b="1" dirty="0">
                <a:latin typeface="+mj-ea"/>
                <a:ea typeface="+mj-ea"/>
              </a:rPr>
              <a:t>e = 1/0</a:t>
            </a:r>
            <a:r>
              <a:rPr lang="zh-CN" altLang="en-US" sz="2400" b="1" dirty="0">
                <a:latin typeface="+mj-ea"/>
                <a:ea typeface="+mj-ea"/>
              </a:rPr>
              <a:t>！</a:t>
            </a:r>
            <a:endParaRPr lang="en-US" altLang="zh-CN" sz="2400" b="1" dirty="0">
              <a:latin typeface="+mj-ea"/>
              <a:ea typeface="+mj-ea"/>
            </a:endParaRPr>
          </a:p>
          <a:p>
            <a:pPr lvl="4" eaLnBrk="1" hangingPunct="1">
              <a:lnSpc>
                <a:spcPct val="134000"/>
              </a:lnSpc>
            </a:pPr>
            <a:r>
              <a:rPr lang="zh-CN" altLang="en-US" sz="2400" b="1" dirty="0">
                <a:latin typeface="+mj-ea"/>
                <a:ea typeface="+mj-ea"/>
              </a:rPr>
              <a:t>计算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！并取倒数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4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循环控制条件</a:t>
            </a:r>
            <a:endParaRPr lang="en-US" altLang="zh-CN" sz="2800" b="1" dirty="0">
              <a:latin typeface="+mj-ea"/>
              <a:ea typeface="+mj-ea"/>
            </a:endParaRPr>
          </a:p>
          <a:p>
            <a:pPr lvl="3" eaLnBrk="1" hangingPunct="1">
              <a:lnSpc>
                <a:spcPct val="134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1/n!&lt;0.1e-10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即退出循环</a:t>
            </a:r>
            <a:endParaRPr lang="en-US" altLang="zh-CN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FF8B954-9D25-4187-A728-26948582B049}" type="slidenum">
              <a:rPr lang="en-US" altLang="zh-CN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35294EF-2225-4E83-8462-F05074F00483}" type="slidenum">
              <a:rPr lang="en-US" altLang="zh-CN"/>
              <a:pPr>
                <a:defRPr/>
              </a:pPr>
              <a:t>31</a:t>
            </a:fld>
            <a:endParaRPr lang="en-US" altLang="zh-CN" dirty="0"/>
          </a:p>
        </p:txBody>
      </p:sp>
      <p:pic>
        <p:nvPicPr>
          <p:cNvPr id="1054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7840" y="212010"/>
            <a:ext cx="8914754" cy="5665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/>
          </p:cNvSpPr>
          <p:nvPr>
            <p:ph type="title"/>
          </p:nvPr>
        </p:nvSpPr>
        <p:spPr>
          <a:xfrm>
            <a:off x="285720" y="-24"/>
            <a:ext cx="7239000" cy="571496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106499" name="内容占位符 2"/>
          <p:cNvSpPr>
            <a:spLocks noGrp="1"/>
          </p:cNvSpPr>
          <p:nvPr>
            <p:ph idx="1"/>
          </p:nvPr>
        </p:nvSpPr>
        <p:spPr>
          <a:xfrm>
            <a:off x="457200" y="509572"/>
            <a:ext cx="8153400" cy="704850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三类循环语句之间的等价变换</a:t>
            </a:r>
            <a:endParaRPr lang="en-US" altLang="zh-CN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>
          <a:xfrm>
            <a:off x="428596" y="6629400"/>
            <a:ext cx="3657600" cy="228600"/>
          </a:xfrm>
        </p:spPr>
        <p:txBody>
          <a:bodyPr/>
          <a:lstStyle/>
          <a:p>
            <a:pPr>
              <a:defRPr/>
            </a:pPr>
            <a:fld id="{44F65828-7E8D-4587-AB58-F6ACFBC8D26F}" type="slidenum">
              <a:rPr lang="en-US" altLang="zh-CN"/>
              <a:pPr>
                <a:defRPr/>
              </a:pPr>
              <a:t>32</a:t>
            </a:fld>
            <a:endParaRPr lang="en-US" altLang="zh-CN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90544" y="1214454"/>
            <a:ext cx="4500562" cy="2143125"/>
          </a:xfrm>
          <a:prstGeom prst="rect">
            <a:avLst/>
          </a:prstGeom>
          <a:noFill/>
          <a:ln w="9525" cap="flat" algn="ctr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 err="1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int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=1,sum=0;</a:t>
            </a: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//</a:t>
            </a:r>
            <a:r>
              <a:rPr kumimoji="1" lang="zh-CN" altLang="en-US" sz="2400" b="1" kern="0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循环初始条件</a:t>
            </a: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3333FF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while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(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&lt;=4){</a:t>
            </a: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sum+=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;</a:t>
            </a: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     </a:t>
            </a:r>
            <a:r>
              <a:rPr kumimoji="1" lang="en-US" altLang="zh-CN" sz="2400" b="1" kern="0" dirty="0" err="1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i</a:t>
            </a: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++;  </a:t>
            </a:r>
            <a:r>
              <a:rPr kumimoji="1" lang="en-US" altLang="zh-CN" sz="2400" b="1" kern="0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//</a:t>
            </a:r>
            <a:r>
              <a:rPr kumimoji="1" lang="zh-CN" altLang="en-US" sz="2400" b="1" kern="0" dirty="0">
                <a:solidFill>
                  <a:srgbClr val="0066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修改循环条件</a:t>
            </a:r>
          </a:p>
          <a:p>
            <a:pPr marL="342900" indent="-342900" algn="just">
              <a:buClr>
                <a:schemeClr val="hlink"/>
              </a:buClr>
              <a:defRPr/>
            </a:pPr>
            <a:r>
              <a:rPr kumimoji="1" lang="en-US" altLang="zh-CN" sz="2400" b="1" kern="0" dirty="0">
                <a:solidFill>
                  <a:srgbClr val="000000"/>
                </a:solidFill>
                <a:latin typeface="Courier New" pitchFamily="49" charset="0"/>
                <a:ea typeface="楷体_GB2312" pitchFamily="49" charset="-122"/>
                <a:cs typeface="Courier New" pitchFamily="49" charset="0"/>
              </a:rPr>
              <a:t>}</a:t>
            </a:r>
          </a:p>
        </p:txBody>
      </p:sp>
      <p:sp>
        <p:nvSpPr>
          <p:cNvPr id="106503" name="Text Box 4"/>
          <p:cNvSpPr txBox="1">
            <a:spLocks noChangeArrowheads="1"/>
          </p:cNvSpPr>
          <p:nvPr/>
        </p:nvSpPr>
        <p:spPr bwMode="auto">
          <a:xfrm>
            <a:off x="4933981" y="1193817"/>
            <a:ext cx="4067175" cy="2163762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i=1,sum=0;</a:t>
            </a:r>
          </a:p>
          <a:p>
            <a:pPr marL="342900" indent="-342900" algn="just"/>
            <a:r>
              <a:rPr lang="en-US" altLang="zh-CN" sz="2400" b="1">
                <a:solidFill>
                  <a:srgbClr val="0066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//</a:t>
            </a:r>
            <a:r>
              <a:rPr lang="zh-CN" altLang="en-US" sz="2400" b="1">
                <a:solidFill>
                  <a:srgbClr val="006600"/>
                </a:solidFill>
                <a:latin typeface="Courier New" pitchFamily="49" charset="0"/>
                <a:ea typeface="幼圆" pitchFamily="49" charset="-122"/>
                <a:cs typeface="Courier New" pitchFamily="49" charset="0"/>
              </a:rPr>
              <a:t>循环初始条件</a:t>
            </a:r>
          </a:p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do</a:t>
            </a:r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sum+=i;</a:t>
            </a: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 i++;</a:t>
            </a:r>
            <a:r>
              <a:rPr lang="en-US" altLang="zh-CN" sz="2400" b="1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//</a:t>
            </a:r>
            <a:r>
              <a:rPr lang="zh-CN" altLang="en-US" sz="2400" b="1">
                <a:solidFill>
                  <a:srgbClr val="006600"/>
                </a:solidFill>
                <a:latin typeface="Courier New" pitchFamily="49" charset="0"/>
                <a:ea typeface="幼圆" pitchFamily="49" charset="-122"/>
              </a:rPr>
              <a:t>修改循环条件</a:t>
            </a:r>
          </a:p>
          <a:p>
            <a:pPr marL="342900" indent="-342900" algn="just"/>
            <a:r>
              <a:rPr lang="zh-CN" altLang="en-US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 </a:t>
            </a:r>
            <a:r>
              <a:rPr lang="en-US" altLang="zh-CN" sz="2400" b="1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while</a:t>
            </a:r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(i&lt;=4);</a:t>
            </a:r>
          </a:p>
        </p:txBody>
      </p:sp>
      <p:sp>
        <p:nvSpPr>
          <p:cNvPr id="106504" name="Text Box 5"/>
          <p:cNvSpPr txBox="1">
            <a:spLocks noChangeArrowheads="1"/>
          </p:cNvSpPr>
          <p:nvPr/>
        </p:nvSpPr>
        <p:spPr bwMode="auto">
          <a:xfrm>
            <a:off x="1004919" y="3500454"/>
            <a:ext cx="7343775" cy="228600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 i,sum=0;</a:t>
            </a:r>
          </a:p>
          <a:p>
            <a:pPr marL="342900" indent="-342900" algn="just"/>
            <a:r>
              <a:rPr lang="en-US" altLang="zh-CN" sz="2400" b="1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( i=1; i&lt;=4; i++ ){</a:t>
            </a: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	sum+=i;  </a:t>
            </a:r>
          </a:p>
          <a:p>
            <a:pPr marL="342900" indent="-342900" algn="just"/>
            <a:r>
              <a:rPr lang="en-US" altLang="zh-CN" sz="2400" b="1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342900" indent="-342900" algn="just"/>
            <a:r>
              <a:rPr lang="en-US" altLang="zh-CN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/*</a:t>
            </a:r>
            <a:r>
              <a:rPr lang="zh-CN" altLang="en-US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习惯上：表达式</a:t>
            </a:r>
            <a:r>
              <a:rPr lang="en-US" altLang="zh-CN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1</a:t>
            </a:r>
            <a:r>
              <a:rPr lang="zh-CN" altLang="en-US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：循环初始条件；表达式</a:t>
            </a:r>
            <a:r>
              <a:rPr lang="en-US" altLang="zh-CN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2</a:t>
            </a:r>
            <a:r>
              <a:rPr lang="zh-CN" altLang="en-US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：循环终止条件；表达式</a:t>
            </a:r>
            <a:r>
              <a:rPr lang="en-US" altLang="zh-CN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3</a:t>
            </a:r>
            <a:r>
              <a:rPr lang="zh-CN" altLang="en-US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：修改循环条件*</a:t>
            </a:r>
            <a:r>
              <a:rPr lang="en-US" altLang="zh-CN" sz="2400" b="1">
                <a:solidFill>
                  <a:srgbClr val="006600"/>
                </a:solidFill>
                <a:latin typeface="幼圆" pitchFamily="49" charset="-122"/>
                <a:ea typeface="幼圆" pitchFamily="49" charset="-122"/>
              </a:rPr>
              <a:t>/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153400" cy="4438276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循环语句的循环体中仍然包含循环语句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先执行内层循环，后执行外层循环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嵌套层次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一般不超过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层，以保证可读性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举例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4.22】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打印九九表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4.23】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打印图形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：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DC4380-AC82-4742-A5F4-896FA5EF1AA0}" type="slidenum">
              <a:rPr lang="en-US" altLang="zh-CN"/>
              <a:pPr>
                <a:defRPr/>
              </a:pPr>
              <a:t>33</a:t>
            </a:fld>
            <a:endParaRPr lang="en-US" altLang="zh-CN" dirty="0"/>
          </a:p>
        </p:txBody>
      </p:sp>
      <p:pic>
        <p:nvPicPr>
          <p:cNvPr id="1075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3571876"/>
            <a:ext cx="40513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标题 1"/>
          <p:cNvSpPr>
            <a:spLocks noGrp="1"/>
          </p:cNvSpPr>
          <p:nvPr>
            <p:ph type="title"/>
          </p:nvPr>
        </p:nvSpPr>
        <p:spPr>
          <a:xfrm>
            <a:off x="285720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无条件转向语句</a:t>
            </a:r>
          </a:p>
        </p:txBody>
      </p:sp>
      <p:sp>
        <p:nvSpPr>
          <p:cNvPr id="113667" name="内容占位符 2"/>
          <p:cNvSpPr>
            <a:spLocks noGrp="1"/>
          </p:cNvSpPr>
          <p:nvPr>
            <p:ph idx="1"/>
          </p:nvPr>
        </p:nvSpPr>
        <p:spPr>
          <a:xfrm>
            <a:off x="357158" y="1000108"/>
            <a:ext cx="8472518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C++</a:t>
            </a:r>
            <a:r>
              <a:rPr lang="zh-CN" altLang="en-US" sz="3200" b="1" dirty="0">
                <a:latin typeface="+mj-ea"/>
                <a:ea typeface="+mj-ea"/>
              </a:rPr>
              <a:t>提供了四种用于实现跳转的语句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用于从循环体或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句体跳出的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用于立即结束本次循环而去继续下一次循环的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continue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用于跳转到本函数内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某一语句标号处（去继续执行）的</a:t>
            </a:r>
            <a:r>
              <a:rPr lang="en-US" altLang="zh-CN" sz="2800" b="1" dirty="0" err="1">
                <a:solidFill>
                  <a:srgbClr val="FF0000"/>
                </a:solidFill>
                <a:latin typeface="+mj-ea"/>
                <a:ea typeface="+mj-ea"/>
              </a:rPr>
              <a:t>goto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用于立即从某个函数中返回到调用该函数位置的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return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8BF41AA-A04B-4CDE-9A7F-7271832DB647}" type="slidenum">
              <a:rPr lang="en-US" altLang="zh-CN"/>
              <a:pPr>
                <a:defRPr/>
              </a:pPr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内容占位符 2"/>
          <p:cNvSpPr>
            <a:spLocks noGrp="1"/>
          </p:cNvSpPr>
          <p:nvPr>
            <p:ph idx="1"/>
          </p:nvPr>
        </p:nvSpPr>
        <p:spPr>
          <a:xfrm>
            <a:off x="214282" y="428604"/>
            <a:ext cx="8822214" cy="5786478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break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用于无条件地从某个循环体（三类循环语句）或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句体中跳出（而转移到该循环语句或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语句的下一个语句处去执行）。注意，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语句无条件地结束了本循环语句或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语句的执行过程。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多重循环中，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语句只能终止其所在的循环语句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break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CE4ECC-051D-44CB-A723-C52527996BAE}" type="slidenum">
              <a:rPr lang="en-US" altLang="zh-CN"/>
              <a:pPr>
                <a:defRPr/>
              </a:pPr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itchFamily="49" charset="-122"/>
                <a:ea typeface="黑体" pitchFamily="49" charset="-122"/>
              </a:rPr>
              <a:t>无条件转向语句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+mj-ea"/>
                <a:ea typeface="+mj-ea"/>
              </a:rPr>
              <a:t>break</a:t>
            </a:r>
            <a:r>
              <a:rPr lang="zh-CN" altLang="en-US" dirty="0">
                <a:latin typeface="+mj-ea"/>
                <a:ea typeface="+mj-ea"/>
              </a:rPr>
              <a:t>语句</a:t>
            </a:r>
            <a:endParaRPr lang="en-US" altLang="zh-CN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dirty="0">
                <a:latin typeface="+mj-ea"/>
                <a:ea typeface="+mj-ea"/>
              </a:rPr>
              <a:t>执行流程示例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2863A16-99AE-4DDD-A9AA-B93E901B7A22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pic>
        <p:nvPicPr>
          <p:cNvPr id="1157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928938"/>
            <a:ext cx="4830763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91463" y="2786063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8063" y="2214563"/>
            <a:ext cx="140493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/>
        </p:nvCxnSpPr>
        <p:spPr>
          <a:xfrm rot="5400000">
            <a:off x="4822031" y="4036219"/>
            <a:ext cx="4071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722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43063" y="4314825"/>
            <a:ext cx="157638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3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5113" y="2786063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4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19250" y="4300538"/>
            <a:ext cx="15763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5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85113" y="2781300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6" name="Picture 1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19250" y="4300538"/>
            <a:ext cx="15763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7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80350" y="2794000"/>
            <a:ext cx="4064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8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058988" y="3786188"/>
            <a:ext cx="1576387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9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43000" y="5286375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30" name="Picture 19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571875" y="4872038"/>
            <a:ext cx="3084513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内容占位符 2"/>
          <p:cNvSpPr>
            <a:spLocks noGrp="1"/>
          </p:cNvSpPr>
          <p:nvPr>
            <p:ph idx="1"/>
          </p:nvPr>
        </p:nvSpPr>
        <p:spPr>
          <a:xfrm>
            <a:off x="323528" y="165082"/>
            <a:ext cx="8568952" cy="607223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500" b="1" dirty="0">
                <a:latin typeface="+mj-ea"/>
                <a:ea typeface="+mj-ea"/>
              </a:rPr>
              <a:t>break</a:t>
            </a:r>
            <a:r>
              <a:rPr lang="zh-CN" altLang="en-US" sz="3500" b="1" dirty="0">
                <a:latin typeface="+mj-ea"/>
                <a:ea typeface="+mj-ea"/>
              </a:rPr>
              <a:t>语句</a:t>
            </a:r>
            <a:endParaRPr lang="en-US" altLang="zh-CN" sz="35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30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30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3000" b="1" dirty="0">
                <a:solidFill>
                  <a:srgbClr val="C00000"/>
                </a:solidFill>
                <a:latin typeface="+mj-ea"/>
                <a:ea typeface="+mj-ea"/>
              </a:rPr>
              <a:t>4.24】</a:t>
            </a:r>
            <a:r>
              <a:rPr lang="zh-CN" altLang="en-US" sz="3000" b="1" dirty="0">
                <a:solidFill>
                  <a:srgbClr val="C00000"/>
                </a:solidFill>
                <a:latin typeface="+mj-ea"/>
                <a:ea typeface="+mj-ea"/>
              </a:rPr>
              <a:t>给定整数</a:t>
            </a:r>
            <a:r>
              <a:rPr lang="en-US" altLang="zh-CN" sz="3000" b="1" dirty="0">
                <a:solidFill>
                  <a:srgbClr val="C00000"/>
                </a:solidFill>
                <a:latin typeface="+mj-ea"/>
                <a:ea typeface="+mj-ea"/>
              </a:rPr>
              <a:t>m</a:t>
            </a:r>
            <a:r>
              <a:rPr lang="zh-CN" altLang="en-US" sz="3000" b="1" dirty="0">
                <a:solidFill>
                  <a:srgbClr val="C00000"/>
                </a:solidFill>
                <a:latin typeface="+mj-ea"/>
                <a:ea typeface="+mj-ea"/>
              </a:rPr>
              <a:t>，判定其是否为素数</a:t>
            </a:r>
            <a:endParaRPr lang="en-US" altLang="zh-CN" sz="30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输入整数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以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  <a:r>
              <a:rPr lang="zh-CN" altLang="en-US" sz="3000" b="1" dirty="0">
                <a:latin typeface="+mj-ea"/>
                <a:ea typeface="+mj-ea"/>
              </a:rPr>
              <a:t>为被除数，以</a:t>
            </a:r>
            <a:r>
              <a:rPr lang="en-US" altLang="zh-CN" sz="3000" b="1" dirty="0">
                <a:latin typeface="+mj-ea"/>
                <a:ea typeface="+mj-ea"/>
              </a:rPr>
              <a:t>2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3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…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m-1</a:t>
            </a:r>
            <a:r>
              <a:rPr lang="zh-CN" altLang="en-US" sz="3000" b="1" dirty="0">
                <a:latin typeface="+mj-ea"/>
                <a:ea typeface="+mj-ea"/>
              </a:rPr>
              <a:t>为除数依次进行除法</a:t>
            </a:r>
            <a:endParaRPr lang="en-US" altLang="zh-CN" sz="30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有整除的情况，则说明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m</a:t>
            </a: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不是素数</a:t>
            </a:r>
            <a:endParaRPr lang="en-US" altLang="zh-CN" sz="26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全部不能整除，则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m</a:t>
            </a: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是素数</a:t>
            </a:r>
            <a:endParaRPr lang="en-US" altLang="zh-CN" sz="26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以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  <a:r>
              <a:rPr lang="zh-CN" altLang="en-US" sz="3000" b="1" dirty="0">
                <a:latin typeface="+mj-ea"/>
                <a:ea typeface="+mj-ea"/>
              </a:rPr>
              <a:t>为被除数，以</a:t>
            </a:r>
            <a:r>
              <a:rPr lang="en-US" altLang="zh-CN" sz="3000" b="1" dirty="0">
                <a:latin typeface="+mj-ea"/>
                <a:ea typeface="+mj-ea"/>
              </a:rPr>
              <a:t>2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3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…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m/2</a:t>
            </a:r>
            <a:r>
              <a:rPr lang="zh-CN" altLang="en-US" sz="3000" b="1" dirty="0">
                <a:latin typeface="+mj-ea"/>
                <a:ea typeface="+mj-ea"/>
              </a:rPr>
              <a:t>为除数依次进行除法</a:t>
            </a:r>
            <a:endParaRPr lang="en-US" altLang="zh-CN" sz="30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以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  <a:r>
              <a:rPr lang="zh-CN" altLang="en-US" sz="3000" b="1" dirty="0">
                <a:latin typeface="+mj-ea"/>
                <a:ea typeface="+mj-ea"/>
              </a:rPr>
              <a:t>为被除数，以</a:t>
            </a:r>
            <a:r>
              <a:rPr lang="en-US" altLang="zh-CN" sz="3000" b="1" dirty="0">
                <a:latin typeface="+mj-ea"/>
                <a:ea typeface="+mj-ea"/>
              </a:rPr>
              <a:t>2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3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…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 err="1">
                <a:latin typeface="+mj-ea"/>
                <a:ea typeface="+mj-ea"/>
              </a:rPr>
              <a:t>sqrt</a:t>
            </a:r>
            <a:r>
              <a:rPr lang="en-US" altLang="zh-CN" sz="3000" b="1" dirty="0">
                <a:latin typeface="+mj-ea"/>
                <a:ea typeface="+mj-ea"/>
              </a:rPr>
              <a:t>(m)</a:t>
            </a:r>
            <a:r>
              <a:rPr lang="zh-CN" altLang="en-US" sz="3000" b="1" dirty="0">
                <a:latin typeface="+mj-ea"/>
                <a:ea typeface="+mj-ea"/>
              </a:rPr>
              <a:t>为除数依次进行除法</a:t>
            </a:r>
            <a:endParaRPr lang="en-US" altLang="zh-CN" sz="3000" b="1" dirty="0"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F244F9-B632-457E-BD87-F094CDAE977F}" type="slidenum">
              <a:rPr lang="en-US" altLang="zh-CN"/>
              <a:pPr>
                <a:defRPr/>
              </a:pPr>
              <a:t>37</a:t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5595B-7BA8-430C-AC44-1A28826E5F60}" type="slidenum">
              <a:rPr lang="en-US" altLang="zh-CN"/>
              <a:pPr>
                <a:defRPr/>
              </a:pPr>
              <a:t>38</a:t>
            </a:fld>
            <a:endParaRPr lang="en-US" altLang="zh-CN" dirty="0"/>
          </a:p>
        </p:txBody>
      </p:sp>
      <p:pic>
        <p:nvPicPr>
          <p:cNvPr id="11776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1" y="90038"/>
            <a:ext cx="8109153" cy="643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7" name="内容占位符 2"/>
          <p:cNvSpPr>
            <a:spLocks noGrp="1"/>
          </p:cNvSpPr>
          <p:nvPr>
            <p:ph idx="1"/>
          </p:nvPr>
        </p:nvSpPr>
        <p:spPr>
          <a:xfrm>
            <a:off x="71406" y="285728"/>
            <a:ext cx="8893082" cy="5857916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continue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continue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用于立即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结束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循环体的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本次重复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而去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继续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本循环语句的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下一次循环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。与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语句不同，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continue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语句并不结束循环语句本身，而仅结束本次重复（继而转至本循环语句的“条件表达式”处去接着判断看是否还要继续循环）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continue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语句与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语句的区别在于，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continue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语句结束的只是本次循环，而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语句结束的是整个循环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8AA470-428A-4DBC-929C-121681424184}" type="slidenum">
              <a:rPr lang="en-US" altLang="zh-CN"/>
              <a:pPr>
                <a:defRPr/>
              </a:pPr>
              <a:t>39</a:t>
            </a:fld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1" name="内容占位符 2"/>
          <p:cNvSpPr>
            <a:spLocks noGrp="1"/>
          </p:cNvSpPr>
          <p:nvPr>
            <p:ph idx="1"/>
          </p:nvPr>
        </p:nvSpPr>
        <p:spPr>
          <a:xfrm>
            <a:off x="214282" y="928670"/>
            <a:ext cx="7239000" cy="484632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>
                <a:latin typeface="+mj-ea"/>
                <a:ea typeface="+mj-ea"/>
              </a:rPr>
              <a:t>continue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/>
            <a:r>
              <a:rPr lang="en-US" altLang="zh-CN" sz="2400" b="1" dirty="0">
                <a:solidFill>
                  <a:srgbClr val="FF0000"/>
                </a:solidFill>
                <a:latin typeface="+mj-ea"/>
                <a:ea typeface="+mj-ea"/>
              </a:rPr>
              <a:t>continue;</a:t>
            </a:r>
            <a:endParaRPr lang="zh-CN" altLang="en-US" sz="24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执行流程示例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8FE8818-617A-4195-966B-D22B15493F23}" type="slidenum">
              <a:rPr lang="en-US" altLang="zh-CN"/>
              <a:pPr>
                <a:defRPr/>
              </a:pPr>
              <a:t>40</a:t>
            </a:fld>
            <a:endParaRPr lang="en-US" altLang="zh-CN" dirty="0"/>
          </a:p>
        </p:txBody>
      </p:sp>
      <p:cxnSp>
        <p:nvCxnSpPr>
          <p:cNvPr id="6" name="直接连接符 5"/>
          <p:cNvCxnSpPr/>
          <p:nvPr/>
        </p:nvCxnSpPr>
        <p:spPr>
          <a:xfrm rot="5400000">
            <a:off x="4822031" y="4107657"/>
            <a:ext cx="40719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81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3357563"/>
            <a:ext cx="4830763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6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91463" y="2786063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7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8063" y="2214563"/>
            <a:ext cx="140493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8" name="Picture 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885113" y="2781300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19" name="Picture 10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5113" y="2792413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0" name="Picture 1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880350" y="2794000"/>
            <a:ext cx="4064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1" name="Picture 1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643063" y="4714875"/>
            <a:ext cx="157638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2" name="Picture 13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19250" y="4714875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3" name="Picture 14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1619250" y="4714875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4" name="Picture 1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143125" y="4214813"/>
            <a:ext cx="2189163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5" name="Picture 16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4786313" y="3357563"/>
            <a:ext cx="749300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6" name="Picture 17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891463" y="2781300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7" name="Picture 18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619250" y="4714875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8" name="Picture 19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7891463" y="2781300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29" name="Picture 20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1143000" y="5715000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9831" name="Picture 23"/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3348038" y="5445125"/>
            <a:ext cx="34290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9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9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9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19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19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9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19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19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内容占位符 2"/>
          <p:cNvSpPr>
            <a:spLocks noGrp="1"/>
          </p:cNvSpPr>
          <p:nvPr>
            <p:ph idx="1"/>
          </p:nvPr>
        </p:nvSpPr>
        <p:spPr>
          <a:xfrm>
            <a:off x="142844" y="71414"/>
            <a:ext cx="8072494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continue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4.25】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输出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1~100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之内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的倍数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用</a:t>
            </a:r>
            <a:r>
              <a:rPr lang="en-US" altLang="zh-CN" sz="2400" b="1" dirty="0">
                <a:latin typeface="+mj-ea"/>
                <a:ea typeface="+mj-ea"/>
              </a:rPr>
              <a:t>1~100</a:t>
            </a:r>
            <a:r>
              <a:rPr lang="zh-CN" altLang="en-US" sz="2400" b="1" dirty="0">
                <a:latin typeface="+mj-ea"/>
                <a:ea typeface="+mj-ea"/>
              </a:rPr>
              <a:t>中的每个数与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相除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能够整除作为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的倍数输出，然后进入下一次循环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不能整除则直接进入下一次循环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3FC869-3C3B-4EAD-8E9F-BEE64610BB3A}" type="slidenum">
              <a:rPr lang="en-US" altLang="zh-CN" smtClean="0"/>
              <a:pPr>
                <a:defRPr/>
              </a:pPr>
              <a:t>41</a:t>
            </a:fld>
            <a:endParaRPr lang="en-US" altLang="zh-CN" dirty="0"/>
          </a:p>
        </p:txBody>
      </p:sp>
      <p:pic>
        <p:nvPicPr>
          <p:cNvPr id="12083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006742"/>
            <a:ext cx="7516812" cy="277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9" name="内容占位符 2"/>
          <p:cNvSpPr>
            <a:spLocks noGrp="1"/>
          </p:cNvSpPr>
          <p:nvPr>
            <p:ph idx="1"/>
          </p:nvPr>
        </p:nvSpPr>
        <p:spPr>
          <a:xfrm>
            <a:off x="142844" y="285728"/>
            <a:ext cx="8786874" cy="564360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 err="1">
                <a:latin typeface="+mj-ea"/>
                <a:ea typeface="+mj-ea"/>
              </a:rPr>
              <a:t>goto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是一种用于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无条件跳转到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本函数内某一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语句标号处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（去继续执行）的语句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 err="1">
                <a:latin typeface="+mj-ea"/>
                <a:ea typeface="+mj-ea"/>
              </a:rPr>
              <a:t>goto</a:t>
            </a:r>
            <a:r>
              <a:rPr lang="en-US" altLang="zh-CN" sz="2800" b="1" dirty="0">
                <a:latin typeface="+mj-ea"/>
                <a:ea typeface="+mj-ea"/>
              </a:rPr>
              <a:t> &lt;</a:t>
            </a:r>
            <a:r>
              <a:rPr lang="zh-CN" altLang="en-US" sz="2800" b="1" dirty="0">
                <a:latin typeface="+mj-ea"/>
                <a:ea typeface="+mj-ea"/>
              </a:rPr>
              <a:t>语句标号</a:t>
            </a:r>
            <a:r>
              <a:rPr lang="en-US" altLang="zh-CN" sz="2800" b="1" dirty="0">
                <a:latin typeface="+mj-ea"/>
                <a:ea typeface="+mj-ea"/>
              </a:rPr>
              <a:t>&gt;;</a:t>
            </a:r>
            <a:r>
              <a:rPr lang="en-US" altLang="zh-CN" sz="2800" b="1" dirty="0">
                <a:solidFill>
                  <a:srgbClr val="233DA9"/>
                </a:solidFill>
                <a:latin typeface="+mj-ea"/>
                <a:ea typeface="+mj-ea"/>
              </a:rPr>
              <a:t> </a:t>
            </a: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&lt;语句标号&gt;为一个标识符，标识符的名字由用户给出，它放于某一个语句之前（与语句以冒号相分割），用于指出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goto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语句所要转向的具体位置（该位置可以在本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goto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语句之前或者之后）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AB92C80-BA80-4847-9EEB-5EC8148B6D79}" type="slidenum">
              <a:rPr lang="en-US" altLang="zh-CN"/>
              <a:pPr>
                <a:defRPr/>
              </a:pPr>
              <a:t>42</a:t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3" name="内容占位符 2"/>
          <p:cNvSpPr>
            <a:spLocks noGrp="1"/>
          </p:cNvSpPr>
          <p:nvPr>
            <p:ph idx="1"/>
          </p:nvPr>
        </p:nvSpPr>
        <p:spPr>
          <a:xfrm>
            <a:off x="428596" y="571480"/>
            <a:ext cx="8153400" cy="1276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 err="1">
                <a:latin typeface="+mj-ea"/>
                <a:ea typeface="+mj-ea"/>
              </a:rPr>
              <a:t>goto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4.26】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用</a:t>
            </a:r>
            <a:r>
              <a:rPr lang="en-US" altLang="zh-CN" sz="2800" b="1" dirty="0" err="1">
                <a:solidFill>
                  <a:srgbClr val="C00000"/>
                </a:solidFill>
                <a:latin typeface="+mj-ea"/>
                <a:ea typeface="+mj-ea"/>
              </a:rPr>
              <a:t>goto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语句计算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1+2+3+…+100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的和</a:t>
            </a:r>
            <a:endParaRPr lang="en-US" altLang="zh-CN" sz="2800" b="1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A93D0CD-D8BF-4415-AC9A-CD8E9FD6392D}" type="slidenum">
              <a:rPr lang="en-US" altLang="zh-CN"/>
              <a:pPr>
                <a:defRPr/>
              </a:pPr>
              <a:t>43</a:t>
            </a:fld>
            <a:endParaRPr lang="en-US" altLang="zh-CN" dirty="0"/>
          </a:p>
        </p:txBody>
      </p:sp>
      <p:pic>
        <p:nvPicPr>
          <p:cNvPr id="1228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2071678"/>
            <a:ext cx="8575675" cy="2420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7" name="内容占位符 2"/>
          <p:cNvSpPr>
            <a:spLocks noGrp="1"/>
          </p:cNvSpPr>
          <p:nvPr>
            <p:ph idx="1"/>
          </p:nvPr>
        </p:nvSpPr>
        <p:spPr>
          <a:xfrm>
            <a:off x="428596" y="511506"/>
            <a:ext cx="8429684" cy="5632138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return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用于立即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从被调函数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中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返回到主调函数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处, 实现从被调函数到主调函数的跳转功能。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>
              <a:lnSpc>
                <a:spcPct val="130000"/>
              </a:lnSpc>
            </a:pPr>
            <a:r>
              <a:rPr lang="zh-CN" altLang="en-US" sz="2500" b="1" dirty="0">
                <a:solidFill>
                  <a:srgbClr val="002060"/>
                </a:solidFill>
                <a:latin typeface="+mj-ea"/>
                <a:ea typeface="+mj-ea"/>
              </a:rPr>
              <a:t>具体参见函数章节内容</a:t>
            </a:r>
            <a:endParaRPr lang="en-US" altLang="zh-CN" sz="25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主函数中的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return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语句将结束整个程序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格式：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3000" b="1" dirty="0">
                <a:solidFill>
                  <a:srgbClr val="FF0000"/>
                </a:solidFill>
                <a:latin typeface="+mj-ea"/>
                <a:ea typeface="+mj-ea"/>
              </a:rPr>
              <a:t>return [&lt;</a:t>
            </a:r>
            <a:r>
              <a:rPr lang="zh-CN" altLang="en-US" sz="3000" b="1" dirty="0">
                <a:solidFill>
                  <a:srgbClr val="FF0000"/>
                </a:solidFill>
                <a:latin typeface="+mj-ea"/>
                <a:ea typeface="+mj-ea"/>
              </a:rPr>
              <a:t>表达式</a:t>
            </a:r>
            <a:r>
              <a:rPr lang="en-US" altLang="zh-CN" sz="3000" b="1" dirty="0">
                <a:solidFill>
                  <a:srgbClr val="FF0000"/>
                </a:solidFill>
                <a:latin typeface="+mj-ea"/>
                <a:ea typeface="+mj-ea"/>
              </a:rPr>
              <a:t>E&gt;];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表达式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E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的值与函数返回值的数据类型相同</a:t>
            </a:r>
            <a:endParaRPr lang="en-US" altLang="zh-CN" sz="28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函数返回值为空（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void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）时，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return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语句不包含表达式。</a:t>
            </a:r>
            <a:endParaRPr lang="zh-CN" altLang="en-US" b="1" dirty="0">
              <a:solidFill>
                <a:srgbClr val="7030A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D5B19A-2816-4249-AB2D-BD1168521F3F}" type="slidenum">
              <a:rPr lang="en-US" altLang="zh-CN"/>
              <a:pPr>
                <a:defRPr/>
              </a:pPr>
              <a:t>44</a:t>
            </a:fld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1" name="内容占位符 2"/>
          <p:cNvSpPr>
            <a:spLocks noGrp="1"/>
          </p:cNvSpPr>
          <p:nvPr>
            <p:ph idx="1"/>
          </p:nvPr>
        </p:nvSpPr>
        <p:spPr>
          <a:xfrm>
            <a:off x="457200" y="642918"/>
            <a:ext cx="8153400" cy="6334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dirty="0">
                <a:latin typeface="+mj-ea"/>
                <a:ea typeface="+mj-ea"/>
              </a:rPr>
              <a:t>return</a:t>
            </a:r>
            <a:r>
              <a:rPr lang="zh-CN" altLang="en-US" sz="2800" dirty="0">
                <a:latin typeface="+mj-ea"/>
                <a:ea typeface="+mj-ea"/>
              </a:rPr>
              <a:t>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C7DB996-076E-40C4-9113-BA5046C12C1A}" type="slidenum">
              <a:rPr lang="en-US" altLang="zh-CN"/>
              <a:pPr>
                <a:defRPr/>
              </a:pPr>
              <a:t>45</a:t>
            </a:fld>
            <a:endParaRPr lang="en-US" altLang="zh-CN" dirty="0"/>
          </a:p>
        </p:txBody>
      </p:sp>
      <p:pic>
        <p:nvPicPr>
          <p:cNvPr id="1249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25" y="1847831"/>
            <a:ext cx="4600575" cy="287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677246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控制语句举例</a:t>
            </a:r>
          </a:p>
        </p:txBody>
      </p:sp>
      <p:sp>
        <p:nvSpPr>
          <p:cNvPr id="125955" name="内容占位符 2"/>
          <p:cNvSpPr>
            <a:spLocks noGrp="1"/>
          </p:cNvSpPr>
          <p:nvPr>
            <p:ph idx="1"/>
          </p:nvPr>
        </p:nvSpPr>
        <p:spPr>
          <a:xfrm>
            <a:off x="428596" y="1000108"/>
            <a:ext cx="8463884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3200" b="1" dirty="0">
                <a:solidFill>
                  <a:srgbClr val="C00000"/>
                </a:solidFill>
                <a:latin typeface="+mj-ea"/>
                <a:ea typeface="+mj-ea"/>
              </a:rPr>
              <a:t>4.27】</a:t>
            </a:r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</a:rPr>
              <a:t>任意输入</a:t>
            </a:r>
            <a:r>
              <a:rPr lang="en-US" altLang="zh-CN" sz="3200" b="1" dirty="0">
                <a:solidFill>
                  <a:srgbClr val="C00000"/>
                </a:solidFill>
                <a:latin typeface="+mj-ea"/>
                <a:ea typeface="+mj-ea"/>
              </a:rPr>
              <a:t>n</a:t>
            </a:r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</a:rPr>
              <a:t>个数,找出其中的最大数以及最小数并显示出来</a:t>
            </a:r>
            <a:endParaRPr lang="en-US" altLang="zh-CN" sz="32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输入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n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循环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n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次，每次输入一个数并进行如下处理</a:t>
            </a:r>
            <a:endParaRPr lang="en-US" altLang="zh-CN" sz="2800" b="1" dirty="0">
              <a:solidFill>
                <a:srgbClr val="7030A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比</a:t>
            </a:r>
            <a:r>
              <a:rPr lang="en-US" altLang="zh-CN" sz="2800" b="1" dirty="0">
                <a:latin typeface="+mj-ea"/>
                <a:ea typeface="+mj-ea"/>
              </a:rPr>
              <a:t>max</a:t>
            </a:r>
            <a:r>
              <a:rPr lang="zh-CN" altLang="en-US" sz="2800" b="1" dirty="0">
                <a:latin typeface="+mj-ea"/>
                <a:ea typeface="+mj-ea"/>
              </a:rPr>
              <a:t>大，则将该数赋值给变量</a:t>
            </a:r>
            <a:r>
              <a:rPr lang="en-US" altLang="zh-CN" sz="2800" b="1" dirty="0">
                <a:latin typeface="+mj-ea"/>
                <a:ea typeface="+mj-ea"/>
              </a:rPr>
              <a:t>max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比</a:t>
            </a:r>
            <a:r>
              <a:rPr lang="en-US" altLang="zh-CN" sz="2800" b="1" dirty="0">
                <a:latin typeface="+mj-ea"/>
                <a:ea typeface="+mj-ea"/>
              </a:rPr>
              <a:t>min</a:t>
            </a:r>
            <a:r>
              <a:rPr lang="zh-CN" altLang="en-US" sz="2800" b="1" dirty="0">
                <a:latin typeface="+mj-ea"/>
                <a:ea typeface="+mj-ea"/>
              </a:rPr>
              <a:t>大，则将该数赋值给变量</a:t>
            </a:r>
            <a:r>
              <a:rPr lang="en-US" altLang="zh-CN" sz="2800" b="1" dirty="0">
                <a:latin typeface="+mj-ea"/>
                <a:ea typeface="+mj-ea"/>
              </a:rPr>
              <a:t>min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变量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max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表示最大数，</a:t>
            </a:r>
            <a:r>
              <a:rPr lang="en-US" altLang="zh-CN" sz="2800" b="1" dirty="0">
                <a:solidFill>
                  <a:srgbClr val="7030A0"/>
                </a:solidFill>
                <a:latin typeface="+mj-ea"/>
                <a:ea typeface="+mj-ea"/>
              </a:rPr>
              <a:t>min</a:t>
            </a:r>
            <a:r>
              <a:rPr lang="zh-CN" altLang="en-US" sz="2800" b="1" dirty="0">
                <a:solidFill>
                  <a:srgbClr val="7030A0"/>
                </a:solidFill>
                <a:latin typeface="+mj-ea"/>
                <a:ea typeface="+mj-ea"/>
              </a:rPr>
              <a:t>表示最小数</a:t>
            </a: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4B1EBF7-A306-4230-9DC1-AEFA846CA6CB}" type="slidenum">
              <a:rPr lang="en-US" altLang="zh-CN"/>
              <a:pPr>
                <a:defRPr/>
              </a:pPr>
              <a:t>46</a:t>
            </a:fld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9" name="内容占位符 2"/>
          <p:cNvSpPr>
            <a:spLocks noGrp="1"/>
          </p:cNvSpPr>
          <p:nvPr>
            <p:ph idx="1"/>
          </p:nvPr>
        </p:nvSpPr>
        <p:spPr>
          <a:xfrm>
            <a:off x="285720" y="642918"/>
            <a:ext cx="8715375" cy="50292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iostream.h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共输入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个数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&lt;&lt;“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输入个数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n=”;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&gt;&gt;n;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x, max, min;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新输入的数放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x，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最大数放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max，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最小数放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min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&lt;&lt;"Please input "&lt;&lt;n&lt;&lt;" numbers:"&lt;&lt;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&lt;=n;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输入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个数并处理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cin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&gt;&gt;x;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新输入一个数，放入变量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x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==1)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第一个数既是目前的最大数，又是最小数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   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max=min=x;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endParaRPr lang="zh-CN" altLang="en-US" sz="2400" b="1" dirty="0"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34CF28-D311-4F6F-B0C6-F42944E2E153}" type="slidenum">
              <a:rPr lang="en-US" altLang="zh-CN"/>
              <a:pPr>
                <a:defRPr/>
              </a:pPr>
              <a:t>47</a:t>
            </a:fld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3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7543824" cy="5884256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{ 	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非第一数时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(x&gt;max) max=x;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新输入的数比目前的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更大，更新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max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	   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(x&lt;min) min=x;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新输入的数比目前的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min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还小，更新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min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 for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…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&lt;&lt;"max="&lt;&lt;max&lt;&lt;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&lt;&lt;"min="&lt;&lt;min&lt;&lt;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  <a:p>
            <a:pPr eaLnBrk="1" hangingPunct="1"/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FEA796-0D2B-4E24-BA8D-EDFDD04FA872}" type="slidenum">
              <a:rPr lang="en-US" altLang="zh-CN"/>
              <a:pPr>
                <a:defRPr/>
              </a:pPr>
              <a:t>48</a:t>
            </a:fld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363272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4.28】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1000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以内的素数，以每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个数为一行输出到屏幕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素数的判别方法参见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4.24】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对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2~1000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中的每个数进行素数判定，是素数则输出，输出到第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10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个、第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20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个、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…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后换行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D30330-9A52-4AB9-9857-6B803BFE128F}" type="slidenum">
              <a:rPr lang="en-US" altLang="zh-CN"/>
              <a:pPr>
                <a:defRPr/>
              </a:pPr>
              <a:t>49</a:t>
            </a:fld>
            <a:endParaRPr lang="en-US" altLang="zh-CN" dirty="0"/>
          </a:p>
        </p:txBody>
      </p:sp>
      <p:sp>
        <p:nvSpPr>
          <p:cNvPr id="129030" name="矩形 5"/>
          <p:cNvSpPr>
            <a:spLocks noChangeArrowheads="1"/>
          </p:cNvSpPr>
          <p:nvPr/>
        </p:nvSpPr>
        <p:spPr bwMode="auto">
          <a:xfrm>
            <a:off x="928688" y="3294075"/>
            <a:ext cx="6357937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2    3    5    7   11   13   17   19   23   29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31   37   41   43   47   53   59   61   67   71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73   79   83   89   97  101  103  107  109  113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…</a:t>
            </a:r>
            <a:endParaRPr lang="zh-CN" altLang="en-US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877  881  883  887  907  911  919  929  937  941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947  953  967  971  977  983  991  997 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内容占位符 2"/>
          <p:cNvSpPr>
            <a:spLocks noGrp="1"/>
          </p:cNvSpPr>
          <p:nvPr>
            <p:ph idx="1"/>
          </p:nvPr>
        </p:nvSpPr>
        <p:spPr>
          <a:xfrm>
            <a:off x="428596" y="714356"/>
            <a:ext cx="8153400" cy="5286375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&lt;math&gt;  	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//use “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  	 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//use “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m=1000;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i,j,isprime,count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//count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记录素数个数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=2;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&lt;=m;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求2到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间的所有素数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isprime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=1;		 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先认为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是素数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(j=2; j&lt;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 j++){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 		if(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i%j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== 0 )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isprime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=0;}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//for j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E1598A-404C-4781-A1F1-8325197AD82D}" type="slidenum">
              <a:rPr lang="en-US" altLang="zh-CN"/>
              <a:pPr>
                <a:defRPr/>
              </a:pPr>
              <a:t>50</a:t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内容占位符 2"/>
          <p:cNvSpPr>
            <a:spLocks noGrp="1"/>
          </p:cNvSpPr>
          <p:nvPr>
            <p:ph idx="1"/>
          </p:nvPr>
        </p:nvSpPr>
        <p:spPr>
          <a:xfrm>
            <a:off x="457200" y="642918"/>
            <a:ext cx="7239000" cy="484632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isprime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count++;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(5)&lt;&lt;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(count%10==0)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每输出10个素数换1行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  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if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	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3EBE46-3E92-45CF-A78B-A4F9886AE1BC}" type="slidenum">
              <a:rPr lang="en-US" altLang="zh-CN"/>
              <a:pPr>
                <a:defRPr/>
              </a:pPr>
              <a:t>51</a:t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9" name="内容占位符 2"/>
          <p:cNvSpPr>
            <a:spLocks noGrp="1"/>
          </p:cNvSpPr>
          <p:nvPr>
            <p:ph idx="1"/>
          </p:nvPr>
        </p:nvSpPr>
        <p:spPr>
          <a:xfrm>
            <a:off x="457200" y="1295400"/>
            <a:ext cx="8153400" cy="1204913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4.29】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输出从0到90度之间每隔15度的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</a:rPr>
              <a:t>正弦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、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</a:rPr>
              <a:t>余弦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以及</a:t>
            </a:r>
            <a:r>
              <a:rPr lang="zh-CN" altLang="en-US" b="1" dirty="0">
                <a:solidFill>
                  <a:srgbClr val="0000FF"/>
                </a:solidFill>
                <a:latin typeface="+mj-ea"/>
                <a:ea typeface="+mj-ea"/>
              </a:rPr>
              <a:t>正切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函数值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C13BAC-3183-4998-8333-51602690FD76}" type="slidenum">
              <a:rPr lang="en-US" altLang="zh-CN"/>
              <a:pPr>
                <a:defRPr/>
              </a:pPr>
              <a:t>52</a:t>
            </a:fld>
            <a:endParaRPr lang="en-US" altLang="zh-CN" dirty="0"/>
          </a:p>
        </p:txBody>
      </p:sp>
      <p:sp>
        <p:nvSpPr>
          <p:cNvPr id="132102" name="矩形 5"/>
          <p:cNvSpPr>
            <a:spLocks noChangeArrowheads="1"/>
          </p:cNvSpPr>
          <p:nvPr/>
        </p:nvSpPr>
        <p:spPr bwMode="auto">
          <a:xfrm>
            <a:off x="857250" y="2579688"/>
            <a:ext cx="7715250" cy="2849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Angle x    sin(x)    </a:t>
            </a:r>
            <a:r>
              <a:rPr lang="en-US" altLang="zh-CN" sz="2800" b="1" dirty="0" err="1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cos</a:t>
            </a: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(x)    tan(x)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 0    0.0000    1.0000    0.0000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15    0.2588    0.9659    0.2679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30    0.5000    0.8660    0.5774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45    0.7071    0.7071    1.0000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60    0.8660    0.5000    1.7321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75    0.9659    0.2588    3.7321</a:t>
            </a:r>
          </a:p>
          <a:p>
            <a:pPr algn="just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   90    1.0000   -0.0000         -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3" name="内容占位符 2"/>
          <p:cNvSpPr>
            <a:spLocks noGrp="1"/>
          </p:cNvSpPr>
          <p:nvPr>
            <p:ph idx="1"/>
          </p:nvPr>
        </p:nvSpPr>
        <p:spPr>
          <a:xfrm>
            <a:off x="357158" y="428604"/>
            <a:ext cx="8607330" cy="52864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32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3200" b="1" dirty="0">
                <a:solidFill>
                  <a:srgbClr val="C00000"/>
                </a:solidFill>
                <a:latin typeface="+mj-ea"/>
                <a:ea typeface="+mj-ea"/>
              </a:rPr>
              <a:t>4.29】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调用标准库函数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sin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、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cos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tan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得到三角函数值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调用三角函数值，实参是弧度，因此要将角度转换为弧度。度数</a:t>
            </a:r>
            <a:r>
              <a:rPr lang="en-US" altLang="zh-CN" sz="2800" b="1" dirty="0" err="1">
                <a:solidFill>
                  <a:srgbClr val="002060"/>
                </a:solidFill>
                <a:latin typeface="+mj-ea"/>
                <a:ea typeface="+mj-ea"/>
              </a:rPr>
              <a:t>doa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化为弧度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arc：</a:t>
            </a: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arc=</a:t>
            </a:r>
            <a:r>
              <a:rPr lang="en-US" altLang="zh-CN" sz="2800" b="1" dirty="0" err="1">
                <a:latin typeface="+mj-ea"/>
                <a:ea typeface="+mj-ea"/>
              </a:rPr>
              <a:t>pai</a:t>
            </a:r>
            <a:r>
              <a:rPr lang="en-US" altLang="zh-CN" sz="2800" b="1" dirty="0">
                <a:latin typeface="+mj-ea"/>
                <a:ea typeface="+mj-ea"/>
              </a:rPr>
              <a:t>*</a:t>
            </a:r>
            <a:r>
              <a:rPr lang="en-US" altLang="zh-CN" sz="2800" b="1" dirty="0" err="1">
                <a:latin typeface="+mj-ea"/>
                <a:ea typeface="+mj-ea"/>
              </a:rPr>
              <a:t>doa</a:t>
            </a:r>
            <a:r>
              <a:rPr lang="en-US" altLang="zh-CN" sz="2800" b="1" dirty="0">
                <a:latin typeface="+mj-ea"/>
                <a:ea typeface="+mj-ea"/>
              </a:rPr>
              <a:t>/180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三角函数值的小数点后保留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4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位数据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 err="1">
                <a:latin typeface="+mj-ea"/>
                <a:ea typeface="+mj-ea"/>
              </a:rPr>
              <a:t>cout.precision</a:t>
            </a:r>
            <a:r>
              <a:rPr lang="en-US" altLang="zh-CN" sz="2800" b="1" dirty="0">
                <a:latin typeface="+mj-ea"/>
                <a:ea typeface="+mj-ea"/>
              </a:rPr>
              <a:t>(4)</a:t>
            </a:r>
            <a:endParaRPr lang="zh-CN" altLang="en-US" sz="28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1CD882-7171-4F6C-9EBE-EE26AA047926}" type="slidenum">
              <a:rPr lang="en-US" altLang="zh-CN"/>
              <a:pPr>
                <a:defRPr/>
              </a:pPr>
              <a:t>53</a:t>
            </a:fld>
            <a:endParaRPr lang="en-US" altLang="zh-C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7" name="内容占位符 2"/>
          <p:cNvSpPr>
            <a:spLocks noGrp="1"/>
          </p:cNvSpPr>
          <p:nvPr>
            <p:ph idx="1"/>
          </p:nvPr>
        </p:nvSpPr>
        <p:spPr>
          <a:xfrm>
            <a:off x="285720" y="357166"/>
            <a:ext cx="8153400" cy="5205413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&lt;math&gt;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float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=3.1416;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有名常量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pai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inteval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=15;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//15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度为计算间隔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//下述8句用于输出标题行(第一行)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&lt;&lt;"Angle x";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&lt;&lt;"sin(x)";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buFont typeface="Wingdings" pitchFamily="2" charset="2"/>
              <a:buNone/>
            </a:pPr>
            <a:endParaRPr lang="zh-CN" altLang="en-US" dirty="0"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AFD19B6-F4FC-412A-B963-A41A0E7614A1}" type="slidenum">
              <a:rPr lang="en-US" altLang="zh-CN"/>
              <a:pPr>
                <a:defRPr/>
              </a:pPr>
              <a:t>54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F995A23-2A72-4BF9-B592-A133DCFFAA6B}" type="slidenum">
              <a:rPr lang="en-US" altLang="zh-CN"/>
              <a:pPr>
                <a:defRPr/>
              </a:pPr>
              <a:t>55</a:t>
            </a:fld>
            <a:endParaRPr lang="en-US" altLang="zh-CN" dirty="0"/>
          </a:p>
        </p:txBody>
      </p:sp>
      <p:sp>
        <p:nvSpPr>
          <p:cNvPr id="135173" name="内容占位符 2"/>
          <p:cNvSpPr>
            <a:spLocks noGrp="1"/>
          </p:cNvSpPr>
          <p:nvPr>
            <p:ph idx="1"/>
          </p:nvPr>
        </p:nvSpPr>
        <p:spPr>
          <a:xfrm>
            <a:off x="457200" y="1196752"/>
            <a:ext cx="7239000" cy="5258984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(x)";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&lt;&lt;"tan(x)";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float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arc;  		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弧度值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arc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cout.setf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::fixed);  	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设置以定点数格式输出数据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cout.flags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ios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::fixed); 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与上一句的功能完全相同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cout.precision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(4);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小数点后保留4位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buFont typeface="Wingdings" pitchFamily="2" charset="2"/>
              <a:buNone/>
            </a:pPr>
            <a:endParaRPr lang="zh-CN" altLang="en-US" sz="2400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75F979B-BF6F-4F31-ACCA-0835A14B7545}" type="slidenum">
              <a:rPr lang="en-US" altLang="zh-CN"/>
              <a:pPr>
                <a:defRPr/>
              </a:pPr>
              <a:t>56</a:t>
            </a:fld>
            <a:endParaRPr lang="en-US" altLang="zh-CN" dirty="0"/>
          </a:p>
        </p:txBody>
      </p:sp>
      <p:sp>
        <p:nvSpPr>
          <p:cNvPr id="136197" name="内容占位符 2"/>
          <p:cNvSpPr>
            <a:spLocks noGrp="1"/>
          </p:cNvSpPr>
          <p:nvPr>
            <p:ph idx="1"/>
          </p:nvPr>
        </p:nvSpPr>
        <p:spPr>
          <a:xfrm>
            <a:off x="457200" y="571480"/>
            <a:ext cx="8153400" cy="5429288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&lt;=90;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inteval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度数从0开始, 增量15，直到90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arc=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pai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/180;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化为弧度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arc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		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输出当前度数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doa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&lt;&lt;sin(arc);  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cos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(arc);  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cout.width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(10);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doa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==90)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&lt;&lt;"-";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90度正切值特殊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&lt;&lt;tan(arc);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非90度时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9" name="内容占位符 2"/>
          <p:cNvSpPr>
            <a:spLocks noGrp="1"/>
          </p:cNvSpPr>
          <p:nvPr>
            <p:ph idx="1"/>
          </p:nvPr>
        </p:nvSpPr>
        <p:spPr>
          <a:xfrm>
            <a:off x="457200" y="1583076"/>
            <a:ext cx="7239000" cy="4846320"/>
          </a:xfrm>
        </p:spPr>
        <p:txBody>
          <a:bodyPr/>
          <a:lstStyle/>
          <a:p>
            <a:pPr eaLnBrk="1" hangingPunct="1"/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dirty="0">
                <a:solidFill>
                  <a:srgbClr val="C00000"/>
                </a:solidFill>
                <a:latin typeface="+mj-ea"/>
                <a:ea typeface="+mj-ea"/>
              </a:rPr>
              <a:t>4.30】</a:t>
            </a:r>
            <a:r>
              <a:rPr lang="zh-CN" altLang="en-US" dirty="0">
                <a:solidFill>
                  <a:srgbClr val="C00000"/>
                </a:solidFill>
                <a:latin typeface="+mj-ea"/>
                <a:ea typeface="+mj-ea"/>
              </a:rPr>
              <a:t>在屏幕上打印图形</a:t>
            </a:r>
            <a:endParaRPr lang="en-US" altLang="zh-CN" dirty="0">
              <a:solidFill>
                <a:srgbClr val="C00000"/>
              </a:solidFill>
              <a:latin typeface="+mj-ea"/>
              <a:ea typeface="+mj-ea"/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     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    ***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   *****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  *******</a:t>
            </a:r>
            <a:endParaRPr lang="zh-CN" altLang="en-US" dirty="0">
              <a:solidFill>
                <a:srgbClr val="0000FF"/>
              </a:solidFill>
            </a:endParaRPr>
          </a:p>
          <a:p>
            <a:pPr algn="just" eaLnBrk="1" hangingPunct="1">
              <a:lnSpc>
                <a:spcPct val="70000"/>
              </a:lnSpc>
              <a:buFont typeface="Wingdings" pitchFamily="2" charset="2"/>
              <a:buNone/>
            </a:pPr>
            <a:r>
              <a:rPr lang="zh-CN" altLang="en-US" dirty="0">
                <a:solidFill>
                  <a:srgbClr val="0000FF"/>
                </a:solidFill>
                <a:latin typeface="宋体" charset="-122"/>
              </a:rPr>
              <a:t> *********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742CE64-B416-4975-96D0-5D6C27C6B216}" type="slidenum">
              <a:rPr lang="en-US" altLang="zh-CN"/>
              <a:pPr>
                <a:defRPr/>
              </a:pPr>
              <a:t>57</a:t>
            </a:fld>
            <a:endParaRPr lang="en-US" altLang="zh-CN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557509"/>
              </p:ext>
            </p:extLst>
          </p:nvPr>
        </p:nvGraphicFramePr>
        <p:xfrm>
          <a:off x="2915816" y="2060848"/>
          <a:ext cx="604867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2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293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293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93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181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空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规律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400" dirty="0">
                          <a:solidFill>
                            <a:schemeClr val="tx1"/>
                          </a:solidFill>
                        </a:rPr>
                        <a:t>规律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2*1-1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4-2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2*2-1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4-3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2*3-1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4-4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zh-CN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FF0000"/>
                          </a:solidFill>
                        </a:rPr>
                        <a:t>2*4-1</a:t>
                      </a:r>
                      <a:endParaRPr lang="zh-CN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6351" y="2492896"/>
            <a:ext cx="339785" cy="18722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2506985"/>
            <a:ext cx="339785" cy="187220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400" y="2492127"/>
            <a:ext cx="339785" cy="18722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3" name="内容占位符 2"/>
          <p:cNvSpPr>
            <a:spLocks noGrp="1"/>
          </p:cNvSpPr>
          <p:nvPr>
            <p:ph idx="1"/>
          </p:nvPr>
        </p:nvSpPr>
        <p:spPr>
          <a:xfrm>
            <a:off x="142844" y="285728"/>
            <a:ext cx="8786812" cy="5562600"/>
          </a:xfrm>
        </p:spPr>
        <p:txBody>
          <a:bodyPr>
            <a:normAutofit lnSpcReduction="10000"/>
          </a:bodyPr>
          <a:lstStyle/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include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main(){</a:t>
            </a: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&lt;=5;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	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共印5行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(j=1;j&lt;=5-i;j++)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第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行时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打印*前先空5-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格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&lt;&lt;‘ ’;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	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(j=1;j&lt;=2*i-1;j++)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而后连印2*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i-1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个“*”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 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&lt;&lt;‘*’;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 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最后换行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}</a:t>
            </a:r>
            <a:endParaRPr lang="en-US" altLang="zh-CN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return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lnSpc>
                <a:spcPct val="90000"/>
              </a:lnSpc>
              <a:buFont typeface="Wingdings" pitchFamily="2" charset="2"/>
              <a:buNone/>
            </a:pPr>
            <a:endParaRPr lang="zh-CN" alt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A1E3FA6-1A38-4C09-B73D-3146E8A57C71}" type="slidenum">
              <a:rPr lang="en-US" altLang="zh-CN"/>
              <a:pPr>
                <a:defRPr/>
              </a:pPr>
              <a:t>58</a:t>
            </a:fld>
            <a:endParaRPr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408</TotalTime>
  <Words>3304</Words>
  <Application>Microsoft Office PowerPoint</Application>
  <PresentationFormat>全屏显示(4:3)</PresentationFormat>
  <Paragraphs>469</Paragraphs>
  <Slides>58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70" baseType="lpstr">
      <vt:lpstr>楷体_GB2312</vt:lpstr>
      <vt:lpstr>黑体</vt:lpstr>
      <vt:lpstr>宋体</vt:lpstr>
      <vt:lpstr>华文新魏</vt:lpstr>
      <vt:lpstr>幼圆</vt:lpstr>
      <vt:lpstr>Calibri</vt:lpstr>
      <vt:lpstr>Courier New</vt:lpstr>
      <vt:lpstr>Times New Roman</vt:lpstr>
      <vt:lpstr>Trebuchet MS</vt:lpstr>
      <vt:lpstr>Wingdings</vt:lpstr>
      <vt:lpstr>Wingdings 2</vt:lpstr>
      <vt:lpstr>华丽</vt:lpstr>
      <vt:lpstr>C/C++程序设计</vt:lpstr>
      <vt:lpstr>循环语句</vt:lpstr>
      <vt:lpstr>循环语句</vt:lpstr>
      <vt:lpstr>循环语句</vt:lpstr>
      <vt:lpstr>循环语句</vt:lpstr>
      <vt:lpstr>PowerPoint 演示文稿</vt:lpstr>
      <vt:lpstr>循环语句</vt:lpstr>
      <vt:lpstr>PowerPoint 演示文稿</vt:lpstr>
      <vt:lpstr>PowerPoint 演示文稿</vt:lpstr>
      <vt:lpstr>PowerPoint 演示文稿</vt:lpstr>
      <vt:lpstr>PowerPoint 演示文稿</vt:lpstr>
      <vt:lpstr>循环语句</vt:lpstr>
      <vt:lpstr>循环语句</vt:lpstr>
      <vt:lpstr>PowerPoint 演示文稿</vt:lpstr>
      <vt:lpstr>PowerPoint 演示文稿</vt:lpstr>
      <vt:lpstr>PowerPoint 演示文稿</vt:lpstr>
      <vt:lpstr>PowerPoint 演示文稿</vt:lpstr>
      <vt:lpstr>循环语句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循环语句</vt:lpstr>
      <vt:lpstr>循环语句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循环语句</vt:lpstr>
      <vt:lpstr>PowerPoint 演示文稿</vt:lpstr>
      <vt:lpstr>无条件转向语句</vt:lpstr>
      <vt:lpstr>PowerPoint 演示文稿</vt:lpstr>
      <vt:lpstr>无条件转向语句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控制语句举例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23</cp:revision>
  <dcterms:created xsi:type="dcterms:W3CDTF">2016-10-27T06:59:17Z</dcterms:created>
  <dcterms:modified xsi:type="dcterms:W3CDTF">2020-10-28T05:59:45Z</dcterms:modified>
</cp:coreProperties>
</file>