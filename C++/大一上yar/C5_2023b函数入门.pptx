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9" r:id="rId10"/>
    <p:sldId id="270" r:id="rId11"/>
    <p:sldId id="272" r:id="rId12"/>
    <p:sldId id="273" r:id="rId13"/>
    <p:sldId id="271" r:id="rId14"/>
    <p:sldId id="276" r:id="rId15"/>
    <p:sldId id="274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0152B-DB9A-4DF6-A977-CABFA80A9D3C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B238B-5CE3-466D-A90C-8D0F621D3B2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B238B-5CE3-466D-A90C-8D0F621D3B2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5D38F83-F39B-4608-B4F1-7AAE935C9E2B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EF0FA-BC26-4EFC-8AF3-3FBA9E6CFEA7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953629B-0DFD-43EB-98BA-2289AE9A7F31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C6E6-4D01-4CE7-890D-2D26ED0C5EDC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A5E2-A652-4BFB-9D03-140FDAEA3C8A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1D7EE-0FBB-4F8B-8C41-0F1AE03EADC7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9E8A4FB-DBD4-4100-A4B3-4DDB967EA8EE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64BE-6D37-4FB1-BEC6-A24F45601B1C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A63D-8300-4355-AFA7-73B152378932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BE756-21F7-4445-9C79-DB1EA6354D86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BD3F4DCB-4423-429B-86A4-E011A133B1DD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C11CCB11-ED48-4B1A-9CB2-B43AAEBA1F5A}" type="datetime1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函数说明和使用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7239000" cy="605808"/>
          </a:xfrm>
        </p:spPr>
        <p:txBody>
          <a:bodyPr/>
          <a:lstStyle/>
          <a:p>
            <a:r>
              <a:rPr lang="zh-CN" altLang="en-US" dirty="0"/>
              <a:t>函数的使用和说明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928670"/>
            <a:ext cx="7239000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函数的作用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实现程序功能的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模块化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实现程序结构的简化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实现程序代码的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重用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函数的应用场景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包含多处功能相同的代码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处理数据的类型、处理过程相同或相似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代码段具有代表性或特殊含义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512" y="59864"/>
            <a:ext cx="8153400" cy="7048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用函数的思想实现最简单的</a:t>
            </a: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程序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684325"/>
            <a:ext cx="8682038" cy="605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inlcude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函数原型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调用函数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pirntString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(){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函数定义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&lt;&lt;“Hello!”&lt;&lt;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函数返回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42852"/>
            <a:ext cx="8643998" cy="64294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函数的使用步骤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先说明，后调用：</a:t>
            </a:r>
            <a:r>
              <a:rPr lang="zh-CN" altLang="en-US" b="1" dirty="0">
                <a:latin typeface="+mj-ea"/>
                <a:ea typeface="+mj-ea"/>
              </a:rPr>
              <a:t>程序中必须包含函数的说明及定义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函数的说明方式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函数原型：</a:t>
            </a:r>
            <a:r>
              <a:rPr lang="zh-CN" altLang="en-US" b="1" dirty="0">
                <a:latin typeface="+mj-ea"/>
                <a:ea typeface="+mj-ea"/>
              </a:rPr>
              <a:t>函数定义可以出现在程序的任何合适的地方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函数定义：</a:t>
            </a:r>
            <a:r>
              <a:rPr lang="zh-CN" altLang="en-US" b="1" dirty="0">
                <a:latin typeface="+mj-ea"/>
                <a:ea typeface="+mj-ea"/>
              </a:rPr>
              <a:t>函数定义必须出现在调用函数之前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主调函数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函数体中调用其它函数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被调函数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被其它函数调用的函数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上述概念是相对的概念，一个函数既可以调用其它函数（包括该函数自身），亦可以被其它函数调用（包括该函数自身）</a:t>
            </a:r>
            <a:endParaRPr lang="en-US" altLang="zh-CN" b="1" dirty="0">
              <a:latin typeface="+mj-ea"/>
              <a:ea typeface="+mj-ea"/>
            </a:endParaRPr>
          </a:p>
          <a:p>
            <a:pPr lvl="2">
              <a:lnSpc>
                <a:spcPct val="140000"/>
              </a:lnSpc>
            </a:pPr>
            <a:endParaRPr lang="en-US" altLang="zh-CN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54984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函数分类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712" y="836712"/>
            <a:ext cx="8678768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标准库函数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程序中可直接使用（调用）系统预定义的标准库函数，但要求在调用前使用编译预处理指令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include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将对应的头文件包含进来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用户自定义函数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由用户自定义的函数与系统预定义的标准库函数的不同点在于，自定义函数的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函数名、参数个数、函数返回值类型以及函数所实现的功能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等都完全由用户程序来规定（指定）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11663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标准库函数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764704"/>
            <a:ext cx="7239000" cy="559667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标准输入输出流 </a:t>
            </a:r>
            <a:r>
              <a:rPr lang="en-US" altLang="zh-CN" sz="3200" b="1" dirty="0">
                <a:latin typeface="+mj-ea"/>
                <a:ea typeface="+mj-ea"/>
              </a:rPr>
              <a:t>&lt;</a:t>
            </a:r>
            <a:r>
              <a:rPr lang="en-US" altLang="zh-CN" sz="3200" b="1" dirty="0" err="1">
                <a:latin typeface="+mj-ea"/>
                <a:ea typeface="+mj-ea"/>
              </a:rPr>
              <a:t>iostream.h</a:t>
            </a:r>
            <a:r>
              <a:rPr lang="en-US" altLang="zh-CN" sz="3200" b="1" dirty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setw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setwidth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标准文件流 </a:t>
            </a:r>
            <a:r>
              <a:rPr lang="en-US" altLang="zh-CN" sz="3200" b="1" dirty="0">
                <a:latin typeface="+mj-ea"/>
                <a:ea typeface="+mj-ea"/>
              </a:rPr>
              <a:t>&lt;</a:t>
            </a:r>
            <a:r>
              <a:rPr lang="en-US" altLang="zh-CN" sz="3200" b="1" dirty="0" err="1">
                <a:latin typeface="+mj-ea"/>
                <a:ea typeface="+mj-ea"/>
              </a:rPr>
              <a:t>fstream.h</a:t>
            </a:r>
            <a:r>
              <a:rPr lang="en-US" altLang="zh-CN" sz="3200" b="1" dirty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open()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close()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标准字符串处理函数 </a:t>
            </a:r>
            <a:r>
              <a:rPr lang="en-US" altLang="zh-CN" sz="3200" b="1" dirty="0">
                <a:latin typeface="+mj-ea"/>
                <a:ea typeface="+mj-ea"/>
              </a:rPr>
              <a:t>&lt;</a:t>
            </a:r>
            <a:r>
              <a:rPr lang="en-US" altLang="zh-CN" sz="3200" b="1" dirty="0" err="1">
                <a:latin typeface="+mj-ea"/>
                <a:ea typeface="+mj-ea"/>
              </a:rPr>
              <a:t>string.h</a:t>
            </a:r>
            <a:r>
              <a:rPr lang="en-US" altLang="zh-CN" sz="3200" b="1" dirty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strcpy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strcmp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标准数学函数 </a:t>
            </a:r>
            <a:r>
              <a:rPr lang="en-US" altLang="zh-CN" sz="3200" b="1" dirty="0">
                <a:latin typeface="+mj-ea"/>
                <a:ea typeface="+mj-ea"/>
              </a:rPr>
              <a:t>&lt;</a:t>
            </a:r>
            <a:r>
              <a:rPr lang="en-US" altLang="zh-CN" sz="3200" b="1" dirty="0" err="1">
                <a:latin typeface="+mj-ea"/>
                <a:ea typeface="+mj-ea"/>
              </a:rPr>
              <a:t>math.h</a:t>
            </a:r>
            <a:r>
              <a:rPr lang="en-US" altLang="zh-CN" sz="3200" b="1" dirty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sqrt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pow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用户自定义函数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928670"/>
            <a:ext cx="7239000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普通函数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内联函数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类的成员函数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类的友元函数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虚函数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……</a:t>
            </a:r>
            <a:endParaRPr lang="zh-CN" altLang="en-US" sz="3200" b="1" dirty="0">
              <a:latin typeface="+mj-ea"/>
              <a:ea typeface="+mj-ea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230334"/>
            <a:ext cx="7239000" cy="53437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无参函数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784654"/>
            <a:ext cx="8104984" cy="566868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调用它们时不需要提供实际参数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原型</a:t>
            </a:r>
            <a:r>
              <a:rPr lang="zh-CN" altLang="en-US" sz="3200" b="1" dirty="0">
                <a:latin typeface="+mj-ea"/>
                <a:ea typeface="+mj-ea"/>
              </a:rPr>
              <a:t>的一般形式</a:t>
            </a:r>
            <a:endParaRPr lang="en-US" altLang="zh-CN" sz="3200" b="1" dirty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返回值类型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&gt;( );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定义</a:t>
            </a:r>
            <a:r>
              <a:rPr lang="zh-CN" altLang="en-US" sz="3200" b="1" dirty="0">
                <a:latin typeface="+mj-ea"/>
                <a:ea typeface="+mj-ea"/>
              </a:rPr>
              <a:t>的一般形式</a:t>
            </a:r>
            <a:endParaRPr lang="en-US" altLang="zh-CN" sz="3200" b="1" dirty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返回值类型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&gt;( )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{&lt;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函数体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&gt;}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通常用来实现某种特定的功能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不需要进行数据的传递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处理的数据通常与主调函数无关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04814" y="542940"/>
            <a:ext cx="8153400" cy="5029200"/>
          </a:xfrm>
        </p:spPr>
        <p:txBody>
          <a:bodyPr/>
          <a:lstStyle/>
          <a:p>
            <a:r>
              <a:rPr lang="zh-CN" altLang="en-US" sz="2800" b="1" dirty="0">
                <a:latin typeface="+mj-ea"/>
                <a:ea typeface="+mj-ea"/>
              </a:rPr>
              <a:t>无参函数</a:t>
            </a:r>
            <a:endParaRPr lang="en-US" altLang="zh-CN" sz="28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5.2】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定义一个函数，实现打印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个“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*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”的功能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/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62028" y="2247912"/>
            <a:ext cx="68580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(){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=0;i&lt;10;i++)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&lt;&lt;“*”;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14290"/>
            <a:ext cx="8715436" cy="6023022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zh-CN" altLang="en-US" sz="3200" b="1" dirty="0">
                <a:latin typeface="+mj-ea"/>
                <a:ea typeface="+mj-ea"/>
              </a:rPr>
              <a:t>有参函数（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带有参数的用户自定义函数</a:t>
            </a:r>
            <a:r>
              <a:rPr lang="zh-CN" altLang="en-US" sz="3200" b="1" dirty="0">
                <a:latin typeface="+mj-ea"/>
                <a:ea typeface="+mj-ea"/>
              </a:rPr>
              <a:t>）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进行调用时，必须提供所需个数的且具有相匹配数据类型的实际参数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函数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原型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的一般形式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marL="342900" lvl="1" indent="-342900" algn="just" eaLnBrk="0" hangingPunct="0">
              <a:lnSpc>
                <a:spcPct val="114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   &lt;返回值类型&gt; &lt;函数名&gt;(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&lt;以逗号分割的形参类型表&gt;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定义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的一般形式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algn="just" eaLnBrk="0" hangingPunct="0">
              <a:lnSpc>
                <a:spcPct val="114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&lt;返回值类型&gt; &lt;函数名&gt;(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&lt;以逗号分割的形参类型及名字表&gt;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algn="just" eaLnBrk="0" hangingPunct="0">
              <a:lnSpc>
                <a:spcPct val="114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{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函数体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通过调用处提供的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不同实参值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来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计算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出其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对应的函数值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、或实现某种与传递过来的那些不同值有关的某种功能。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57158" y="542940"/>
            <a:ext cx="8535322" cy="5029200"/>
          </a:xfrm>
        </p:spPr>
        <p:txBody>
          <a:bodyPr/>
          <a:lstStyle/>
          <a:p>
            <a:r>
              <a:rPr lang="zh-CN" altLang="en-US" sz="3200" b="1" dirty="0">
                <a:latin typeface="+mj-ea"/>
                <a:ea typeface="+mj-ea"/>
              </a:rPr>
              <a:t>有参函数</a:t>
            </a:r>
            <a:endParaRPr lang="en-US" altLang="zh-CN" sz="3200" b="1" dirty="0">
              <a:latin typeface="+mj-ea"/>
              <a:ea typeface="+mj-ea"/>
            </a:endParaRPr>
          </a:p>
          <a:p>
            <a:pPr lvl="1"/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5.3】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定义一个函数，控制输出“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*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”的个数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28662" y="1963531"/>
            <a:ext cx="685804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32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32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32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=0;i&lt;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k;i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 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&lt;&lt;“*”;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32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2524" y="522307"/>
            <a:ext cx="6613525" cy="569277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5" name="图片 14" descr="参数箭头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1386" y="370589"/>
            <a:ext cx="5277561" cy="2866345"/>
          </a:xfrm>
          <a:prstGeom prst="rect">
            <a:avLst/>
          </a:prstGeom>
        </p:spPr>
      </p:pic>
      <p:pic>
        <p:nvPicPr>
          <p:cNvPr id="16" name="图片 15" descr="说明箭头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833" y="434980"/>
            <a:ext cx="7455943" cy="606514"/>
          </a:xfrm>
          <a:prstGeom prst="rect">
            <a:avLst/>
          </a:prstGeom>
        </p:spPr>
      </p:pic>
      <p:pic>
        <p:nvPicPr>
          <p:cNvPr id="18" name="图片 17" descr="返回箭头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2205" y="3522686"/>
            <a:ext cx="3929090" cy="382704"/>
          </a:xfrm>
          <a:prstGeom prst="rect">
            <a:avLst/>
          </a:prstGeom>
        </p:spPr>
      </p:pic>
      <p:pic>
        <p:nvPicPr>
          <p:cNvPr id="19" name="图片 18" descr="调用箭头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02469" y="3594124"/>
            <a:ext cx="5143536" cy="1869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679338" cy="671514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函数的说明和定义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在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程序中，函数有两种说明方式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函数原型：在调用函数之前说明函数原型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函数定义：在调用函数之前对函数进行定义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函数原型，也称函数声明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指明函数的名称、参数以及返回值类型，格式为：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&gt;]);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add(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a, 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b); 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inline void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swap(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&amp;s,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&amp;t);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print (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char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*);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1438"/>
            <a:ext cx="8429684" cy="671514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+mj-ea"/>
                <a:ea typeface="+mj-ea"/>
              </a:rPr>
              <a:t>函数原型</a:t>
            </a:r>
            <a:endParaRPr lang="en-US" altLang="zh-CN" sz="20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&gt;]);</a:t>
            </a: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属性说明：可缺省，一般可以是下面的关键字之一</a:t>
            </a:r>
            <a:endParaRPr lang="en-US" altLang="zh-CN" sz="20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>
                <a:latin typeface="+mj-ea"/>
                <a:ea typeface="+mj-ea"/>
              </a:rPr>
              <a:t>inline</a:t>
            </a:r>
            <a:r>
              <a:rPr lang="zh-CN" altLang="en-US" b="1" dirty="0">
                <a:latin typeface="+mj-ea"/>
                <a:ea typeface="+mj-ea"/>
              </a:rPr>
              <a:t>：表示该函数为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内联函数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>
                <a:latin typeface="+mj-ea"/>
                <a:ea typeface="+mj-ea"/>
              </a:rPr>
              <a:t>static</a:t>
            </a:r>
            <a:r>
              <a:rPr lang="zh-CN" altLang="en-US" b="1" dirty="0">
                <a:latin typeface="+mj-ea"/>
                <a:ea typeface="+mj-ea"/>
              </a:rPr>
              <a:t>：表示该函数为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静态函数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>
                <a:latin typeface="+mj-ea"/>
                <a:ea typeface="+mj-ea"/>
              </a:rPr>
              <a:t>virtual</a:t>
            </a:r>
            <a:r>
              <a:rPr lang="zh-CN" altLang="en-US" b="1" dirty="0">
                <a:latin typeface="+mj-ea"/>
                <a:ea typeface="+mj-ea"/>
              </a:rPr>
              <a:t>：表示该函数为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虚函数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>
                <a:latin typeface="+mj-ea"/>
                <a:ea typeface="+mj-ea"/>
              </a:rPr>
              <a:t>friend</a:t>
            </a:r>
            <a:r>
              <a:rPr lang="zh-CN" altLang="en-US" b="1" dirty="0">
                <a:latin typeface="+mj-ea"/>
                <a:ea typeface="+mj-ea"/>
              </a:rPr>
              <a:t>：表示该函数为某类</a:t>
            </a:r>
            <a:r>
              <a:rPr lang="en-US" altLang="zh-CN" b="1" dirty="0">
                <a:latin typeface="+mj-ea"/>
                <a:ea typeface="+mj-ea"/>
              </a:rPr>
              <a:t>(class)</a:t>
            </a:r>
            <a:r>
              <a:rPr lang="zh-CN" altLang="en-US" b="1" dirty="0">
                <a:latin typeface="+mj-ea"/>
                <a:ea typeface="+mj-ea"/>
              </a:rPr>
              <a:t>的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友元函数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返回值类型：</a:t>
            </a:r>
            <a:r>
              <a:rPr lang="zh-CN" altLang="en-US" sz="2000" b="1" dirty="0">
                <a:latin typeface="+mj-ea"/>
                <a:ea typeface="+mj-ea"/>
              </a:rPr>
              <a:t>函数处理得到的结果的数据类型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函数名：标识符</a:t>
            </a:r>
            <a:endParaRPr lang="zh-CN" altLang="en-US" sz="2400" b="1" dirty="0"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参数表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/>
            <a:r>
              <a:rPr lang="zh-CN" altLang="en-US" b="1" dirty="0">
                <a:latin typeface="+mj-ea"/>
                <a:ea typeface="+mj-ea"/>
              </a:rPr>
              <a:t>空参数表</a:t>
            </a:r>
            <a:endParaRPr lang="en-US" altLang="zh-CN" b="1" dirty="0">
              <a:latin typeface="+mj-ea"/>
              <a:ea typeface="+mj-ea"/>
            </a:endParaRPr>
          </a:p>
          <a:p>
            <a:pPr lvl="3">
              <a:buNone/>
            </a:pP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printroot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();</a:t>
            </a:r>
          </a:p>
          <a:p>
            <a:pPr lvl="2"/>
            <a:r>
              <a:rPr lang="en-US" altLang="zh-CN" b="1" dirty="0">
                <a:latin typeface="+mj-ea"/>
                <a:ea typeface="+mj-ea"/>
              </a:rPr>
              <a:t>void</a:t>
            </a:r>
            <a:r>
              <a:rPr lang="zh-CN" altLang="en-US" b="1" dirty="0">
                <a:latin typeface="+mj-ea"/>
                <a:ea typeface="+mj-ea"/>
              </a:rPr>
              <a:t>型参数</a:t>
            </a:r>
            <a:endParaRPr lang="en-US" altLang="zh-CN" b="1" dirty="0">
              <a:latin typeface="+mj-ea"/>
              <a:ea typeface="+mj-ea"/>
            </a:endParaRPr>
          </a:p>
          <a:p>
            <a:pPr lvl="3">
              <a:buNone/>
            </a:pP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printroot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2"/>
            <a:r>
              <a:rPr lang="en-US" altLang="zh-CN" b="1" dirty="0">
                <a:latin typeface="+mj-ea"/>
                <a:ea typeface="+mj-ea"/>
              </a:rPr>
              <a:t>&lt;</a:t>
            </a:r>
            <a:r>
              <a:rPr lang="zh-CN" altLang="en-US" b="1" dirty="0">
                <a:latin typeface="+mj-ea"/>
                <a:ea typeface="+mj-ea"/>
              </a:rPr>
              <a:t>数据类型</a:t>
            </a:r>
            <a:r>
              <a:rPr lang="en-US" altLang="zh-CN" b="1" dirty="0">
                <a:latin typeface="+mj-ea"/>
                <a:ea typeface="+mj-ea"/>
              </a:rPr>
              <a:t>&gt;[&lt;</a:t>
            </a:r>
            <a:r>
              <a:rPr lang="zh-CN" altLang="en-US" b="1" dirty="0">
                <a:latin typeface="+mj-ea"/>
                <a:ea typeface="+mj-ea"/>
              </a:rPr>
              <a:t>参数</a:t>
            </a:r>
            <a:r>
              <a:rPr lang="en-US" altLang="zh-CN" b="1" dirty="0">
                <a:latin typeface="+mj-ea"/>
                <a:ea typeface="+mj-ea"/>
              </a:rPr>
              <a:t>&gt;]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[</a:t>
            </a:r>
            <a:r>
              <a:rPr lang="en-US" altLang="zh-CN" b="1" dirty="0">
                <a:latin typeface="+mj-ea"/>
                <a:ea typeface="+mj-ea"/>
              </a:rPr>
              <a:t>,&lt;</a:t>
            </a:r>
            <a:r>
              <a:rPr lang="zh-CN" altLang="en-US" b="1" dirty="0">
                <a:latin typeface="+mj-ea"/>
                <a:ea typeface="+mj-ea"/>
              </a:rPr>
              <a:t>数据类型</a:t>
            </a:r>
            <a:r>
              <a:rPr lang="en-US" altLang="zh-CN" b="1" dirty="0">
                <a:latin typeface="+mj-ea"/>
                <a:ea typeface="+mj-ea"/>
              </a:rPr>
              <a:t>&gt;[&lt;</a:t>
            </a:r>
            <a:r>
              <a:rPr lang="zh-CN" altLang="en-US" b="1" dirty="0">
                <a:latin typeface="+mj-ea"/>
                <a:ea typeface="+mj-ea"/>
              </a:rPr>
              <a:t>参数</a:t>
            </a:r>
            <a:r>
              <a:rPr lang="en-US" altLang="zh-CN" b="1" dirty="0">
                <a:latin typeface="+mj-ea"/>
                <a:ea typeface="+mj-ea"/>
              </a:rPr>
              <a:t>&gt;]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]</a:t>
            </a:r>
            <a:r>
              <a:rPr lang="en-US" altLang="zh-CN" b="1" dirty="0">
                <a:latin typeface="+mj-ea"/>
                <a:ea typeface="+mj-ea"/>
              </a:rPr>
              <a:t>*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  </a:t>
            </a:r>
            <a:endParaRPr lang="zh-CN" altLang="en-US" sz="24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3">
              <a:buNone/>
            </a:pP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cuberoot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3">
              <a:buNone/>
            </a:pP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cuberoot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x);</a:t>
            </a:r>
            <a:endParaRPr lang="zh-CN" altLang="en-US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函数定义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928670"/>
            <a:ext cx="8429684" cy="530864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函数定义与函数原型的主要区别是它还包括函数体，其格式为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{&lt;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函数体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&gt;}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函数体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复合语句即程序块，由完成函数功能所需的全部语句构成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4848"/>
            <a:ext cx="7239000" cy="484632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+mj-ea"/>
                <a:ea typeface="+mj-ea"/>
              </a:rPr>
              <a:t>函数的说明和定义</a:t>
            </a:r>
            <a:endParaRPr lang="en-US" altLang="zh-CN" sz="3200" b="1" dirty="0"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“函数原型”的说明方式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endParaRPr lang="en-US" altLang="zh-CN" sz="2800" b="1" dirty="0">
              <a:latin typeface="+mj-ea"/>
              <a:ea typeface="+mj-ea"/>
            </a:endParaRPr>
          </a:p>
          <a:p>
            <a:pPr lvl="1"/>
            <a:endParaRPr lang="en-US" altLang="zh-CN" sz="2800" b="1" dirty="0">
              <a:latin typeface="+mj-ea"/>
              <a:ea typeface="+mj-ea"/>
            </a:endParaRPr>
          </a:p>
          <a:p>
            <a:pPr lvl="1"/>
            <a:endParaRPr lang="en-US" altLang="zh-CN" sz="2800" b="1" dirty="0">
              <a:latin typeface="+mj-ea"/>
              <a:ea typeface="+mj-ea"/>
            </a:endParaRPr>
          </a:p>
          <a:p>
            <a:pPr lvl="1"/>
            <a:endParaRPr lang="en-US" altLang="zh-CN" sz="2800" b="1" dirty="0">
              <a:latin typeface="+mj-ea"/>
              <a:ea typeface="+mj-ea"/>
            </a:endParaRPr>
          </a:p>
          <a:p>
            <a:pPr lvl="1"/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“函数定义”的说明方式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755576" y="1124744"/>
            <a:ext cx="81176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#include……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std;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);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函数原型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(10);}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调用函数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k){}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函数体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4" y="4177067"/>
            <a:ext cx="7920880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#include……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std;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k){}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函数定义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(10);}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调用函数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6632"/>
            <a:ext cx="8784976" cy="612068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函数的说明和定义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两种说明方式的区别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函数原型的参数表中，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参数名可以省略</a:t>
            </a:r>
            <a:r>
              <a:rPr lang="zh-CN" altLang="en-US" sz="2800" b="1" dirty="0">
                <a:latin typeface="+mj-ea"/>
                <a:ea typeface="+mj-ea"/>
              </a:rPr>
              <a:t>；</a:t>
            </a:r>
            <a:br>
              <a:rPr lang="en-US" altLang="zh-CN" sz="2800" b="1" dirty="0">
                <a:latin typeface="+mj-ea"/>
                <a:ea typeface="+mj-ea"/>
              </a:rPr>
            </a:br>
            <a:r>
              <a:rPr lang="zh-CN" altLang="en-US" sz="2800" b="1" dirty="0">
                <a:latin typeface="+mj-ea"/>
                <a:ea typeface="+mj-ea"/>
              </a:rPr>
              <a:t>函数定义的参数表中，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必须给出参数名（省略参数名为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无名参数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函数原型的函数体，可以出现在函数调用之后；函数定义的函数体，必须出现在调用之前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函数原型的参数表后面加分号“</a:t>
            </a:r>
            <a:r>
              <a:rPr lang="en-US" altLang="zh-CN" sz="2800" b="1" dirty="0">
                <a:latin typeface="+mj-ea"/>
                <a:ea typeface="+mj-ea"/>
              </a:rPr>
              <a:t>;</a:t>
            </a:r>
            <a:r>
              <a:rPr lang="zh-CN" altLang="en-US" sz="2800" b="1" dirty="0">
                <a:latin typeface="+mj-ea"/>
                <a:ea typeface="+mj-ea"/>
              </a:rPr>
              <a:t>”</a:t>
            </a:r>
            <a:r>
              <a:rPr lang="en-US" altLang="zh-CN" sz="2800" b="1" dirty="0">
                <a:latin typeface="+mj-ea"/>
                <a:ea typeface="+mj-ea"/>
              </a:rPr>
              <a:t>,</a:t>
            </a:r>
            <a:r>
              <a:rPr lang="zh-CN" altLang="en-US" sz="2800" b="1" dirty="0">
                <a:latin typeface="+mj-ea"/>
                <a:ea typeface="+mj-ea"/>
              </a:rPr>
              <a:t>函数定义的参数表后面是函数体，即花括号“</a:t>
            </a:r>
            <a:r>
              <a:rPr lang="en-US" altLang="zh-CN" sz="2800" b="1" dirty="0">
                <a:latin typeface="+mj-ea"/>
                <a:ea typeface="+mj-ea"/>
              </a:rPr>
              <a:t>{</a:t>
            </a:r>
            <a:r>
              <a:rPr lang="zh-CN" altLang="en-US" sz="2800" b="1" dirty="0">
                <a:latin typeface="+mj-ea"/>
                <a:ea typeface="+mj-ea"/>
              </a:rPr>
              <a:t>”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函数定义不能出现在任何函数体中，函数原型可以出现在其它函数体中</a:t>
            </a:r>
            <a:endParaRPr lang="zh-CN" altLang="en-US" sz="2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692696"/>
            <a:ext cx="8462744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函数调用是已定义函数的一次实际运行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在</a:t>
            </a: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程序中，除</a:t>
            </a:r>
            <a:r>
              <a:rPr lang="en-US" altLang="zh-CN" sz="2800" b="1" dirty="0">
                <a:latin typeface="+mj-ea"/>
                <a:ea typeface="+mj-ea"/>
              </a:rPr>
              <a:t>main</a:t>
            </a:r>
            <a:r>
              <a:rPr lang="zh-CN" altLang="en-US" sz="2800" b="1" dirty="0">
                <a:latin typeface="+mj-ea"/>
                <a:ea typeface="+mj-ea"/>
              </a:rPr>
              <a:t>函数外，其它任一函数的执行都是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通过在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main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函数中直接或间接地调用该函数而引发</a:t>
            </a:r>
            <a:r>
              <a:rPr lang="zh-CN" altLang="en-US" sz="2800" b="1" dirty="0">
                <a:latin typeface="+mj-ea"/>
                <a:ea typeface="+mj-ea"/>
              </a:rPr>
              <a:t>的。</a:t>
            </a:r>
            <a:br>
              <a:rPr lang="en-US" altLang="zh-CN" sz="2800" b="1" dirty="0">
                <a:latin typeface="+mj-ea"/>
                <a:ea typeface="+mj-ea"/>
              </a:rPr>
            </a:br>
            <a:r>
              <a:rPr lang="zh-CN" altLang="en-US" sz="2800" b="1" dirty="0">
                <a:latin typeface="+mj-ea"/>
                <a:ea typeface="+mj-ea"/>
              </a:rPr>
              <a:t>调用一个函数就是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去执行该函数之函数体</a:t>
            </a:r>
            <a:r>
              <a:rPr lang="zh-CN" altLang="en-US" sz="2800" b="1" dirty="0">
                <a:latin typeface="+mj-ea"/>
                <a:ea typeface="+mj-ea"/>
              </a:rPr>
              <a:t>的过程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1309697"/>
            <a:ext cx="47339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57158" y="322862"/>
            <a:ext cx="7239000" cy="605808"/>
          </a:xfrm>
        </p:spPr>
        <p:txBody>
          <a:bodyPr>
            <a:normAutofit/>
          </a:bodyPr>
          <a:lstStyle/>
          <a:p>
            <a:r>
              <a:rPr lang="zh-CN" altLang="en-US" dirty="0"/>
              <a:t>函数的调用过程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251424"/>
            <a:ext cx="7239000" cy="605808"/>
          </a:xfrm>
        </p:spPr>
        <p:txBody>
          <a:bodyPr/>
          <a:lstStyle/>
          <a:p>
            <a:r>
              <a:rPr lang="zh-CN" altLang="en-US" dirty="0"/>
              <a:t>函数调用的执行顺序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142984"/>
            <a:ext cx="8429684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根据调用语句中的函数名在整个程序中搜索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同名</a:t>
            </a:r>
            <a:r>
              <a:rPr lang="zh-CN" altLang="en-US" sz="2800" b="1" dirty="0">
                <a:latin typeface="+mj-ea"/>
                <a:ea typeface="+mj-ea"/>
              </a:rPr>
              <a:t>函数定义；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对实参数的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参数个数，类型，顺序</a:t>
            </a:r>
            <a:r>
              <a:rPr lang="zh-CN" altLang="en-US" sz="2800" b="1" dirty="0">
                <a:latin typeface="+mj-ea"/>
                <a:ea typeface="+mj-ea"/>
              </a:rPr>
              <a:t>进行核对，判定是否与函数定义中的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形参表</a:t>
            </a:r>
            <a:r>
              <a:rPr lang="zh-CN" altLang="en-US" sz="2800" b="1" dirty="0">
                <a:latin typeface="+mj-ea"/>
                <a:ea typeface="+mj-ea"/>
              </a:rPr>
              <a:t>对应一致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根据参数的类型（值参数或引用参数）进行值参数的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值传递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引用参数的换名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运行函数体代码</a:t>
            </a:r>
            <a:endParaRPr lang="en-US" altLang="zh-CN" sz="2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返回调用点，并返回所要求的函数值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函数的调用格式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71546"/>
            <a:ext cx="7239000" cy="4846320"/>
          </a:xfrm>
        </p:spPr>
        <p:txBody>
          <a:bodyPr/>
          <a:lstStyle/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无参函数调用格式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&lt;函数名&gt;()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例如：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();</a:t>
            </a:r>
            <a:r>
              <a:rPr lang="en-US" altLang="zh-CN" sz="3200" b="1" dirty="0">
                <a:solidFill>
                  <a:srgbClr val="669900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zh-CN" altLang="en-US" sz="32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有参函数调用格式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&lt;函数名&gt; ( &lt;以逗号分割的实参表&gt; )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例如：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printStar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(26);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286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函数的返回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9648"/>
            <a:ext cx="8153400" cy="520543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函数的返回表示函数执行结束，将执行结果（无论是否有具体的数据）返回到调用函数的地方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函数返回时完成的任务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把运行控制从函数体返回到函数调用点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根据返回值要求，返回所需要的数据值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返回值类型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void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数值型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引用类型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928670"/>
            <a:ext cx="8429684" cy="520543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空型（</a:t>
            </a:r>
            <a:r>
              <a:rPr lang="en-US" altLang="zh-CN" sz="2800" b="1" dirty="0">
                <a:latin typeface="+mj-ea"/>
                <a:ea typeface="+mj-ea"/>
              </a:rPr>
              <a:t>void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如果函数无值返回，应说明为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void 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类型。未作类型说明的函数，系统认为是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int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类型函数，应返回一整型值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值型：返回一个具有类型的值，包括</a:t>
            </a:r>
            <a:r>
              <a:rPr lang="en-US" altLang="zh-CN" sz="2800" b="1" dirty="0" err="1">
                <a:latin typeface="+mj-ea"/>
                <a:ea typeface="+mj-ea"/>
              </a:rPr>
              <a:t>int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float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char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 err="1">
                <a:latin typeface="+mj-ea"/>
                <a:ea typeface="+mj-ea"/>
              </a:rPr>
              <a:t>bool</a:t>
            </a:r>
            <a:r>
              <a:rPr lang="zh-CN" altLang="en-US" sz="2800" b="1" dirty="0">
                <a:latin typeface="+mj-ea"/>
                <a:ea typeface="+mj-ea"/>
              </a:rPr>
              <a:t>等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当函数要返回的值不止一个时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，情况比较复杂，一般它可以以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结构或类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的形式，也可以以结构，数组或对象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指针类型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方式实现（这样的实例在后面的章节可以见到）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引用类型：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详见第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章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返回值类型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4624"/>
            <a:ext cx="8358246" cy="484632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函数的返回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函数返回用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语句表示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语句有如下几种写法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函数返回值类型为空（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）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表达式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与函数返回值的类型一致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（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表达式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）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与前一种写法等价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48482" y="2968588"/>
            <a:ext cx="8643998" cy="2798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第一种格式的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用于立即从被调函数中返回, 当函数类型为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void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时，应使用这种格式的返回语句。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当函数类型为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非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void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型时，应使用第二或第三种格式的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语句，此两种格式的语句效果完全相同（可将第二种格式看成是第三种格式的省略形式），系统此时都将计算出表达式的值，并“携带”该值立即从被调函数中返回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7931224" cy="55446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>
                <a:latin typeface="+mj-ea"/>
                <a:ea typeface="+mj-ea"/>
              </a:rPr>
              <a:t>函数应用举例</a:t>
            </a:r>
            <a:endParaRPr lang="en-US" altLang="zh-CN" sz="30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6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5.4】</a:t>
            </a:r>
            <a:r>
              <a:rPr lang="zh-CN" altLang="en-US" sz="2600" b="1" dirty="0">
                <a:latin typeface="+mj-ea"/>
                <a:ea typeface="+mj-ea"/>
              </a:rPr>
              <a:t>函数定义</a:t>
            </a:r>
            <a:endParaRPr lang="en-US" altLang="zh-CN" sz="2600" b="1" dirty="0">
              <a:latin typeface="+mj-ea"/>
              <a:ea typeface="+mj-ea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f (</a:t>
            </a: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x){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y;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y=(x*x+x+1)/2-5.5;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y;  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对非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类型的函数，必须有一个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    //return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语句，由它返回函数值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zh-CN" altLang="en-US" sz="35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r>
              <a:rPr lang="zh-CN" altLang="en-US" sz="35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endParaRPr lang="en-US" altLang="zh-CN" sz="3500" b="1" dirty="0">
              <a:solidFill>
                <a:srgbClr val="0000FF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52"/>
            <a:ext cx="8153400" cy="506255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/>
              <a:t>函数应用举例</a:t>
            </a:r>
            <a:r>
              <a:rPr lang="en-US" altLang="zh-CN" sz="2800" b="1" dirty="0">
                <a:solidFill>
                  <a:srgbClr val="C00000"/>
                </a:solidFill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5.4】</a:t>
            </a:r>
            <a:r>
              <a:rPr lang="zh-CN" altLang="en-US" sz="2800" b="1" dirty="0"/>
              <a:t>程序</a:t>
            </a:r>
            <a:endParaRPr lang="en-US" altLang="zh-CN" sz="2800" b="1" dirty="0"/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 marL="342900" lvl="2" indent="-342900">
              <a:lnSpc>
                <a:spcPct val="110000"/>
              </a:lnSpc>
              <a:spcBef>
                <a:spcPts val="0"/>
              </a:spcBef>
              <a:buClr>
                <a:schemeClr val="hlink"/>
              </a:buClr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 (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altLang="zh-CN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z,a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z=(f(2.5)+2*f(6))/f(4.3);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调用自定义函数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</a:t>
            </a:r>
            <a:endParaRPr lang="en-US" altLang="zh-CN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&lt;&lt;"z="&lt;&lt;z&lt;&lt;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a=";  	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提示用户输入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&gt;&gt;a;	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&lt;&lt;"f(a)="&lt;&lt;f(a)&lt;&lt;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算出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f(a)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并输出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</a:t>
            </a:r>
            <a:endParaRPr lang="en-US" altLang="zh-CN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 (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x){……}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的定义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60648"/>
            <a:ext cx="8786874" cy="61926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4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函数应用举例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5.4】</a:t>
            </a:r>
            <a:r>
              <a:rPr lang="zh-CN" altLang="en-US" sz="2800" b="1" dirty="0">
                <a:latin typeface="+mj-ea"/>
                <a:ea typeface="+mj-ea"/>
              </a:rPr>
              <a:t>程序（不带函数原型）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#include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iostream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using namespace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std;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f (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x){……}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函数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的定义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main(){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z,a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z=(f(2.5)+2*f(6))/f(4.3);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 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调用自定义函数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&lt;&lt;"z="&lt;&lt;z&lt;&lt;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&lt;&lt;"Input a=";  	  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提示用户输入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&gt;&gt;a;	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&lt;&lt;"f(a)="&lt;&lt;f(a)&lt;&lt;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算出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f(a)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并输出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0;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	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605808"/>
          </a:xfrm>
        </p:spPr>
        <p:txBody>
          <a:bodyPr/>
          <a:lstStyle/>
          <a:p>
            <a:r>
              <a:rPr lang="zh-CN" altLang="en-US" dirty="0"/>
              <a:t>函数的参数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11572"/>
            <a:ext cx="7239000" cy="484632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函数的参数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语言的函数分为无参函数和有参函数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函数的参数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无参数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一个参数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多个参数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函数参数表的写法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一般写法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省略参数名（无名参数）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参数赋初值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496944" cy="597666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形参和实参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函数说明中的参数称为</a:t>
            </a: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形式参数（形参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函数调用中的参数称为</a:t>
            </a: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实际参数（实参）</a:t>
            </a:r>
            <a:endParaRPr lang="en-US" altLang="zh-CN" sz="2800" b="1" dirty="0">
              <a:solidFill>
                <a:srgbClr val="FF33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实参表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在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参数个数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参数顺序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、以及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参数类型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等方面要与被调函数的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形参表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之间有一个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一一对应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相互匹配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关系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编译器将根据参数的顺序，来逐一实现实参与对应形参的“结合”，而后执行一遍函数体（而完成本次的函数调用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525</TotalTime>
  <Words>2090</Words>
  <Application>Microsoft Office PowerPoint</Application>
  <PresentationFormat>全屏显示(4:3)</PresentationFormat>
  <Paragraphs>265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楷体_GB2312</vt:lpstr>
      <vt:lpstr>黑体</vt:lpstr>
      <vt:lpstr>宋体</vt:lpstr>
      <vt:lpstr>华文新魏</vt:lpstr>
      <vt:lpstr>Calibri</vt:lpstr>
      <vt:lpstr>Courier New</vt:lpstr>
      <vt:lpstr>Trebuchet MS</vt:lpstr>
      <vt:lpstr>Wingdings</vt:lpstr>
      <vt:lpstr>Wingdings 2</vt:lpstr>
      <vt:lpstr>华丽</vt:lpstr>
      <vt:lpstr>C/C++程序设计</vt:lpstr>
      <vt:lpstr>函数的使用和说明</vt:lpstr>
      <vt:lpstr>PowerPoint 演示文稿</vt:lpstr>
      <vt:lpstr>PowerPoint 演示文稿</vt:lpstr>
      <vt:lpstr>函数分类</vt:lpstr>
      <vt:lpstr>标准库函数</vt:lpstr>
      <vt:lpstr>用户自定义函数</vt:lpstr>
      <vt:lpstr>无参函数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函数定义</vt:lpstr>
      <vt:lpstr>PowerPoint 演示文稿</vt:lpstr>
      <vt:lpstr>PowerPoint 演示文稿</vt:lpstr>
      <vt:lpstr>函数的调用</vt:lpstr>
      <vt:lpstr>函数的调用过程</vt:lpstr>
      <vt:lpstr>函数调用的执行顺序</vt:lpstr>
      <vt:lpstr>函数的调用格式</vt:lpstr>
      <vt:lpstr>函数的返回</vt:lpstr>
      <vt:lpstr>返回值类型</vt:lpstr>
      <vt:lpstr>PowerPoint 演示文稿</vt:lpstr>
      <vt:lpstr>PowerPoint 演示文稿</vt:lpstr>
      <vt:lpstr>PowerPoint 演示文稿</vt:lpstr>
      <vt:lpstr>PowerPoint 演示文稿</vt:lpstr>
      <vt:lpstr>函数的参数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36</cp:revision>
  <dcterms:created xsi:type="dcterms:W3CDTF">2016-11-10T07:08:25Z</dcterms:created>
  <dcterms:modified xsi:type="dcterms:W3CDTF">2020-11-04T14:15:15Z</dcterms:modified>
</cp:coreProperties>
</file>