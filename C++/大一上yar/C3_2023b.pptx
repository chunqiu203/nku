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9" r:id="rId3"/>
    <p:sldId id="261" r:id="rId4"/>
    <p:sldId id="264" r:id="rId5"/>
    <p:sldId id="266" r:id="rId6"/>
    <p:sldId id="268" r:id="rId7"/>
    <p:sldId id="269" r:id="rId8"/>
    <p:sldId id="270" r:id="rId9"/>
    <p:sldId id="271" r:id="rId10"/>
    <p:sldId id="272" r:id="rId11"/>
    <p:sldId id="273" r:id="rId12"/>
    <p:sldId id="286" r:id="rId13"/>
    <p:sldId id="287" r:id="rId14"/>
    <p:sldId id="288" r:id="rId15"/>
    <p:sldId id="307" r:id="rId16"/>
    <p:sldId id="308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070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55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038DB-E6B8-4AD0-BCC8-D7C4AD9B5D8C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2C783-12EF-4489-9B92-1CABAEF0BB2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sz="3200" dirty="0">
              <a:latin typeface="+mj-ea"/>
              <a:ea typeface="+mj-ea"/>
            </a:endParaRPr>
          </a:p>
          <a:p>
            <a:r>
              <a:rPr lang="zh-CN" altLang="en-US" sz="3200" dirty="0">
                <a:latin typeface="+mj-ea"/>
                <a:ea typeface="+mj-ea"/>
              </a:rPr>
              <a:t>控制语句</a:t>
            </a:r>
            <a:r>
              <a:rPr lang="en-US" altLang="zh-CN" sz="3200" dirty="0">
                <a:latin typeface="+mj-ea"/>
                <a:ea typeface="+mj-ea"/>
              </a:rPr>
              <a:t>-</a:t>
            </a:r>
            <a:r>
              <a:rPr lang="zh-CN" altLang="en-US" sz="3200" b="1" dirty="0">
                <a:solidFill>
                  <a:srgbClr val="00B050"/>
                </a:solidFill>
                <a:latin typeface="+mj-ea"/>
                <a:ea typeface="+mj-ea"/>
              </a:rPr>
              <a:t>初步</a:t>
            </a:r>
            <a:endParaRPr lang="zh-CN" altLang="en-US" b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251520" y="260648"/>
            <a:ext cx="7678066" cy="5442904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表达式语句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任意有效表达式都可以作为表达式语句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在表达式后面加上“</a:t>
            </a: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;</a:t>
            </a:r>
            <a:r>
              <a:rPr lang="zh-CN" altLang="en-US" sz="2400" b="1" dirty="0">
                <a:latin typeface="+mj-ea"/>
                <a:ea typeface="+mj-ea"/>
              </a:rPr>
              <a:t>”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当表达式语句中不包含表达式时，该语句是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空语句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什么也不做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只由分割符“</a:t>
            </a:r>
            <a:r>
              <a:rPr lang="en-US" altLang="zh-CN" sz="2400" b="1" dirty="0">
                <a:latin typeface="+mj-ea"/>
                <a:ea typeface="+mj-ea"/>
              </a:rPr>
              <a:t>;</a:t>
            </a:r>
            <a:r>
              <a:rPr lang="zh-CN" altLang="en-US" sz="2400" b="1" dirty="0">
                <a:latin typeface="+mj-ea"/>
                <a:ea typeface="+mj-ea"/>
              </a:rPr>
              <a:t>”构成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常见的表达式语句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赋值表达式语句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函数调用语句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B22586C-6E6E-4D9F-9197-C303E57096CB}" type="slidenum">
              <a:rPr lang="en-US" altLang="zh-CN"/>
              <a:pPr>
                <a:defRPr/>
              </a:pPr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429344" y="44624"/>
            <a:ext cx="7239000" cy="484632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800" b="1" dirty="0">
                <a:latin typeface="+mj-ea"/>
                <a:ea typeface="+mj-ea"/>
              </a:rPr>
              <a:t>复合语句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也称为块语句、语句块（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block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若干语句的组合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由分割符“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{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”和“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}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”界定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构成复合语句的语句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说明语句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表达式语句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控制语句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复合语句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空语句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sz="2800" b="1" dirty="0">
                <a:latin typeface="+mj-ea"/>
                <a:ea typeface="+mj-ea"/>
              </a:rPr>
              <a:t>主要出现位置</a:t>
            </a:r>
            <a:endParaRPr lang="en-US" altLang="zh-CN" sz="2800" b="1" dirty="0">
              <a:latin typeface="+mj-ea"/>
              <a:ea typeface="+mj-ea"/>
            </a:endParaRP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函数体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循环体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分支语句的分支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……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F3C20F-BC2D-48FF-BE79-6F591C2B611F}" type="slidenum">
              <a:rPr lang="en-US" altLang="zh-CN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323528" y="188640"/>
            <a:ext cx="8136904" cy="6264696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条件语句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由关键字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if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else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组成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if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(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)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{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}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if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(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)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{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S1&gt;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}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else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{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S2&gt;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}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</a:t>
            </a: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其值能够等价为逻辑值的任何表达式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S1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S2</a:t>
            </a: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任何类型的语句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CDB3390-BCFC-4945-B5CA-6304C8D1F7AC}" type="slidenum">
              <a:rPr lang="en-US" altLang="zh-CN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457200" y="785794"/>
            <a:ext cx="7239000" cy="4846320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条件语句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4.2】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如果输入字符为字母，则输出“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YES”</a:t>
            </a:r>
            <a:endParaRPr lang="zh-CN" altLang="en-US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DBA9BF9-7FC0-4E3F-A684-67E4CE7691CC}" type="slidenum">
              <a:rPr lang="en-US" altLang="zh-CN"/>
              <a:pPr>
                <a:defRPr/>
              </a:pPr>
              <a:t>5</a:t>
            </a:fld>
            <a:endParaRPr lang="en-US" altLang="zh-CN" dirty="0"/>
          </a:p>
        </p:txBody>
      </p:sp>
      <p:pic>
        <p:nvPicPr>
          <p:cNvPr id="276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785926"/>
            <a:ext cx="7500937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457200" y="714356"/>
            <a:ext cx="8153400" cy="1347788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条件语句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4.3】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输出数值型变量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与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中的较大者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EDEC4B-B876-41A7-9B51-4B0B5C60E722}" type="slidenum">
              <a:rPr lang="en-US" altLang="zh-CN"/>
              <a:pPr>
                <a:defRPr/>
              </a:pPr>
              <a:t>6</a:t>
            </a:fld>
            <a:endParaRPr lang="en-US" altLang="zh-CN" dirty="0"/>
          </a:p>
        </p:txBody>
      </p:sp>
      <p:pic>
        <p:nvPicPr>
          <p:cNvPr id="297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1819292"/>
            <a:ext cx="471487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457200" y="866793"/>
            <a:ext cx="8153400" cy="5205413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条件语句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4.4】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输入一个年份，判断是否为闰年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输入年份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可以限定范围，如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0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至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9999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年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判断是否为闰年的条件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条件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1</a:t>
            </a:r>
          </a:p>
          <a:p>
            <a:pPr lvl="4" eaLnBrk="1" hangingPunct="1">
              <a:lnSpc>
                <a:spcPct val="120000"/>
              </a:lnSpc>
            </a:pPr>
            <a:r>
              <a:rPr lang="zh-CN" altLang="en-US" sz="2000" b="1" dirty="0">
                <a:latin typeface="+mj-ea"/>
                <a:ea typeface="+mj-ea"/>
              </a:rPr>
              <a:t>能够被</a:t>
            </a:r>
            <a:r>
              <a:rPr lang="en-US" altLang="zh-CN" sz="2000" b="1" dirty="0">
                <a:latin typeface="+mj-ea"/>
                <a:ea typeface="+mj-ea"/>
              </a:rPr>
              <a:t>4</a:t>
            </a:r>
            <a:r>
              <a:rPr lang="zh-CN" altLang="en-US" sz="2000" b="1" dirty="0">
                <a:latin typeface="+mj-ea"/>
                <a:ea typeface="+mj-ea"/>
              </a:rPr>
              <a:t>整除</a:t>
            </a:r>
            <a:endParaRPr lang="en-US" altLang="zh-CN" sz="2000" b="1" dirty="0">
              <a:latin typeface="+mj-ea"/>
              <a:ea typeface="+mj-ea"/>
            </a:endParaRPr>
          </a:p>
          <a:p>
            <a:pPr lvl="4" eaLnBrk="1" hangingPunct="1">
              <a:lnSpc>
                <a:spcPct val="120000"/>
              </a:lnSpc>
            </a:pPr>
            <a:r>
              <a:rPr lang="zh-CN" altLang="en-US" sz="2000" b="1" dirty="0">
                <a:latin typeface="+mj-ea"/>
                <a:ea typeface="+mj-ea"/>
              </a:rPr>
              <a:t>不能够被</a:t>
            </a:r>
            <a:r>
              <a:rPr lang="en-US" altLang="zh-CN" sz="2000" b="1" dirty="0">
                <a:latin typeface="+mj-ea"/>
                <a:ea typeface="+mj-ea"/>
              </a:rPr>
              <a:t>100</a:t>
            </a:r>
            <a:r>
              <a:rPr lang="zh-CN" altLang="en-US" sz="2000" b="1" dirty="0">
                <a:latin typeface="+mj-ea"/>
                <a:ea typeface="+mj-ea"/>
              </a:rPr>
              <a:t>整除</a:t>
            </a:r>
            <a:endParaRPr lang="en-US" altLang="zh-CN" sz="20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条件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2</a:t>
            </a:r>
          </a:p>
          <a:p>
            <a:pPr lvl="4" eaLnBrk="1" hangingPunct="1">
              <a:lnSpc>
                <a:spcPct val="120000"/>
              </a:lnSpc>
            </a:pPr>
            <a:r>
              <a:rPr lang="zh-CN" altLang="en-US" sz="2000" b="1" dirty="0">
                <a:latin typeface="+mj-ea"/>
                <a:ea typeface="+mj-ea"/>
              </a:rPr>
              <a:t>能够被</a:t>
            </a:r>
            <a:r>
              <a:rPr lang="en-US" altLang="zh-CN" sz="2000" b="1" dirty="0">
                <a:latin typeface="+mj-ea"/>
                <a:ea typeface="+mj-ea"/>
              </a:rPr>
              <a:t>400</a:t>
            </a:r>
            <a:r>
              <a:rPr lang="zh-CN" altLang="en-US" sz="2000" b="1" dirty="0">
                <a:latin typeface="+mj-ea"/>
                <a:ea typeface="+mj-ea"/>
              </a:rPr>
              <a:t>整除</a:t>
            </a:r>
            <a:endParaRPr lang="en-US" altLang="zh-CN" sz="20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上述两个条件满足其一即可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4E77B9D-4626-43B9-BA2B-E73583CC65D0}" type="slidenum">
              <a:rPr lang="en-US" altLang="zh-CN"/>
              <a:pPr>
                <a:defRPr/>
              </a:pPr>
              <a:t>7</a:t>
            </a:fld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59920A-D98E-437D-9B89-1E7CCCA8B180}" type="slidenum">
              <a:rPr lang="en-US" altLang="zh-CN"/>
              <a:pPr>
                <a:defRPr/>
              </a:pPr>
              <a:t>8</a:t>
            </a:fld>
            <a:endParaRPr lang="en-US" altLang="zh-CN" dirty="0"/>
          </a:p>
        </p:txBody>
      </p:sp>
      <p:pic>
        <p:nvPicPr>
          <p:cNvPr id="3174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23" y="714356"/>
            <a:ext cx="7286625" cy="500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457200" y="857232"/>
            <a:ext cx="8219256" cy="484632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</a:rPr>
              <a:t>条件语句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4.5】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若</a:t>
            </a:r>
            <a:r>
              <a:rPr lang="en-US" altLang="zh-CN" b="1" dirty="0" err="1">
                <a:solidFill>
                  <a:srgbClr val="C00000"/>
                </a:solidFill>
                <a:latin typeface="+mj-ea"/>
                <a:ea typeface="+mj-ea"/>
              </a:rPr>
              <a:t>int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型变量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的值小于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y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的值时，则将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与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y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的值互换；否则，将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与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y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的值各加上100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B1E5E8-70B7-4215-9B05-217AD4A48967}" type="slidenum">
              <a:rPr lang="en-US" altLang="zh-CN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3277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2357430"/>
            <a:ext cx="7585075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57200" y="857232"/>
            <a:ext cx="8219256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latin typeface="+mj-ea"/>
                <a:ea typeface="+mj-ea"/>
              </a:rPr>
              <a:t>条件语句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5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4.6】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从键盘上输入三个整数，输出其中最大的数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5000"/>
              </a:lnSpc>
            </a:pPr>
            <a:r>
              <a:rPr lang="zh-CN" altLang="en-US" sz="2400" b="1" dirty="0">
                <a:latin typeface="+mj-ea"/>
                <a:ea typeface="+mj-ea"/>
              </a:rPr>
              <a:t>输入三个数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5000"/>
              </a:lnSpc>
            </a:pPr>
            <a:r>
              <a:rPr lang="zh-CN" altLang="en-US" sz="2400" b="1" dirty="0">
                <a:latin typeface="+mj-ea"/>
                <a:ea typeface="+mj-ea"/>
              </a:rPr>
              <a:t>比较前两个数，得到最大数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5000"/>
              </a:lnSpc>
            </a:pPr>
            <a:r>
              <a:rPr lang="zh-CN" altLang="en-US" sz="2400" b="1" dirty="0">
                <a:latin typeface="+mj-ea"/>
                <a:ea typeface="+mj-ea"/>
              </a:rPr>
              <a:t>用第三个数与最大数比较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5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第三个数大，则输出该数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5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“最大数”大，则输出“最大数”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B1D727-F983-4B22-9619-29702A344306}" type="slidenum">
              <a:rPr lang="en-US" altLang="zh-CN"/>
              <a:pPr>
                <a:defRPr/>
              </a:pPr>
              <a:t>10</a:t>
            </a:fld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6F119A-7A40-40F1-A7D7-8C57EE198091}" type="slidenum">
              <a:rPr lang="en-US" altLang="zh-CN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3482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928670"/>
            <a:ext cx="8863012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内容占位符 2"/>
          <p:cNvSpPr>
            <a:spLocks noGrp="1"/>
          </p:cNvSpPr>
          <p:nvPr>
            <p:ph idx="1"/>
          </p:nvPr>
        </p:nvSpPr>
        <p:spPr>
          <a:xfrm>
            <a:off x="285720" y="797258"/>
            <a:ext cx="8643998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条件语句的嵌套</a:t>
            </a:r>
            <a:endParaRPr lang="en-US" altLang="zh-CN" sz="3200" b="1" dirty="0">
              <a:latin typeface="+mj-ea"/>
              <a:ea typeface="+mj-ea"/>
            </a:endParaRPr>
          </a:p>
          <a:p>
            <a:pPr lvl="1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4.10】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求一元二次方程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ax</a:t>
            </a:r>
            <a:r>
              <a:rPr lang="en-US" altLang="zh-CN" sz="2800" b="1" baseline="300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+bx+c=0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的根。其中系数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a(a≠0)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b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的值由键盘输入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输入系数</a:t>
            </a:r>
            <a:r>
              <a:rPr lang="en-US" altLang="zh-CN" sz="2800" b="1" dirty="0">
                <a:latin typeface="+mj-ea"/>
                <a:ea typeface="+mj-ea"/>
              </a:rPr>
              <a:t>a(a≠0)</a:t>
            </a:r>
            <a:r>
              <a:rPr lang="zh-CN" altLang="en-US" sz="2800" b="1" dirty="0">
                <a:latin typeface="+mj-ea"/>
                <a:ea typeface="+mj-ea"/>
              </a:rPr>
              <a:t>、</a:t>
            </a:r>
            <a:r>
              <a:rPr lang="en-US" altLang="zh-CN" sz="2800" b="1" dirty="0">
                <a:latin typeface="+mj-ea"/>
                <a:ea typeface="+mj-ea"/>
              </a:rPr>
              <a:t>b</a:t>
            </a:r>
            <a:r>
              <a:rPr lang="zh-CN" altLang="en-US" sz="2800" b="1" dirty="0">
                <a:latin typeface="+mj-ea"/>
                <a:ea typeface="+mj-ea"/>
              </a:rPr>
              <a:t>、</a:t>
            </a:r>
            <a:r>
              <a:rPr lang="en-US" altLang="zh-CN" sz="2800" b="1" dirty="0">
                <a:latin typeface="+mj-ea"/>
                <a:ea typeface="+mj-ea"/>
              </a:rPr>
              <a:t>c</a:t>
            </a:r>
            <a:r>
              <a:rPr lang="zh-CN" altLang="en-US" sz="2800" b="1" dirty="0">
                <a:latin typeface="+mj-ea"/>
                <a:ea typeface="+mj-ea"/>
              </a:rPr>
              <a:t>后，令</a:t>
            </a:r>
            <a:r>
              <a:rPr lang="en-US" altLang="zh-CN" sz="2800" b="1" dirty="0">
                <a:latin typeface="+mj-ea"/>
                <a:ea typeface="+mj-ea"/>
              </a:rPr>
              <a:t>delta= b</a:t>
            </a:r>
            <a:r>
              <a:rPr lang="en-US" altLang="zh-CN" sz="2800" b="1" baseline="30000" dirty="0">
                <a:latin typeface="+mj-ea"/>
                <a:ea typeface="+mj-ea"/>
              </a:rPr>
              <a:t>2</a:t>
            </a:r>
            <a:r>
              <a:rPr lang="en-US" altLang="zh-CN" sz="2800" b="1" dirty="0">
                <a:latin typeface="+mj-ea"/>
                <a:ea typeface="+mj-ea"/>
              </a:rPr>
              <a:t>–4ac,</a:t>
            </a:r>
            <a:r>
              <a:rPr lang="zh-CN" altLang="en-US" sz="2800" b="1" dirty="0">
                <a:latin typeface="+mj-ea"/>
                <a:ea typeface="+mj-ea"/>
              </a:rPr>
              <a:t>结果有三种情况</a:t>
            </a:r>
            <a:endParaRPr lang="en-US" altLang="zh-CN" sz="2800" b="1" dirty="0">
              <a:latin typeface="+mj-ea"/>
              <a:ea typeface="+mj-ea"/>
            </a:endParaRPr>
          </a:p>
          <a:p>
            <a:pPr lvl="3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若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delta=0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，方程有两个相同实根；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若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delta&gt;0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，方程有两个不同实根；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若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delta&lt;0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，方程无实根。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CFE004-49AE-4BB1-B0C8-86D3D314A992}" type="slidenum">
              <a:rPr lang="en-US" altLang="zh-CN"/>
              <a:pPr>
                <a:defRPr/>
              </a:pPr>
              <a:t>12</a:t>
            </a:fld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3AD953-0E6B-4ACD-BDB7-C454B7AFF2D3}" type="slidenum">
              <a:rPr lang="en-US" altLang="zh-CN"/>
              <a:pPr>
                <a:defRPr/>
              </a:pPr>
              <a:t>13</a:t>
            </a:fld>
            <a:endParaRPr lang="en-US" altLang="zh-CN" dirty="0"/>
          </a:p>
        </p:txBody>
      </p:sp>
      <p:pic>
        <p:nvPicPr>
          <p:cNvPr id="491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692696"/>
            <a:ext cx="8640960" cy="451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F17280-72D5-4FFF-B946-6A34A8C5B275}" type="slidenum">
              <a:rPr lang="en-US" altLang="zh-CN"/>
              <a:pPr>
                <a:defRPr/>
              </a:pPr>
              <a:t>14</a:t>
            </a:fld>
            <a:endParaRPr lang="en-US" altLang="zh-CN" dirty="0"/>
          </a:p>
        </p:txBody>
      </p:sp>
      <p:pic>
        <p:nvPicPr>
          <p:cNvPr id="5018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687" y="404664"/>
            <a:ext cx="7719737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7239000" cy="748684"/>
          </a:xfrm>
        </p:spPr>
        <p:txBody>
          <a:bodyPr/>
          <a:lstStyle/>
          <a:p>
            <a:r>
              <a:rPr lang="zh-CN" altLang="en-US" dirty="0"/>
              <a:t>作业一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输入一个字符，判断是字母、数字还是其它字符并分别给出提示信息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pic>
        <p:nvPicPr>
          <p:cNvPr id="6" name="图片 5" descr="作业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1720" y="2996952"/>
            <a:ext cx="5114925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设圆的半径</a:t>
            </a:r>
            <a:r>
              <a:rPr lang="en-US" altLang="zh-CN" b="1" dirty="0">
                <a:latin typeface="+mj-ea"/>
                <a:ea typeface="+mj-ea"/>
              </a:rPr>
              <a:t>r=1.5</a:t>
            </a:r>
            <a:r>
              <a:rPr lang="zh-CN" altLang="en-US" b="1" dirty="0">
                <a:latin typeface="+mj-ea"/>
                <a:ea typeface="+mj-ea"/>
              </a:rPr>
              <a:t>，设计程序，求圆的周长、面积、圆球表面积、圆球体积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pic>
        <p:nvPicPr>
          <p:cNvPr id="6" name="图片 5" descr="作业二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3068960"/>
            <a:ext cx="8604448" cy="132477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182</TotalTime>
  <Words>493</Words>
  <Application>Microsoft Office PowerPoint</Application>
  <PresentationFormat>全屏显示(4:3)</PresentationFormat>
  <Paragraphs>84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黑体</vt:lpstr>
      <vt:lpstr>宋体</vt:lpstr>
      <vt:lpstr>华文新魏</vt:lpstr>
      <vt:lpstr>Calibri</vt:lpstr>
      <vt:lpstr>Courier New</vt:lpstr>
      <vt:lpstr>Trebuchet MS</vt:lpstr>
      <vt:lpstr>Wingdings</vt:lpstr>
      <vt:lpstr>Wingdings 2</vt:lpstr>
      <vt:lpstr>华丽</vt:lpstr>
      <vt:lpstr>C/C++程序设计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作业一</vt:lpstr>
      <vt:lpstr>作业二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86186</cp:lastModifiedBy>
  <cp:revision>23</cp:revision>
  <dcterms:created xsi:type="dcterms:W3CDTF">2016-10-20T06:46:04Z</dcterms:created>
  <dcterms:modified xsi:type="dcterms:W3CDTF">2020-10-21T07:24:17Z</dcterms:modified>
</cp:coreProperties>
</file>