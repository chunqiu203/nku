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7B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55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B13E54-85E4-4CA0-B809-FF58C516B9A1}" type="datetimeFigureOut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C552E-0C69-4BAF-9D14-B24E7ADCF38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C/C++</a:t>
            </a:r>
            <a:r>
              <a:rPr lang="zh-CN" altLang="en-US" dirty="0"/>
              <a:t>程序设计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sz="2800" b="1" dirty="0">
                <a:latin typeface="+mj-ea"/>
                <a:ea typeface="+mj-ea"/>
              </a:rPr>
              <a:t>数组简介</a:t>
            </a:r>
            <a:endParaRPr lang="zh-CN" altLang="en-US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标题 1"/>
          <p:cNvSpPr>
            <a:spLocks noGrp="1"/>
          </p:cNvSpPr>
          <p:nvPr>
            <p:ph type="title"/>
          </p:nvPr>
        </p:nvSpPr>
        <p:spPr>
          <a:xfrm>
            <a:off x="357158" y="7141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导出数据类型</a:t>
            </a:r>
          </a:p>
        </p:txBody>
      </p:sp>
      <p:sp>
        <p:nvSpPr>
          <p:cNvPr id="141315" name="内容占位符 2"/>
          <p:cNvSpPr>
            <a:spLocks noGrp="1"/>
          </p:cNvSpPr>
          <p:nvPr>
            <p:ph idx="1"/>
          </p:nvPr>
        </p:nvSpPr>
        <p:spPr>
          <a:xfrm>
            <a:off x="285720" y="857232"/>
            <a:ext cx="8534752" cy="545208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3200" b="1" dirty="0">
                <a:latin typeface="+mj-ea"/>
                <a:ea typeface="+mj-ea"/>
              </a:rPr>
              <a:t>导出数据类型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导出数据类型是在其它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已定义类型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的基础上定义的，而且其运算也是确定的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导出数据类型的分类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数组类型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指针类型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引用类型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结构类型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（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C-Style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）</a:t>
            </a:r>
            <a:endParaRPr lang="en-US" altLang="zh-CN" sz="2800" b="1" dirty="0">
              <a:solidFill>
                <a:srgbClr val="00B05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联合类型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（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C-Style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）</a:t>
            </a:r>
            <a:endParaRPr lang="en-US" altLang="zh-CN" b="1" dirty="0">
              <a:solidFill>
                <a:srgbClr val="00B050"/>
              </a:solidFill>
              <a:latin typeface="+mj-ea"/>
              <a:ea typeface="+mj-ea"/>
            </a:endParaRPr>
          </a:p>
          <a:p>
            <a:pPr lvl="2" eaLnBrk="1" hangingPunct="1"/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69D6823-A4AC-497C-B2FE-B952846F94C0}" type="slidenum">
              <a:rPr lang="en-US" altLang="zh-CN"/>
              <a:pPr>
                <a:defRPr/>
              </a:pPr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标题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7239000" cy="46293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</a:p>
        </p:txBody>
      </p:sp>
      <p:sp>
        <p:nvSpPr>
          <p:cNvPr id="142339" name="内容占位符 2"/>
          <p:cNvSpPr>
            <a:spLocks noGrp="1"/>
          </p:cNvSpPr>
          <p:nvPr>
            <p:ph idx="1"/>
          </p:nvPr>
        </p:nvSpPr>
        <p:spPr>
          <a:xfrm>
            <a:off x="428596" y="1000108"/>
            <a:ext cx="8501122" cy="528641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数组</a:t>
            </a:r>
            <a:r>
              <a:rPr lang="en-US" altLang="zh-CN" sz="3200" b="1" dirty="0">
                <a:latin typeface="+mj-ea"/>
                <a:ea typeface="+mj-ea"/>
              </a:rPr>
              <a:t>(Array)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数组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是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同类型元素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（分量）的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有序组合体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。</a:t>
            </a:r>
            <a:b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</a:b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元素的类型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: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C++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语言中允许使用的任何一种数据类型（包括任何用户自定义类型）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数组中的每个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元素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都有与其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对应的下标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(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标明在数组中的位置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)</a:t>
            </a:r>
            <a:b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</a:b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对数组元素的访问通常借助于下标来进行，元素也被称为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下标变量</a:t>
            </a:r>
            <a:b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</a:b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每个数组元素（即下标变量）都可以当作单个变量来使用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5C2060-1501-4064-B6C8-1600D932E8DD}" type="slidenum">
              <a:rPr lang="en-US" altLang="zh-CN"/>
              <a:pPr>
                <a:defRPr/>
              </a:pPr>
              <a:t>3</a:t>
            </a:fld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标题 1"/>
          <p:cNvSpPr>
            <a:spLocks noGrp="1"/>
          </p:cNvSpPr>
          <p:nvPr>
            <p:ph type="title"/>
          </p:nvPr>
        </p:nvSpPr>
        <p:spPr>
          <a:xfrm>
            <a:off x="214282" y="-24"/>
            <a:ext cx="7239000" cy="57150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</a:p>
        </p:txBody>
      </p:sp>
      <p:sp>
        <p:nvSpPr>
          <p:cNvPr id="143363" name="内容占位符 2"/>
          <p:cNvSpPr>
            <a:spLocks noGrp="1"/>
          </p:cNvSpPr>
          <p:nvPr>
            <p:ph idx="1"/>
          </p:nvPr>
        </p:nvSpPr>
        <p:spPr>
          <a:xfrm>
            <a:off x="71406" y="571480"/>
            <a:ext cx="8882074" cy="484632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具有一个下标的数组叫做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一维数组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，它是由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n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个同一类型数据组成的一维序列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说明一维数组的格式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&lt;类型名&gt; &lt;数组名&gt; [ &lt;元素数&gt; ] = { &lt;初值表&gt; }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类型名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&gt;: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数组元素的类型，也称为数组类型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数组名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是一个标识符，数组的名字，代表数组首元素的地址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元素数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指定数组的大小，它必须是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一个整数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或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一个整型的常量表达式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初值表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是可选的，为数组元素置初值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,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由逗号分割的常量值所构成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18040F-6D1F-4F00-9049-D3087BE714CF}" type="slidenum">
              <a:rPr lang="en-US" altLang="zh-CN"/>
              <a:pPr>
                <a:defRPr/>
              </a:pPr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标题 1"/>
          <p:cNvSpPr>
            <a:spLocks noGrp="1"/>
          </p:cNvSpPr>
          <p:nvPr>
            <p:ph type="title"/>
          </p:nvPr>
        </p:nvSpPr>
        <p:spPr>
          <a:xfrm>
            <a:off x="214282" y="71414"/>
            <a:ext cx="7239000" cy="5343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</a:p>
        </p:txBody>
      </p:sp>
      <p:sp>
        <p:nvSpPr>
          <p:cNvPr id="144387" name="内容占位符 2"/>
          <p:cNvSpPr>
            <a:spLocks noGrp="1"/>
          </p:cNvSpPr>
          <p:nvPr>
            <p:ph idx="1"/>
          </p:nvPr>
        </p:nvSpPr>
        <p:spPr>
          <a:xfrm>
            <a:off x="214282" y="642918"/>
            <a:ext cx="8643998" cy="484632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举例：声明数组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algn="ctr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a[10];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在内存中开辟</a:t>
            </a:r>
            <a:r>
              <a:rPr lang="en-US" altLang="zh-CN" sz="2400" b="1" dirty="0">
                <a:latin typeface="+mj-ea"/>
                <a:ea typeface="+mj-ea"/>
              </a:rPr>
              <a:t>10</a:t>
            </a:r>
            <a:r>
              <a:rPr lang="zh-CN" altLang="en-US" sz="2400" b="1" dirty="0">
                <a:latin typeface="+mj-ea"/>
                <a:ea typeface="+mj-ea"/>
              </a:rPr>
              <a:t>个整型数据的空间（</a:t>
            </a:r>
            <a:r>
              <a:rPr lang="en-US" altLang="zh-CN" sz="2400" b="1" dirty="0">
                <a:latin typeface="+mj-ea"/>
                <a:ea typeface="+mj-ea"/>
              </a:rPr>
              <a:t>4</a:t>
            </a:r>
            <a:r>
              <a:rPr lang="zh-CN" altLang="en-US" sz="2400" b="1" dirty="0">
                <a:latin typeface="+mj-ea"/>
                <a:ea typeface="+mj-ea"/>
              </a:rPr>
              <a:t>字节</a:t>
            </a:r>
            <a:r>
              <a:rPr lang="en-US" altLang="zh-CN" sz="2400" b="1" dirty="0">
                <a:latin typeface="+mj-ea"/>
                <a:ea typeface="+mj-ea"/>
              </a:rPr>
              <a:t>×10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通过下标访问数组中的每一个元素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数组名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&gt;[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下标表达式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]</a:t>
            </a: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下标的范围：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0~9</a:t>
            </a: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下标可以是值为整数的表达式，如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a[3+5]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、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a[</a:t>
            </a:r>
            <a:r>
              <a:rPr lang="en-US" altLang="zh-CN" sz="2400" b="1" dirty="0" err="1">
                <a:solidFill>
                  <a:srgbClr val="7030A0"/>
                </a:solidFill>
                <a:latin typeface="+mj-ea"/>
                <a:ea typeface="+mj-ea"/>
              </a:rPr>
              <a:t>i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*2]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等等，但表达式的值不能超出范围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超出范围为</a:t>
            </a:r>
            <a:r>
              <a:rPr lang="zh-CN" altLang="en-US" sz="2400" b="1" dirty="0">
                <a:latin typeface="+mj-ea"/>
                <a:ea typeface="+mj-ea"/>
              </a:rPr>
              <a:t>“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</a:rPr>
              <a:t>数组下标溢出</a:t>
            </a:r>
            <a:r>
              <a:rPr lang="zh-CN" altLang="en-US" sz="2400" b="1" dirty="0">
                <a:latin typeface="+mj-ea"/>
                <a:ea typeface="+mj-ea"/>
              </a:rPr>
              <a:t>”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错误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数组中的每一个元素都等同于一个与数组类型相同的变量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8C1785-1FA9-4624-8DB2-D910197F8611}" type="slidenum">
              <a:rPr lang="en-US" altLang="zh-CN"/>
              <a:pPr>
                <a:defRPr/>
              </a:pPr>
              <a:t>5</a:t>
            </a:fld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内容占位符 2"/>
          <p:cNvSpPr>
            <a:spLocks noGrp="1"/>
          </p:cNvSpPr>
          <p:nvPr>
            <p:ph idx="1"/>
          </p:nvPr>
        </p:nvSpPr>
        <p:spPr>
          <a:xfrm>
            <a:off x="0" y="714356"/>
            <a:ext cx="5214942" cy="5133975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存储方式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数组的首地址为第一个元素的地址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数组的首地址为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0x0012ff58</a:t>
            </a: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根据数组的类型为数组分配相应规模的空间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整型分配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L×N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个字节，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L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为数据字长，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N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为数组的大小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98522F-E441-44EA-A50F-6927B436F2AF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  <p:pic>
        <p:nvPicPr>
          <p:cNvPr id="14541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00729" y="1000108"/>
            <a:ext cx="3114675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内容占位符 2"/>
          <p:cNvSpPr>
            <a:spLocks noGrp="1"/>
          </p:cNvSpPr>
          <p:nvPr>
            <p:ph idx="1"/>
          </p:nvPr>
        </p:nvSpPr>
        <p:spPr>
          <a:xfrm>
            <a:off x="428596" y="-24"/>
            <a:ext cx="8153400" cy="3848112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b="1" dirty="0">
                <a:latin typeface="+mj-ea"/>
                <a:ea typeface="+mj-ea"/>
              </a:rPr>
              <a:t>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一维数组的初始化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latin typeface="+mj-ea"/>
                <a:ea typeface="+mj-ea"/>
              </a:rPr>
              <a:t>在说明数组时，对其进行初始化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带有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数组元素数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的情况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4" eaLnBrk="1" hangingPunct="1">
              <a:lnSpc>
                <a:spcPct val="120000"/>
              </a:lnSpc>
              <a:defRPr/>
            </a:pPr>
            <a:r>
              <a:rPr lang="zh-CN" altLang="en-US" sz="2000" b="1" dirty="0">
                <a:latin typeface="+mj-ea"/>
                <a:ea typeface="+mj-ea"/>
              </a:rPr>
              <a:t>全部赋初值</a:t>
            </a:r>
            <a:endParaRPr lang="en-US" altLang="zh-CN" sz="2000" b="1" dirty="0">
              <a:latin typeface="+mj-ea"/>
              <a:ea typeface="+mj-ea"/>
            </a:endParaRPr>
          </a:p>
          <a:p>
            <a:pPr lvl="4" eaLnBrk="1" hangingPunct="1">
              <a:lnSpc>
                <a:spcPct val="120000"/>
              </a:lnSpc>
              <a:defRPr/>
            </a:pPr>
            <a:r>
              <a:rPr lang="zh-CN" altLang="en-US" sz="2000" b="1" dirty="0">
                <a:latin typeface="+mj-ea"/>
                <a:ea typeface="+mj-ea"/>
              </a:rPr>
              <a:t>部分赋初值，未赋值的数组元素也会被自动初始化</a:t>
            </a:r>
            <a:endParaRPr lang="en-US" altLang="zh-CN" sz="2000" b="1" dirty="0">
              <a:latin typeface="+mj-ea"/>
              <a:ea typeface="+mj-ea"/>
            </a:endParaRPr>
          </a:p>
          <a:p>
            <a:pPr lvl="5"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srgbClr val="00B050"/>
                </a:solidFill>
                <a:latin typeface="+mj-ea"/>
                <a:ea typeface="+mj-ea"/>
              </a:rPr>
              <a:t>数值型赋值为</a:t>
            </a:r>
            <a:r>
              <a:rPr lang="en-US" altLang="zh-CN" sz="2000" b="1" dirty="0">
                <a:solidFill>
                  <a:srgbClr val="00B050"/>
                </a:solidFill>
                <a:latin typeface="+mj-ea"/>
                <a:ea typeface="+mj-ea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j-ea"/>
                <a:ea typeface="+mj-ea"/>
              </a:rPr>
              <a:t>或</a:t>
            </a:r>
            <a:r>
              <a:rPr lang="en-US" altLang="zh-CN" sz="2000" b="1" dirty="0">
                <a:solidFill>
                  <a:srgbClr val="00B050"/>
                </a:solidFill>
                <a:latin typeface="+mj-ea"/>
                <a:ea typeface="+mj-ea"/>
              </a:rPr>
              <a:t>0.0</a:t>
            </a:r>
          </a:p>
          <a:p>
            <a:pPr lvl="5"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srgbClr val="00B050"/>
                </a:solidFill>
                <a:latin typeface="+mj-ea"/>
                <a:ea typeface="+mj-ea"/>
              </a:rPr>
              <a:t>字符型赋值为空字符‘</a:t>
            </a:r>
            <a:r>
              <a:rPr lang="en-US" altLang="zh-CN" sz="2000" b="1" dirty="0">
                <a:solidFill>
                  <a:srgbClr val="00B050"/>
                </a:solidFill>
                <a:latin typeface="+mj-ea"/>
                <a:ea typeface="+mj-ea"/>
              </a:rPr>
              <a:t>\0</a:t>
            </a:r>
            <a:r>
              <a:rPr lang="zh-CN" altLang="en-US" sz="2000" b="1" dirty="0">
                <a:solidFill>
                  <a:srgbClr val="00B050"/>
                </a:solidFill>
                <a:latin typeface="+mj-ea"/>
                <a:ea typeface="+mj-ea"/>
              </a:rPr>
              <a:t>’，</a:t>
            </a:r>
            <a:r>
              <a:rPr lang="en-US" altLang="zh-CN" sz="2000" b="1" dirty="0">
                <a:solidFill>
                  <a:srgbClr val="00B050"/>
                </a:solidFill>
                <a:latin typeface="+mj-ea"/>
                <a:ea typeface="+mj-ea"/>
              </a:rPr>
              <a:t>ASCII</a:t>
            </a:r>
            <a:r>
              <a:rPr lang="zh-CN" altLang="en-US" sz="2000" b="1" dirty="0">
                <a:solidFill>
                  <a:srgbClr val="00B050"/>
                </a:solidFill>
                <a:latin typeface="+mj-ea"/>
                <a:ea typeface="+mj-ea"/>
              </a:rPr>
              <a:t>码为</a:t>
            </a:r>
            <a:r>
              <a:rPr lang="en-US" altLang="zh-CN" sz="2000" b="1" dirty="0">
                <a:solidFill>
                  <a:srgbClr val="00B050"/>
                </a:solidFill>
                <a:latin typeface="+mj-ea"/>
                <a:ea typeface="+mj-ea"/>
              </a:rPr>
              <a:t>0</a:t>
            </a:r>
          </a:p>
          <a:p>
            <a:pPr lvl="3"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不带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数组元素数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的情况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92592C-D660-49C6-9C0C-067C0B171FB8}" type="slidenum">
              <a:rPr lang="en-US" altLang="zh-CN"/>
              <a:pPr>
                <a:defRPr/>
              </a:pPr>
              <a:t>7</a:t>
            </a:fld>
            <a:endParaRPr lang="en-US" altLang="zh-CN" dirty="0"/>
          </a:p>
        </p:txBody>
      </p:sp>
      <p:sp>
        <p:nvSpPr>
          <p:cNvPr id="146438" name="TextBox 5"/>
          <p:cNvSpPr txBox="1">
            <a:spLocks noChangeArrowheads="1"/>
          </p:cNvSpPr>
          <p:nvPr/>
        </p:nvSpPr>
        <p:spPr bwMode="auto">
          <a:xfrm>
            <a:off x="214344" y="4572008"/>
            <a:ext cx="885825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B[3]= {4,3,2};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//B[0]=4,B[1]=3,B[2]=2</a:t>
            </a:r>
          </a:p>
          <a:p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B[10] = {4,3,2};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//B[3]=0,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为自动赋值</a:t>
            </a:r>
            <a:endParaRPr lang="en-US" altLang="zh-CN" sz="28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B[]={4,3,2};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数组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的大小为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3</a:t>
            </a:r>
            <a:endParaRPr lang="zh-CN" altLang="en-US" sz="28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内容占位符 2"/>
          <p:cNvSpPr>
            <a:spLocks noGrp="1"/>
          </p:cNvSpPr>
          <p:nvPr>
            <p:ph idx="1"/>
          </p:nvPr>
        </p:nvSpPr>
        <p:spPr>
          <a:xfrm>
            <a:off x="179512" y="116632"/>
            <a:ext cx="8964488" cy="484632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一维数组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数组元素赋值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可以按照给变量赋值的方法给数组元素赋值，左值为数组元素，右值为常量或表达式。例如：</a:t>
            </a:r>
            <a:endParaRPr lang="en-US" altLang="zh-CN" sz="2800" b="1" dirty="0">
              <a:latin typeface="+mj-ea"/>
              <a:ea typeface="+mj-ea"/>
            </a:endParaRPr>
          </a:p>
          <a:p>
            <a:pPr lvl="2" algn="ctr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a[6]=123;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可以利用循环语句为数据元素赋值，以下标为循环控制变量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		for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( </a:t>
            </a: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=0;i&lt;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</a:rPr>
              <a:t>n;i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++)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	  	    a[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] = 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;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利用输入语句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2" algn="ctr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</a:rPr>
              <a:t>cin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&gt;&gt;a[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];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9DD091-4290-40B5-AD9B-051D3787763E}" type="slidenum">
              <a:rPr lang="en-US" altLang="zh-CN"/>
              <a:pPr>
                <a:defRPr/>
              </a:pPr>
              <a:t>8</a:t>
            </a:fld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内容占位符 2"/>
          <p:cNvSpPr>
            <a:spLocks noGrp="1"/>
          </p:cNvSpPr>
          <p:nvPr>
            <p:ph idx="1"/>
          </p:nvPr>
        </p:nvSpPr>
        <p:spPr>
          <a:xfrm>
            <a:off x="357158" y="285728"/>
            <a:ext cx="8501122" cy="5929354"/>
          </a:xfrm>
        </p:spPr>
        <p:txBody>
          <a:bodyPr>
            <a:normAutofit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4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简单示例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40000"/>
              </a:lnSpc>
            </a:pPr>
            <a:r>
              <a:rPr lang="en-US" altLang="zh-CN" sz="24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a[10],</a:t>
            </a: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=1;</a:t>
            </a:r>
          </a:p>
          <a:p>
            <a:pPr lvl="2" eaLnBrk="1" hangingPunct="1">
              <a:lnSpc>
                <a:spcPct val="140000"/>
              </a:lnSpc>
            </a:pP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a[3]=123;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为数组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a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的第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4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个元素赋值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123</a:t>
            </a:r>
          </a:p>
          <a:p>
            <a:pPr lvl="2" eaLnBrk="1" hangingPunct="1">
              <a:lnSpc>
                <a:spcPct val="140000"/>
              </a:lnSpc>
            </a:pP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cin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&gt;&gt;a[9];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输入数组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a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的第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10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个元素值</a:t>
            </a:r>
            <a:endParaRPr lang="en-US" altLang="zh-CN" sz="24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 lvl="2" eaLnBrk="1" hangingPunct="1">
              <a:lnSpc>
                <a:spcPct val="140000"/>
              </a:lnSpc>
            </a:pP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a[i-1]=a[3]+2*a[2*4+1];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/*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计算下标表达式的值，用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a[3]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和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a[9]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参加运算，结果赋给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a[0]*/</a:t>
            </a:r>
          </a:p>
          <a:p>
            <a:pPr lvl="2" eaLnBrk="1" hangingPunct="1">
              <a:lnSpc>
                <a:spcPct val="140000"/>
              </a:lnSpc>
            </a:pP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&lt;&lt;"a[0]="&lt;&lt;a[0]&lt;&lt;</a:t>
            </a: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输出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a[0]</a:t>
            </a:r>
          </a:p>
          <a:p>
            <a:pPr lvl="2" eaLnBrk="1" hangingPunct="1">
              <a:lnSpc>
                <a:spcPct val="140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if 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(a[3]&gt;a[9])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数组元素进行关系运算</a:t>
            </a:r>
            <a:endParaRPr lang="en-US" altLang="zh-CN" sz="24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 lvl="2" eaLnBrk="1" hangingPunct="1">
              <a:lnSpc>
                <a:spcPct val="140000"/>
              </a:lnSpc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  </a:t>
            </a: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&lt;&lt;"a[3]&gt;a[9]"&lt;&lt;</a:t>
            </a:r>
            <a:r>
              <a:rPr lang="en-US" altLang="zh-CN" sz="24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</a:p>
          <a:p>
            <a:pPr lvl="2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FB4DD-BBC8-46CB-BFD2-C5474435A6CF}" type="slidenum">
              <a:rPr lang="en-US" altLang="zh-CN"/>
              <a:pPr>
                <a:defRPr/>
              </a:pPr>
              <a:t>9</a:t>
            </a:fld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7" name="内容占位符 2"/>
          <p:cNvSpPr>
            <a:spLocks noGrp="1"/>
          </p:cNvSpPr>
          <p:nvPr>
            <p:ph idx="1"/>
          </p:nvPr>
        </p:nvSpPr>
        <p:spPr>
          <a:xfrm>
            <a:off x="357158" y="142852"/>
            <a:ext cx="8501122" cy="19907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4.31】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从键盘输入10个</a:t>
            </a:r>
            <a:r>
              <a:rPr lang="en-US" altLang="zh-CN" sz="2400" b="1" dirty="0" err="1">
                <a:solidFill>
                  <a:srgbClr val="C00000"/>
                </a:solidFill>
                <a:latin typeface="+mj-ea"/>
                <a:ea typeface="+mj-ea"/>
              </a:rPr>
              <a:t>int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型数，而后按输入的相反顺序输出它们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使用</a:t>
            </a:r>
            <a:r>
              <a:rPr lang="en-US" altLang="zh-CN" sz="2400" b="1" dirty="0" err="1">
                <a:latin typeface="+mj-ea"/>
                <a:ea typeface="+mj-ea"/>
              </a:rPr>
              <a:t>int</a:t>
            </a:r>
            <a:r>
              <a:rPr lang="zh-CN" altLang="en-US" sz="2400" b="1" dirty="0">
                <a:latin typeface="+mj-ea"/>
                <a:ea typeface="+mj-ea"/>
              </a:rPr>
              <a:t>型数组存放数据，通过下标变化实现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79730B5-5B25-44D8-A557-284919E037AF}" type="slidenum">
              <a:rPr lang="en-US" altLang="zh-CN"/>
              <a:pPr>
                <a:defRPr/>
              </a:pPr>
              <a:t>10</a:t>
            </a:fld>
            <a:endParaRPr lang="en-US" altLang="zh-CN" dirty="0"/>
          </a:p>
        </p:txBody>
      </p:sp>
      <p:sp>
        <p:nvSpPr>
          <p:cNvPr id="149510" name="矩形 5"/>
          <p:cNvSpPr>
            <a:spLocks noChangeArrowheads="1"/>
          </p:cNvSpPr>
          <p:nvPr/>
        </p:nvSpPr>
        <p:spPr bwMode="auto">
          <a:xfrm>
            <a:off x="323528" y="2090023"/>
            <a:ext cx="8501063" cy="4147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#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include 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iostream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&gt;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using namespace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std;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void 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main(){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2000" b="1" dirty="0" err="1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a[10],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 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说明</a:t>
            </a:r>
            <a:r>
              <a:rPr lang="en-US" altLang="zh-CN" sz="2000" b="1" dirty="0" err="1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型一维数组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&lt;&lt;"Input 10 integers:"&lt;&lt;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 </a:t>
            </a:r>
            <a:endParaRPr lang="zh-CN" altLang="en-US" sz="2000" b="1" dirty="0">
              <a:solidFill>
                <a:schemeClr val="tx2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for 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=0;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&lt;10;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++)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  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下标</a:t>
            </a:r>
            <a:r>
              <a:rPr lang="en-US" altLang="zh-CN" sz="2000" b="1" dirty="0" err="1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从0起，递增变化到9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 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cin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&gt;&gt;a[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]; 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输入10个整数，依次放入各下标变量中</a:t>
            </a:r>
            <a:endParaRPr lang="en-US" altLang="zh-CN" sz="2000" b="1" dirty="0">
              <a:solidFill>
                <a:srgbClr val="00B05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&lt;&lt;"---- The result ----"&lt;&lt;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 </a:t>
            </a:r>
            <a:endParaRPr lang="zh-CN" altLang="en-US" sz="2000" b="1" dirty="0">
              <a:solidFill>
                <a:schemeClr val="tx2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for 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=9;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&gt;=0;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--)   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下标</a:t>
            </a:r>
            <a:r>
              <a:rPr lang="en-US" altLang="zh-CN" sz="2000" b="1" dirty="0" err="1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从9起，递减变化到0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	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&lt;&lt;a[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]&lt;&lt;" "; 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按反序输出</a:t>
            </a:r>
            <a:r>
              <a:rPr lang="en-US" altLang="zh-CN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</a:t>
            </a:r>
            <a:r>
              <a:rPr lang="zh-CN" altLang="en-US" sz="20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数组中的各元素</a:t>
            </a:r>
            <a:endParaRPr lang="en-US" altLang="zh-CN" sz="2000" b="1" dirty="0">
              <a:solidFill>
                <a:srgbClr val="00B05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return 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0;</a:t>
            </a:r>
          </a:p>
          <a:p>
            <a:pPr algn="just">
              <a:lnSpc>
                <a:spcPct val="11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内容占位符 2"/>
          <p:cNvSpPr>
            <a:spLocks noGrp="1"/>
          </p:cNvSpPr>
          <p:nvPr>
            <p:ph idx="1"/>
          </p:nvPr>
        </p:nvSpPr>
        <p:spPr>
          <a:xfrm>
            <a:off x="214282" y="285728"/>
            <a:ext cx="8715436" cy="642942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4.32】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使用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Eratosthenes 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筛法求1000以内的素数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将1～1000放在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</a:rPr>
              <a:t>数组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sieve</a:t>
            </a:r>
            <a:r>
              <a:rPr lang="en-US" altLang="zh-CN" sz="2400" b="1" dirty="0">
                <a:latin typeface="+mj-ea"/>
                <a:ea typeface="+mj-ea"/>
              </a:rPr>
              <a:t>（</a:t>
            </a:r>
            <a:r>
              <a:rPr lang="zh-CN" altLang="en-US" sz="2400" b="1" dirty="0">
                <a:latin typeface="+mj-ea"/>
                <a:ea typeface="+mj-ea"/>
              </a:rPr>
              <a:t>看成是一个筛子）中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首先“留下”2（第一个素数），而后把2的倍数统统从数组</a:t>
            </a:r>
            <a:r>
              <a:rPr lang="en-US" altLang="zh-CN" sz="2400" b="1" dirty="0">
                <a:latin typeface="+mj-ea"/>
                <a:ea typeface="+mj-ea"/>
              </a:rPr>
              <a:t>sieve（</a:t>
            </a:r>
            <a:r>
              <a:rPr lang="zh-CN" altLang="en-US" sz="2400" b="1" dirty="0">
                <a:latin typeface="+mj-ea"/>
                <a:ea typeface="+mj-ea"/>
              </a:rPr>
              <a:t>筛子）中删去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再“留下”3（第二个素数），而后把3的倍数统统从数组</a:t>
            </a:r>
            <a:r>
              <a:rPr lang="en-US" altLang="zh-CN" sz="2400" b="1" dirty="0">
                <a:latin typeface="+mj-ea"/>
                <a:ea typeface="+mj-ea"/>
              </a:rPr>
              <a:t>sieve</a:t>
            </a:r>
            <a:r>
              <a:rPr lang="zh-CN" altLang="en-US" sz="2400" b="1" dirty="0">
                <a:latin typeface="+mj-ea"/>
                <a:ea typeface="+mj-ea"/>
              </a:rPr>
              <a:t>中删去； 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再往下是5,7,...。好象是一个筛子，把不需要的数逐步筛去，留下的正是所需要的各素数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所谓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将某数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从数组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sieve（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筛子）中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删去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，本程序实现时，是将数组中的该数</a:t>
            </a:r>
            <a:r>
              <a:rPr lang="zh-CN" altLang="en-US" sz="2400" b="1" dirty="0">
                <a:solidFill>
                  <a:srgbClr val="9B7B35"/>
                </a:solidFill>
                <a:latin typeface="+mj-ea"/>
                <a:ea typeface="+mj-ea"/>
              </a:rPr>
              <a:t>“改写”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为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0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F8B09AA-107D-4090-8815-0BD6E9ACFF73}" type="slidenum">
              <a:rPr lang="en-US" altLang="zh-CN"/>
              <a:pPr>
                <a:defRPr/>
              </a:pPr>
              <a:t>11</a:t>
            </a:fld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  <p:pic>
        <p:nvPicPr>
          <p:cNvPr id="972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2708920"/>
            <a:ext cx="4762500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81225" y="2700338"/>
            <a:ext cx="478155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8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9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90" name="Picture 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90750" y="2705100"/>
            <a:ext cx="47625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5" name="内容占位符 2"/>
          <p:cNvSpPr>
            <a:spLocks noGrp="1"/>
          </p:cNvSpPr>
          <p:nvPr>
            <p:ph idx="1"/>
          </p:nvPr>
        </p:nvSpPr>
        <p:spPr>
          <a:xfrm>
            <a:off x="357158" y="285728"/>
            <a:ext cx="8153400" cy="600079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iomanip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main() {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n=1000;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sieve[n+1];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筛子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sieve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j=1; j&lt;n+1; j++)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sieve[j]=j;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放入数据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=1, count=0;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while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&lt;n) {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(sieve[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]!=0 ){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尚在筛中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  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(5)&lt;&lt;sieve[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	   count++;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endParaRPr lang="en-US" altLang="zh-CN" sz="2400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E08679E-A4E9-4877-8C43-AE0DDE656D0F}" type="slidenum">
              <a:rPr lang="en-US" altLang="zh-CN"/>
              <a:pPr>
                <a:defRPr/>
              </a:pPr>
              <a:t>13</a:t>
            </a:fld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内容占位符 2"/>
          <p:cNvSpPr>
            <a:spLocks noGrp="1"/>
          </p:cNvSpPr>
          <p:nvPr>
            <p:ph idx="1"/>
          </p:nvPr>
        </p:nvSpPr>
        <p:spPr>
          <a:xfrm>
            <a:off x="457200" y="1000108"/>
            <a:ext cx="8543956" cy="5455628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   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(count%15==0)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每行15数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k=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i;k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&lt;n+1; k+=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消去倍数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sieve[k]=0;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}   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//if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		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while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return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	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//main</a:t>
            </a:r>
            <a:endParaRPr lang="zh-CN" altLang="en-US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3332C7-1B33-4EA1-914E-8C52D2323D51}" type="slidenum">
              <a:rPr lang="en-US" altLang="zh-CN"/>
              <a:pPr>
                <a:defRPr/>
              </a:pPr>
              <a:t>14</a:t>
            </a:fld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标题 1"/>
          <p:cNvSpPr>
            <a:spLocks noGrp="1"/>
          </p:cNvSpPr>
          <p:nvPr>
            <p:ph type="title"/>
          </p:nvPr>
        </p:nvSpPr>
        <p:spPr>
          <a:xfrm>
            <a:off x="457200" y="-71462"/>
            <a:ext cx="7239000" cy="6772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</a:p>
        </p:txBody>
      </p:sp>
      <p:sp>
        <p:nvSpPr>
          <p:cNvPr id="153603" name="内容占位符 2"/>
          <p:cNvSpPr>
            <a:spLocks noGrp="1"/>
          </p:cNvSpPr>
          <p:nvPr>
            <p:ph idx="1"/>
          </p:nvPr>
        </p:nvSpPr>
        <p:spPr>
          <a:xfrm>
            <a:off x="357158" y="714356"/>
            <a:ext cx="8572560" cy="535785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二维数组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具有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两个下标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的数组叫做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二维数组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二维数组经常用来表示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按行和列格式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来存放信息的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数据表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要区分表中某个特定的元素，必须指定两个下标。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第一个下标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表示该元素所在的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行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，而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第二个下标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则表示该元素所在的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列</a:t>
            </a:r>
            <a:endParaRPr lang="en-US" altLang="zh-CN" sz="24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说明二维数组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&lt;类型名&gt; &lt;数组名&gt; [ &lt;行数&gt; ] [ &lt;列数&gt; ]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行数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与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列数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是具有整数值的表达式，指出数组每一维的元素个数，即每一维的大小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970CADF-AAB3-448E-9DEA-B2475A42D3C4}" type="slidenum">
              <a:rPr lang="en-US" altLang="zh-CN"/>
              <a:pPr>
                <a:defRPr/>
              </a:pPr>
              <a:t>15</a:t>
            </a:fld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标题 1"/>
          <p:cNvSpPr>
            <a:spLocks noGrp="1"/>
          </p:cNvSpPr>
          <p:nvPr>
            <p:ph type="title"/>
          </p:nvPr>
        </p:nvSpPr>
        <p:spPr>
          <a:xfrm>
            <a:off x="285720" y="142852"/>
            <a:ext cx="7239000" cy="5343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</a:p>
        </p:txBody>
      </p:sp>
      <p:sp>
        <p:nvSpPr>
          <p:cNvPr id="154627" name="内容占位符 2"/>
          <p:cNvSpPr>
            <a:spLocks noGrp="1"/>
          </p:cNvSpPr>
          <p:nvPr>
            <p:ph idx="1"/>
          </p:nvPr>
        </p:nvSpPr>
        <p:spPr>
          <a:xfrm>
            <a:off x="428596" y="857232"/>
            <a:ext cx="7239000" cy="5214974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二维数组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二维数组示例    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a[3][4]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可以看做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3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行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4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列的矩阵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可以看做是一个具有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3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个元素的一维数组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每一个元素是一个包含</a:t>
            </a:r>
            <a:r>
              <a:rPr lang="en-US" altLang="zh-CN" sz="2400" b="1" dirty="0">
                <a:latin typeface="+mj-ea"/>
                <a:ea typeface="+mj-ea"/>
              </a:rPr>
              <a:t>4</a:t>
            </a:r>
            <a:r>
              <a:rPr lang="zh-CN" altLang="en-US" sz="2400" b="1" dirty="0">
                <a:latin typeface="+mj-ea"/>
                <a:ea typeface="+mj-ea"/>
              </a:rPr>
              <a:t>个元素的一维数组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该数组由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4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个整数构成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3B6778B-F04F-4EB3-BA41-F2634E29E18C}" type="slidenum">
              <a:rPr lang="en-US" altLang="zh-CN"/>
              <a:pPr>
                <a:defRPr/>
              </a:pPr>
              <a:t>16</a:t>
            </a:fld>
            <a:endParaRPr lang="en-US" altLang="zh-CN" dirty="0"/>
          </a:p>
        </p:txBody>
      </p:sp>
      <p:pic>
        <p:nvPicPr>
          <p:cNvPr id="154630" name="Picture 3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4613" y="2619380"/>
            <a:ext cx="202882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内容占位符 2"/>
          <p:cNvSpPr>
            <a:spLocks noGrp="1"/>
          </p:cNvSpPr>
          <p:nvPr>
            <p:ph idx="1"/>
          </p:nvPr>
        </p:nvSpPr>
        <p:spPr>
          <a:xfrm>
            <a:off x="428596" y="285728"/>
            <a:ext cx="8607900" cy="5643602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存储方式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转换为一维方式存储在内存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  <a:buFontTx/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	a[0][0] a[0][1] a[0][2] a[0][3] a[1][0] a[1][1] a[1][2] a[1][3] a[2][0] a[2][1] a[2][2] a[2][3]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从低维度（即后面的维度）开始排列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数组的首地址为第一个元素，即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a[0][0]</a:t>
            </a:r>
            <a:r>
              <a:rPr lang="zh-CN" altLang="en-US" sz="2800" b="1" dirty="0">
                <a:latin typeface="+mj-ea"/>
                <a:ea typeface="+mj-ea"/>
              </a:rPr>
              <a:t>的地址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分配空间为</a:t>
            </a:r>
            <a:r>
              <a:rPr lang="en-US" altLang="zh-CN" sz="2800" b="1" dirty="0">
                <a:latin typeface="+mj-ea"/>
                <a:ea typeface="+mj-ea"/>
              </a:rPr>
              <a:t>L×N1×N2</a:t>
            </a:r>
            <a:r>
              <a:rPr lang="zh-CN" altLang="en-US" sz="2800" b="1" dirty="0">
                <a:latin typeface="+mj-ea"/>
                <a:ea typeface="+mj-ea"/>
              </a:rPr>
              <a:t>，</a:t>
            </a:r>
            <a:r>
              <a:rPr lang="en-US" altLang="zh-CN" sz="2800" b="1" dirty="0">
                <a:latin typeface="+mj-ea"/>
                <a:ea typeface="+mj-ea"/>
              </a:rPr>
              <a:t>L</a:t>
            </a:r>
            <a:r>
              <a:rPr lang="zh-CN" altLang="en-US" sz="2800" b="1" dirty="0">
                <a:latin typeface="+mj-ea"/>
                <a:ea typeface="+mj-ea"/>
              </a:rPr>
              <a:t>为数据的字长，</a:t>
            </a:r>
            <a:r>
              <a:rPr lang="en-US" altLang="zh-CN" sz="2800" b="1" dirty="0">
                <a:latin typeface="+mj-ea"/>
                <a:ea typeface="+mj-ea"/>
              </a:rPr>
              <a:t>N1</a:t>
            </a:r>
            <a:r>
              <a:rPr lang="zh-CN" altLang="en-US" sz="2800" b="1" dirty="0">
                <a:latin typeface="+mj-ea"/>
                <a:ea typeface="+mj-ea"/>
              </a:rPr>
              <a:t>为第一维的大小，</a:t>
            </a:r>
            <a:r>
              <a:rPr lang="en-US" altLang="zh-CN" sz="2800" b="1" dirty="0">
                <a:latin typeface="+mj-ea"/>
                <a:ea typeface="+mj-ea"/>
              </a:rPr>
              <a:t>N2</a:t>
            </a:r>
            <a:r>
              <a:rPr lang="zh-CN" altLang="en-US" sz="2800" b="1" dirty="0">
                <a:latin typeface="+mj-ea"/>
                <a:ea typeface="+mj-ea"/>
              </a:rPr>
              <a:t>为第二维的大小</a:t>
            </a:r>
            <a:endParaRPr lang="en-US" altLang="zh-CN" sz="28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B06D488-C032-414C-9E94-DCF78B0E84C5}" type="slidenum">
              <a:rPr lang="en-US" altLang="zh-CN"/>
              <a:pPr>
                <a:defRPr/>
              </a:pPr>
              <a:t>17</a:t>
            </a:fld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5" name="内容占位符 2"/>
          <p:cNvSpPr>
            <a:spLocks noGrp="1"/>
          </p:cNvSpPr>
          <p:nvPr>
            <p:ph idx="1"/>
          </p:nvPr>
        </p:nvSpPr>
        <p:spPr>
          <a:xfrm>
            <a:off x="500034" y="1000108"/>
            <a:ext cx="4714908" cy="502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内存空间分配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连续的内存地址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按照一维数组的方式分配存储空间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内存地址由第一个元素向上递增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9FE6AB5-46C3-4957-A22C-C39633250964}" type="slidenum">
              <a:rPr lang="en-US" altLang="zh-CN"/>
              <a:pPr>
                <a:defRPr/>
              </a:pPr>
              <a:t>18</a:t>
            </a:fld>
            <a:endParaRPr lang="en-US" altLang="zh-CN" dirty="0"/>
          </a:p>
        </p:txBody>
      </p:sp>
      <p:pic>
        <p:nvPicPr>
          <p:cNvPr id="15667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57853" y="928670"/>
            <a:ext cx="3114675" cy="508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9" name="内容占位符 2"/>
          <p:cNvSpPr>
            <a:spLocks noGrp="1"/>
          </p:cNvSpPr>
          <p:nvPr>
            <p:ph idx="1"/>
          </p:nvPr>
        </p:nvSpPr>
        <p:spPr>
          <a:xfrm>
            <a:off x="142844" y="214290"/>
            <a:ext cx="8643937" cy="502920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二维数组的初始化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嵌套一维数组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CC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a[3][4]={{1,3,5,7},{2,4,6,8},{3,5,7,11}};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a[3][4]={{1,3,5,7},{2},{3,5}};</a:t>
            </a:r>
          </a:p>
          <a:p>
            <a:pPr lvl="3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  <a:cs typeface="Courier New" pitchFamily="49" charset="0"/>
              </a:rPr>
              <a:t>a[1][1] a[1][2] a[1][3] </a:t>
            </a:r>
            <a:b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  <a:cs typeface="Courier New" pitchFamily="49" charset="0"/>
              </a:rPr>
            </a:b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  <a:cs typeface="Courier New" pitchFamily="49" charset="0"/>
              </a:rPr>
              <a:t>a[2][2] a[2][3]   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初始化为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0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按数组元素存储顺序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int</a:t>
            </a:r>
            <a:r>
              <a:rPr lang="en-US" altLang="zh-CN" sz="2800" b="1" dirty="0">
                <a:solidFill>
                  <a:srgbClr val="0000CC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a[3][4]={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1,3,5,7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,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2,4,6,8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,3,5,7,11};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int</a:t>
            </a:r>
            <a:r>
              <a:rPr lang="en-US" altLang="zh-CN" sz="2800" b="1" dirty="0">
                <a:solidFill>
                  <a:srgbClr val="0000CC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a[3][4]={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1,3,5,7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,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2,4,6,8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,3};</a:t>
            </a:r>
          </a:p>
          <a:p>
            <a:pPr lvl="3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a[3][1] a[3][2] a[3][3]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初始化为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0</a:t>
            </a:r>
            <a:endParaRPr lang="en-US" altLang="zh-CN" sz="28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B7180E5-F3BC-448E-B68E-BD4A8D299EB7}" type="slidenum">
              <a:rPr lang="en-US" altLang="zh-CN"/>
              <a:pPr>
                <a:defRPr/>
              </a:pPr>
              <a:t>19</a:t>
            </a:fld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内容占位符 2"/>
          <p:cNvSpPr>
            <a:spLocks noGrp="1"/>
          </p:cNvSpPr>
          <p:nvPr>
            <p:ph idx="1"/>
          </p:nvPr>
        </p:nvSpPr>
        <p:spPr>
          <a:xfrm>
            <a:off x="0" y="71414"/>
            <a:ext cx="9144000" cy="502920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二维数组的初始化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对部分元素赋初值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int</a:t>
            </a:r>
            <a:r>
              <a:rPr lang="en-US" altLang="zh-CN" sz="2800" b="1" dirty="0">
                <a:solidFill>
                  <a:srgbClr val="0000CC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a[3][4]={{1,3},{2,4},{3,5,7}};</a:t>
            </a:r>
          </a:p>
          <a:p>
            <a:pPr lvl="3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  <a:cs typeface="Courier New" pitchFamily="49" charset="0"/>
              </a:rPr>
              <a:t>a[0][2]a[0][3]a[1][2]a[1][3]a[2][3]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初始化为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0</a:t>
            </a: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省略最高维的初始化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a[][4]={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1,3,5,7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,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2,4,6,8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,3,5,7,11};</a:t>
            </a:r>
          </a:p>
          <a:p>
            <a:pPr lvl="3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最高维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=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元素数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低维数，即最高维为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12/4=3</a:t>
            </a: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a[][4]={{1,3},{2,4},{3,5,7}};</a:t>
            </a:r>
          </a:p>
          <a:p>
            <a:pPr lvl="3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最高维为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3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，每一维为进行显式初始化的元素自动初始化为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0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4E39EBB-A118-413A-820F-F78E74FA4636}" type="slidenum">
              <a:rPr lang="en-US" altLang="zh-CN"/>
              <a:pPr>
                <a:defRPr/>
              </a:pPr>
              <a:t>20</a:t>
            </a:fld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内容占位符 2"/>
          <p:cNvSpPr>
            <a:spLocks noGrp="1"/>
          </p:cNvSpPr>
          <p:nvPr>
            <p:ph idx="1"/>
          </p:nvPr>
        </p:nvSpPr>
        <p:spPr>
          <a:xfrm>
            <a:off x="36512" y="44624"/>
            <a:ext cx="9144000" cy="4846320"/>
          </a:xfrm>
        </p:spPr>
        <p:txBody>
          <a:bodyPr>
            <a:noAutofit/>
          </a:bodyPr>
          <a:lstStyle/>
          <a:p>
            <a:pPr eaLnBrk="1" hangingPunct="1">
              <a:lnSpc>
                <a:spcPct val="11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二维数组元素的访问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 sz="2800" b="1" dirty="0">
                <a:latin typeface="+mj-ea"/>
                <a:ea typeface="+mj-ea"/>
              </a:rPr>
              <a:t>访问二维数组的元素必须同时指明每一个维度的下标值</a:t>
            </a:r>
          </a:p>
          <a:p>
            <a:pPr lvl="3"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根据第一个下标得到该“行”元素的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首地址</a:t>
            </a:r>
            <a:endParaRPr lang="en-US" altLang="zh-CN" sz="28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根据第二个下标得到该元素对于首地址的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偏移量</a:t>
            </a:r>
            <a:endParaRPr lang="en-US" altLang="zh-CN" sz="28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10000"/>
              </a:lnSpc>
            </a:pPr>
            <a:r>
              <a:rPr lang="zh-CN" altLang="en-US" sz="2800" b="1" dirty="0">
                <a:latin typeface="+mj-ea"/>
                <a:ea typeface="+mj-ea"/>
              </a:rPr>
              <a:t>例如，访问元素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a[1][2]</a:t>
            </a:r>
          </a:p>
          <a:p>
            <a:pPr lvl="3"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找到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a[1]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的首地址（即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a[1][0]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的地址）</a:t>
            </a:r>
            <a:endParaRPr lang="en-US" altLang="zh-CN" sz="28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4" eaLnBrk="1" hangingPunct="1">
              <a:lnSpc>
                <a:spcPct val="110000"/>
              </a:lnSpc>
            </a:pPr>
            <a:r>
              <a:rPr lang="en-US" altLang="zh-CN" sz="2400" b="1" dirty="0">
                <a:latin typeface="+mj-ea"/>
                <a:ea typeface="+mj-ea"/>
              </a:rPr>
              <a:t>0x0012ff68</a:t>
            </a:r>
          </a:p>
          <a:p>
            <a:pPr lvl="3"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根据偏移量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，在首地址的基础上加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2×4=8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个字节（整型字长为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4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个字节），得到</a:t>
            </a:r>
            <a:r>
              <a:rPr lang="en-US" altLang="zh-CN" sz="2800" b="1" dirty="0">
                <a:solidFill>
                  <a:schemeClr val="tx1"/>
                </a:solidFill>
                <a:latin typeface="+mj-ea"/>
                <a:ea typeface="+mj-ea"/>
              </a:rPr>
              <a:t>a[1][2]</a:t>
            </a:r>
            <a:r>
              <a:rPr lang="zh-CN" altLang="en-US" sz="2800" b="1" dirty="0">
                <a:solidFill>
                  <a:schemeClr val="tx1"/>
                </a:solidFill>
                <a:latin typeface="+mj-ea"/>
                <a:ea typeface="+mj-ea"/>
              </a:rPr>
              <a:t>的地址</a:t>
            </a:r>
            <a:endParaRPr lang="en-US" altLang="zh-CN" sz="28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4" eaLnBrk="1" hangingPunct="1">
              <a:lnSpc>
                <a:spcPct val="110000"/>
              </a:lnSpc>
            </a:pPr>
            <a:r>
              <a:rPr lang="en-US" altLang="zh-CN" sz="2400" b="1" dirty="0">
                <a:latin typeface="+mj-ea"/>
                <a:ea typeface="+mj-ea"/>
              </a:rPr>
              <a:t>0x0012ff70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536B7C-360E-4158-A919-5BD6F92B63A4}" type="slidenum">
              <a:rPr lang="en-US" altLang="zh-CN"/>
              <a:pPr>
                <a:defRPr/>
              </a:pPr>
              <a:t>21</a:t>
            </a:fld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235380"/>
            <a:ext cx="7929618" cy="5857916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二维数组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二维数组元素的访问</a:t>
            </a:r>
            <a:endParaRPr lang="en-US" altLang="zh-CN" sz="2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二重循环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内层循环对二维数组元素进行操作</a:t>
            </a:r>
            <a:endParaRPr lang="en-US" altLang="zh-CN" sz="2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外层循环对二维数组的每一行进行操作</a:t>
            </a:r>
            <a:endParaRPr lang="en-US" altLang="zh-CN" sz="24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例如，按矩阵形式显示二维数组元素（</a:t>
            </a:r>
            <a:r>
              <a:rPr lang="en-US" altLang="zh-CN" sz="2400" b="1" dirty="0" err="1">
                <a:latin typeface="+mj-ea"/>
                <a:ea typeface="+mj-ea"/>
              </a:rPr>
              <a:t>m×n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for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=0;i&lt;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m;i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++){</a:t>
            </a:r>
          </a:p>
          <a:p>
            <a:pPr lvl="2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  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for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j=0;j&lt;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n;j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++){</a:t>
            </a:r>
          </a:p>
          <a:p>
            <a:pPr lvl="2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	 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setw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(6)&lt;&lt;a[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][j];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内循环</a:t>
            </a:r>
            <a:endParaRPr lang="en-US" altLang="zh-CN" sz="28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  }</a:t>
            </a:r>
          </a:p>
          <a:p>
            <a:pPr lvl="2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  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  <a:cs typeface="Courier New" pitchFamily="49" charset="0"/>
              </a:rPr>
              <a:t>外循环</a:t>
            </a:r>
            <a:endParaRPr lang="en-US" altLang="zh-CN" sz="2800" b="1" dirty="0">
              <a:solidFill>
                <a:srgbClr val="00B050"/>
              </a:solidFill>
              <a:latin typeface="+mj-ea"/>
              <a:ea typeface="+mj-ea"/>
              <a:cs typeface="Courier New" pitchFamily="49" charset="0"/>
            </a:endParaRPr>
          </a:p>
          <a:p>
            <a:pPr lvl="2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}</a:t>
            </a:r>
            <a:endParaRPr lang="zh-CN" altLang="en-US" sz="2800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内容占位符 2"/>
          <p:cNvSpPr>
            <a:spLocks noGrp="1"/>
          </p:cNvSpPr>
          <p:nvPr>
            <p:ph idx="1"/>
          </p:nvPr>
        </p:nvSpPr>
        <p:spPr>
          <a:xfrm>
            <a:off x="35496" y="-99392"/>
            <a:ext cx="8153400" cy="1133475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二维数组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举例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9811B0D-3F25-4F82-9F6D-A62334293046}" type="slidenum">
              <a:rPr lang="en-US" altLang="zh-CN"/>
              <a:pPr>
                <a:defRPr/>
              </a:pPr>
              <a:t>23</a:t>
            </a:fld>
            <a:endParaRPr lang="en-US" altLang="zh-CN" dirty="0"/>
          </a:p>
        </p:txBody>
      </p:sp>
      <p:sp>
        <p:nvSpPr>
          <p:cNvPr id="160774" name="矩形 5"/>
          <p:cNvSpPr>
            <a:spLocks noChangeArrowheads="1"/>
          </p:cNvSpPr>
          <p:nvPr/>
        </p:nvSpPr>
        <p:spPr bwMode="auto">
          <a:xfrm>
            <a:off x="571472" y="616614"/>
            <a:ext cx="8572528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>
            <a:spAutoFit/>
          </a:bodyPr>
          <a:lstStyle/>
          <a:p>
            <a:pPr marL="0" lvl="1"/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a[3][4],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=1, j=1;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  <a:cs typeface="Courier New" pitchFamily="49" charset="0"/>
              </a:rPr>
              <a:t>说明二维数组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</a:t>
            </a:r>
            <a:endParaRPr lang="en-US" altLang="zh-CN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marL="0" lvl="1"/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a[0][0]=123;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对第一个元素初始化</a:t>
            </a:r>
            <a:endParaRPr lang="en-US" altLang="zh-CN" sz="2800" b="1" dirty="0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1"/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&gt;&gt;a[0][1]; 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输入与第二个元素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a[0][1]</a:t>
            </a:r>
            <a:endParaRPr lang="en-US" altLang="zh-CN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marL="0" lvl="1"/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a[2][3]=a[i-1][j-1]+2*a[i-1][j];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/*</a:t>
            </a:r>
            <a:r>
              <a:rPr lang="zh-CN" altLang="en-US" sz="2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计算下标表达式的值访问元素，并将元素计算结果赋值给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a[2][3]*/</a:t>
            </a:r>
          </a:p>
          <a:p>
            <a:pPr marL="0" lvl="1"/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&lt;&lt;“a[2][3]=”&lt;&lt;a[2][3]&lt;&lt;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lvl="1"/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输出元素</a:t>
            </a:r>
            <a:endParaRPr lang="en-US" altLang="zh-CN" sz="2800" b="1" dirty="0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1"/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 a[0][0]&gt;a[0][1] )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元素参与关系运算</a:t>
            </a:r>
            <a:endParaRPr lang="en-US" altLang="zh-CN" sz="2800" b="1" dirty="0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1"/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&lt;&lt;"a[0][0]&gt;a[0][1]"&lt;&lt;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lvl="1"/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fa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[2][3]={ {1.1, 2.2, -3.3 }, { 4.4, -5.5, 6.6 } };</a:t>
            </a:r>
          </a:p>
          <a:p>
            <a:pPr marL="0" lvl="1"/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说明浮点型二维数组并初始化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5" name="内容占位符 2"/>
          <p:cNvSpPr>
            <a:spLocks noGrp="1"/>
          </p:cNvSpPr>
          <p:nvPr>
            <p:ph idx="1"/>
          </p:nvPr>
        </p:nvSpPr>
        <p:spPr>
          <a:xfrm>
            <a:off x="214282" y="142852"/>
            <a:ext cx="8153400" cy="1133475"/>
          </a:xfrm>
        </p:spPr>
        <p:txBody>
          <a:bodyPr/>
          <a:lstStyle/>
          <a:p>
            <a:r>
              <a:rPr lang="zh-CN" altLang="en-US" b="1" dirty="0">
                <a:latin typeface="+mj-ea"/>
                <a:ea typeface="+mj-ea"/>
              </a:rPr>
              <a:t>二维数组</a:t>
            </a:r>
            <a:endParaRPr lang="en-US" altLang="zh-CN" b="1" dirty="0">
              <a:latin typeface="+mj-ea"/>
              <a:ea typeface="+mj-ea"/>
            </a:endParaRPr>
          </a:p>
          <a:p>
            <a:pPr lvl="1"/>
            <a:r>
              <a:rPr lang="zh-CN" altLang="en-US" b="1" dirty="0">
                <a:latin typeface="+mj-ea"/>
                <a:ea typeface="+mj-ea"/>
              </a:rPr>
              <a:t>举例</a:t>
            </a:r>
            <a:endParaRPr lang="en-US" altLang="zh-CN" b="1" dirty="0">
              <a:latin typeface="+mj-ea"/>
              <a:ea typeface="+mj-ea"/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C863A48-D6A8-4A9C-891F-EDD47C4AACCD}" type="slidenum">
              <a:rPr lang="en-US" altLang="zh-CN" smtClean="0"/>
              <a:pPr>
                <a:defRPr/>
              </a:pPr>
              <a:t>24</a:t>
            </a:fld>
            <a:endParaRPr lang="en-US" altLang="zh-CN" dirty="0"/>
          </a:p>
        </p:txBody>
      </p:sp>
      <p:sp>
        <p:nvSpPr>
          <p:cNvPr id="161798" name="矩形 5"/>
          <p:cNvSpPr>
            <a:spLocks noChangeArrowheads="1"/>
          </p:cNvSpPr>
          <p:nvPr/>
        </p:nvSpPr>
        <p:spPr bwMode="auto">
          <a:xfrm>
            <a:off x="500034" y="832058"/>
            <a:ext cx="8176422" cy="5004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char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arr1[3][20]={"12345", "C++ OK!", “I can do it!”},  arr2[10][80];</a:t>
            </a:r>
            <a:b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</a:b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/*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说明两个字符型数组，其中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arr1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赋初值，使得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arr1[0]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、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arr1[1]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和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arr1[2]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都成为具有初值的字符串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*/</a:t>
            </a:r>
            <a:endParaRPr lang="en-US" altLang="zh-CN" sz="2800" b="1" dirty="0">
              <a:solidFill>
                <a:schemeClr val="tx2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for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=0;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&lt;3;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++)</a:t>
            </a:r>
          </a:p>
          <a:p>
            <a:pPr>
              <a:lnSpc>
                <a:spcPct val="105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&lt;&lt;arr1[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]&lt;&lt;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 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输出三个字符串</a:t>
            </a:r>
            <a:endParaRPr lang="en-US" altLang="zh-CN" sz="2800" b="1" dirty="0">
              <a:solidFill>
                <a:srgbClr val="00B05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>
              <a:lnSpc>
                <a:spcPct val="105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输出结果为：</a:t>
            </a:r>
            <a:endParaRPr lang="en-US" altLang="zh-CN" sz="2800" b="1" dirty="0">
              <a:solidFill>
                <a:srgbClr val="C00000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12345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C++ OK!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 can do it!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9" name="内容占位符 2"/>
          <p:cNvSpPr>
            <a:spLocks noGrp="1"/>
          </p:cNvSpPr>
          <p:nvPr>
            <p:ph idx="1"/>
          </p:nvPr>
        </p:nvSpPr>
        <p:spPr>
          <a:xfrm>
            <a:off x="251520" y="116632"/>
            <a:ext cx="8784976" cy="5214974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多维数组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二维以上维度的数组，是多维数组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三维数组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四维数组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……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多维数组是数组的嵌套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一维数组中嵌套一维数组构成二维数组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数组的数组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4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数组中的元素是数组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常用的多维数组是二维数组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6FF388E-F557-402A-B08F-F1FDE4E20086}" type="slidenum">
              <a:rPr lang="en-US" altLang="zh-CN"/>
              <a:pPr>
                <a:defRPr/>
              </a:pPr>
              <a:t>25</a:t>
            </a:fld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内容占位符 2"/>
          <p:cNvSpPr>
            <a:spLocks noGrp="1"/>
          </p:cNvSpPr>
          <p:nvPr>
            <p:ph idx="1"/>
          </p:nvPr>
        </p:nvSpPr>
        <p:spPr>
          <a:xfrm>
            <a:off x="214282" y="285728"/>
            <a:ext cx="6000792" cy="6095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多维数组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举例：图中表示一个三维数组可定义为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1" algn="ctr">
              <a:lnSpc>
                <a:spcPct val="140000"/>
              </a:lnSpc>
              <a:buFont typeface="Wingdings" pitchFamily="2" charset="2"/>
              <a:buNone/>
            </a:pP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a3d[6][3][4];</a:t>
            </a:r>
          </a:p>
          <a:p>
            <a:pPr lvl="2">
              <a:lnSpc>
                <a:spcPct val="14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a3d</a:t>
            </a:r>
            <a:r>
              <a:rPr lang="zh-CN" altLang="en-US" sz="2400" b="1" dirty="0">
                <a:latin typeface="+mj-ea"/>
                <a:ea typeface="+mj-ea"/>
              </a:rPr>
              <a:t>是由</a:t>
            </a:r>
            <a:r>
              <a:rPr lang="en-US" altLang="zh-CN" sz="2400" b="1" dirty="0">
                <a:latin typeface="+mj-ea"/>
                <a:ea typeface="+mj-ea"/>
              </a:rPr>
              <a:t>6</a:t>
            </a:r>
            <a:r>
              <a:rPr lang="zh-CN" altLang="en-US" sz="2400" b="1" dirty="0">
                <a:latin typeface="+mj-ea"/>
                <a:ea typeface="+mj-ea"/>
              </a:rPr>
              <a:t>个二维数组构成的数组，第一个二维数组用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a3d [0]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表示，即立方体最上面的</a:t>
            </a:r>
            <a:r>
              <a:rPr lang="en-US" altLang="zh-CN" sz="2400" b="1" dirty="0">
                <a:latin typeface="+mj-ea"/>
                <a:ea typeface="+mj-ea"/>
              </a:rPr>
              <a:t>3*4</a:t>
            </a:r>
            <a:r>
              <a:rPr lang="zh-CN" altLang="en-US" sz="2400" b="1" dirty="0">
                <a:latin typeface="+mj-ea"/>
                <a:ea typeface="+mj-ea"/>
              </a:rPr>
              <a:t>大小的一片，也就是一个</a:t>
            </a:r>
            <a:r>
              <a:rPr lang="en-US" altLang="zh-CN" sz="2400" b="1" dirty="0">
                <a:latin typeface="+mj-ea"/>
                <a:ea typeface="+mj-ea"/>
              </a:rPr>
              <a:t>3*4</a:t>
            </a:r>
            <a:r>
              <a:rPr lang="zh-CN" altLang="en-US" sz="2400" b="1" dirty="0">
                <a:latin typeface="+mj-ea"/>
                <a:ea typeface="+mj-ea"/>
              </a:rPr>
              <a:t>的二维数组</a:t>
            </a:r>
          </a:p>
          <a:p>
            <a:pPr lvl="2">
              <a:lnSpc>
                <a:spcPct val="14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a3d[0][2]</a:t>
            </a:r>
            <a:r>
              <a:rPr lang="zh-CN" altLang="en-US" sz="2400" b="1" dirty="0">
                <a:latin typeface="+mj-ea"/>
                <a:ea typeface="+mj-ea"/>
              </a:rPr>
              <a:t>则是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a3d[0]</a:t>
            </a:r>
            <a:r>
              <a:rPr lang="zh-CN" altLang="en-US" sz="2400" b="1" dirty="0">
                <a:latin typeface="+mj-ea"/>
                <a:ea typeface="+mj-ea"/>
              </a:rPr>
              <a:t>的第</a:t>
            </a:r>
            <a:r>
              <a:rPr lang="en-US" altLang="zh-CN" sz="2400" b="1" dirty="0">
                <a:latin typeface="+mj-ea"/>
                <a:ea typeface="+mj-ea"/>
              </a:rPr>
              <a:t>3</a:t>
            </a:r>
            <a:r>
              <a:rPr lang="zh-CN" altLang="en-US" sz="2400" b="1" dirty="0">
                <a:latin typeface="+mj-ea"/>
                <a:ea typeface="+mj-ea"/>
              </a:rPr>
              <a:t>个元素，一个一维数组，立方体最上最右的一条，（阴影所示）即一个</a:t>
            </a:r>
            <a:r>
              <a:rPr lang="en-US" altLang="zh-CN" sz="2400" b="1" dirty="0">
                <a:latin typeface="+mj-ea"/>
                <a:ea typeface="+mj-ea"/>
              </a:rPr>
              <a:t>4</a:t>
            </a:r>
            <a:r>
              <a:rPr lang="zh-CN" altLang="en-US" sz="2400" b="1" dirty="0">
                <a:latin typeface="+mj-ea"/>
                <a:ea typeface="+mj-ea"/>
              </a:rPr>
              <a:t>元素的一维数组。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1D4118-F9EB-41ED-9C4E-4C706A8E8A5A}" type="slidenum">
              <a:rPr lang="en-US" altLang="zh-CN"/>
              <a:pPr>
                <a:defRPr/>
              </a:pPr>
              <a:t>26</a:t>
            </a:fld>
            <a:endParaRPr lang="en-US" altLang="zh-CN" dirty="0"/>
          </a:p>
        </p:txBody>
      </p:sp>
      <p:pic>
        <p:nvPicPr>
          <p:cNvPr id="16384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1281" y="1142984"/>
            <a:ext cx="2881313" cy="272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内容占位符 2"/>
          <p:cNvSpPr>
            <a:spLocks noGrp="1"/>
          </p:cNvSpPr>
          <p:nvPr>
            <p:ph idx="1"/>
          </p:nvPr>
        </p:nvSpPr>
        <p:spPr>
          <a:xfrm>
            <a:off x="285720" y="357166"/>
            <a:ext cx="8750776" cy="609857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二维数组举例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4.33】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 设有4行4列的数组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a，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其元素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a[</a:t>
            </a:r>
            <a:r>
              <a:rPr lang="en-US" altLang="zh-CN" sz="2800" b="1" dirty="0" err="1">
                <a:solidFill>
                  <a:srgbClr val="C00000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][j]=</a:t>
            </a:r>
            <a:r>
              <a:rPr lang="en-US" altLang="zh-CN" sz="2800" b="1" dirty="0" err="1">
                <a:solidFill>
                  <a:srgbClr val="C00000"/>
                </a:solidFill>
                <a:latin typeface="+mj-ea"/>
                <a:ea typeface="+mj-ea"/>
              </a:rPr>
              <a:t>i+j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。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编程序，实现：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求第二行4元素之和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求第三列4元素之平均值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求最大数，最小数及主对角线4元素的平方和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程序主要步骤</a:t>
            </a:r>
            <a:r>
              <a:rPr lang="zh-CN" altLang="en-US" sz="2800" b="1" dirty="0">
                <a:latin typeface="+mj-ea"/>
                <a:ea typeface="+mj-ea"/>
              </a:rPr>
              <a:t>：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构造二维数组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按要求进行相关的计算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8F4A0B3-15EC-46B8-89E4-5C2CB221DA2F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1" name="内容占位符 2"/>
          <p:cNvSpPr>
            <a:spLocks noGrp="1"/>
          </p:cNvSpPr>
          <p:nvPr>
            <p:ph idx="1"/>
          </p:nvPr>
        </p:nvSpPr>
        <p:spPr>
          <a:xfrm>
            <a:off x="323529" y="357166"/>
            <a:ext cx="8606190" cy="5205413"/>
          </a:xfrm>
        </p:spPr>
        <p:txBody>
          <a:bodyPr>
            <a:noAutofit/>
          </a:bodyPr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include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a[4][4],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 j;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&lt;4;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++){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为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数组赋值并显示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(j=0; j&lt;4; j++) {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a[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][j]=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i+j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  "&lt;&lt;a[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每4个数占一行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&lt;&lt;"------ The result ------"&lt;&lt;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zh-CN" altLang="en-US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7F0103-83EE-426F-90A4-13B4D8F14D69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5" name="内容占位符 2"/>
          <p:cNvSpPr>
            <a:spLocks noGrp="1"/>
          </p:cNvSpPr>
          <p:nvPr>
            <p:ph idx="1"/>
          </p:nvPr>
        </p:nvSpPr>
        <p:spPr>
          <a:xfrm>
            <a:off x="500034" y="500042"/>
            <a:ext cx="8536462" cy="595329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//1. 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求第二行4元素之和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//（ 第二行元素为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a[1][j] (j=0,1,2,3) 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sum_lin2=0;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(j=0; j&lt;4; j++)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sum_lin2+=a[1][j];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&lt;&lt;"sum_lin2="&lt;&lt;sum_lin2&lt;&lt;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//2. </a:t>
            </a: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求第三列4元素之平均值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//（第三列元素为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altLang="zh-CN" sz="28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][2] (</a:t>
            </a:r>
            <a:r>
              <a:rPr lang="en-US" altLang="zh-CN" sz="28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=0,1,2,3)）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sum_col3=0;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&lt;4;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sum_col3+=a[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][2];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&lt;&lt;"ave_col3="&lt;&lt;sum_col3/4.0&lt;&lt;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  <a:endParaRPr lang="zh-CN" altLang="en-US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endParaRPr lang="zh-CN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94519E-24FB-403B-B8F5-5E5AB22E2247}" type="slidenum">
              <a:rPr lang="en-US" altLang="zh-CN" smtClean="0"/>
              <a:pPr>
                <a:defRPr/>
              </a:pPr>
              <a:t>29</a:t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9" name="内容占位符 2"/>
          <p:cNvSpPr>
            <a:spLocks noGrp="1"/>
          </p:cNvSpPr>
          <p:nvPr>
            <p:ph idx="1"/>
          </p:nvPr>
        </p:nvSpPr>
        <p:spPr>
          <a:xfrm>
            <a:off x="285720" y="500042"/>
            <a:ext cx="8543925" cy="6169318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//3. 求最大数, 最小数及主对角线4元素的平方和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=a[0][0],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min_elem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=a[0][0],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sum_diag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先认为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a[0][0]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为最大数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、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又为最小数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&lt;4;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for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(j=0; j&lt;4; j++) {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 if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 a[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][j]&gt;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)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=a[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 if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 a[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min_elem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)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min_elem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=a[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 if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==j )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sum_diag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+=a[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][j]*a[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][j];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/*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行列下标相等时，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][j]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为主对角线元素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*/</a:t>
            </a:r>
            <a:endParaRPr lang="zh-CN" altLang="en-US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min_elem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min_elem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sum_diag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sum_diag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ct val="0"/>
              </a:spcBef>
            </a:pPr>
            <a:endParaRPr lang="zh-CN" altLang="en-US" sz="2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33628AA-A82C-4D24-94CB-C0C00EE89ED6}" type="slidenum">
              <a:rPr lang="en-US" altLang="zh-CN" smtClean="0"/>
              <a:pPr>
                <a:defRPr/>
              </a:pPr>
              <a:t>30</a:t>
            </a:fld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3" name="内容占位符 2"/>
          <p:cNvSpPr>
            <a:spLocks noGrp="1"/>
          </p:cNvSpPr>
          <p:nvPr>
            <p:ph idx="1"/>
          </p:nvPr>
        </p:nvSpPr>
        <p:spPr>
          <a:xfrm>
            <a:off x="357158" y="357166"/>
            <a:ext cx="8607330" cy="571504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二维数组举例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4.34】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画一个四叶</a:t>
            </a:r>
            <a:r>
              <a:rPr lang="zh-CN" altLang="en-US" sz="2800" b="1">
                <a:solidFill>
                  <a:srgbClr val="C00000"/>
                </a:solidFill>
                <a:latin typeface="+mj-ea"/>
                <a:ea typeface="+mj-ea"/>
              </a:rPr>
              <a:t>玫瑰线图形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四叶玫瑰线图形的极坐标方程为：</a:t>
            </a:r>
            <a:endParaRPr lang="en-US" altLang="zh-CN" sz="2800" b="1" dirty="0">
              <a:latin typeface="+mj-ea"/>
              <a:ea typeface="+mj-ea"/>
            </a:endParaRPr>
          </a:p>
          <a:p>
            <a:pPr lvl="2" algn="ctr">
              <a:lnSpc>
                <a:spcPct val="130000"/>
              </a:lnSpc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p = a*sin(2*angle)</a:t>
            </a:r>
          </a:p>
          <a:p>
            <a:pPr lvl="2"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angle</a:t>
            </a:r>
            <a:r>
              <a:rPr lang="zh-CN" altLang="en-US" sz="2800" b="1" dirty="0">
                <a:latin typeface="+mj-ea"/>
                <a:ea typeface="+mj-ea"/>
              </a:rPr>
              <a:t>为极角，变化范围从0度到360度；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a</a:t>
            </a:r>
            <a:r>
              <a:rPr lang="zh-CN" altLang="en-US" sz="2800" b="1" dirty="0">
                <a:latin typeface="+mj-ea"/>
                <a:ea typeface="+mj-ea"/>
              </a:rPr>
              <a:t>为常数，表示所画四叶玫瑰线图形中，矩极点的最长距离；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p</a:t>
            </a:r>
            <a:r>
              <a:rPr lang="zh-CN" altLang="en-US" sz="2800" b="1" dirty="0">
                <a:latin typeface="+mj-ea"/>
                <a:ea typeface="+mj-ea"/>
              </a:rPr>
              <a:t>为极径，与变化范围内的极角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angle</a:t>
            </a:r>
            <a:r>
              <a:rPr lang="zh-CN" altLang="en-US" sz="2800" b="1" dirty="0">
                <a:latin typeface="+mj-ea"/>
                <a:ea typeface="+mj-ea"/>
              </a:rPr>
              <a:t>有上述极坐标方程的关系。 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3F99D49-CCBD-4AF7-9F03-A4BB93B6AD3A}" type="slidenum">
              <a:rPr lang="en-US" altLang="zh-CN" smtClean="0"/>
              <a:pPr>
                <a:defRPr/>
              </a:pPr>
              <a:t>31</a:t>
            </a:fld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内容占位符 2"/>
          <p:cNvSpPr>
            <a:spLocks noGrp="1"/>
          </p:cNvSpPr>
          <p:nvPr>
            <p:ph idx="1"/>
          </p:nvPr>
        </p:nvSpPr>
        <p:spPr>
          <a:xfrm>
            <a:off x="285720" y="285728"/>
            <a:ext cx="8678768" cy="5857916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二维数组举例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4.34】</a:t>
            </a:r>
            <a:r>
              <a:rPr lang="zh-CN" altLang="en-US" sz="2800" b="1" dirty="0">
                <a:latin typeface="+mj-ea"/>
                <a:ea typeface="+mj-ea"/>
              </a:rPr>
              <a:t>分析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将“字符屏幕”与程序中的一个二维字符数组建立对应关系。如，本程序的</a:t>
            </a:r>
            <a:r>
              <a:rPr lang="en-US" altLang="zh-CN" sz="2800" b="1" dirty="0">
                <a:latin typeface="+mj-ea"/>
                <a:ea typeface="+mj-ea"/>
              </a:rPr>
              <a:t>rose</a:t>
            </a:r>
            <a:r>
              <a:rPr lang="zh-CN" altLang="en-US" sz="2800" b="1" dirty="0">
                <a:latin typeface="+mj-ea"/>
                <a:ea typeface="+mj-ea"/>
              </a:rPr>
              <a:t>数组就对应于欲显示的“字符屏幕”，其中的</a:t>
            </a:r>
            <a:r>
              <a:rPr lang="en-US" altLang="zh-CN" sz="2800" b="1" dirty="0">
                <a:latin typeface="+mj-ea"/>
                <a:ea typeface="+mj-ea"/>
              </a:rPr>
              <a:t>rose[0][0]</a:t>
            </a:r>
            <a:r>
              <a:rPr lang="zh-CN" altLang="en-US" sz="2800" b="1" dirty="0">
                <a:latin typeface="+mj-ea"/>
                <a:ea typeface="+mj-ea"/>
              </a:rPr>
              <a:t>表示“字符屏幕”的左上角点，而</a:t>
            </a:r>
            <a:r>
              <a:rPr lang="en-US" altLang="zh-CN" sz="2800" b="1" dirty="0">
                <a:latin typeface="+mj-ea"/>
                <a:ea typeface="+mj-ea"/>
              </a:rPr>
              <a:t>rose[y][x]</a:t>
            </a:r>
            <a:r>
              <a:rPr lang="zh-CN" altLang="en-US" sz="2800" b="1" dirty="0">
                <a:latin typeface="+mj-ea"/>
                <a:ea typeface="+mj-ea"/>
              </a:rPr>
              <a:t>则表示“字符屏幕”的第</a:t>
            </a:r>
            <a:r>
              <a:rPr lang="en-US" altLang="zh-CN" sz="2800" b="1" dirty="0">
                <a:latin typeface="+mj-ea"/>
                <a:ea typeface="+mj-ea"/>
              </a:rPr>
              <a:t>y+1</a:t>
            </a:r>
            <a:r>
              <a:rPr lang="zh-CN" altLang="en-US" sz="2800" b="1" dirty="0">
                <a:latin typeface="+mj-ea"/>
                <a:ea typeface="+mj-ea"/>
              </a:rPr>
              <a:t>行第</a:t>
            </a:r>
            <a:r>
              <a:rPr lang="en-US" altLang="zh-CN" sz="2800" b="1" dirty="0">
                <a:latin typeface="+mj-ea"/>
                <a:ea typeface="+mj-ea"/>
              </a:rPr>
              <a:t>x+1</a:t>
            </a:r>
            <a:r>
              <a:rPr lang="zh-CN" altLang="en-US" sz="2800" b="1" dirty="0">
                <a:latin typeface="+mj-ea"/>
                <a:ea typeface="+mj-ea"/>
              </a:rPr>
              <a:t>列的那一个点（</a:t>
            </a:r>
            <a:r>
              <a:rPr lang="en-US" altLang="zh-CN" sz="2800" b="1" dirty="0">
                <a:latin typeface="+mj-ea"/>
                <a:ea typeface="+mj-ea"/>
              </a:rPr>
              <a:t>y</a:t>
            </a:r>
            <a:r>
              <a:rPr lang="zh-CN" altLang="en-US" sz="2800" b="1" dirty="0">
                <a:latin typeface="+mj-ea"/>
                <a:ea typeface="+mj-ea"/>
              </a:rPr>
              <a:t>值即行号由上往下扩展, </a:t>
            </a:r>
            <a:r>
              <a:rPr lang="en-US" altLang="zh-CN" sz="2800" b="1" dirty="0">
                <a:latin typeface="+mj-ea"/>
                <a:ea typeface="+mj-ea"/>
              </a:rPr>
              <a:t>x</a:t>
            </a:r>
            <a:r>
              <a:rPr lang="zh-CN" altLang="en-US" sz="2800" b="1" dirty="0">
                <a:latin typeface="+mj-ea"/>
                <a:ea typeface="+mj-ea"/>
              </a:rPr>
              <a:t>值即列号由左往右扩展）。</a:t>
            </a: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将二维字符数组的各元素均置为“空”（对应于一个“空白字符屏幕”）。</a:t>
            </a:r>
          </a:p>
          <a:p>
            <a:pPr lvl="2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896E88E-99A2-4A50-BC58-62F3F5A373B3}" type="slidenum">
              <a:rPr lang="en-US" altLang="zh-CN" smtClean="0"/>
              <a:pPr>
                <a:defRPr/>
              </a:pPr>
              <a:t>32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1" name="内容占位符 2"/>
          <p:cNvSpPr>
            <a:spLocks noGrp="1"/>
          </p:cNvSpPr>
          <p:nvPr>
            <p:ph idx="1"/>
          </p:nvPr>
        </p:nvSpPr>
        <p:spPr>
          <a:xfrm>
            <a:off x="357158" y="428604"/>
            <a:ext cx="8679338" cy="588071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二维数组举例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4.34】</a:t>
            </a:r>
            <a:r>
              <a:rPr lang="zh-CN" altLang="en-US" sz="2800" b="1" dirty="0">
                <a:latin typeface="+mj-ea"/>
                <a:ea typeface="+mj-ea"/>
              </a:rPr>
              <a:t>分析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按某种计算方法（或计算公式）算出应该在“字符屏幕”的哪些位置处“画点”（通过往对应字符数组的某些元素处置“*”符号来完成）。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将已准备好的当前字符数组显示到“字符屏幕”上（在“字符屏幕”上“画”出了所需图形）。</a:t>
            </a:r>
          </a:p>
          <a:p>
            <a:pPr lvl="2">
              <a:lnSpc>
                <a:spcPct val="90000"/>
              </a:lnSpc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F72DAA-F924-44ED-99D4-CEFCC9518A96}" type="slidenum">
              <a:rPr lang="en-US" altLang="zh-CN" smtClean="0"/>
              <a:pPr>
                <a:defRPr/>
              </a:pPr>
              <a:t>33</a:t>
            </a:fld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内容占位符 2"/>
          <p:cNvSpPr>
            <a:spLocks noGrp="1"/>
          </p:cNvSpPr>
          <p:nvPr>
            <p:ph idx="1"/>
          </p:nvPr>
        </p:nvSpPr>
        <p:spPr>
          <a:xfrm>
            <a:off x="214282" y="285728"/>
            <a:ext cx="8786874" cy="6203642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二维数组举例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4.34】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实现方法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把360度分为足够多的若干份（本例分为128份），在每个分定的角度</a:t>
            </a:r>
            <a:r>
              <a:rPr lang="en-US" altLang="zh-CN" sz="2800" b="1" dirty="0">
                <a:latin typeface="+mj-ea"/>
                <a:ea typeface="+mj-ea"/>
              </a:rPr>
              <a:t>angle</a:t>
            </a:r>
            <a:r>
              <a:rPr lang="zh-CN" altLang="en-US" sz="2800" b="1" dirty="0">
                <a:latin typeface="+mj-ea"/>
                <a:ea typeface="+mj-ea"/>
              </a:rPr>
              <a:t>处，按照上述的极坐标方程，计算出每一个对应的函数值</a:t>
            </a:r>
            <a:r>
              <a:rPr lang="en-US" altLang="zh-CN" sz="2800" b="1" dirty="0">
                <a:latin typeface="+mj-ea"/>
                <a:ea typeface="+mj-ea"/>
              </a:rPr>
              <a:t>p（</a:t>
            </a:r>
            <a:r>
              <a:rPr lang="zh-CN" altLang="en-US" sz="2800" b="1" dirty="0">
                <a:latin typeface="+mj-ea"/>
                <a:ea typeface="+mj-ea"/>
              </a:rPr>
              <a:t>即极径），从而得到平面上的一批点；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将这批平面点对应到“字符屏幕”上（相应的</a:t>
            </a:r>
            <a:r>
              <a:rPr lang="en-US" altLang="zh-CN" sz="2800" b="1" dirty="0">
                <a:latin typeface="+mj-ea"/>
                <a:ea typeface="+mj-ea"/>
              </a:rPr>
              <a:t>rose</a:t>
            </a:r>
            <a:r>
              <a:rPr lang="zh-CN" altLang="en-US" sz="2800" b="1" dirty="0">
                <a:latin typeface="+mj-ea"/>
                <a:ea typeface="+mj-ea"/>
              </a:rPr>
              <a:t>数组中），并将每一个点用一个字符“*”来表示并显示到屏幕上（“字符屏幕”上的其他点均显示为“空”，即空格）。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45C8D9A-9097-46F6-97F6-F3F0CC87D94D}" type="slidenum">
              <a:rPr lang="en-US" altLang="zh-CN" smtClean="0"/>
              <a:pPr>
                <a:defRPr/>
              </a:pPr>
              <a:t>34</a:t>
            </a:fld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9" name="内容占位符 2"/>
          <p:cNvSpPr>
            <a:spLocks noGrp="1"/>
          </p:cNvSpPr>
          <p:nvPr>
            <p:ph idx="1"/>
          </p:nvPr>
        </p:nvSpPr>
        <p:spPr>
          <a:xfrm>
            <a:off x="357158" y="357166"/>
            <a:ext cx="8501122" cy="6143668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include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cmath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  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//use “sin”、“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cos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std;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maxY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=22;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//"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字符屏幕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的最大行数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maxX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=70;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//“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字符屏幕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的最大列数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 double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pai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=3.14159, a=12.0;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//a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表示所画图形中，矩极点的最长距离，设为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12</a:t>
            </a:r>
            <a:endParaRPr lang="zh-CN" altLang="en-US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aspect=2;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/*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屏幕字符“高:宽”为2:1，生成曲线时，每点的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要乘以2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*/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float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angle,p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//angle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表示极角，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表示极径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x,y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x，y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用于表示屏幕坐标</a:t>
            </a: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</a:pPr>
            <a:endParaRPr lang="zh-CN" altLang="en-US" sz="2400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679AE85-154B-4B02-820A-D1055F425F22}" type="slidenum">
              <a:rPr lang="en-US" altLang="zh-CN" smtClean="0"/>
              <a:pPr>
                <a:defRPr/>
              </a:pPr>
              <a:t>35</a:t>
            </a:fld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401050" cy="502920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char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rose[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maxY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][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maxX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]; 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//rose[y][x]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表示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字符屏幕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”y+1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行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x+1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列的那一个点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(y=0; y&lt;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maxY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y++)  	//</a:t>
            </a: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设置“空白字符屏幕”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(x=0; x&lt;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maxX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x++)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rose[y][x]=' ';	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各数组元素字符均置为空格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=128; 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把360度分为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nn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份（所画图形由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nn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=128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个点构成）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072850-CDF7-414D-897E-DD2F59EFFC38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7" name="内容占位符 2"/>
          <p:cNvSpPr>
            <a:spLocks noGrp="1"/>
          </p:cNvSpPr>
          <p:nvPr>
            <p:ph idx="1"/>
          </p:nvPr>
        </p:nvSpPr>
        <p:spPr>
          <a:xfrm>
            <a:off x="457200" y="1000108"/>
            <a:ext cx="8401050" cy="5324492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++){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计算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nn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=128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个屏幕点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angle =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*2*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pai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将角度化为弧度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 = a*sin(2*angle);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算出极径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x =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(p*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cos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(angle))*aspect + 24; 	 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//x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坐标值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y =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(p*sin(angle)) + 12;		 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//y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坐标值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//算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时加24，算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时加12，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//是设定(24,12)为极点位置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rose[y][x]='*';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往(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y,x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点处放置“*”符号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spcBef>
                <a:spcPct val="0"/>
              </a:spcBef>
            </a:pPr>
            <a:endParaRPr lang="zh-CN" altLang="en-US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624C0F-F5DB-424E-B41E-7BDC92B29F9E}" type="slidenum">
              <a:rPr lang="en-US" altLang="zh-CN" smtClean="0"/>
              <a:pPr>
                <a:defRPr/>
              </a:pPr>
              <a:t>37</a:t>
            </a:fld>
            <a:endParaRPr lang="en-US" altLang="zh-C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内容占位符 2"/>
          <p:cNvSpPr>
            <a:spLocks noGrp="1"/>
          </p:cNvSpPr>
          <p:nvPr>
            <p:ph idx="1"/>
          </p:nvPr>
        </p:nvSpPr>
        <p:spPr>
          <a:xfrm>
            <a:off x="785786" y="357166"/>
            <a:ext cx="7929618" cy="5274948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将当前字符数组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rose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中的各字符显示到屏幕上（画 图形）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*/</a:t>
            </a:r>
            <a:endParaRPr lang="zh-CN" altLang="en-US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(y=0; y&lt;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maxY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y++) {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行号变化范围，共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maxY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行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(x=0; x&lt;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maxX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x++)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列号变化范围, 共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maxX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列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&lt;&lt;rose[y][x];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		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显示出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rose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中的各字符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  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//main</a:t>
            </a:r>
          </a:p>
          <a:p>
            <a:pPr>
              <a:spcBef>
                <a:spcPct val="0"/>
              </a:spcBef>
            </a:pPr>
            <a:endParaRPr lang="zh-CN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BC0D4-04CA-4438-B1DD-F20B239737D9}" type="slidenum">
              <a:rPr lang="en-US" altLang="zh-CN" smtClean="0"/>
              <a:pPr>
                <a:defRPr/>
              </a:pPr>
              <a:t>38</a:t>
            </a:fld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内容占位符 2"/>
          <p:cNvSpPr>
            <a:spLocks noGrp="1"/>
          </p:cNvSpPr>
          <p:nvPr>
            <p:ph idx="1"/>
          </p:nvPr>
        </p:nvSpPr>
        <p:spPr>
          <a:xfrm>
            <a:off x="214282" y="71414"/>
            <a:ext cx="8429684" cy="1357322"/>
          </a:xfrm>
        </p:spPr>
        <p:txBody>
          <a:bodyPr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+mj-ea"/>
                <a:ea typeface="+mj-ea"/>
              </a:rPr>
              <a:t>数组元素排序问题</a:t>
            </a:r>
            <a:endParaRPr lang="en-US" altLang="zh-CN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4.X】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冒泡排序。随机生成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10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个数，按照由小到大的顺序输出。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31B709-F38D-4D1D-B52A-B3783289C646}" type="slidenum">
              <a:rPr lang="en-US" altLang="zh-CN" smtClean="0"/>
              <a:pPr>
                <a:defRPr/>
              </a:pPr>
              <a:t>39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179544" y="1150619"/>
            <a:ext cx="896448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iomanip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20000"/>
              </a:lnSpc>
            </a:pP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[10] = {4,10,9,8,7,6,5,4,3,2};</a:t>
            </a:r>
            <a:r>
              <a:rPr lang="en-US" altLang="zh-CN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//</a:t>
            </a:r>
            <a:r>
              <a:rPr lang="zh-CN" alt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创建</a:t>
            </a:r>
            <a:r>
              <a:rPr lang="en-US" altLang="zh-CN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zh-CN" alt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个数据，测试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&lt; 10;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从数组尾部检查是否比上面一个小，把小的冒泡浮上去</a:t>
            </a: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zh-CN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j = 9; j &gt;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j--)  {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zh-CN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[j] &lt;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[j - 1]) {</a:t>
            </a:r>
            <a:r>
              <a:rPr lang="en-US" altLang="zh-CN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如果下面的比上面小，交换</a:t>
            </a:r>
            <a:endParaRPr lang="en-US" altLang="zh-CN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nTemp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[j];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[j] =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[j - 1];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[j - 1] = 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nTemp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               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}</a:t>
            </a:r>
            <a:endParaRPr lang="zh-CN" altLang="en-US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40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251520" y="1340768"/>
            <a:ext cx="79208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&lt; 10;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 {          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cout.setf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::left);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	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(5)&lt;&lt;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nData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0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   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0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7239000" cy="605808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  <a:endParaRPr lang="zh-CN" altLang="en-US" dirty="0"/>
          </a:p>
        </p:txBody>
      </p:sp>
      <p:pic>
        <p:nvPicPr>
          <p:cNvPr id="6" name="内容占位符 5" descr="冒泡排序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85775" y="2057400"/>
            <a:ext cx="8096250" cy="3505200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41</a:t>
            </a:fld>
            <a:endParaRPr lang="en-US" altLang="zh-CN" dirty="0"/>
          </a:p>
        </p:txBody>
      </p:sp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64288" y="1959563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00192" y="2348880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36096" y="2751651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0" y="3140968"/>
            <a:ext cx="533333" cy="533333"/>
          </a:xfrm>
          <a:prstGeom prst="rect">
            <a:avLst/>
          </a:prstGeom>
        </p:spPr>
      </p:pic>
      <p:pic>
        <p:nvPicPr>
          <p:cNvPr id="13" name="图片 12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07904" y="3543739"/>
            <a:ext cx="533333" cy="533333"/>
          </a:xfrm>
          <a:prstGeom prst="rect">
            <a:avLst/>
          </a:prstGeom>
        </p:spPr>
      </p:pic>
      <p:pic>
        <p:nvPicPr>
          <p:cNvPr id="14" name="图片 13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43808" y="3933056"/>
            <a:ext cx="533333" cy="533333"/>
          </a:xfrm>
          <a:prstGeom prst="rect">
            <a:avLst/>
          </a:prstGeom>
        </p:spPr>
      </p:pic>
      <p:pic>
        <p:nvPicPr>
          <p:cNvPr id="15" name="图片 14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22443" y="4293096"/>
            <a:ext cx="533333" cy="533333"/>
          </a:xfrm>
          <a:prstGeom prst="rect">
            <a:avLst/>
          </a:prstGeom>
        </p:spPr>
      </p:pic>
      <p:pic>
        <p:nvPicPr>
          <p:cNvPr id="16" name="图片 15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87624" y="4695867"/>
            <a:ext cx="533333" cy="533333"/>
          </a:xfrm>
          <a:prstGeom prst="rect">
            <a:avLst/>
          </a:prstGeom>
        </p:spPr>
      </p:pic>
      <p:pic>
        <p:nvPicPr>
          <p:cNvPr id="17" name="图片 16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4251" y="5085184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  <a:endParaRPr lang="zh-CN" altLang="en-US" dirty="0"/>
          </a:p>
        </p:txBody>
      </p:sp>
      <p:pic>
        <p:nvPicPr>
          <p:cNvPr id="6" name="内容占位符 5" descr="冒泡排序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57709" y="2052857"/>
            <a:ext cx="7952381" cy="3514286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42</a:t>
            </a:fld>
            <a:endParaRPr lang="en-US" altLang="zh-CN" dirty="0"/>
          </a:p>
        </p:txBody>
      </p:sp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71115" y="1959563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6296" y="2348880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72200" y="2780928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08104" y="3140968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4008" y="3543739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79912" y="3933056"/>
            <a:ext cx="533333" cy="533333"/>
          </a:xfrm>
          <a:prstGeom prst="rect">
            <a:avLst/>
          </a:prstGeom>
        </p:spPr>
      </p:pic>
      <p:pic>
        <p:nvPicPr>
          <p:cNvPr id="13" name="图片 12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58547" y="4335827"/>
            <a:ext cx="533333" cy="533333"/>
          </a:xfrm>
          <a:prstGeom prst="rect">
            <a:avLst/>
          </a:prstGeom>
        </p:spPr>
      </p:pic>
      <p:pic>
        <p:nvPicPr>
          <p:cNvPr id="14" name="图片 13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94451" y="4725144"/>
            <a:ext cx="533333" cy="533333"/>
          </a:xfrm>
          <a:prstGeom prst="rect">
            <a:avLst/>
          </a:prstGeom>
        </p:spPr>
      </p:pic>
      <p:pic>
        <p:nvPicPr>
          <p:cNvPr id="15" name="图片 14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0355" y="5085184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itchFamily="49" charset="-122"/>
                <a:ea typeface="黑体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899" y="2262381"/>
            <a:ext cx="8000001" cy="3095238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43</a:t>
            </a:fld>
            <a:endParaRPr lang="en-US" altLang="zh-CN" dirty="0"/>
          </a:p>
        </p:txBody>
      </p:sp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71115" y="2175587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6296" y="2564904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72200" y="2967675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08104" y="3356992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14731" y="3717032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79912" y="4119803"/>
            <a:ext cx="533333" cy="533333"/>
          </a:xfrm>
          <a:prstGeom prst="rect">
            <a:avLst/>
          </a:prstGeom>
        </p:spPr>
      </p:pic>
      <p:pic>
        <p:nvPicPr>
          <p:cNvPr id="13" name="图片 12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15816" y="4509120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itchFamily="49" charset="-122"/>
                <a:ea typeface="黑体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4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67233" y="2648095"/>
            <a:ext cx="7933334" cy="2323810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44</a:t>
            </a:fld>
            <a:endParaRPr lang="en-US" altLang="zh-CN" dirty="0"/>
          </a:p>
        </p:txBody>
      </p:sp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71115" y="2535627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6296" y="2967675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72200" y="3356992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08104" y="3759763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86739" y="4149080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22643" y="4551851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itchFamily="49" charset="-122"/>
                <a:ea typeface="黑体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5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48185" y="2848095"/>
            <a:ext cx="7971429" cy="1923810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45</a:t>
            </a:fld>
            <a:endParaRPr lang="en-US" altLang="zh-CN" dirty="0"/>
          </a:p>
        </p:txBody>
      </p:sp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71115" y="2751651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6296" y="3140968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42923" y="3543739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08104" y="3933056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4008" y="4335827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黑体" pitchFamily="49" charset="-122"/>
                <a:ea typeface="黑体" pitchFamily="49" charset="-122"/>
              </a:rPr>
              <a:t>数组类型</a:t>
            </a:r>
            <a:endParaRPr lang="zh-CN" altLang="en-US"/>
          </a:p>
        </p:txBody>
      </p:sp>
      <p:pic>
        <p:nvPicPr>
          <p:cNvPr id="6" name="内容占位符 5" descr="冒泡排序6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95804" y="3033809"/>
            <a:ext cx="8076191" cy="1552381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46</a:t>
            </a:fld>
            <a:endParaRPr lang="en-US" altLang="zh-CN" dirty="0"/>
          </a:p>
        </p:txBody>
      </p:sp>
      <p:pic>
        <p:nvPicPr>
          <p:cNvPr id="7" name="图片 6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28384" y="2895667"/>
            <a:ext cx="533333" cy="533333"/>
          </a:xfrm>
          <a:prstGeom prst="rect">
            <a:avLst/>
          </a:prstGeom>
        </p:spPr>
      </p:pic>
      <p:pic>
        <p:nvPicPr>
          <p:cNvPr id="8" name="图片 7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64288" y="3327715"/>
            <a:ext cx="533333" cy="533333"/>
          </a:xfrm>
          <a:prstGeom prst="rect">
            <a:avLst/>
          </a:prstGeom>
        </p:spPr>
      </p:pic>
      <p:pic>
        <p:nvPicPr>
          <p:cNvPr id="9" name="图片 8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00192" y="3717032"/>
            <a:ext cx="533333" cy="533333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36096" y="4077072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94300"/>
            <a:ext cx="7239000" cy="605808"/>
          </a:xfrm>
        </p:spPr>
        <p:txBody>
          <a:bodyPr/>
          <a:lstStyle/>
          <a:p>
            <a:r>
              <a:rPr lang="zh-CN" altLang="en-US" dirty="0">
                <a:latin typeface="黑体" pitchFamily="49" charset="-122"/>
                <a:ea typeface="黑体" pitchFamily="49" charset="-122"/>
              </a:rPr>
              <a:t>数组类型</a:t>
            </a:r>
            <a:endParaRPr lang="zh-CN" altLang="en-US" dirty="0"/>
          </a:p>
        </p:txBody>
      </p:sp>
      <p:pic>
        <p:nvPicPr>
          <p:cNvPr id="6" name="内容占位符 5" descr="冒泡排序7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899" y="1638071"/>
            <a:ext cx="8000001" cy="1142857"/>
          </a:xfrm>
        </p:spPr>
      </p:pic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1736A61-5FE0-4033-A2BB-50F023AC4D63}" type="slidenum">
              <a:rPr lang="en-US" altLang="zh-CN" smtClean="0"/>
              <a:pPr>
                <a:defRPr/>
              </a:pPr>
              <a:t>47</a:t>
            </a:fld>
            <a:endParaRPr lang="en-US" altLang="zh-CN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251520" y="3356992"/>
            <a:ext cx="8424936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9" name="图片 8" descr="冒泡排序8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8666" y="4005064"/>
            <a:ext cx="8266667" cy="771429"/>
          </a:xfrm>
          <a:prstGeom prst="rect">
            <a:avLst/>
          </a:prstGeom>
        </p:spPr>
      </p:pic>
      <p:pic>
        <p:nvPicPr>
          <p:cNvPr id="10" name="图片 9" descr="红色边框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071115" y="1484784"/>
            <a:ext cx="533333" cy="533333"/>
          </a:xfrm>
          <a:prstGeom prst="rect">
            <a:avLst/>
          </a:prstGeom>
        </p:spPr>
      </p:pic>
      <p:pic>
        <p:nvPicPr>
          <p:cNvPr id="11" name="图片 10" descr="红色边框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36296" y="1916832"/>
            <a:ext cx="533333" cy="533333"/>
          </a:xfrm>
          <a:prstGeom prst="rect">
            <a:avLst/>
          </a:prstGeom>
        </p:spPr>
      </p:pic>
      <p:pic>
        <p:nvPicPr>
          <p:cNvPr id="12" name="图片 11" descr="红色边框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72200" y="2319603"/>
            <a:ext cx="533333" cy="533333"/>
          </a:xfrm>
          <a:prstGeom prst="rect">
            <a:avLst/>
          </a:prstGeom>
        </p:spPr>
      </p:pic>
      <p:pic>
        <p:nvPicPr>
          <p:cNvPr id="13" name="图片 12" descr="红色边框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56376" y="3903779"/>
            <a:ext cx="533333" cy="533333"/>
          </a:xfrm>
          <a:prstGeom prst="rect">
            <a:avLst/>
          </a:prstGeom>
        </p:spPr>
      </p:pic>
      <p:pic>
        <p:nvPicPr>
          <p:cNvPr id="14" name="图片 13" descr="红色边框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35011" y="4335827"/>
            <a:ext cx="533333" cy="53333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626</TotalTime>
  <Words>4273</Words>
  <Application>Microsoft Office PowerPoint</Application>
  <PresentationFormat>全屏显示(4:3)</PresentationFormat>
  <Paragraphs>413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7" baseType="lpstr">
      <vt:lpstr>楷体_GB2312</vt:lpstr>
      <vt:lpstr>黑体</vt:lpstr>
      <vt:lpstr>宋体</vt:lpstr>
      <vt:lpstr>华文新魏</vt:lpstr>
      <vt:lpstr>Calibri</vt:lpstr>
      <vt:lpstr>Courier New</vt:lpstr>
      <vt:lpstr>Trebuchet MS</vt:lpstr>
      <vt:lpstr>Wingdings</vt:lpstr>
      <vt:lpstr>Wingdings 2</vt:lpstr>
      <vt:lpstr>华丽</vt:lpstr>
      <vt:lpstr>C/C++程序设计</vt:lpstr>
      <vt:lpstr>导出数据类型</vt:lpstr>
      <vt:lpstr>数组类型</vt:lpstr>
      <vt:lpstr>数组类型</vt:lpstr>
      <vt:lpstr>数组类型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数组类型</vt:lpstr>
      <vt:lpstr>PowerPoint 演示文稿</vt:lpstr>
      <vt:lpstr>PowerPoint 演示文稿</vt:lpstr>
      <vt:lpstr>数组类型</vt:lpstr>
      <vt:lpstr>数组类型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数组类型</vt:lpstr>
      <vt:lpstr>数组类型</vt:lpstr>
      <vt:lpstr>数组类型</vt:lpstr>
      <vt:lpstr>数组类型</vt:lpstr>
      <vt:lpstr>数组类型</vt:lpstr>
      <vt:lpstr>数组类型</vt:lpstr>
      <vt:lpstr>数组类型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C/C++程序设计</dc:title>
  <dc:creator>user</dc:creator>
  <cp:lastModifiedBy>86186</cp:lastModifiedBy>
  <cp:revision>33</cp:revision>
  <dcterms:created xsi:type="dcterms:W3CDTF">2016-10-28T03:34:46Z</dcterms:created>
  <dcterms:modified xsi:type="dcterms:W3CDTF">2020-11-04T13:55:44Z</dcterms:modified>
</cp:coreProperties>
</file>