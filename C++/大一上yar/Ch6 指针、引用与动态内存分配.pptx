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tags/tag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61.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40.xml" ContentType="application/vnd.openxmlformats-officedocument.presentationml.tags+xml"/>
  <Override PartName="/ppt/notesSlides/notesSlide31.xml" ContentType="application/vnd.openxmlformats-officedocument.presentationml.notesSlide+xml"/>
  <Override PartName="/ppt/tags/tag241.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42.xml" ContentType="application/vnd.openxmlformats-officedocument.presentationml.tags+xml"/>
  <Override PartName="/ppt/notesSlides/notesSlide35.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notesSlides/notesSlide36.xml" ContentType="application/vnd.openxmlformats-officedocument.presentationml.notesSlide+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37.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342.xml" ContentType="application/vnd.openxmlformats-officedocument.presentationml.tags+xml"/>
  <Override PartName="/ppt/notesSlides/notesSlide40.xml" ContentType="application/vnd.openxmlformats-officedocument.presentationml.notesSlide+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396.xml" ContentType="application/vnd.openxmlformats-officedocument.presentationml.tags+xml"/>
  <Override PartName="/ppt/notesSlides/notesSlide44.xml" ContentType="application/vnd.openxmlformats-officedocument.presentationml.notesSlide+xml"/>
  <Override PartName="/ppt/tags/tag397.xml" ContentType="application/vnd.openxmlformats-officedocument.presentationml.tags+xml"/>
  <Override PartName="/ppt/tags/tag398.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47.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461.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6"/>
  </p:notesMasterIdLst>
  <p:sldIdLst>
    <p:sldId id="1194" r:id="rId2"/>
    <p:sldId id="1031" r:id="rId3"/>
    <p:sldId id="1033" r:id="rId4"/>
    <p:sldId id="1040" r:id="rId5"/>
    <p:sldId id="1041" r:id="rId6"/>
    <p:sldId id="1043" r:id="rId7"/>
    <p:sldId id="1034" r:id="rId8"/>
    <p:sldId id="1039" r:id="rId9"/>
    <p:sldId id="1037" r:id="rId10"/>
    <p:sldId id="1036" r:id="rId11"/>
    <p:sldId id="1044" r:id="rId12"/>
    <p:sldId id="1045" r:id="rId13"/>
    <p:sldId id="1046" r:id="rId14"/>
    <p:sldId id="1047" r:id="rId15"/>
    <p:sldId id="1048" r:id="rId16"/>
    <p:sldId id="1049" r:id="rId17"/>
    <p:sldId id="1050" r:id="rId18"/>
    <p:sldId id="1051" r:id="rId19"/>
    <p:sldId id="1052" r:id="rId20"/>
    <p:sldId id="1195" r:id="rId21"/>
    <p:sldId id="1196" r:id="rId22"/>
    <p:sldId id="1197" r:id="rId23"/>
    <p:sldId id="1198" r:id="rId24"/>
    <p:sldId id="1053" r:id="rId25"/>
    <p:sldId id="1054" r:id="rId26"/>
    <p:sldId id="1055" r:id="rId27"/>
    <p:sldId id="1056" r:id="rId28"/>
    <p:sldId id="1057" r:id="rId29"/>
    <p:sldId id="1058" r:id="rId30"/>
    <p:sldId id="1059" r:id="rId31"/>
    <p:sldId id="1060" r:id="rId32"/>
    <p:sldId id="1061" r:id="rId33"/>
    <p:sldId id="1062" r:id="rId34"/>
    <p:sldId id="1063" r:id="rId35"/>
    <p:sldId id="1064" r:id="rId36"/>
    <p:sldId id="1065" r:id="rId37"/>
    <p:sldId id="1199" r:id="rId38"/>
    <p:sldId id="1200" r:id="rId39"/>
    <p:sldId id="1211" r:id="rId40"/>
    <p:sldId id="1217" r:id="rId41"/>
    <p:sldId id="1066" r:id="rId42"/>
    <p:sldId id="1067" r:id="rId43"/>
    <p:sldId id="1068" r:id="rId44"/>
    <p:sldId id="1069" r:id="rId45"/>
    <p:sldId id="1070" r:id="rId46"/>
    <p:sldId id="1201" r:id="rId47"/>
    <p:sldId id="1071" r:id="rId48"/>
    <p:sldId id="1072" r:id="rId49"/>
    <p:sldId id="1073" r:id="rId50"/>
    <p:sldId id="1074" r:id="rId51"/>
    <p:sldId id="1075" r:id="rId52"/>
    <p:sldId id="1076" r:id="rId53"/>
    <p:sldId id="1077" r:id="rId54"/>
    <p:sldId id="1078" r:id="rId55"/>
    <p:sldId id="1079" r:id="rId56"/>
    <p:sldId id="1203" r:id="rId57"/>
    <p:sldId id="1208" r:id="rId58"/>
    <p:sldId id="1209" r:id="rId59"/>
    <p:sldId id="1210" r:id="rId60"/>
    <p:sldId id="1220" r:id="rId61"/>
    <p:sldId id="1080" r:id="rId62"/>
    <p:sldId id="1081" r:id="rId63"/>
    <p:sldId id="1082" r:id="rId64"/>
    <p:sldId id="1083" r:id="rId65"/>
    <p:sldId id="1084" r:id="rId66"/>
    <p:sldId id="1085" r:id="rId67"/>
    <p:sldId id="1086" r:id="rId68"/>
    <p:sldId id="1087" r:id="rId69"/>
    <p:sldId id="1088" r:id="rId70"/>
    <p:sldId id="1089" r:id="rId71"/>
    <p:sldId id="1090" r:id="rId72"/>
    <p:sldId id="1214" r:id="rId73"/>
    <p:sldId id="1202" r:id="rId74"/>
    <p:sldId id="1218" r:id="rId75"/>
    <p:sldId id="1091" r:id="rId76"/>
    <p:sldId id="1092" r:id="rId77"/>
    <p:sldId id="1093" r:id="rId78"/>
    <p:sldId id="1094" r:id="rId79"/>
    <p:sldId id="1095" r:id="rId80"/>
    <p:sldId id="1204" r:id="rId81"/>
    <p:sldId id="1219" r:id="rId82"/>
    <p:sldId id="1096" r:id="rId83"/>
    <p:sldId id="1097" r:id="rId84"/>
    <p:sldId id="1098" r:id="rId85"/>
    <p:sldId id="1099" r:id="rId86"/>
    <p:sldId id="1100" r:id="rId87"/>
    <p:sldId id="1101" r:id="rId88"/>
    <p:sldId id="1212" r:id="rId89"/>
    <p:sldId id="1213" r:id="rId90"/>
    <p:sldId id="1224" r:id="rId91"/>
    <p:sldId id="1102" r:id="rId92"/>
    <p:sldId id="1103" r:id="rId93"/>
    <p:sldId id="1104" r:id="rId94"/>
    <p:sldId id="1105" r:id="rId95"/>
    <p:sldId id="1106" r:id="rId96"/>
    <p:sldId id="1107" r:id="rId97"/>
    <p:sldId id="1205" r:id="rId98"/>
    <p:sldId id="1206" r:id="rId99"/>
    <p:sldId id="540" r:id="rId100"/>
    <p:sldId id="1108" r:id="rId101"/>
    <p:sldId id="1110" r:id="rId102"/>
    <p:sldId id="1111" r:id="rId103"/>
    <p:sldId id="1112" r:id="rId104"/>
    <p:sldId id="1113" r:id="rId105"/>
    <p:sldId id="1114" r:id="rId106"/>
    <p:sldId id="1115" r:id="rId107"/>
    <p:sldId id="1116" r:id="rId108"/>
    <p:sldId id="1117" r:id="rId109"/>
    <p:sldId id="1225" r:id="rId110"/>
    <p:sldId id="1118" r:id="rId111"/>
    <p:sldId id="1119" r:id="rId112"/>
    <p:sldId id="1120" r:id="rId113"/>
    <p:sldId id="1121" r:id="rId114"/>
    <p:sldId id="1122" r:id="rId115"/>
    <p:sldId id="1123" r:id="rId116"/>
    <p:sldId id="1124" r:id="rId117"/>
    <p:sldId id="1215" r:id="rId118"/>
    <p:sldId id="1125" r:id="rId119"/>
    <p:sldId id="1126" r:id="rId120"/>
    <p:sldId id="1127" r:id="rId121"/>
    <p:sldId id="1128" r:id="rId122"/>
    <p:sldId id="1129" r:id="rId123"/>
    <p:sldId id="1130" r:id="rId124"/>
    <p:sldId id="1131" r:id="rId125"/>
    <p:sldId id="1132" r:id="rId126"/>
    <p:sldId id="1221" r:id="rId127"/>
    <p:sldId id="1133" r:id="rId128"/>
    <p:sldId id="1134" r:id="rId129"/>
    <p:sldId id="1135" r:id="rId130"/>
    <p:sldId id="1136" r:id="rId131"/>
    <p:sldId id="1137" r:id="rId132"/>
    <p:sldId id="1138" r:id="rId133"/>
    <p:sldId id="1139" r:id="rId134"/>
    <p:sldId id="1140" r:id="rId135"/>
    <p:sldId id="1207" r:id="rId136"/>
    <p:sldId id="1226" r:id="rId137"/>
    <p:sldId id="1141" r:id="rId138"/>
    <p:sldId id="1142" r:id="rId139"/>
    <p:sldId id="1143" r:id="rId140"/>
    <p:sldId id="1144" r:id="rId141"/>
    <p:sldId id="1145" r:id="rId142"/>
    <p:sldId id="1146" r:id="rId143"/>
    <p:sldId id="1147" r:id="rId144"/>
    <p:sldId id="1148" r:id="rId145"/>
    <p:sldId id="1216" r:id="rId146"/>
    <p:sldId id="1149" r:id="rId147"/>
    <p:sldId id="1150" r:id="rId148"/>
    <p:sldId id="1152" r:id="rId149"/>
    <p:sldId id="1153" r:id="rId150"/>
    <p:sldId id="1154" r:id="rId151"/>
    <p:sldId id="1155" r:id="rId152"/>
    <p:sldId id="1156" r:id="rId153"/>
    <p:sldId id="1157" r:id="rId154"/>
    <p:sldId id="1158" r:id="rId155"/>
    <p:sldId id="1159" r:id="rId156"/>
    <p:sldId id="1160" r:id="rId157"/>
    <p:sldId id="1161" r:id="rId158"/>
    <p:sldId id="1162" r:id="rId159"/>
    <p:sldId id="1163" r:id="rId160"/>
    <p:sldId id="1227" r:id="rId161"/>
    <p:sldId id="1164" r:id="rId162"/>
    <p:sldId id="1165" r:id="rId163"/>
    <p:sldId id="1166" r:id="rId164"/>
    <p:sldId id="1167" r:id="rId165"/>
    <p:sldId id="1168" r:id="rId166"/>
    <p:sldId id="1169" r:id="rId167"/>
    <p:sldId id="1170" r:id="rId168"/>
    <p:sldId id="1171" r:id="rId169"/>
    <p:sldId id="1172" r:id="rId170"/>
    <p:sldId id="1173" r:id="rId171"/>
    <p:sldId id="1174" r:id="rId172"/>
    <p:sldId id="1175" r:id="rId173"/>
    <p:sldId id="1222" r:id="rId174"/>
    <p:sldId id="1228" r:id="rId175"/>
    <p:sldId id="1176" r:id="rId176"/>
    <p:sldId id="1177" r:id="rId177"/>
    <p:sldId id="1178" r:id="rId178"/>
    <p:sldId id="1179" r:id="rId179"/>
    <p:sldId id="1180" r:id="rId180"/>
    <p:sldId id="1181" r:id="rId181"/>
    <p:sldId id="1182" r:id="rId182"/>
    <p:sldId id="1183" r:id="rId183"/>
    <p:sldId id="1184" r:id="rId184"/>
    <p:sldId id="1185" r:id="rId185"/>
    <p:sldId id="1186" r:id="rId186"/>
    <p:sldId id="1223" r:id="rId187"/>
    <p:sldId id="1187" r:id="rId188"/>
    <p:sldId id="1188" r:id="rId189"/>
    <p:sldId id="1189" r:id="rId190"/>
    <p:sldId id="1190" r:id="rId191"/>
    <p:sldId id="1191" r:id="rId192"/>
    <p:sldId id="1192" r:id="rId193"/>
    <p:sldId id="1193" r:id="rId194"/>
    <p:sldId id="746" r:id="rId19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390" autoAdjust="0"/>
  </p:normalViewPr>
  <p:slideViewPr>
    <p:cSldViewPr snapToGrid="0">
      <p:cViewPr>
        <p:scale>
          <a:sx n="66" d="100"/>
          <a:sy n="66" d="100"/>
        </p:scale>
        <p:origin x="1930"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notesMaster" Target="notesMasters/notesMaster1.xml"/><Relationship Id="rId200"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1.wmf"/><Relationship Id="rId4" Type="http://schemas.openxmlformats.org/officeDocument/2006/relationships/image" Target="../media/image4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6467F-702E-4053-BFD7-14F4D09D3269}" type="datetimeFigureOut">
              <a:rPr lang="zh-CN" altLang="en-US" smtClean="0"/>
              <a:t>2021/2/21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2702EA-338D-4425-9434-79968EAA1F25}" type="slidenum">
              <a:rPr lang="zh-CN" altLang="en-US" smtClean="0"/>
              <a:t>‹#›</a:t>
            </a:fld>
            <a:endParaRPr lang="zh-CN" altLang="en-US"/>
          </a:p>
        </p:txBody>
      </p:sp>
    </p:spTree>
    <p:extLst>
      <p:ext uri="{BB962C8B-B14F-4D97-AF65-F5344CB8AC3E}">
        <p14:creationId xmlns:p14="http://schemas.microsoft.com/office/powerpoint/2010/main" val="2040293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2</a:t>
            </a:fld>
            <a:endParaRPr lang="zh-CN" altLang="en-US"/>
          </a:p>
        </p:txBody>
      </p:sp>
    </p:spTree>
    <p:extLst>
      <p:ext uri="{BB962C8B-B14F-4D97-AF65-F5344CB8AC3E}">
        <p14:creationId xmlns:p14="http://schemas.microsoft.com/office/powerpoint/2010/main" val="3791884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3</a:t>
            </a:fld>
            <a:endParaRPr lang="zh-CN" altLang="en-US"/>
          </a:p>
        </p:txBody>
      </p:sp>
    </p:spTree>
    <p:extLst>
      <p:ext uri="{BB962C8B-B14F-4D97-AF65-F5344CB8AC3E}">
        <p14:creationId xmlns:p14="http://schemas.microsoft.com/office/powerpoint/2010/main" val="1719486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4</a:t>
            </a:fld>
            <a:endParaRPr lang="zh-CN" altLang="en-US"/>
          </a:p>
        </p:txBody>
      </p:sp>
    </p:spTree>
    <p:extLst>
      <p:ext uri="{BB962C8B-B14F-4D97-AF65-F5344CB8AC3E}">
        <p14:creationId xmlns:p14="http://schemas.microsoft.com/office/powerpoint/2010/main" val="2173509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5</a:t>
            </a:fld>
            <a:endParaRPr lang="zh-CN" altLang="en-US"/>
          </a:p>
        </p:txBody>
      </p:sp>
    </p:spTree>
    <p:extLst>
      <p:ext uri="{BB962C8B-B14F-4D97-AF65-F5344CB8AC3E}">
        <p14:creationId xmlns:p14="http://schemas.microsoft.com/office/powerpoint/2010/main" val="3859389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6</a:t>
            </a:fld>
            <a:endParaRPr lang="zh-CN" altLang="en-US"/>
          </a:p>
        </p:txBody>
      </p:sp>
    </p:spTree>
    <p:extLst>
      <p:ext uri="{BB962C8B-B14F-4D97-AF65-F5344CB8AC3E}">
        <p14:creationId xmlns:p14="http://schemas.microsoft.com/office/powerpoint/2010/main" val="2169395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7</a:t>
            </a:fld>
            <a:endParaRPr lang="zh-CN" altLang="en-US"/>
          </a:p>
        </p:txBody>
      </p:sp>
    </p:spTree>
    <p:extLst>
      <p:ext uri="{BB962C8B-B14F-4D97-AF65-F5344CB8AC3E}">
        <p14:creationId xmlns:p14="http://schemas.microsoft.com/office/powerpoint/2010/main" val="3176731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8</a:t>
            </a:fld>
            <a:endParaRPr lang="zh-CN" altLang="en-US"/>
          </a:p>
        </p:txBody>
      </p:sp>
    </p:spTree>
    <p:extLst>
      <p:ext uri="{BB962C8B-B14F-4D97-AF65-F5344CB8AC3E}">
        <p14:creationId xmlns:p14="http://schemas.microsoft.com/office/powerpoint/2010/main" val="3044587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9</a:t>
            </a:fld>
            <a:endParaRPr lang="zh-CN" altLang="en-US"/>
          </a:p>
        </p:txBody>
      </p:sp>
    </p:spTree>
    <p:extLst>
      <p:ext uri="{BB962C8B-B14F-4D97-AF65-F5344CB8AC3E}">
        <p14:creationId xmlns:p14="http://schemas.microsoft.com/office/powerpoint/2010/main" val="254394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10</a:t>
            </a:fld>
            <a:endParaRPr lang="zh-CN" altLang="en-US"/>
          </a:p>
        </p:txBody>
      </p:sp>
    </p:spTree>
    <p:extLst>
      <p:ext uri="{BB962C8B-B14F-4D97-AF65-F5344CB8AC3E}">
        <p14:creationId xmlns:p14="http://schemas.microsoft.com/office/powerpoint/2010/main" val="1381670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11</a:t>
            </a:fld>
            <a:endParaRPr lang="zh-CN" altLang="en-US"/>
          </a:p>
        </p:txBody>
      </p:sp>
    </p:spTree>
    <p:extLst>
      <p:ext uri="{BB962C8B-B14F-4D97-AF65-F5344CB8AC3E}">
        <p14:creationId xmlns:p14="http://schemas.microsoft.com/office/powerpoint/2010/main" val="299860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原先的版本中，指针变量占用的空间只说了一般为</a:t>
            </a:r>
            <a:r>
              <a:rPr lang="en-US" altLang="zh-CN" dirty="0"/>
              <a:t>4</a:t>
            </a:r>
            <a:r>
              <a:rPr lang="zh-CN" altLang="en-US" dirty="0"/>
              <a:t>字节，这里说了一下和平台相关</a:t>
            </a:r>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14</a:t>
            </a:fld>
            <a:endParaRPr lang="zh-CN" altLang="en-US"/>
          </a:p>
        </p:txBody>
      </p:sp>
    </p:spTree>
    <p:extLst>
      <p:ext uri="{BB962C8B-B14F-4D97-AF65-F5344CB8AC3E}">
        <p14:creationId xmlns:p14="http://schemas.microsoft.com/office/powerpoint/2010/main" val="4063944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a:solidFill>
                  <a:schemeClr val="tx1"/>
                </a:solidFill>
                <a:effectLst/>
                <a:latin typeface="+mn-lt"/>
                <a:ea typeface="+mn-ea"/>
                <a:cs typeface="+mn-cs"/>
              </a:rPr>
              <a:t>nullptr</a:t>
            </a:r>
            <a:r>
              <a:rPr lang="zh-CN" altLang="en-US" sz="1200" b="0" i="0" kern="1200" dirty="0">
                <a:solidFill>
                  <a:schemeClr val="tx1"/>
                </a:solidFill>
                <a:effectLst/>
                <a:latin typeface="+mn-lt"/>
                <a:ea typeface="+mn-ea"/>
                <a:cs typeface="+mn-cs"/>
              </a:rPr>
              <a:t>是一个字面值常量，类型为</a:t>
            </a:r>
            <a:r>
              <a:rPr lang="en-US" altLang="zh-CN" sz="1200" b="0" i="0" kern="1200" dirty="0" err="1">
                <a:solidFill>
                  <a:schemeClr val="tx1"/>
                </a:solidFill>
                <a:effectLst/>
                <a:latin typeface="+mn-lt"/>
                <a:ea typeface="+mn-ea"/>
                <a:cs typeface="+mn-cs"/>
              </a:rPr>
              <a:t>std</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nullptr_t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空指针常量可以转换为任意类型的指针类型。</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所以在</a:t>
            </a:r>
            <a:r>
              <a:rPr lang="en-US" altLang="zh-CN" sz="1200" b="0" i="0" kern="1200" dirty="0" err="1">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中</a:t>
            </a:r>
            <a:r>
              <a:rPr lang="en-US" altLang="zh-CN" sz="1200" b="0" i="0" kern="1200" dirty="0" err="1">
                <a:solidFill>
                  <a:schemeClr val="tx1"/>
                </a:solidFill>
                <a:effectLst/>
                <a:latin typeface="+mn-lt"/>
                <a:ea typeface="+mn-ea"/>
                <a:cs typeface="+mn-cs"/>
              </a:rPr>
              <a:t>int</a:t>
            </a:r>
            <a:r>
              <a:rPr lang="en-US" altLang="zh-CN" sz="1200" b="0" i="0" kern="1200" dirty="0">
                <a:solidFill>
                  <a:schemeClr val="tx1"/>
                </a:solidFill>
                <a:effectLst/>
                <a:latin typeface="+mn-lt"/>
                <a:ea typeface="+mn-ea"/>
                <a:cs typeface="+mn-cs"/>
              </a:rPr>
              <a:t> *p=NULL; </a:t>
            </a:r>
            <a:r>
              <a:rPr lang="zh-CN" altLang="en-US" sz="1200" b="0" i="0" kern="1200" dirty="0">
                <a:solidFill>
                  <a:schemeClr val="tx1"/>
                </a:solidFill>
                <a:effectLst/>
                <a:latin typeface="+mn-lt"/>
                <a:ea typeface="+mn-ea"/>
                <a:cs typeface="+mn-cs"/>
              </a:rPr>
              <a:t>实际表示将指针</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的值赋为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，而</a:t>
            </a:r>
            <a:r>
              <a:rPr lang="en-US" altLang="zh-CN" sz="1200" b="0" i="0" kern="1200" dirty="0" err="1">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中当一个指针的值为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时，认为指针为空指针</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15</a:t>
            </a:fld>
            <a:endParaRPr lang="zh-CN" altLang="en-US"/>
          </a:p>
        </p:txBody>
      </p:sp>
    </p:spTree>
    <p:extLst>
      <p:ext uri="{BB962C8B-B14F-4D97-AF65-F5344CB8AC3E}">
        <p14:creationId xmlns:p14="http://schemas.microsoft.com/office/powerpoint/2010/main" val="2050889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16</a:t>
            </a:fld>
            <a:endParaRPr lang="zh-CN" altLang="en-US"/>
          </a:p>
        </p:txBody>
      </p:sp>
    </p:spTree>
    <p:extLst>
      <p:ext uri="{BB962C8B-B14F-4D97-AF65-F5344CB8AC3E}">
        <p14:creationId xmlns:p14="http://schemas.microsoft.com/office/powerpoint/2010/main" val="2391249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17</a:t>
            </a:fld>
            <a:endParaRPr lang="zh-CN" altLang="en-US"/>
          </a:p>
        </p:txBody>
      </p:sp>
    </p:spTree>
    <p:extLst>
      <p:ext uri="{BB962C8B-B14F-4D97-AF65-F5344CB8AC3E}">
        <p14:creationId xmlns:p14="http://schemas.microsoft.com/office/powerpoint/2010/main" val="2168218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19</a:t>
            </a:fld>
            <a:endParaRPr lang="zh-CN" altLang="en-US"/>
          </a:p>
        </p:txBody>
      </p:sp>
    </p:spTree>
    <p:extLst>
      <p:ext uri="{BB962C8B-B14F-4D97-AF65-F5344CB8AC3E}">
        <p14:creationId xmlns:p14="http://schemas.microsoft.com/office/powerpoint/2010/main" val="3629719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24</a:t>
            </a:fld>
            <a:endParaRPr lang="zh-CN" altLang="en-US"/>
          </a:p>
        </p:txBody>
      </p:sp>
    </p:spTree>
    <p:extLst>
      <p:ext uri="{BB962C8B-B14F-4D97-AF65-F5344CB8AC3E}">
        <p14:creationId xmlns:p14="http://schemas.microsoft.com/office/powerpoint/2010/main" val="3619060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高版本的</a:t>
            </a:r>
            <a:r>
              <a:rPr lang="en-US" altLang="zh-CN" dirty="0" err="1"/>
              <a:t>.net</a:t>
            </a:r>
            <a:r>
              <a:rPr lang="zh-CN" altLang="en-US" dirty="0"/>
              <a:t>，不再显示</a:t>
            </a:r>
            <a:r>
              <a:rPr lang="en-US" altLang="zh-CN" dirty="0"/>
              <a:t>0x</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25</a:t>
            </a:fld>
            <a:endParaRPr lang="zh-CN" altLang="en-US"/>
          </a:p>
        </p:txBody>
      </p:sp>
    </p:spTree>
    <p:extLst>
      <p:ext uri="{BB962C8B-B14F-4D97-AF65-F5344CB8AC3E}">
        <p14:creationId xmlns:p14="http://schemas.microsoft.com/office/powerpoint/2010/main" val="17117813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gn="just">
              <a:lnSpc>
                <a:spcPct val="80000"/>
              </a:lnSpc>
              <a:buNone/>
            </a:pP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&lt;&lt;*pi; </a:t>
            </a:r>
          </a:p>
          <a:p>
            <a:pPr lvl="1" algn="just">
              <a:lnSpc>
                <a:spcPct val="80000"/>
              </a:lnSpc>
              <a:buNone/>
            </a:pP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a:t>
            </a:r>
            <a:r>
              <a:rPr lang="en-US" altLang="zh-CN" sz="2400" b="1" dirty="0">
                <a:solidFill>
                  <a:srgbClr val="007434"/>
                </a:solidFill>
                <a:latin typeface="Courier New" pitchFamily="49" charset="0"/>
                <a:cs typeface="Courier New" pitchFamily="49" charset="0"/>
              </a:rPr>
              <a:t>pi</a:t>
            </a:r>
            <a:r>
              <a:rPr lang="zh-CN" altLang="en-US" sz="2400" b="1" dirty="0">
                <a:solidFill>
                  <a:srgbClr val="007434"/>
                </a:solidFill>
                <a:latin typeface="Courier New" pitchFamily="49" charset="0"/>
                <a:cs typeface="Courier New" pitchFamily="49" charset="0"/>
              </a:rPr>
              <a:t>之值即3</a:t>
            </a:r>
          </a:p>
          <a:p>
            <a:pPr lvl="1" algn="just">
              <a:lnSpc>
                <a:spcPct val="80000"/>
              </a:lnSpc>
              <a:buNone/>
            </a:pPr>
            <a:r>
              <a:rPr lang="zh-CN" altLang="en-US" sz="2400" b="1" dirty="0">
                <a:solidFill>
                  <a:srgbClr val="007434"/>
                </a:solidFill>
                <a:latin typeface="Courier New" pitchFamily="49" charset="0"/>
                <a:cs typeface="Courier New" pitchFamily="49" charset="0"/>
              </a:rPr>
              <a:t>//“*”作单目算符时为“取内容”</a:t>
            </a:r>
          </a:p>
          <a:p>
            <a:pPr lvl="1" algn="just">
              <a:lnSpc>
                <a:spcPct val="80000"/>
              </a:lnSpc>
              <a:buNone/>
            </a:pPr>
            <a:r>
              <a:rPr lang="zh-CN" altLang="en-US" sz="2400" b="1" dirty="0">
                <a:solidFill>
                  <a:srgbClr val="007434"/>
                </a:solidFill>
                <a:latin typeface="Courier New" pitchFamily="49" charset="0"/>
                <a:cs typeface="Courier New" pitchFamily="49" charset="0"/>
              </a:rPr>
              <a:t>//（取指针所指向的那一变量的内容）</a:t>
            </a:r>
          </a:p>
          <a:p>
            <a:pPr lvl="1" algn="just">
              <a:lnSpc>
                <a:spcPct val="80000"/>
              </a:lnSpc>
              <a:buNone/>
            </a:pP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pi = 123;</a:t>
            </a:r>
            <a:r>
              <a:rPr lang="en-US" altLang="zh-CN" sz="2400" b="1" dirty="0">
                <a:solidFill>
                  <a:schemeClr val="tx2"/>
                </a:solidFill>
                <a:latin typeface="Courier New" pitchFamily="49" charset="0"/>
                <a:cs typeface="Courier New" pitchFamily="49" charset="0"/>
              </a:rPr>
              <a:t> </a:t>
            </a:r>
          </a:p>
          <a:p>
            <a:pPr lvl="1" algn="just">
              <a:lnSpc>
                <a:spcPct val="80000"/>
              </a:lnSpc>
              <a:buNone/>
            </a:pP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给</a:t>
            </a:r>
            <a:r>
              <a:rPr lang="en-US" altLang="zh-CN" sz="2400" b="1" dirty="0">
                <a:solidFill>
                  <a:srgbClr val="007434"/>
                </a:solidFill>
                <a:latin typeface="Courier New" pitchFamily="49" charset="0"/>
                <a:cs typeface="Courier New" pitchFamily="49" charset="0"/>
              </a:rPr>
              <a:t>pi</a:t>
            </a:r>
            <a:r>
              <a:rPr lang="zh-CN" altLang="en-US" sz="2400" b="1" dirty="0">
                <a:solidFill>
                  <a:srgbClr val="007434"/>
                </a:solidFill>
                <a:latin typeface="Courier New" pitchFamily="49" charset="0"/>
                <a:cs typeface="Courier New" pitchFamily="49" charset="0"/>
              </a:rPr>
              <a:t>所指向的那一变量，既</a:t>
            </a:r>
            <a:r>
              <a:rPr lang="en-US" altLang="zh-CN" sz="2400" b="1" dirty="0" err="1">
                <a:solidFill>
                  <a:srgbClr val="007434"/>
                </a:solidFill>
                <a:latin typeface="Courier New" pitchFamily="49" charset="0"/>
                <a:cs typeface="Courier New" pitchFamily="49" charset="0"/>
              </a:rPr>
              <a:t>i</a:t>
            </a:r>
            <a:r>
              <a:rPr lang="zh-CN" altLang="en-US" sz="2400" b="1" dirty="0">
                <a:solidFill>
                  <a:srgbClr val="007434"/>
                </a:solidFill>
                <a:latin typeface="Courier New" pitchFamily="49" charset="0"/>
                <a:cs typeface="Courier New" pitchFamily="49" charset="0"/>
              </a:rPr>
              <a:t>赋值123</a:t>
            </a:r>
            <a:endParaRPr lang="en-US" altLang="zh-CN" sz="2400" b="1" dirty="0">
              <a:solidFill>
                <a:srgbClr val="007434"/>
              </a:solidFill>
              <a:latin typeface="Courier New" pitchFamily="49" charset="0"/>
              <a:cs typeface="Courier New" pitchFamily="49" charset="0"/>
            </a:endParaRPr>
          </a:p>
          <a:p>
            <a:pPr lvl="1" algn="just">
              <a:lnSpc>
                <a:spcPct val="80000"/>
              </a:lnSpc>
              <a:buNone/>
            </a:pPr>
            <a:r>
              <a:rPr lang="zh-CN" altLang="en-US" sz="2400" b="1" dirty="0">
                <a:solidFill>
                  <a:srgbClr val="007434"/>
                </a:solidFill>
                <a:latin typeface="Courier New" pitchFamily="49" charset="0"/>
                <a:cs typeface="Courier New" pitchFamily="49" charset="0"/>
              </a:rPr>
              <a:t>//（等同于: </a:t>
            </a:r>
            <a:r>
              <a:rPr lang="en-US" altLang="zh-CN" sz="2400" b="1" dirty="0" err="1">
                <a:solidFill>
                  <a:srgbClr val="007434"/>
                </a:solidFill>
                <a:latin typeface="Courier New" pitchFamily="49" charset="0"/>
                <a:cs typeface="Courier New" pitchFamily="49" charset="0"/>
              </a:rPr>
              <a:t>i</a:t>
            </a:r>
            <a:r>
              <a:rPr lang="en-US" altLang="zh-CN" sz="2400" b="1" dirty="0">
                <a:solidFill>
                  <a:srgbClr val="007434"/>
                </a:solidFill>
                <a:latin typeface="Courier New" pitchFamily="49" charset="0"/>
                <a:cs typeface="Courier New" pitchFamily="49" charset="0"/>
              </a:rPr>
              <a:t>=123;）</a:t>
            </a:r>
          </a:p>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27</a:t>
            </a:fld>
            <a:endParaRPr lang="zh-CN" altLang="en-US"/>
          </a:p>
        </p:txBody>
      </p:sp>
    </p:spTree>
    <p:extLst>
      <p:ext uri="{BB962C8B-B14F-4D97-AF65-F5344CB8AC3E}">
        <p14:creationId xmlns:p14="http://schemas.microsoft.com/office/powerpoint/2010/main" val="4170928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画图讲解</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34</a:t>
            </a:fld>
            <a:endParaRPr lang="zh-CN" altLang="en-US"/>
          </a:p>
        </p:txBody>
      </p:sp>
    </p:spTree>
    <p:extLst>
      <p:ext uri="{BB962C8B-B14F-4D97-AF65-F5344CB8AC3E}">
        <p14:creationId xmlns:p14="http://schemas.microsoft.com/office/powerpoint/2010/main" val="3940567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41</a:t>
            </a:fld>
            <a:endParaRPr lang="zh-CN" altLang="en-US"/>
          </a:p>
        </p:txBody>
      </p:sp>
    </p:spTree>
    <p:extLst>
      <p:ext uri="{BB962C8B-B14F-4D97-AF65-F5344CB8AC3E}">
        <p14:creationId xmlns:p14="http://schemas.microsoft.com/office/powerpoint/2010/main" val="386522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42</a:t>
            </a:fld>
            <a:endParaRPr lang="zh-CN" altLang="en-US"/>
          </a:p>
        </p:txBody>
      </p:sp>
    </p:spTree>
    <p:extLst>
      <p:ext uri="{BB962C8B-B14F-4D97-AF65-F5344CB8AC3E}">
        <p14:creationId xmlns:p14="http://schemas.microsoft.com/office/powerpoint/2010/main" val="131397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44</a:t>
            </a:fld>
            <a:endParaRPr lang="zh-CN" altLang="en-US"/>
          </a:p>
        </p:txBody>
      </p:sp>
    </p:spTree>
    <p:extLst>
      <p:ext uri="{BB962C8B-B14F-4D97-AF65-F5344CB8AC3E}">
        <p14:creationId xmlns:p14="http://schemas.microsoft.com/office/powerpoint/2010/main" val="1192402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00B050"/>
                </a:solidFill>
                <a:latin typeface="Courier New" pitchFamily="49" charset="0"/>
                <a:cs typeface="Courier New" pitchFamily="49" charset="0"/>
              </a:rPr>
              <a:t>指针指向地址的数据值不能改变</a:t>
            </a:r>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45</a:t>
            </a:fld>
            <a:endParaRPr lang="zh-CN" altLang="en-US"/>
          </a:p>
        </p:txBody>
      </p:sp>
    </p:spTree>
    <p:extLst>
      <p:ext uri="{BB962C8B-B14F-4D97-AF65-F5344CB8AC3E}">
        <p14:creationId xmlns:p14="http://schemas.microsoft.com/office/powerpoint/2010/main" val="3501858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47</a:t>
            </a:fld>
            <a:endParaRPr lang="zh-CN" altLang="en-US"/>
          </a:p>
        </p:txBody>
      </p:sp>
    </p:spTree>
    <p:extLst>
      <p:ext uri="{BB962C8B-B14F-4D97-AF65-F5344CB8AC3E}">
        <p14:creationId xmlns:p14="http://schemas.microsoft.com/office/powerpoint/2010/main" val="544755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48</a:t>
            </a:fld>
            <a:endParaRPr lang="zh-CN" altLang="en-US"/>
          </a:p>
        </p:txBody>
      </p:sp>
    </p:spTree>
    <p:extLst>
      <p:ext uri="{BB962C8B-B14F-4D97-AF65-F5344CB8AC3E}">
        <p14:creationId xmlns:p14="http://schemas.microsoft.com/office/powerpoint/2010/main" val="32318622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50</a:t>
            </a:fld>
            <a:endParaRPr lang="zh-CN" altLang="en-US"/>
          </a:p>
        </p:txBody>
      </p:sp>
    </p:spTree>
    <p:extLst>
      <p:ext uri="{BB962C8B-B14F-4D97-AF65-F5344CB8AC3E}">
        <p14:creationId xmlns:p14="http://schemas.microsoft.com/office/powerpoint/2010/main" val="32236036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1"/>
            <a:endParaRPr lang="zh-CN" altLang="en-US" sz="2200"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54</a:t>
            </a:fld>
            <a:endParaRPr lang="zh-CN" altLang="en-US"/>
          </a:p>
        </p:txBody>
      </p:sp>
    </p:spTree>
    <p:extLst>
      <p:ext uri="{BB962C8B-B14F-4D97-AF65-F5344CB8AC3E}">
        <p14:creationId xmlns:p14="http://schemas.microsoft.com/office/powerpoint/2010/main" val="2019533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1"/>
            <a:endParaRPr lang="zh-CN" altLang="en-US" sz="2200"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55</a:t>
            </a:fld>
            <a:endParaRPr lang="zh-CN" altLang="en-US"/>
          </a:p>
        </p:txBody>
      </p:sp>
    </p:spTree>
    <p:extLst>
      <p:ext uri="{BB962C8B-B14F-4D97-AF65-F5344CB8AC3E}">
        <p14:creationId xmlns:p14="http://schemas.microsoft.com/office/powerpoint/2010/main" val="15704455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61</a:t>
            </a:fld>
            <a:endParaRPr lang="zh-CN" altLang="en-US"/>
          </a:p>
        </p:txBody>
      </p:sp>
    </p:spTree>
    <p:extLst>
      <p:ext uri="{BB962C8B-B14F-4D97-AF65-F5344CB8AC3E}">
        <p14:creationId xmlns:p14="http://schemas.microsoft.com/office/powerpoint/2010/main" val="34487832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62</a:t>
            </a:fld>
            <a:endParaRPr lang="zh-CN" altLang="en-US"/>
          </a:p>
        </p:txBody>
      </p:sp>
    </p:spTree>
    <p:extLst>
      <p:ext uri="{BB962C8B-B14F-4D97-AF65-F5344CB8AC3E}">
        <p14:creationId xmlns:p14="http://schemas.microsoft.com/office/powerpoint/2010/main" val="2823672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63</a:t>
            </a:fld>
            <a:endParaRPr lang="zh-CN" altLang="en-US"/>
          </a:p>
        </p:txBody>
      </p:sp>
    </p:spTree>
    <p:extLst>
      <p:ext uri="{BB962C8B-B14F-4D97-AF65-F5344CB8AC3E}">
        <p14:creationId xmlns:p14="http://schemas.microsoft.com/office/powerpoint/2010/main" val="42497384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2702EA-338D-4425-9434-79968EAA1F25}" type="slidenum">
              <a:rPr lang="zh-CN" altLang="en-US" smtClean="0"/>
              <a:t>64</a:t>
            </a:fld>
            <a:endParaRPr lang="zh-CN" altLang="en-US"/>
          </a:p>
        </p:txBody>
      </p:sp>
    </p:spTree>
    <p:extLst>
      <p:ext uri="{BB962C8B-B14F-4D97-AF65-F5344CB8AC3E}">
        <p14:creationId xmlns:p14="http://schemas.microsoft.com/office/powerpoint/2010/main" val="35756930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66</a:t>
            </a:fld>
            <a:endParaRPr lang="zh-CN" altLang="en-US"/>
          </a:p>
        </p:txBody>
      </p:sp>
    </p:spTree>
    <p:extLst>
      <p:ext uri="{BB962C8B-B14F-4D97-AF65-F5344CB8AC3E}">
        <p14:creationId xmlns:p14="http://schemas.microsoft.com/office/powerpoint/2010/main" val="21792869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67</a:t>
            </a:fld>
            <a:endParaRPr lang="zh-CN" altLang="en-US"/>
          </a:p>
        </p:txBody>
      </p:sp>
    </p:spTree>
    <p:extLst>
      <p:ext uri="{BB962C8B-B14F-4D97-AF65-F5344CB8AC3E}">
        <p14:creationId xmlns:p14="http://schemas.microsoft.com/office/powerpoint/2010/main" val="25285144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A5206D-904B-4230-84F4-E1C0F70D07E4}" type="slidenum">
              <a:rPr lang="zh-CN" altLang="en-US" smtClean="0"/>
              <a:pPr/>
              <a:t>69</a:t>
            </a:fld>
            <a:endParaRPr lang="zh-CN" altLang="en-US"/>
          </a:p>
        </p:txBody>
      </p:sp>
    </p:spTree>
    <p:extLst>
      <p:ext uri="{BB962C8B-B14F-4D97-AF65-F5344CB8AC3E}">
        <p14:creationId xmlns:p14="http://schemas.microsoft.com/office/powerpoint/2010/main" val="40677427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75</a:t>
            </a:fld>
            <a:endParaRPr lang="zh-CN" altLang="en-US"/>
          </a:p>
        </p:txBody>
      </p:sp>
    </p:spTree>
    <p:extLst>
      <p:ext uri="{BB962C8B-B14F-4D97-AF65-F5344CB8AC3E}">
        <p14:creationId xmlns:p14="http://schemas.microsoft.com/office/powerpoint/2010/main" val="3448842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82</a:t>
            </a:fld>
            <a:endParaRPr lang="zh-CN" altLang="en-US"/>
          </a:p>
        </p:txBody>
      </p:sp>
    </p:spTree>
    <p:extLst>
      <p:ext uri="{BB962C8B-B14F-4D97-AF65-F5344CB8AC3E}">
        <p14:creationId xmlns:p14="http://schemas.microsoft.com/office/powerpoint/2010/main" val="29866833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90</a:t>
            </a:fld>
            <a:endParaRPr lang="zh-CN" altLang="en-US"/>
          </a:p>
        </p:txBody>
      </p:sp>
    </p:spTree>
    <p:extLst>
      <p:ext uri="{BB962C8B-B14F-4D97-AF65-F5344CB8AC3E}">
        <p14:creationId xmlns:p14="http://schemas.microsoft.com/office/powerpoint/2010/main" val="15945185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dirty="0"/>
              <a:t>好像得重新录</a:t>
            </a:r>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91</a:t>
            </a:fld>
            <a:endParaRPr lang="zh-CN" altLang="en-US"/>
          </a:p>
        </p:txBody>
      </p:sp>
    </p:spTree>
    <p:extLst>
      <p:ext uri="{BB962C8B-B14F-4D97-AF65-F5344CB8AC3E}">
        <p14:creationId xmlns:p14="http://schemas.microsoft.com/office/powerpoint/2010/main" val="26332440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字符串常量初始化数组，不涉及常量指针</a:t>
            </a:r>
            <a:endParaRPr lang="en-US" altLang="zh-CN" dirty="0"/>
          </a:p>
          <a:p>
            <a:pPr marL="228600" indent="-228600">
              <a:buAutoNum type="arabicPeriod"/>
            </a:pPr>
            <a:r>
              <a:rPr lang="zh-CN" altLang="en-US" dirty="0"/>
              <a:t>解释后面的代码</a:t>
            </a:r>
            <a:endParaRPr lang="en-US" altLang="zh-CN" dirty="0"/>
          </a:p>
          <a:p>
            <a:pPr marL="228600" indent="-228600">
              <a:buAutoNum type="arabicPeriod"/>
            </a:pPr>
            <a:r>
              <a:rPr lang="zh-CN" altLang="en-US" dirty="0"/>
              <a:t>解释</a:t>
            </a:r>
            <a:r>
              <a:rPr lang="en-US" altLang="zh-CN" dirty="0"/>
              <a:t>\0</a:t>
            </a:r>
            <a:r>
              <a:rPr lang="zh-CN" altLang="en-US" dirty="0"/>
              <a:t>后面是什么字符</a:t>
            </a:r>
            <a:endParaRPr lang="en-US" altLang="zh-CN" dirty="0"/>
          </a:p>
          <a:p>
            <a:pPr marL="228600" indent="-228600">
              <a:buAutoNum type="arabicPeriod"/>
            </a:pPr>
            <a:r>
              <a:rPr lang="en-US" altLang="zh-CN" dirty="0"/>
              <a:t>Str</a:t>
            </a:r>
            <a:r>
              <a:rPr lang="zh-CN" altLang="en-US" dirty="0"/>
              <a:t>指针的位置以及</a:t>
            </a:r>
            <a:r>
              <a:rPr lang="en-US" altLang="zh-CN" dirty="0"/>
              <a:t>str+2</a:t>
            </a:r>
            <a:r>
              <a:rPr lang="zh-CN" altLang="en-US" dirty="0"/>
              <a:t>的位置</a:t>
            </a:r>
            <a:endParaRPr lang="en-US" altLang="zh-CN" dirty="0"/>
          </a:p>
          <a:p>
            <a:pPr marL="228600" indent="-228600">
              <a:buAutoNum type="arabicPeriod"/>
            </a:pPr>
            <a:r>
              <a:rPr lang="zh-CN" altLang="en-US" dirty="0"/>
              <a:t>解释代码</a:t>
            </a:r>
            <a:r>
              <a:rPr lang="en-US" altLang="zh-CN" dirty="0"/>
              <a:t>*str++</a:t>
            </a:r>
          </a:p>
          <a:p>
            <a:pPr marL="228600" indent="-228600">
              <a:buAutoNum type="arabicPeriod"/>
            </a:pPr>
            <a:r>
              <a:rPr lang="zh-CN" altLang="en-US" dirty="0"/>
              <a:t>解释剩下的代码</a:t>
            </a:r>
          </a:p>
        </p:txBody>
      </p:sp>
      <p:sp>
        <p:nvSpPr>
          <p:cNvPr id="4" name="灯片编号占位符 3"/>
          <p:cNvSpPr>
            <a:spLocks noGrp="1"/>
          </p:cNvSpPr>
          <p:nvPr>
            <p:ph type="sldNum" sz="quarter" idx="5"/>
          </p:nvPr>
        </p:nvSpPr>
        <p:spPr/>
        <p:txBody>
          <a:bodyPr/>
          <a:lstStyle/>
          <a:p>
            <a:fld id="{B46A318C-BA0A-4CD1-86F7-62041945D530}" type="slidenum">
              <a:rPr lang="zh-CN" altLang="en-US" smtClean="0"/>
              <a:t>93</a:t>
            </a:fld>
            <a:endParaRPr lang="zh-CN" altLang="en-US"/>
          </a:p>
        </p:txBody>
      </p:sp>
    </p:spTree>
    <p:extLst>
      <p:ext uri="{BB962C8B-B14F-4D97-AF65-F5344CB8AC3E}">
        <p14:creationId xmlns:p14="http://schemas.microsoft.com/office/powerpoint/2010/main" val="17119419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100</a:t>
            </a:fld>
            <a:endParaRPr lang="zh-CN" altLang="en-US"/>
          </a:p>
        </p:txBody>
      </p:sp>
    </p:spTree>
    <p:extLst>
      <p:ext uri="{BB962C8B-B14F-4D97-AF65-F5344CB8AC3E}">
        <p14:creationId xmlns:p14="http://schemas.microsoft.com/office/powerpoint/2010/main" val="6394457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为什么这里也要使用</a:t>
            </a:r>
            <a:r>
              <a:rPr lang="en-US" altLang="zh-CN" dirty="0"/>
              <a:t>const?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6A318C-BA0A-4CD1-86F7-62041945D5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865302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用笔写板书</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6A318C-BA0A-4CD1-86F7-62041945D5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017621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字符串常量可以看做是一个指向第一个字符地址的字符型常量指针</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6A318C-BA0A-4CD1-86F7-62041945D530}"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436299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109</a:t>
            </a:fld>
            <a:endParaRPr lang="zh-CN" altLang="en-US"/>
          </a:p>
        </p:txBody>
      </p:sp>
    </p:spTree>
    <p:extLst>
      <p:ext uri="{BB962C8B-B14F-4D97-AF65-F5344CB8AC3E}">
        <p14:creationId xmlns:p14="http://schemas.microsoft.com/office/powerpoint/2010/main" val="19494724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110</a:t>
            </a:fld>
            <a:endParaRPr lang="zh-CN" altLang="en-US"/>
          </a:p>
        </p:txBody>
      </p:sp>
    </p:spTree>
    <p:extLst>
      <p:ext uri="{BB962C8B-B14F-4D97-AF65-F5344CB8AC3E}">
        <p14:creationId xmlns:p14="http://schemas.microsoft.com/office/powerpoint/2010/main" val="35519799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118</a:t>
            </a:fld>
            <a:endParaRPr lang="zh-CN" altLang="en-US"/>
          </a:p>
        </p:txBody>
      </p:sp>
    </p:spTree>
    <p:extLst>
      <p:ext uri="{BB962C8B-B14F-4D97-AF65-F5344CB8AC3E}">
        <p14:creationId xmlns:p14="http://schemas.microsoft.com/office/powerpoint/2010/main" val="41016736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127</a:t>
            </a:fld>
            <a:endParaRPr lang="zh-CN" altLang="en-US"/>
          </a:p>
        </p:txBody>
      </p:sp>
    </p:spTree>
    <p:extLst>
      <p:ext uri="{BB962C8B-B14F-4D97-AF65-F5344CB8AC3E}">
        <p14:creationId xmlns:p14="http://schemas.microsoft.com/office/powerpoint/2010/main" val="40517040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18E43C-EDFF-42DE-B346-37C4E5347BD1}" type="slidenum">
              <a:rPr lang="zh-CN" altLang="en-US" smtClean="0"/>
              <a:t>128</a:t>
            </a:fld>
            <a:endParaRPr lang="zh-CN" altLang="en-US"/>
          </a:p>
        </p:txBody>
      </p:sp>
    </p:spTree>
    <p:extLst>
      <p:ext uri="{BB962C8B-B14F-4D97-AF65-F5344CB8AC3E}">
        <p14:creationId xmlns:p14="http://schemas.microsoft.com/office/powerpoint/2010/main" val="40952124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语病有点多，考虑重新录</a:t>
            </a:r>
          </a:p>
        </p:txBody>
      </p:sp>
      <p:sp>
        <p:nvSpPr>
          <p:cNvPr id="4" name="灯片编号占位符 3"/>
          <p:cNvSpPr>
            <a:spLocks noGrp="1"/>
          </p:cNvSpPr>
          <p:nvPr>
            <p:ph type="sldNum" sz="quarter" idx="5"/>
          </p:nvPr>
        </p:nvSpPr>
        <p:spPr/>
        <p:txBody>
          <a:bodyPr/>
          <a:lstStyle/>
          <a:p>
            <a:fld id="{3118E43C-EDFF-42DE-B346-37C4E5347BD1}" type="slidenum">
              <a:rPr lang="zh-CN" altLang="en-US" smtClean="0"/>
              <a:t>133</a:t>
            </a:fld>
            <a:endParaRPr lang="zh-CN" altLang="en-US"/>
          </a:p>
        </p:txBody>
      </p:sp>
    </p:spTree>
    <p:extLst>
      <p:ext uri="{BB962C8B-B14F-4D97-AF65-F5344CB8AC3E}">
        <p14:creationId xmlns:p14="http://schemas.microsoft.com/office/powerpoint/2010/main" val="12188413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把这个练习的程序编出来讲解</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702EA-338D-4425-9434-79968EAA1F2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444639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136</a:t>
            </a:fld>
            <a:endParaRPr lang="zh-CN" altLang="en-US"/>
          </a:p>
        </p:txBody>
      </p:sp>
    </p:spTree>
    <p:extLst>
      <p:ext uri="{BB962C8B-B14F-4D97-AF65-F5344CB8AC3E}">
        <p14:creationId xmlns:p14="http://schemas.microsoft.com/office/powerpoint/2010/main" val="33166613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775515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如果用指针访问未知大小数组的话，必须用动态内存分配。此时，数组元素还没有进行初识化</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A5206D-904B-4230-84F4-E1C0F70D07E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030878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50EBBB-54DF-4B10-8AE0-9B5DF4AF5E43}" type="slidenum">
              <a:rPr lang="zh-CN" altLang="en-US" smtClean="0"/>
              <a:t>140</a:t>
            </a:fld>
            <a:endParaRPr lang="zh-CN" altLang="en-US"/>
          </a:p>
        </p:txBody>
      </p:sp>
    </p:spTree>
    <p:extLst>
      <p:ext uri="{BB962C8B-B14F-4D97-AF65-F5344CB8AC3E}">
        <p14:creationId xmlns:p14="http://schemas.microsoft.com/office/powerpoint/2010/main" val="40162013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427239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这页有点磕巴</a:t>
            </a:r>
          </a:p>
        </p:txBody>
      </p:sp>
      <p:sp>
        <p:nvSpPr>
          <p:cNvPr id="4" name="灯片编号占位符 3"/>
          <p:cNvSpPr>
            <a:spLocks noGrp="1"/>
          </p:cNvSpPr>
          <p:nvPr>
            <p:ph type="sldNum" sz="quarter" idx="5"/>
          </p:nvPr>
        </p:nvSpPr>
        <p:spPr/>
        <p:txBody>
          <a:bodyPr/>
          <a:lstStyle/>
          <a:p>
            <a:fld id="{D14022F0-18A5-4BB7-92D2-FFC84972434F}" type="slidenum">
              <a:rPr lang="zh-CN" altLang="en-US" smtClean="0"/>
              <a:t>147</a:t>
            </a:fld>
            <a:endParaRPr lang="zh-CN" altLang="en-US"/>
          </a:p>
        </p:txBody>
      </p:sp>
    </p:spTree>
    <p:extLst>
      <p:ext uri="{BB962C8B-B14F-4D97-AF65-F5344CB8AC3E}">
        <p14:creationId xmlns:p14="http://schemas.microsoft.com/office/powerpoint/2010/main" val="21209180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最后有点磕巴，然后还咳嗽</a:t>
            </a:r>
          </a:p>
        </p:txBody>
      </p:sp>
      <p:sp>
        <p:nvSpPr>
          <p:cNvPr id="4" name="灯片编号占位符 3"/>
          <p:cNvSpPr>
            <a:spLocks noGrp="1"/>
          </p:cNvSpPr>
          <p:nvPr>
            <p:ph type="sldNum" sz="quarter" idx="5"/>
          </p:nvPr>
        </p:nvSpPr>
        <p:spPr/>
        <p:txBody>
          <a:bodyPr/>
          <a:lstStyle/>
          <a:p>
            <a:fld id="{D14022F0-18A5-4BB7-92D2-FFC84972434F}" type="slidenum">
              <a:rPr lang="zh-CN" altLang="en-US" smtClean="0"/>
              <a:t>148</a:t>
            </a:fld>
            <a:endParaRPr lang="zh-CN" altLang="en-US"/>
          </a:p>
        </p:txBody>
      </p:sp>
    </p:spTree>
    <p:extLst>
      <p:ext uri="{BB962C8B-B14F-4D97-AF65-F5344CB8AC3E}">
        <p14:creationId xmlns:p14="http://schemas.microsoft.com/office/powerpoint/2010/main" val="36996259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4022F0-18A5-4BB7-92D2-FFC84972434F}" type="slidenum">
              <a:rPr lang="zh-CN" altLang="en-US" smtClean="0"/>
              <a:t>151</a:t>
            </a:fld>
            <a:endParaRPr lang="zh-CN" altLang="en-US"/>
          </a:p>
        </p:txBody>
      </p:sp>
    </p:spTree>
    <p:extLst>
      <p:ext uri="{BB962C8B-B14F-4D97-AF65-F5344CB8AC3E}">
        <p14:creationId xmlns:p14="http://schemas.microsoft.com/office/powerpoint/2010/main" val="2070745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807631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动态内存回收可以考虑单独一节课</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50EBBB-54DF-4B10-8AE0-9B5DF4AF5E4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266934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160</a:t>
            </a:fld>
            <a:endParaRPr lang="zh-CN" altLang="en-US"/>
          </a:p>
        </p:txBody>
      </p:sp>
    </p:spTree>
    <p:extLst>
      <p:ext uri="{BB962C8B-B14F-4D97-AF65-F5344CB8AC3E}">
        <p14:creationId xmlns:p14="http://schemas.microsoft.com/office/powerpoint/2010/main" val="35883831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dirty="0"/>
              <a:t>音质不好，本页重录</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28645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61EF13-D3BC-4D65-BFC5-C7AAA133EEB9}" type="slidenum">
              <a:rPr lang="zh-CN" altLang="en-US" smtClean="0"/>
              <a:t>164</a:t>
            </a:fld>
            <a:endParaRPr lang="zh-CN" altLang="en-US"/>
          </a:p>
        </p:txBody>
      </p:sp>
    </p:spTree>
    <p:extLst>
      <p:ext uri="{BB962C8B-B14F-4D97-AF65-F5344CB8AC3E}">
        <p14:creationId xmlns:p14="http://schemas.microsoft.com/office/powerpoint/2010/main" val="23775189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174</a:t>
            </a:fld>
            <a:endParaRPr lang="zh-CN" altLang="en-US"/>
          </a:p>
        </p:txBody>
      </p:sp>
    </p:spTree>
    <p:extLst>
      <p:ext uri="{BB962C8B-B14F-4D97-AF65-F5344CB8AC3E}">
        <p14:creationId xmlns:p14="http://schemas.microsoft.com/office/powerpoint/2010/main" val="1301770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68761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E84AF5-2530-48EF-A17D-F4F580DE30B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3874383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在函数体局部有效的变量</a:t>
            </a:r>
            <a:endParaRPr kumimoji="1" lang="en-US" altLang="zh-CN" dirty="0"/>
          </a:p>
          <a:p>
            <a:r>
              <a:rPr kumimoji="1" lang="zh-CN" altLang="en-US" dirty="0"/>
              <a:t>最后一句不严谨，需要改改，解释一下为什么要跟实参有关系</a:t>
            </a: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A5206D-904B-4230-84F4-E1C0F70D07E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470961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这页重新</a:t>
            </a:r>
            <a:r>
              <a:rPr lang="zh-CN" altLang="en-US"/>
              <a:t>录一下</a:t>
            </a:r>
            <a:endParaRPr lang="en-US" altLang="zh-CN"/>
          </a:p>
        </p:txBody>
      </p:sp>
      <p:sp>
        <p:nvSpPr>
          <p:cNvPr id="4" name="灯片编号占位符 3"/>
          <p:cNvSpPr>
            <a:spLocks noGrp="1"/>
          </p:cNvSpPr>
          <p:nvPr>
            <p:ph type="sldNum" sz="quarter" idx="5"/>
          </p:nvPr>
        </p:nvSpPr>
        <p:spPr/>
        <p:txBody>
          <a:bodyPr/>
          <a:lstStyle/>
          <a:p>
            <a:fld id="{6D8EA51C-D28B-4937-B56E-A5F1000CF105}" type="slidenum">
              <a:rPr lang="zh-CN" altLang="en-US" smtClean="0"/>
              <a:t>191</a:t>
            </a:fld>
            <a:endParaRPr lang="zh-CN" altLang="en-US"/>
          </a:p>
        </p:txBody>
      </p:sp>
    </p:spTree>
    <p:extLst>
      <p:ext uri="{BB962C8B-B14F-4D97-AF65-F5344CB8AC3E}">
        <p14:creationId xmlns:p14="http://schemas.microsoft.com/office/powerpoint/2010/main" val="122364653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194</a:t>
            </a:fld>
            <a:endParaRPr lang="zh-CN" altLang="en-US"/>
          </a:p>
        </p:txBody>
      </p:sp>
    </p:spTree>
    <p:extLst>
      <p:ext uri="{BB962C8B-B14F-4D97-AF65-F5344CB8AC3E}">
        <p14:creationId xmlns:p14="http://schemas.microsoft.com/office/powerpoint/2010/main" val="3917130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itchFamily="2" charset="-122"/>
                <a:ea typeface="黑体"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Tree>
    <p:extLst>
      <p:ext uri="{BB962C8B-B14F-4D97-AF65-F5344CB8AC3E}">
        <p14:creationId xmlns:p14="http://schemas.microsoft.com/office/powerpoint/2010/main" val="133690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p>
        </p:txBody>
      </p:sp>
      <p:sp>
        <p:nvSpPr>
          <p:cNvPr id="4" name="页脚占位符 4"/>
          <p:cNvSpPr>
            <a:spLocks noGrp="1"/>
          </p:cNvSpPr>
          <p:nvPr>
            <p:ph type="ftr" sz="quarter" idx="11"/>
          </p:nvPr>
        </p:nvSpPr>
        <p:spPr/>
        <p:txBody>
          <a:bodyPr/>
          <a:lstStyle>
            <a:lvl1pPr>
              <a:defRPr b="1"/>
            </a:lvl1p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1898615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10" name="页脚占位符 9"/>
          <p:cNvSpPr>
            <a:spLocks noGrp="1"/>
          </p:cNvSpPr>
          <p:nvPr>
            <p:ph type="ftr" sz="quarter" idx="12"/>
          </p:nvPr>
        </p:nvSpPr>
        <p:spPr/>
        <p:txBody>
          <a:body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51816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Tree>
    <p:extLst>
      <p:ext uri="{BB962C8B-B14F-4D97-AF65-F5344CB8AC3E}">
        <p14:creationId xmlns:p14="http://schemas.microsoft.com/office/powerpoint/2010/main" val="3423382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页脚占位符 4"/>
          <p:cNvSpPr>
            <a:spLocks noGrp="1"/>
          </p:cNvSpPr>
          <p:nvPr>
            <p:ph type="ftr" sz="quarter" idx="18"/>
          </p:nvPr>
        </p:nvSpPr>
        <p:spPr/>
        <p:txBody>
          <a:bodyPr/>
          <a:lstStyle>
            <a:lvl1pPr>
              <a:defRPr/>
            </a:lvl1pPr>
          </a:lstStyle>
          <a:p>
            <a:pPr>
              <a:defRPr/>
            </a:pPr>
            <a:endParaRPr lang="zh-CN" altLang="en-US"/>
          </a:p>
        </p:txBody>
      </p:sp>
    </p:spTree>
    <p:extLst>
      <p:ext uri="{BB962C8B-B14F-4D97-AF65-F5344CB8AC3E}">
        <p14:creationId xmlns:p14="http://schemas.microsoft.com/office/powerpoint/2010/main" val="1358866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7" name="页脚占位符 6"/>
          <p:cNvSpPr>
            <a:spLocks noGrp="1"/>
          </p:cNvSpPr>
          <p:nvPr>
            <p:ph type="ftr" sz="quarter" idx="11"/>
          </p:nvPr>
        </p:nvSpPr>
        <p:spPr/>
        <p:txBody>
          <a:body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63200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459F2C8-95D8-4B43-A911-3544CDC95C48}"/>
              </a:ext>
            </a:extLst>
          </p:cNvPr>
          <p:cNvSpPr>
            <a:spLocks noGrp="1"/>
          </p:cNvSpPr>
          <p:nvPr>
            <p:ph type="ftr" sz="quarter" idx="10"/>
          </p:nvPr>
        </p:nvSpPr>
        <p:spPr/>
        <p:txBody>
          <a:bodyPr/>
          <a:lstStyle/>
          <a:p>
            <a:pPr>
              <a:defRPr/>
            </a:pPr>
            <a:r>
              <a:rPr lang="zh-CN" altLang="en-US"/>
              <a:t>高级语言</a:t>
            </a:r>
            <a:r>
              <a:rPr lang="en-US" altLang="zh-CN"/>
              <a:t>C++</a:t>
            </a:r>
            <a:r>
              <a:rPr lang="zh-CN" altLang="en-US"/>
              <a:t>程序设计</a:t>
            </a:r>
          </a:p>
        </p:txBody>
      </p:sp>
    </p:spTree>
    <p:extLst>
      <p:ext uri="{BB962C8B-B14F-4D97-AF65-F5344CB8AC3E}">
        <p14:creationId xmlns:p14="http://schemas.microsoft.com/office/powerpoint/2010/main" val="2181985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3721026" y="6551613"/>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itchFamily="49" charset="0"/>
                <a:ea typeface="黑体" pitchFamily="2" charset="-122"/>
                <a:cs typeface="Courier New" pitchFamily="49" charset="0"/>
              </a:defRPr>
            </a:lvl1pPr>
          </a:lstStyle>
          <a:p>
            <a:pPr>
              <a:defRPr/>
            </a:pPr>
            <a:r>
              <a:rPr lang="zh-CN" altLang="en-US"/>
              <a:t>高级语言</a:t>
            </a:r>
            <a:r>
              <a:rPr lang="en-US" altLang="zh-CN"/>
              <a:t>C++</a:t>
            </a:r>
            <a:r>
              <a:rPr lang="zh-CN" altLang="en-US"/>
              <a:t>程序设计</a:t>
            </a:r>
          </a:p>
        </p:txBody>
      </p:sp>
      <p:pic>
        <p:nvPicPr>
          <p:cNvPr id="1034" name="图片 12"/>
          <p:cNvPicPr>
            <a:picLocks noChangeAspect="1"/>
          </p:cNvPicPr>
          <p:nvPr/>
        </p:nvPicPr>
        <p:blipFill>
          <a:blip r:embed="rId9"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10" cstate="print"/>
          <a:srcRect/>
          <a:stretch>
            <a:fillRect/>
          </a:stretch>
        </p:blipFill>
        <p:spPr bwMode="auto">
          <a:xfrm>
            <a:off x="8329613" y="50800"/>
            <a:ext cx="781050" cy="776288"/>
          </a:xfrm>
          <a:prstGeom prst="rect">
            <a:avLst/>
          </a:prstGeom>
          <a:noFill/>
          <a:ln w="9525">
            <a:noFill/>
            <a:miter lim="800000"/>
            <a:headEnd/>
            <a:tailEnd/>
          </a:ln>
        </p:spPr>
      </p:pic>
      <p:sp>
        <p:nvSpPr>
          <p:cNvPr id="12" name="TextBox 9">
            <a:extLst>
              <a:ext uri="{FF2B5EF4-FFF2-40B4-BE49-F238E27FC236}">
                <a16:creationId xmlns:a16="http://schemas.microsoft.com/office/drawing/2014/main" id="{FF1270DC-62E0-4C2A-8BAF-0E5972EB3A8C}"/>
              </a:ext>
            </a:extLst>
          </p:cNvPr>
          <p:cNvSpPr txBox="1"/>
          <p:nvPr userDrawn="1"/>
        </p:nvSpPr>
        <p:spPr>
          <a:xfrm>
            <a:off x="5868144" y="6572250"/>
            <a:ext cx="3242519" cy="291426"/>
          </a:xfrm>
          <a:prstGeom prst="rect">
            <a:avLst/>
          </a:prstGeom>
          <a:noFill/>
        </p:spPr>
        <p:txBody>
          <a:bodyPr wrap="square" rtlCol="0">
            <a:spAutoFit/>
          </a:bodyPr>
          <a:lstStyle/>
          <a:p>
            <a:pPr algn="r">
              <a:lnSpc>
                <a:spcPct val="120000"/>
              </a:lnSpc>
              <a:defRPr/>
            </a:pPr>
            <a:r>
              <a:rPr lang="zh-CN" altLang="en-US" sz="1200" dirty="0">
                <a:solidFill>
                  <a:schemeClr val="bg1"/>
                </a:solidFill>
                <a:latin typeface="+mn-lt"/>
                <a:ea typeface="方正姚体" pitchFamily="2" charset="-122"/>
              </a:rPr>
              <a:t>计算机学院</a:t>
            </a:r>
            <a:r>
              <a:rPr lang="en-US" altLang="zh-CN" sz="1200" dirty="0">
                <a:solidFill>
                  <a:schemeClr val="bg1"/>
                </a:solidFill>
                <a:latin typeface="+mn-lt"/>
                <a:ea typeface="方正姚体" pitchFamily="2" charset="-122"/>
              </a:rPr>
              <a:t>&amp;</a:t>
            </a:r>
            <a:r>
              <a:rPr lang="zh-CN" altLang="en-US" sz="1200" dirty="0">
                <a:solidFill>
                  <a:schemeClr val="bg1"/>
                </a:solidFill>
                <a:latin typeface="+mn-lt"/>
                <a:ea typeface="方正姚体" pitchFamily="2" charset="-122"/>
              </a:rPr>
              <a:t>网络空间安全学院</a:t>
            </a:r>
          </a:p>
        </p:txBody>
      </p:sp>
    </p:spTree>
    <p:extLst>
      <p:ext uri="{BB962C8B-B14F-4D97-AF65-F5344CB8AC3E}">
        <p14:creationId xmlns:p14="http://schemas.microsoft.com/office/powerpoint/2010/main" val="35003787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ea typeface="黑体" pitchFamily="2" charset="-122"/>
        </a:defRPr>
      </a:lvl2pPr>
      <a:lvl3pPr algn="l" rtl="0" eaLnBrk="0" fontAlgn="base" hangingPunct="0">
        <a:spcBef>
          <a:spcPct val="0"/>
        </a:spcBef>
        <a:spcAft>
          <a:spcPct val="0"/>
        </a:spcAft>
        <a:defRPr sz="3600">
          <a:solidFill>
            <a:schemeClr val="tx2"/>
          </a:solidFill>
          <a:latin typeface="Arial" charset="0"/>
          <a:ea typeface="黑体" pitchFamily="2" charset="-122"/>
        </a:defRPr>
      </a:lvl3pPr>
      <a:lvl4pPr algn="l" rtl="0" eaLnBrk="0" fontAlgn="base" hangingPunct="0">
        <a:spcBef>
          <a:spcPct val="0"/>
        </a:spcBef>
        <a:spcAft>
          <a:spcPct val="0"/>
        </a:spcAft>
        <a:defRPr sz="3600">
          <a:solidFill>
            <a:schemeClr val="tx2"/>
          </a:solidFill>
          <a:latin typeface="Arial" charset="0"/>
          <a:ea typeface="黑体" pitchFamily="2" charset="-122"/>
        </a:defRPr>
      </a:lvl4pPr>
      <a:lvl5pPr algn="l" rtl="0" eaLnBrk="0" fontAlgn="base" hangingPunct="0">
        <a:spcBef>
          <a:spcPct val="0"/>
        </a:spcBef>
        <a:spcAft>
          <a:spcPct val="0"/>
        </a:spcAft>
        <a:defRPr sz="3600">
          <a:solidFill>
            <a:schemeClr val="tx2"/>
          </a:solidFill>
          <a:latin typeface="Arial" charset="0"/>
          <a:ea typeface="黑体" pitchFamily="2"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1.xml"/><Relationship Id="rId5" Type="http://schemas.openxmlformats.org/officeDocument/2006/relationships/image" Target="../media/image10.jpeg"/><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notesSlide" Target="../notesSlides/notesSlide5.xml"/><Relationship Id="rId7"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8.xml"/><Relationship Id="rId7"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slide" Target="slide3.xml"/><Relationship Id="rId4" Type="http://schemas.openxmlformats.org/officeDocument/2006/relationships/image" Target="../media/image11.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slide" Target="slide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slide" Target="slide13.xml"/><Relationship Id="rId5" Type="http://schemas.openxmlformats.org/officeDocument/2006/relationships/image" Target="../media/image19.emf"/><Relationship Id="rId4" Type="http://schemas.openxmlformats.org/officeDocument/2006/relationships/image" Target="../media/image18.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6.xml"/><Relationship Id="rId4" Type="http://schemas.openxmlformats.org/officeDocument/2006/relationships/slide" Target="slide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7.xml"/><Relationship Id="rId4" Type="http://schemas.openxmlformats.org/officeDocument/2006/relationships/slide" Target="slide13.xml"/></Relationships>
</file>

<file path=ppt/slides/_rels/slide18.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slideLayout" Target="../slideLayouts/slideLayout7.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 Type="http://schemas.openxmlformats.org/officeDocument/2006/relationships/tags" Target="../tags/tag9.xml"/><Relationship Id="rId16" Type="http://schemas.openxmlformats.org/officeDocument/2006/relationships/tags" Target="../tags/tag23.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tags" Target="../tags/tag22.xml"/><Relationship Id="rId10" Type="http://schemas.openxmlformats.org/officeDocument/2006/relationships/tags" Target="../tags/tag17.xml"/><Relationship Id="rId19" Type="http://schemas.openxmlformats.org/officeDocument/2006/relationships/image" Target="../media/image20.tmp"/><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s>
</file>

<file path=ppt/slides/_rels/slide21.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slideLayout" Target="../slideLayouts/slideLayout7.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19" Type="http://schemas.openxmlformats.org/officeDocument/2006/relationships/image" Target="../media/image20.tmp"/><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22.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slideLayout" Target="../slideLayouts/slideLayout7.xml"/><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 Type="http://schemas.openxmlformats.org/officeDocument/2006/relationships/tags" Target="../tags/tag43.xml"/><Relationship Id="rId16" Type="http://schemas.openxmlformats.org/officeDocument/2006/relationships/tags" Target="../tags/tag57.xml"/><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tags" Target="../tags/tag56.xml"/><Relationship Id="rId10" Type="http://schemas.openxmlformats.org/officeDocument/2006/relationships/tags" Target="../tags/tag51.xml"/><Relationship Id="rId19" Type="http://schemas.openxmlformats.org/officeDocument/2006/relationships/image" Target="../media/image20.tmp"/><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s>
</file>

<file path=ppt/slides/_rels/slide23.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slideLayout" Target="../slideLayouts/slideLayout7.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 Type="http://schemas.openxmlformats.org/officeDocument/2006/relationships/tags" Target="../tags/tag60.xml"/><Relationship Id="rId16" Type="http://schemas.openxmlformats.org/officeDocument/2006/relationships/tags" Target="../tags/tag74.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5" Type="http://schemas.openxmlformats.org/officeDocument/2006/relationships/tags" Target="../tags/tag63.xml"/><Relationship Id="rId15" Type="http://schemas.openxmlformats.org/officeDocument/2006/relationships/tags" Target="../tags/tag73.xml"/><Relationship Id="rId10" Type="http://schemas.openxmlformats.org/officeDocument/2006/relationships/tags" Target="../tags/tag68.xml"/><Relationship Id="rId19" Type="http://schemas.openxmlformats.org/officeDocument/2006/relationships/image" Target="../media/image20.tmp"/><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slide" Target="slide32.xml"/></Relationships>
</file>

<file path=ppt/slides/_rels/slide2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 Id="rId4" Type="http://schemas.openxmlformats.org/officeDocument/2006/relationships/image" Target="../media/image18.emf"/></Relationships>
</file>

<file path=ppt/slides/_rels/slide27.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slide" Target="slide32.xml"/></Relationships>
</file>

<file path=ppt/slides/_rels/slide28.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18" Type="http://schemas.openxmlformats.org/officeDocument/2006/relationships/slideLayout" Target="../slideLayouts/slideLayout7.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tags" Target="../tags/tag92.xml"/><Relationship Id="rId2" Type="http://schemas.openxmlformats.org/officeDocument/2006/relationships/tags" Target="../tags/tag77.xml"/><Relationship Id="rId16" Type="http://schemas.openxmlformats.org/officeDocument/2006/relationships/tags" Target="../tags/tag91.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tags" Target="../tags/tag90.xml"/><Relationship Id="rId10" Type="http://schemas.openxmlformats.org/officeDocument/2006/relationships/tags" Target="../tags/tag85.xml"/><Relationship Id="rId19" Type="http://schemas.openxmlformats.org/officeDocument/2006/relationships/image" Target="../media/image20.tmp"/><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s>
</file>

<file path=ppt/slides/_rels/slide38.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slideLayout" Target="../slideLayouts/slideLayout7.xml"/><Relationship Id="rId3" Type="http://schemas.openxmlformats.org/officeDocument/2006/relationships/tags" Target="../tags/tag95.xml"/><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 Type="http://schemas.openxmlformats.org/officeDocument/2006/relationships/tags" Target="../tags/tag94.xml"/><Relationship Id="rId16" Type="http://schemas.openxmlformats.org/officeDocument/2006/relationships/tags" Target="../tags/tag108.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5" Type="http://schemas.openxmlformats.org/officeDocument/2006/relationships/tags" Target="../tags/tag97.xml"/><Relationship Id="rId15" Type="http://schemas.openxmlformats.org/officeDocument/2006/relationships/tags" Target="../tags/tag107.xml"/><Relationship Id="rId10" Type="http://schemas.openxmlformats.org/officeDocument/2006/relationships/tags" Target="../tags/tag102.xml"/><Relationship Id="rId19" Type="http://schemas.openxmlformats.org/officeDocument/2006/relationships/image" Target="../media/image20.tmp"/><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s>
</file>

<file path=ppt/slides/_rels/slide39.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tags" Target="../tags/tag122.xml"/><Relationship Id="rId18" Type="http://schemas.openxmlformats.org/officeDocument/2006/relationships/slideLayout" Target="../slideLayouts/slideLayout7.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tags" Target="../tags/tag121.xml"/><Relationship Id="rId17" Type="http://schemas.openxmlformats.org/officeDocument/2006/relationships/tags" Target="../tags/tag126.xml"/><Relationship Id="rId2" Type="http://schemas.openxmlformats.org/officeDocument/2006/relationships/tags" Target="../tags/tag111.xml"/><Relationship Id="rId16" Type="http://schemas.openxmlformats.org/officeDocument/2006/relationships/tags" Target="../tags/tag125.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5" Type="http://schemas.openxmlformats.org/officeDocument/2006/relationships/tags" Target="../tags/tag114.xml"/><Relationship Id="rId15" Type="http://schemas.openxmlformats.org/officeDocument/2006/relationships/tags" Target="../tags/tag124.xml"/><Relationship Id="rId10" Type="http://schemas.openxmlformats.org/officeDocument/2006/relationships/tags" Target="../tags/tag119.xml"/><Relationship Id="rId19" Type="http://schemas.openxmlformats.org/officeDocument/2006/relationships/image" Target="../media/image20.tmp"/><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s>
</file>

<file path=ppt/slides/_rels/slide40.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18" Type="http://schemas.openxmlformats.org/officeDocument/2006/relationships/slideLayout" Target="../slideLayouts/slideLayout7.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tags" Target="../tags/tag143.xml"/><Relationship Id="rId2" Type="http://schemas.openxmlformats.org/officeDocument/2006/relationships/tags" Target="../tags/tag128.xml"/><Relationship Id="rId16" Type="http://schemas.openxmlformats.org/officeDocument/2006/relationships/tags" Target="../tags/tag142.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tags" Target="../tags/tag141.xml"/><Relationship Id="rId10" Type="http://schemas.openxmlformats.org/officeDocument/2006/relationships/tags" Target="../tags/tag136.xml"/><Relationship Id="rId19" Type="http://schemas.openxmlformats.org/officeDocument/2006/relationships/image" Target="../media/image20.tmp"/><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slide" Target="slide43.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tags" Target="../tags/tag156.xml"/><Relationship Id="rId18" Type="http://schemas.openxmlformats.org/officeDocument/2006/relationships/slideLayout" Target="../slideLayouts/slideLayout7.xm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 Type="http://schemas.openxmlformats.org/officeDocument/2006/relationships/tags" Target="../tags/tag145.xml"/><Relationship Id="rId16" Type="http://schemas.openxmlformats.org/officeDocument/2006/relationships/tags" Target="../tags/tag159.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5" Type="http://schemas.openxmlformats.org/officeDocument/2006/relationships/tags" Target="../tags/tag148.xml"/><Relationship Id="rId15" Type="http://schemas.openxmlformats.org/officeDocument/2006/relationships/tags" Target="../tags/tag158.xml"/><Relationship Id="rId10" Type="http://schemas.openxmlformats.org/officeDocument/2006/relationships/tags" Target="../tags/tag153.xml"/><Relationship Id="rId19" Type="http://schemas.openxmlformats.org/officeDocument/2006/relationships/image" Target="../media/image20.tmp"/><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slide" Target="slide49.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161.xml"/><Relationship Id="rId4" Type="http://schemas.openxmlformats.org/officeDocument/2006/relationships/slide" Target="slide49.xml"/></Relationships>
</file>

<file path=ppt/slides/_rels/slide55.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tags" Target="../tags/tag174.xml"/><Relationship Id="rId18" Type="http://schemas.openxmlformats.org/officeDocument/2006/relationships/slideLayout" Target="../slideLayouts/slideLayout7.xml"/><Relationship Id="rId3" Type="http://schemas.openxmlformats.org/officeDocument/2006/relationships/tags" Target="../tags/tag164.xml"/><Relationship Id="rId7" Type="http://schemas.openxmlformats.org/officeDocument/2006/relationships/tags" Target="../tags/tag168.xml"/><Relationship Id="rId12" Type="http://schemas.openxmlformats.org/officeDocument/2006/relationships/tags" Target="../tags/tag173.xml"/><Relationship Id="rId17" Type="http://schemas.openxmlformats.org/officeDocument/2006/relationships/tags" Target="../tags/tag178.xml"/><Relationship Id="rId2" Type="http://schemas.openxmlformats.org/officeDocument/2006/relationships/tags" Target="../tags/tag163.xml"/><Relationship Id="rId16" Type="http://schemas.openxmlformats.org/officeDocument/2006/relationships/tags" Target="../tags/tag177.xml"/><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5" Type="http://schemas.openxmlformats.org/officeDocument/2006/relationships/tags" Target="../tags/tag176.xml"/><Relationship Id="rId10" Type="http://schemas.openxmlformats.org/officeDocument/2006/relationships/tags" Target="../tags/tag171.xml"/><Relationship Id="rId19" Type="http://schemas.openxmlformats.org/officeDocument/2006/relationships/image" Target="../media/image20.tmp"/><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tags" Target="../tags/tag175.xml"/></Relationships>
</file>

<file path=ppt/slides/_rels/slide57.xml.rels><?xml version="1.0" encoding="UTF-8" standalone="yes"?>
<Relationships xmlns="http://schemas.openxmlformats.org/package/2006/relationships"><Relationship Id="rId8" Type="http://schemas.openxmlformats.org/officeDocument/2006/relationships/tags" Target="../tags/tag186.xml"/><Relationship Id="rId13" Type="http://schemas.openxmlformats.org/officeDocument/2006/relationships/tags" Target="../tags/tag191.xml"/><Relationship Id="rId18" Type="http://schemas.openxmlformats.org/officeDocument/2006/relationships/slideLayout" Target="../slideLayouts/slideLayout7.xml"/><Relationship Id="rId3" Type="http://schemas.openxmlformats.org/officeDocument/2006/relationships/tags" Target="../tags/tag181.xml"/><Relationship Id="rId7" Type="http://schemas.openxmlformats.org/officeDocument/2006/relationships/tags" Target="../tags/tag185.xml"/><Relationship Id="rId12" Type="http://schemas.openxmlformats.org/officeDocument/2006/relationships/tags" Target="../tags/tag190.xml"/><Relationship Id="rId17" Type="http://schemas.openxmlformats.org/officeDocument/2006/relationships/tags" Target="../tags/tag195.xml"/><Relationship Id="rId2" Type="http://schemas.openxmlformats.org/officeDocument/2006/relationships/tags" Target="../tags/tag180.xml"/><Relationship Id="rId16" Type="http://schemas.openxmlformats.org/officeDocument/2006/relationships/tags" Target="../tags/tag194.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tags" Target="../tags/tag189.xml"/><Relationship Id="rId5" Type="http://schemas.openxmlformats.org/officeDocument/2006/relationships/tags" Target="../tags/tag183.xml"/><Relationship Id="rId15" Type="http://schemas.openxmlformats.org/officeDocument/2006/relationships/tags" Target="../tags/tag193.xml"/><Relationship Id="rId10" Type="http://schemas.openxmlformats.org/officeDocument/2006/relationships/tags" Target="../tags/tag188.xml"/><Relationship Id="rId19" Type="http://schemas.openxmlformats.org/officeDocument/2006/relationships/image" Target="../media/image20.tmp"/><Relationship Id="rId4" Type="http://schemas.openxmlformats.org/officeDocument/2006/relationships/tags" Target="../tags/tag182.xml"/><Relationship Id="rId9" Type="http://schemas.openxmlformats.org/officeDocument/2006/relationships/tags" Target="../tags/tag187.xml"/><Relationship Id="rId14" Type="http://schemas.openxmlformats.org/officeDocument/2006/relationships/tags" Target="../tags/tag192.xml"/></Relationships>
</file>

<file path=ppt/slides/_rels/slide58.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tags" Target="../tags/tag208.xml"/><Relationship Id="rId18" Type="http://schemas.openxmlformats.org/officeDocument/2006/relationships/slideLayout" Target="../slideLayouts/slideLayout7.xm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tags" Target="../tags/tag207.xml"/><Relationship Id="rId17" Type="http://schemas.openxmlformats.org/officeDocument/2006/relationships/tags" Target="../tags/tag212.xml"/><Relationship Id="rId2" Type="http://schemas.openxmlformats.org/officeDocument/2006/relationships/tags" Target="../tags/tag197.xml"/><Relationship Id="rId16" Type="http://schemas.openxmlformats.org/officeDocument/2006/relationships/tags" Target="../tags/tag211.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tags" Target="../tags/tag206.xml"/><Relationship Id="rId5" Type="http://schemas.openxmlformats.org/officeDocument/2006/relationships/tags" Target="../tags/tag200.xml"/><Relationship Id="rId15" Type="http://schemas.openxmlformats.org/officeDocument/2006/relationships/tags" Target="../tags/tag210.xml"/><Relationship Id="rId10" Type="http://schemas.openxmlformats.org/officeDocument/2006/relationships/tags" Target="../tags/tag205.xml"/><Relationship Id="rId19" Type="http://schemas.openxmlformats.org/officeDocument/2006/relationships/image" Target="../media/image20.tmp"/><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tags" Target="../tags/tag209.xml"/></Relationships>
</file>

<file path=ppt/slides/_rels/slide59.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tags" Target="../tags/tag225.xml"/><Relationship Id="rId18" Type="http://schemas.openxmlformats.org/officeDocument/2006/relationships/slideLayout" Target="../slideLayouts/slideLayout7.xml"/><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tags" Target="../tags/tag224.xml"/><Relationship Id="rId17" Type="http://schemas.openxmlformats.org/officeDocument/2006/relationships/tags" Target="../tags/tag229.xml"/><Relationship Id="rId2" Type="http://schemas.openxmlformats.org/officeDocument/2006/relationships/tags" Target="../tags/tag214.xml"/><Relationship Id="rId16" Type="http://schemas.openxmlformats.org/officeDocument/2006/relationships/tags" Target="../tags/tag228.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tags" Target="../tags/tag227.xml"/><Relationship Id="rId10" Type="http://schemas.openxmlformats.org/officeDocument/2006/relationships/tags" Target="../tags/tag222.xml"/><Relationship Id="rId19" Type="http://schemas.openxmlformats.org/officeDocument/2006/relationships/image" Target="../media/image20.tmp"/><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tags" Target="../tags/tag226.xml"/></Relationships>
</file>

<file path=ppt/slides/_rels/slide60.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20.tmp"/><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slideLayout" Target="../slideLayouts/slideLayout7.xml"/><Relationship Id="rId5" Type="http://schemas.openxmlformats.org/officeDocument/2006/relationships/tags" Target="../tags/tag234.xml"/><Relationship Id="rId10" Type="http://schemas.openxmlformats.org/officeDocument/2006/relationships/tags" Target="../tags/tag239.xml"/><Relationship Id="rId4" Type="http://schemas.openxmlformats.org/officeDocument/2006/relationships/tags" Target="../tags/tag233.xml"/><Relationship Id="rId9" Type="http://schemas.openxmlformats.org/officeDocument/2006/relationships/tags" Target="../tags/tag238.xml"/></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2.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240.xml"/><Relationship Id="rId5" Type="http://schemas.openxmlformats.org/officeDocument/2006/relationships/slide" Target="slide62.xml"/><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slide" Target="slide62.xml"/><Relationship Id="rId2" Type="http://schemas.openxmlformats.org/officeDocument/2006/relationships/slideLayout" Target="../slideLayouts/slideLayout3.xml"/><Relationship Id="rId1" Type="http://schemas.openxmlformats.org/officeDocument/2006/relationships/tags" Target="../tags/tag241.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png"/></Relationships>
</file>

<file path=ppt/slides/_rels/slide65.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slide" Target="slide62.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242.xml"/><Relationship Id="rId5" Type="http://schemas.openxmlformats.org/officeDocument/2006/relationships/slide" Target="slide62.xml"/><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2" Type="http://schemas.openxmlformats.org/officeDocument/2006/relationships/slide" Target="slide62.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slide" Target="slide62.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tags" Target="../tags/tag255.xml"/><Relationship Id="rId18" Type="http://schemas.openxmlformats.org/officeDocument/2006/relationships/slideLayout" Target="../slideLayouts/slideLayout7.xml"/><Relationship Id="rId3" Type="http://schemas.openxmlformats.org/officeDocument/2006/relationships/tags" Target="../tags/tag245.xml"/><Relationship Id="rId7" Type="http://schemas.openxmlformats.org/officeDocument/2006/relationships/tags" Target="../tags/tag249.xml"/><Relationship Id="rId12" Type="http://schemas.openxmlformats.org/officeDocument/2006/relationships/tags" Target="../tags/tag254.xml"/><Relationship Id="rId17" Type="http://schemas.openxmlformats.org/officeDocument/2006/relationships/tags" Target="../tags/tag259.xml"/><Relationship Id="rId2" Type="http://schemas.openxmlformats.org/officeDocument/2006/relationships/tags" Target="../tags/tag244.xml"/><Relationship Id="rId16" Type="http://schemas.openxmlformats.org/officeDocument/2006/relationships/tags" Target="../tags/tag258.xml"/><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5" Type="http://schemas.openxmlformats.org/officeDocument/2006/relationships/tags" Target="../tags/tag247.xml"/><Relationship Id="rId15" Type="http://schemas.openxmlformats.org/officeDocument/2006/relationships/tags" Target="../tags/tag257.xml"/><Relationship Id="rId10" Type="http://schemas.openxmlformats.org/officeDocument/2006/relationships/tags" Target="../tags/tag252.xml"/><Relationship Id="rId19" Type="http://schemas.openxmlformats.org/officeDocument/2006/relationships/image" Target="../media/image20.tmp"/><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tags" Target="../tags/tag256.xml"/></Relationships>
</file>

<file path=ppt/slides/_rels/slide73.xml.rels><?xml version="1.0" encoding="UTF-8" standalone="yes"?>
<Relationships xmlns="http://schemas.openxmlformats.org/package/2006/relationships"><Relationship Id="rId8" Type="http://schemas.openxmlformats.org/officeDocument/2006/relationships/tags" Target="../tags/tag267.xml"/><Relationship Id="rId13" Type="http://schemas.openxmlformats.org/officeDocument/2006/relationships/tags" Target="../tags/tag272.xml"/><Relationship Id="rId18" Type="http://schemas.openxmlformats.org/officeDocument/2006/relationships/slideLayout" Target="../slideLayouts/slideLayout7.xml"/><Relationship Id="rId3" Type="http://schemas.openxmlformats.org/officeDocument/2006/relationships/tags" Target="../tags/tag262.xml"/><Relationship Id="rId7" Type="http://schemas.openxmlformats.org/officeDocument/2006/relationships/tags" Target="../tags/tag266.xml"/><Relationship Id="rId12" Type="http://schemas.openxmlformats.org/officeDocument/2006/relationships/tags" Target="../tags/tag271.xml"/><Relationship Id="rId17" Type="http://schemas.openxmlformats.org/officeDocument/2006/relationships/tags" Target="../tags/tag276.xml"/><Relationship Id="rId2" Type="http://schemas.openxmlformats.org/officeDocument/2006/relationships/tags" Target="../tags/tag261.xml"/><Relationship Id="rId16" Type="http://schemas.openxmlformats.org/officeDocument/2006/relationships/tags" Target="../tags/tag275.xml"/><Relationship Id="rId1" Type="http://schemas.openxmlformats.org/officeDocument/2006/relationships/tags" Target="../tags/tag260.xml"/><Relationship Id="rId6" Type="http://schemas.openxmlformats.org/officeDocument/2006/relationships/tags" Target="../tags/tag265.xml"/><Relationship Id="rId11" Type="http://schemas.openxmlformats.org/officeDocument/2006/relationships/tags" Target="../tags/tag270.xml"/><Relationship Id="rId5" Type="http://schemas.openxmlformats.org/officeDocument/2006/relationships/tags" Target="../tags/tag264.xml"/><Relationship Id="rId15" Type="http://schemas.openxmlformats.org/officeDocument/2006/relationships/tags" Target="../tags/tag274.xml"/><Relationship Id="rId10" Type="http://schemas.openxmlformats.org/officeDocument/2006/relationships/tags" Target="../tags/tag269.xml"/><Relationship Id="rId19" Type="http://schemas.openxmlformats.org/officeDocument/2006/relationships/image" Target="../media/image20.tmp"/><Relationship Id="rId4" Type="http://schemas.openxmlformats.org/officeDocument/2006/relationships/tags" Target="../tags/tag263.xml"/><Relationship Id="rId9" Type="http://schemas.openxmlformats.org/officeDocument/2006/relationships/tags" Target="../tags/tag268.xml"/><Relationship Id="rId14" Type="http://schemas.openxmlformats.org/officeDocument/2006/relationships/tags" Target="../tags/tag273.xml"/></Relationships>
</file>

<file path=ppt/slides/_rels/slide74.xml.rels><?xml version="1.0" encoding="UTF-8" standalone="yes"?>
<Relationships xmlns="http://schemas.openxmlformats.org/package/2006/relationships"><Relationship Id="rId8" Type="http://schemas.openxmlformats.org/officeDocument/2006/relationships/tags" Target="../tags/tag284.xml"/><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image" Target="../media/image20.tmp"/><Relationship Id="rId2" Type="http://schemas.openxmlformats.org/officeDocument/2006/relationships/tags" Target="../tags/tag278.xml"/><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slideLayout" Target="../slideLayouts/slideLayout7.xml"/><Relationship Id="rId5" Type="http://schemas.openxmlformats.org/officeDocument/2006/relationships/tags" Target="../tags/tag281.xml"/><Relationship Id="rId10" Type="http://schemas.openxmlformats.org/officeDocument/2006/relationships/tags" Target="../tags/tag286.xml"/><Relationship Id="rId4" Type="http://schemas.openxmlformats.org/officeDocument/2006/relationships/tags" Target="../tags/tag280.xml"/><Relationship Id="rId9" Type="http://schemas.openxmlformats.org/officeDocument/2006/relationships/tags" Target="../tags/tag285.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6.xml.rels><?xml version="1.0" encoding="UTF-8" standalone="yes"?>
<Relationships xmlns="http://schemas.openxmlformats.org/package/2006/relationships"><Relationship Id="rId2" Type="http://schemas.openxmlformats.org/officeDocument/2006/relationships/slide" Target="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slide" Target="slide76.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slide" Target="slide7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slide" Target="slide76.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8" Type="http://schemas.openxmlformats.org/officeDocument/2006/relationships/tags" Target="../tags/tag294.xml"/><Relationship Id="rId13" Type="http://schemas.openxmlformats.org/officeDocument/2006/relationships/tags" Target="../tags/tag299.xml"/><Relationship Id="rId18" Type="http://schemas.openxmlformats.org/officeDocument/2006/relationships/slideLayout" Target="../slideLayouts/slideLayout7.xml"/><Relationship Id="rId3" Type="http://schemas.openxmlformats.org/officeDocument/2006/relationships/tags" Target="../tags/tag289.xml"/><Relationship Id="rId7" Type="http://schemas.openxmlformats.org/officeDocument/2006/relationships/tags" Target="../tags/tag293.xml"/><Relationship Id="rId12" Type="http://schemas.openxmlformats.org/officeDocument/2006/relationships/tags" Target="../tags/tag298.xml"/><Relationship Id="rId17" Type="http://schemas.openxmlformats.org/officeDocument/2006/relationships/tags" Target="../tags/tag303.xml"/><Relationship Id="rId2" Type="http://schemas.openxmlformats.org/officeDocument/2006/relationships/tags" Target="../tags/tag288.xml"/><Relationship Id="rId16" Type="http://schemas.openxmlformats.org/officeDocument/2006/relationships/tags" Target="../tags/tag302.xml"/><Relationship Id="rId1" Type="http://schemas.openxmlformats.org/officeDocument/2006/relationships/tags" Target="../tags/tag287.xml"/><Relationship Id="rId6" Type="http://schemas.openxmlformats.org/officeDocument/2006/relationships/tags" Target="../tags/tag292.xml"/><Relationship Id="rId11" Type="http://schemas.openxmlformats.org/officeDocument/2006/relationships/tags" Target="../tags/tag297.xml"/><Relationship Id="rId5" Type="http://schemas.openxmlformats.org/officeDocument/2006/relationships/tags" Target="../tags/tag291.xml"/><Relationship Id="rId15" Type="http://schemas.openxmlformats.org/officeDocument/2006/relationships/tags" Target="../tags/tag301.xml"/><Relationship Id="rId10" Type="http://schemas.openxmlformats.org/officeDocument/2006/relationships/tags" Target="../tags/tag296.xml"/><Relationship Id="rId19" Type="http://schemas.openxmlformats.org/officeDocument/2006/relationships/image" Target="../media/image20.tmp"/><Relationship Id="rId4" Type="http://schemas.openxmlformats.org/officeDocument/2006/relationships/tags" Target="../tags/tag290.xml"/><Relationship Id="rId9" Type="http://schemas.openxmlformats.org/officeDocument/2006/relationships/tags" Target="../tags/tag295.xml"/><Relationship Id="rId14" Type="http://schemas.openxmlformats.org/officeDocument/2006/relationships/tags" Target="../tags/tag300.xml"/></Relationships>
</file>

<file path=ppt/slides/_rels/slide81.xml.rels><?xml version="1.0" encoding="UTF-8" standalone="yes"?>
<Relationships xmlns="http://schemas.openxmlformats.org/package/2006/relationships"><Relationship Id="rId8" Type="http://schemas.openxmlformats.org/officeDocument/2006/relationships/tags" Target="../tags/tag311.xml"/><Relationship Id="rId3" Type="http://schemas.openxmlformats.org/officeDocument/2006/relationships/tags" Target="../tags/tag306.xml"/><Relationship Id="rId7" Type="http://schemas.openxmlformats.org/officeDocument/2006/relationships/tags" Target="../tags/tag310.xml"/><Relationship Id="rId12" Type="http://schemas.openxmlformats.org/officeDocument/2006/relationships/image" Target="../media/image20.tmp"/><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tags" Target="../tags/tag309.xml"/><Relationship Id="rId11" Type="http://schemas.openxmlformats.org/officeDocument/2006/relationships/slideLayout" Target="../slideLayouts/slideLayout7.xml"/><Relationship Id="rId5" Type="http://schemas.openxmlformats.org/officeDocument/2006/relationships/tags" Target="../tags/tag308.xml"/><Relationship Id="rId10" Type="http://schemas.openxmlformats.org/officeDocument/2006/relationships/tags" Target="../tags/tag313.xml"/><Relationship Id="rId4" Type="http://schemas.openxmlformats.org/officeDocument/2006/relationships/tags" Target="../tags/tag307.xml"/><Relationship Id="rId9" Type="http://schemas.openxmlformats.org/officeDocument/2006/relationships/tags" Target="../tags/tag312.xml"/></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3.xml.rels><?xml version="1.0" encoding="UTF-8" standalone="yes"?>
<Relationships xmlns="http://schemas.openxmlformats.org/package/2006/relationships"><Relationship Id="rId2" Type="http://schemas.openxmlformats.org/officeDocument/2006/relationships/slide" Target="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slide" Target="slide8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slideLayout" Target="../slideLayouts/slideLayout3.xml"/><Relationship Id="rId1" Type="http://schemas.openxmlformats.org/officeDocument/2006/relationships/tags" Target="../tags/tag314.xml"/></Relationships>
</file>

<file path=ppt/slides/_rels/slide87.xml.rels><?xml version="1.0" encoding="UTF-8" standalone="yes"?>
<Relationships xmlns="http://schemas.openxmlformats.org/package/2006/relationships"><Relationship Id="rId2" Type="http://schemas.openxmlformats.org/officeDocument/2006/relationships/slide" Target="slide8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8" Type="http://schemas.openxmlformats.org/officeDocument/2006/relationships/tags" Target="../tags/tag322.xml"/><Relationship Id="rId13" Type="http://schemas.openxmlformats.org/officeDocument/2006/relationships/tags" Target="../tags/tag327.xml"/><Relationship Id="rId18" Type="http://schemas.openxmlformats.org/officeDocument/2006/relationships/slideLayout" Target="../slideLayouts/slideLayout7.xml"/><Relationship Id="rId3" Type="http://schemas.openxmlformats.org/officeDocument/2006/relationships/tags" Target="../tags/tag317.xml"/><Relationship Id="rId7" Type="http://schemas.openxmlformats.org/officeDocument/2006/relationships/tags" Target="../tags/tag321.xml"/><Relationship Id="rId12" Type="http://schemas.openxmlformats.org/officeDocument/2006/relationships/tags" Target="../tags/tag326.xml"/><Relationship Id="rId17" Type="http://schemas.openxmlformats.org/officeDocument/2006/relationships/tags" Target="../tags/tag331.xml"/><Relationship Id="rId2" Type="http://schemas.openxmlformats.org/officeDocument/2006/relationships/tags" Target="../tags/tag316.xml"/><Relationship Id="rId16" Type="http://schemas.openxmlformats.org/officeDocument/2006/relationships/tags" Target="../tags/tag330.xml"/><Relationship Id="rId1" Type="http://schemas.openxmlformats.org/officeDocument/2006/relationships/tags" Target="../tags/tag315.xml"/><Relationship Id="rId6" Type="http://schemas.openxmlformats.org/officeDocument/2006/relationships/tags" Target="../tags/tag320.xml"/><Relationship Id="rId11" Type="http://schemas.openxmlformats.org/officeDocument/2006/relationships/tags" Target="../tags/tag325.xml"/><Relationship Id="rId5" Type="http://schemas.openxmlformats.org/officeDocument/2006/relationships/tags" Target="../tags/tag319.xml"/><Relationship Id="rId15" Type="http://schemas.openxmlformats.org/officeDocument/2006/relationships/tags" Target="../tags/tag329.xml"/><Relationship Id="rId10" Type="http://schemas.openxmlformats.org/officeDocument/2006/relationships/tags" Target="../tags/tag324.xml"/><Relationship Id="rId19" Type="http://schemas.openxmlformats.org/officeDocument/2006/relationships/image" Target="../media/image20.tmp"/><Relationship Id="rId4" Type="http://schemas.openxmlformats.org/officeDocument/2006/relationships/tags" Target="../tags/tag318.xml"/><Relationship Id="rId9" Type="http://schemas.openxmlformats.org/officeDocument/2006/relationships/tags" Target="../tags/tag323.xml"/><Relationship Id="rId14" Type="http://schemas.openxmlformats.org/officeDocument/2006/relationships/tags" Target="../tags/tag328.xml"/></Relationships>
</file>

<file path=ppt/slides/_rels/slide89.xml.rels><?xml version="1.0" encoding="UTF-8" standalone="yes"?>
<Relationships xmlns="http://schemas.openxmlformats.org/package/2006/relationships"><Relationship Id="rId8" Type="http://schemas.openxmlformats.org/officeDocument/2006/relationships/tags" Target="../tags/tag339.xml"/><Relationship Id="rId3" Type="http://schemas.openxmlformats.org/officeDocument/2006/relationships/tags" Target="../tags/tag334.xml"/><Relationship Id="rId7" Type="http://schemas.openxmlformats.org/officeDocument/2006/relationships/tags" Target="../tags/tag338.xml"/><Relationship Id="rId12" Type="http://schemas.openxmlformats.org/officeDocument/2006/relationships/image" Target="../media/image20.tmp"/><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slideLayout" Target="../slideLayouts/slideLayout7.xml"/><Relationship Id="rId5" Type="http://schemas.openxmlformats.org/officeDocument/2006/relationships/tags" Target="../tags/tag336.xml"/><Relationship Id="rId10" Type="http://schemas.openxmlformats.org/officeDocument/2006/relationships/tags" Target="../tags/tag341.xml"/><Relationship Id="rId4" Type="http://schemas.openxmlformats.org/officeDocument/2006/relationships/tags" Target="../tags/tag335.xml"/><Relationship Id="rId9" Type="http://schemas.openxmlformats.org/officeDocument/2006/relationships/tags" Target="../tags/tag340.xml"/></Relationships>
</file>

<file path=ppt/slides/_rels/slide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slide" Target="slide93.xml"/></Relationships>
</file>

<file path=ppt/slides/_rels/slide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92.xml.rels><?xml version="1.0" encoding="UTF-8" standalone="yes"?>
<Relationships xmlns="http://schemas.openxmlformats.org/package/2006/relationships"><Relationship Id="rId2" Type="http://schemas.openxmlformats.org/officeDocument/2006/relationships/slide" Target="slide93.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slide" Target="slide93.xml"/><Relationship Id="rId2" Type="http://schemas.openxmlformats.org/officeDocument/2006/relationships/slideLayout" Target="../slideLayouts/slideLayout3.xml"/><Relationship Id="rId1" Type="http://schemas.openxmlformats.org/officeDocument/2006/relationships/tags" Target="../tags/tag342.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94.xml.rels><?xml version="1.0" encoding="UTF-8" standalone="yes"?>
<Relationships xmlns="http://schemas.openxmlformats.org/package/2006/relationships"><Relationship Id="rId2" Type="http://schemas.openxmlformats.org/officeDocument/2006/relationships/slide" Target="slide93.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slideLayout" Target="../slideLayouts/slideLayout3.xml"/><Relationship Id="rId1" Type="http://schemas.openxmlformats.org/officeDocument/2006/relationships/tags" Target="../tags/tag343.xml"/><Relationship Id="rId5" Type="http://schemas.openxmlformats.org/officeDocument/2006/relationships/slide" Target="slide93.xml"/><Relationship Id="rId4" Type="http://schemas.openxmlformats.org/officeDocument/2006/relationships/image" Target="../media/image29.png"/></Relationships>
</file>

<file path=ppt/slides/_rels/slide96.xml.rels><?xml version="1.0" encoding="UTF-8" standalone="yes"?>
<Relationships xmlns="http://schemas.openxmlformats.org/package/2006/relationships"><Relationship Id="rId3" Type="http://schemas.openxmlformats.org/officeDocument/2006/relationships/slide" Target="slide93.xml"/><Relationship Id="rId2" Type="http://schemas.openxmlformats.org/officeDocument/2006/relationships/slideLayout" Target="../slideLayouts/slideLayout3.xml"/><Relationship Id="rId1" Type="http://schemas.openxmlformats.org/officeDocument/2006/relationships/tags" Target="../tags/tag344.xml"/></Relationships>
</file>

<file path=ppt/slides/_rels/slide97.xml.rels><?xml version="1.0" encoding="UTF-8" standalone="yes"?>
<Relationships xmlns="http://schemas.openxmlformats.org/package/2006/relationships"><Relationship Id="rId8" Type="http://schemas.openxmlformats.org/officeDocument/2006/relationships/tags" Target="../tags/tag352.xml"/><Relationship Id="rId13" Type="http://schemas.openxmlformats.org/officeDocument/2006/relationships/tags" Target="../tags/tag357.xml"/><Relationship Id="rId18" Type="http://schemas.openxmlformats.org/officeDocument/2006/relationships/slideLayout" Target="../slideLayouts/slideLayout7.xml"/><Relationship Id="rId3" Type="http://schemas.openxmlformats.org/officeDocument/2006/relationships/tags" Target="../tags/tag347.xml"/><Relationship Id="rId7" Type="http://schemas.openxmlformats.org/officeDocument/2006/relationships/tags" Target="../tags/tag351.xml"/><Relationship Id="rId12" Type="http://schemas.openxmlformats.org/officeDocument/2006/relationships/tags" Target="../tags/tag356.xml"/><Relationship Id="rId17" Type="http://schemas.openxmlformats.org/officeDocument/2006/relationships/tags" Target="../tags/tag361.xml"/><Relationship Id="rId2" Type="http://schemas.openxmlformats.org/officeDocument/2006/relationships/tags" Target="../tags/tag346.xml"/><Relationship Id="rId16" Type="http://schemas.openxmlformats.org/officeDocument/2006/relationships/tags" Target="../tags/tag360.xml"/><Relationship Id="rId1" Type="http://schemas.openxmlformats.org/officeDocument/2006/relationships/tags" Target="../tags/tag345.xml"/><Relationship Id="rId6" Type="http://schemas.openxmlformats.org/officeDocument/2006/relationships/tags" Target="../tags/tag350.xml"/><Relationship Id="rId11" Type="http://schemas.openxmlformats.org/officeDocument/2006/relationships/tags" Target="../tags/tag355.xml"/><Relationship Id="rId5" Type="http://schemas.openxmlformats.org/officeDocument/2006/relationships/tags" Target="../tags/tag349.xml"/><Relationship Id="rId15" Type="http://schemas.openxmlformats.org/officeDocument/2006/relationships/tags" Target="../tags/tag359.xml"/><Relationship Id="rId10" Type="http://schemas.openxmlformats.org/officeDocument/2006/relationships/tags" Target="../tags/tag354.xml"/><Relationship Id="rId19" Type="http://schemas.openxmlformats.org/officeDocument/2006/relationships/image" Target="../media/image20.tmp"/><Relationship Id="rId4" Type="http://schemas.openxmlformats.org/officeDocument/2006/relationships/tags" Target="../tags/tag348.xml"/><Relationship Id="rId9" Type="http://schemas.openxmlformats.org/officeDocument/2006/relationships/tags" Target="../tags/tag353.xml"/><Relationship Id="rId14" Type="http://schemas.openxmlformats.org/officeDocument/2006/relationships/tags" Target="../tags/tag358.xml"/></Relationships>
</file>

<file path=ppt/slides/_rels/slide98.xml.rels><?xml version="1.0" encoding="UTF-8" standalone="yes"?>
<Relationships xmlns="http://schemas.openxmlformats.org/package/2006/relationships"><Relationship Id="rId8" Type="http://schemas.openxmlformats.org/officeDocument/2006/relationships/tags" Target="../tags/tag369.xml"/><Relationship Id="rId13" Type="http://schemas.openxmlformats.org/officeDocument/2006/relationships/tags" Target="../tags/tag374.xml"/><Relationship Id="rId18" Type="http://schemas.openxmlformats.org/officeDocument/2006/relationships/slideLayout" Target="../slideLayouts/slideLayout7.xml"/><Relationship Id="rId3" Type="http://schemas.openxmlformats.org/officeDocument/2006/relationships/tags" Target="../tags/tag364.xml"/><Relationship Id="rId7" Type="http://schemas.openxmlformats.org/officeDocument/2006/relationships/tags" Target="../tags/tag368.xml"/><Relationship Id="rId12" Type="http://schemas.openxmlformats.org/officeDocument/2006/relationships/tags" Target="../tags/tag373.xml"/><Relationship Id="rId17" Type="http://schemas.openxmlformats.org/officeDocument/2006/relationships/tags" Target="../tags/tag378.xml"/><Relationship Id="rId2" Type="http://schemas.openxmlformats.org/officeDocument/2006/relationships/tags" Target="../tags/tag363.xml"/><Relationship Id="rId16" Type="http://schemas.openxmlformats.org/officeDocument/2006/relationships/tags" Target="../tags/tag377.xml"/><Relationship Id="rId1" Type="http://schemas.openxmlformats.org/officeDocument/2006/relationships/tags" Target="../tags/tag362.xml"/><Relationship Id="rId6" Type="http://schemas.openxmlformats.org/officeDocument/2006/relationships/tags" Target="../tags/tag367.xml"/><Relationship Id="rId11" Type="http://schemas.openxmlformats.org/officeDocument/2006/relationships/tags" Target="../tags/tag372.xml"/><Relationship Id="rId5" Type="http://schemas.openxmlformats.org/officeDocument/2006/relationships/tags" Target="../tags/tag366.xml"/><Relationship Id="rId15" Type="http://schemas.openxmlformats.org/officeDocument/2006/relationships/tags" Target="../tags/tag376.xml"/><Relationship Id="rId10" Type="http://schemas.openxmlformats.org/officeDocument/2006/relationships/tags" Target="../tags/tag371.xml"/><Relationship Id="rId19" Type="http://schemas.openxmlformats.org/officeDocument/2006/relationships/image" Target="../media/image20.tmp"/><Relationship Id="rId4" Type="http://schemas.openxmlformats.org/officeDocument/2006/relationships/tags" Target="../tags/tag365.xml"/><Relationship Id="rId9" Type="http://schemas.openxmlformats.org/officeDocument/2006/relationships/tags" Target="../tags/tag370.xml"/><Relationship Id="rId14" Type="http://schemas.openxmlformats.org/officeDocument/2006/relationships/tags" Target="../tags/tag375.xml"/></Relationships>
</file>

<file path=ppt/slides/_rels/slide99.xml.rels><?xml version="1.0" encoding="UTF-8" standalone="yes"?>
<Relationships xmlns="http://schemas.openxmlformats.org/package/2006/relationships"><Relationship Id="rId8" Type="http://schemas.openxmlformats.org/officeDocument/2006/relationships/tags" Target="../tags/tag386.xml"/><Relationship Id="rId13" Type="http://schemas.openxmlformats.org/officeDocument/2006/relationships/tags" Target="../tags/tag391.xml"/><Relationship Id="rId18" Type="http://schemas.openxmlformats.org/officeDocument/2006/relationships/slideLayout" Target="../slideLayouts/slideLayout7.xml"/><Relationship Id="rId3" Type="http://schemas.openxmlformats.org/officeDocument/2006/relationships/tags" Target="../tags/tag381.xml"/><Relationship Id="rId7" Type="http://schemas.openxmlformats.org/officeDocument/2006/relationships/tags" Target="../tags/tag385.xml"/><Relationship Id="rId12" Type="http://schemas.openxmlformats.org/officeDocument/2006/relationships/tags" Target="../tags/tag390.xml"/><Relationship Id="rId17" Type="http://schemas.openxmlformats.org/officeDocument/2006/relationships/tags" Target="../tags/tag395.xml"/><Relationship Id="rId2" Type="http://schemas.openxmlformats.org/officeDocument/2006/relationships/tags" Target="../tags/tag380.xml"/><Relationship Id="rId16" Type="http://schemas.openxmlformats.org/officeDocument/2006/relationships/tags" Target="../tags/tag394.xml"/><Relationship Id="rId1" Type="http://schemas.openxmlformats.org/officeDocument/2006/relationships/tags" Target="../tags/tag379.xml"/><Relationship Id="rId6" Type="http://schemas.openxmlformats.org/officeDocument/2006/relationships/tags" Target="../tags/tag384.xml"/><Relationship Id="rId11" Type="http://schemas.openxmlformats.org/officeDocument/2006/relationships/tags" Target="../tags/tag389.xml"/><Relationship Id="rId5" Type="http://schemas.openxmlformats.org/officeDocument/2006/relationships/tags" Target="../tags/tag383.xml"/><Relationship Id="rId15" Type="http://schemas.openxmlformats.org/officeDocument/2006/relationships/tags" Target="../tags/tag393.xml"/><Relationship Id="rId10" Type="http://schemas.openxmlformats.org/officeDocument/2006/relationships/tags" Target="../tags/tag388.xml"/><Relationship Id="rId19" Type="http://schemas.openxmlformats.org/officeDocument/2006/relationships/image" Target="../media/image20.tmp"/><Relationship Id="rId4" Type="http://schemas.openxmlformats.org/officeDocument/2006/relationships/tags" Target="../tags/tag382.xml"/><Relationship Id="rId9" Type="http://schemas.openxmlformats.org/officeDocument/2006/relationships/tags" Target="../tags/tag387.xml"/><Relationship Id="rId14" Type="http://schemas.openxmlformats.org/officeDocument/2006/relationships/tags" Target="../tags/tag392.xml"/></Relationships>
</file>

<file path=ppt/slides/_rels/slide10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1.xml.rels><?xml version="1.0" encoding="UTF-8" standalone="yes"?>
<Relationships xmlns="http://schemas.openxmlformats.org/package/2006/relationships"><Relationship Id="rId3" Type="http://schemas.openxmlformats.org/officeDocument/2006/relationships/slide" Target="slide101.xml"/><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slide" Target="slide101.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slide" Target="slide101.xml"/></Relationships>
</file>

<file path=ppt/slides/_rels/slide104.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slideLayout" Target="../slideLayouts/slideLayout3.xml"/><Relationship Id="rId7" Type="http://schemas.openxmlformats.org/officeDocument/2006/relationships/image" Target="../media/image32.emf"/><Relationship Id="rId2" Type="http://schemas.openxmlformats.org/officeDocument/2006/relationships/tags" Target="../tags/tag396.xml"/><Relationship Id="rId1" Type="http://schemas.openxmlformats.org/officeDocument/2006/relationships/vmlDrawing" Target="../drawings/vmlDrawing1.vml"/><Relationship Id="rId6" Type="http://schemas.openxmlformats.org/officeDocument/2006/relationships/image" Target="../media/image31.emf"/><Relationship Id="rId5" Type="http://schemas.openxmlformats.org/officeDocument/2006/relationships/package" Target="../embeddings/Microsoft_Visio_Drawing.vsdx"/><Relationship Id="rId4" Type="http://schemas.openxmlformats.org/officeDocument/2006/relationships/notesSlide" Target="../notesSlides/notesSlide44.xml"/><Relationship Id="rId9" Type="http://schemas.openxmlformats.org/officeDocument/2006/relationships/slide" Target="slide101.xml"/></Relationships>
</file>

<file path=ppt/slides/_rels/slide105.xml.rels><?xml version="1.0" encoding="UTF-8" standalone="yes"?>
<Relationships xmlns="http://schemas.openxmlformats.org/package/2006/relationships"><Relationship Id="rId3" Type="http://schemas.openxmlformats.org/officeDocument/2006/relationships/slide" Target="slide101.xml"/><Relationship Id="rId2" Type="http://schemas.openxmlformats.org/officeDocument/2006/relationships/slideLayout" Target="../slideLayouts/slideLayout3.xml"/><Relationship Id="rId1" Type="http://schemas.openxmlformats.org/officeDocument/2006/relationships/tags" Target="../tags/tag397.xml"/></Relationships>
</file>

<file path=ppt/slides/_rels/slide10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3.xml"/><Relationship Id="rId1" Type="http://schemas.openxmlformats.org/officeDocument/2006/relationships/tags" Target="../tags/tag398.xml"/><Relationship Id="rId4" Type="http://schemas.openxmlformats.org/officeDocument/2006/relationships/slide" Target="slide101.xml"/></Relationships>
</file>

<file path=ppt/slides/_rels/slide107.xml.rels><?xml version="1.0" encoding="UTF-8" standalone="yes"?>
<Relationships xmlns="http://schemas.openxmlformats.org/package/2006/relationships"><Relationship Id="rId2" Type="http://schemas.openxmlformats.org/officeDocument/2006/relationships/slide" Target="slide101.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1.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8" Type="http://schemas.openxmlformats.org/officeDocument/2006/relationships/tags" Target="../tags/tag406.xml"/><Relationship Id="rId13" Type="http://schemas.openxmlformats.org/officeDocument/2006/relationships/tags" Target="../tags/tag411.xml"/><Relationship Id="rId18" Type="http://schemas.openxmlformats.org/officeDocument/2006/relationships/slideLayout" Target="../slideLayouts/slideLayout7.xml"/><Relationship Id="rId3" Type="http://schemas.openxmlformats.org/officeDocument/2006/relationships/tags" Target="../tags/tag401.xml"/><Relationship Id="rId7" Type="http://schemas.openxmlformats.org/officeDocument/2006/relationships/tags" Target="../tags/tag405.xml"/><Relationship Id="rId12" Type="http://schemas.openxmlformats.org/officeDocument/2006/relationships/tags" Target="../tags/tag410.xml"/><Relationship Id="rId17" Type="http://schemas.openxmlformats.org/officeDocument/2006/relationships/tags" Target="../tags/tag415.xml"/><Relationship Id="rId2" Type="http://schemas.openxmlformats.org/officeDocument/2006/relationships/tags" Target="../tags/tag400.xml"/><Relationship Id="rId16" Type="http://schemas.openxmlformats.org/officeDocument/2006/relationships/tags" Target="../tags/tag414.xml"/><Relationship Id="rId1" Type="http://schemas.openxmlformats.org/officeDocument/2006/relationships/tags" Target="../tags/tag399.xml"/><Relationship Id="rId6" Type="http://schemas.openxmlformats.org/officeDocument/2006/relationships/tags" Target="../tags/tag404.xml"/><Relationship Id="rId11" Type="http://schemas.openxmlformats.org/officeDocument/2006/relationships/tags" Target="../tags/tag409.xml"/><Relationship Id="rId5" Type="http://schemas.openxmlformats.org/officeDocument/2006/relationships/tags" Target="../tags/tag403.xml"/><Relationship Id="rId15" Type="http://schemas.openxmlformats.org/officeDocument/2006/relationships/tags" Target="../tags/tag413.xml"/><Relationship Id="rId10" Type="http://schemas.openxmlformats.org/officeDocument/2006/relationships/tags" Target="../tags/tag408.xml"/><Relationship Id="rId19" Type="http://schemas.openxmlformats.org/officeDocument/2006/relationships/image" Target="../media/image20.tmp"/><Relationship Id="rId4" Type="http://schemas.openxmlformats.org/officeDocument/2006/relationships/tags" Target="../tags/tag402.xml"/><Relationship Id="rId9" Type="http://schemas.openxmlformats.org/officeDocument/2006/relationships/tags" Target="../tags/tag407.xml"/><Relationship Id="rId14" Type="http://schemas.openxmlformats.org/officeDocument/2006/relationships/tags" Target="../tags/tag412.xml"/></Relationships>
</file>

<file path=ppt/slides/_rels/slide1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9.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tags" Target="../tags/tag416.xml"/><Relationship Id="rId5" Type="http://schemas.openxmlformats.org/officeDocument/2006/relationships/slide" Target="slide112.xml"/><Relationship Id="rId4" Type="http://schemas.openxmlformats.org/officeDocument/2006/relationships/image" Target="../media/image36.png"/></Relationships>
</file>

<file path=ppt/slides/_rels/slide123.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8" Type="http://schemas.openxmlformats.org/officeDocument/2006/relationships/tags" Target="../tags/tag424.xml"/><Relationship Id="rId3" Type="http://schemas.openxmlformats.org/officeDocument/2006/relationships/tags" Target="../tags/tag419.xml"/><Relationship Id="rId7" Type="http://schemas.openxmlformats.org/officeDocument/2006/relationships/tags" Target="../tags/tag423.xml"/><Relationship Id="rId12" Type="http://schemas.openxmlformats.org/officeDocument/2006/relationships/image" Target="../media/image20.tmp"/><Relationship Id="rId2" Type="http://schemas.openxmlformats.org/officeDocument/2006/relationships/tags" Target="../tags/tag418.xml"/><Relationship Id="rId1" Type="http://schemas.openxmlformats.org/officeDocument/2006/relationships/tags" Target="../tags/tag417.xml"/><Relationship Id="rId6" Type="http://schemas.openxmlformats.org/officeDocument/2006/relationships/tags" Target="../tags/tag422.xml"/><Relationship Id="rId11" Type="http://schemas.openxmlformats.org/officeDocument/2006/relationships/slideLayout" Target="../slideLayouts/slideLayout7.xml"/><Relationship Id="rId5" Type="http://schemas.openxmlformats.org/officeDocument/2006/relationships/tags" Target="../tags/tag421.xml"/><Relationship Id="rId10" Type="http://schemas.openxmlformats.org/officeDocument/2006/relationships/tags" Target="../tags/tag426.xml"/><Relationship Id="rId4" Type="http://schemas.openxmlformats.org/officeDocument/2006/relationships/tags" Target="../tags/tag420.xml"/><Relationship Id="rId9" Type="http://schemas.openxmlformats.org/officeDocument/2006/relationships/tags" Target="../tags/tag425.xml"/></Relationships>
</file>

<file path=ppt/slides/_rels/slide1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8.xml.rels><?xml version="1.0" encoding="UTF-8" standalone="yes"?>
<Relationships xmlns="http://schemas.openxmlformats.org/package/2006/relationships"><Relationship Id="rId3" Type="http://schemas.openxmlformats.org/officeDocument/2006/relationships/slide" Target="slide112.xml"/><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slide" Target="slide112.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slide" Target="slide112.xml"/><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41.wmf"/><Relationship Id="rId3" Type="http://schemas.openxmlformats.org/officeDocument/2006/relationships/notesSlide" Target="../notesSlides/notesSlide51.xml"/><Relationship Id="rId7" Type="http://schemas.openxmlformats.org/officeDocument/2006/relationships/image" Target="../media/image38.wmf"/><Relationship Id="rId12"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9.wmf"/><Relationship Id="rId14" Type="http://schemas.openxmlformats.org/officeDocument/2006/relationships/slide" Target="slide112.xml"/></Relationships>
</file>

<file path=ppt/slides/_rels/slide135.xml.rels><?xml version="1.0" encoding="UTF-8" standalone="yes"?>
<Relationships xmlns="http://schemas.openxmlformats.org/package/2006/relationships"><Relationship Id="rId8" Type="http://schemas.openxmlformats.org/officeDocument/2006/relationships/tags" Target="../tags/tag434.xml"/><Relationship Id="rId13" Type="http://schemas.openxmlformats.org/officeDocument/2006/relationships/tags" Target="../tags/tag439.xml"/><Relationship Id="rId18" Type="http://schemas.openxmlformats.org/officeDocument/2006/relationships/slideLayout" Target="../slideLayouts/slideLayout7.xml"/><Relationship Id="rId3" Type="http://schemas.openxmlformats.org/officeDocument/2006/relationships/tags" Target="../tags/tag429.xml"/><Relationship Id="rId7" Type="http://schemas.openxmlformats.org/officeDocument/2006/relationships/tags" Target="../tags/tag433.xml"/><Relationship Id="rId12" Type="http://schemas.openxmlformats.org/officeDocument/2006/relationships/tags" Target="../tags/tag438.xml"/><Relationship Id="rId17" Type="http://schemas.openxmlformats.org/officeDocument/2006/relationships/tags" Target="../tags/tag443.xml"/><Relationship Id="rId2" Type="http://schemas.openxmlformats.org/officeDocument/2006/relationships/tags" Target="../tags/tag428.xml"/><Relationship Id="rId16" Type="http://schemas.openxmlformats.org/officeDocument/2006/relationships/tags" Target="../tags/tag442.xml"/><Relationship Id="rId1" Type="http://schemas.openxmlformats.org/officeDocument/2006/relationships/tags" Target="../tags/tag427.xml"/><Relationship Id="rId6" Type="http://schemas.openxmlformats.org/officeDocument/2006/relationships/tags" Target="../tags/tag432.xml"/><Relationship Id="rId11" Type="http://schemas.openxmlformats.org/officeDocument/2006/relationships/tags" Target="../tags/tag437.xml"/><Relationship Id="rId5" Type="http://schemas.openxmlformats.org/officeDocument/2006/relationships/tags" Target="../tags/tag431.xml"/><Relationship Id="rId15" Type="http://schemas.openxmlformats.org/officeDocument/2006/relationships/tags" Target="../tags/tag441.xml"/><Relationship Id="rId10" Type="http://schemas.openxmlformats.org/officeDocument/2006/relationships/tags" Target="../tags/tag436.xml"/><Relationship Id="rId19" Type="http://schemas.openxmlformats.org/officeDocument/2006/relationships/image" Target="../media/image20.tmp"/><Relationship Id="rId4" Type="http://schemas.openxmlformats.org/officeDocument/2006/relationships/tags" Target="../tags/tag430.xml"/><Relationship Id="rId9" Type="http://schemas.openxmlformats.org/officeDocument/2006/relationships/tags" Target="../tags/tag435.xml"/><Relationship Id="rId14" Type="http://schemas.openxmlformats.org/officeDocument/2006/relationships/tags" Target="../tags/tag440.xml"/></Relationships>
</file>

<file path=ppt/slides/_rels/slide1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slide" Target="slide112.xml"/></Relationships>
</file>

<file path=ppt/slides/_rels/slide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8.xml.rels><?xml version="1.0" encoding="UTF-8" standalone="yes"?>
<Relationships xmlns="http://schemas.openxmlformats.org/package/2006/relationships"><Relationship Id="rId2" Type="http://schemas.openxmlformats.org/officeDocument/2006/relationships/slide" Target="slide139.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3" Type="http://schemas.openxmlformats.org/officeDocument/2006/relationships/slide" Target="slide139.xml"/><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3" Type="http://schemas.openxmlformats.org/officeDocument/2006/relationships/slide" Target="slide139.xm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slide" Target="slide139.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slide" Target="slide139.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slide" Target="slide139.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slide" Target="slide139.xml"/><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8" Type="http://schemas.openxmlformats.org/officeDocument/2006/relationships/tags" Target="../tags/tag451.xml"/><Relationship Id="rId13" Type="http://schemas.openxmlformats.org/officeDocument/2006/relationships/tags" Target="../tags/tag456.xml"/><Relationship Id="rId18" Type="http://schemas.openxmlformats.org/officeDocument/2006/relationships/slideLayout" Target="../slideLayouts/slideLayout7.xml"/><Relationship Id="rId3" Type="http://schemas.openxmlformats.org/officeDocument/2006/relationships/tags" Target="../tags/tag446.xml"/><Relationship Id="rId7" Type="http://schemas.openxmlformats.org/officeDocument/2006/relationships/tags" Target="../tags/tag450.xml"/><Relationship Id="rId12" Type="http://schemas.openxmlformats.org/officeDocument/2006/relationships/tags" Target="../tags/tag455.xml"/><Relationship Id="rId17" Type="http://schemas.openxmlformats.org/officeDocument/2006/relationships/tags" Target="../tags/tag460.xml"/><Relationship Id="rId2" Type="http://schemas.openxmlformats.org/officeDocument/2006/relationships/tags" Target="../tags/tag445.xml"/><Relationship Id="rId16" Type="http://schemas.openxmlformats.org/officeDocument/2006/relationships/tags" Target="../tags/tag459.xml"/><Relationship Id="rId1" Type="http://schemas.openxmlformats.org/officeDocument/2006/relationships/tags" Target="../tags/tag444.xml"/><Relationship Id="rId6" Type="http://schemas.openxmlformats.org/officeDocument/2006/relationships/tags" Target="../tags/tag449.xml"/><Relationship Id="rId11" Type="http://schemas.openxmlformats.org/officeDocument/2006/relationships/tags" Target="../tags/tag454.xml"/><Relationship Id="rId5" Type="http://schemas.openxmlformats.org/officeDocument/2006/relationships/tags" Target="../tags/tag448.xml"/><Relationship Id="rId15" Type="http://schemas.openxmlformats.org/officeDocument/2006/relationships/tags" Target="../tags/tag458.xml"/><Relationship Id="rId10" Type="http://schemas.openxmlformats.org/officeDocument/2006/relationships/tags" Target="../tags/tag453.xml"/><Relationship Id="rId19" Type="http://schemas.openxmlformats.org/officeDocument/2006/relationships/image" Target="../media/image20.tmp"/><Relationship Id="rId4" Type="http://schemas.openxmlformats.org/officeDocument/2006/relationships/tags" Target="../tags/tag447.xml"/><Relationship Id="rId9" Type="http://schemas.openxmlformats.org/officeDocument/2006/relationships/tags" Target="../tags/tag452.xml"/><Relationship Id="rId14" Type="http://schemas.openxmlformats.org/officeDocument/2006/relationships/tags" Target="../tags/tag457.xml"/></Relationships>
</file>

<file path=ppt/slides/_rels/slide1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7.xml.rels><?xml version="1.0" encoding="UTF-8" standalone="yes"?>
<Relationships xmlns="http://schemas.openxmlformats.org/package/2006/relationships"><Relationship Id="rId3" Type="http://schemas.openxmlformats.org/officeDocument/2006/relationships/slide" Target="slide149.xml"/><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slide" Target="slide149.xml"/><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slide" Target="slide149.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slide" Target="slide149.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xml"/><Relationship Id="rId1" Type="http://schemas.openxmlformats.org/officeDocument/2006/relationships/tags" Target="../tags/tag461.xml"/><Relationship Id="rId4" Type="http://schemas.openxmlformats.org/officeDocument/2006/relationships/slide" Target="slide149.xml"/></Relationships>
</file>

<file path=ppt/slides/_rels/slide1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53.xml.rels><?xml version="1.0" encoding="UTF-8" standalone="yes"?>
<Relationships xmlns="http://schemas.openxmlformats.org/package/2006/relationships"><Relationship Id="rId3" Type="http://schemas.openxmlformats.org/officeDocument/2006/relationships/slide" Target="slide154.xml"/><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2" Type="http://schemas.openxmlformats.org/officeDocument/2006/relationships/slide" Target="slide154.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slide" Target="slide154.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slide" Target="slide154.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slide" Target="slide154.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4" Type="http://schemas.openxmlformats.org/officeDocument/2006/relationships/slide" Target="slide154.xml"/></Relationships>
</file>

<file path=ppt/slides/_rels/slide159.xml.rels><?xml version="1.0" encoding="UTF-8" standalone="yes"?>
<Relationships xmlns="http://schemas.openxmlformats.org/package/2006/relationships"><Relationship Id="rId3" Type="http://schemas.openxmlformats.org/officeDocument/2006/relationships/slide" Target="slide154.xml"/><Relationship Id="rId2" Type="http://schemas.openxmlformats.org/officeDocument/2006/relationships/image" Target="../media/image44.emf"/><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slide" Target="slide154.xml"/></Relationships>
</file>

<file path=ppt/slides/_rels/slide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62.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3" Type="http://schemas.openxmlformats.org/officeDocument/2006/relationships/slide" Target="slide163.xml"/><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2" Type="http://schemas.openxmlformats.org/officeDocument/2006/relationships/slide" Target="slide163.xml"/><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8" Type="http://schemas.openxmlformats.org/officeDocument/2006/relationships/tags" Target="../tags/tag469.xml"/><Relationship Id="rId13" Type="http://schemas.openxmlformats.org/officeDocument/2006/relationships/tags" Target="../tags/tag474.xml"/><Relationship Id="rId18" Type="http://schemas.openxmlformats.org/officeDocument/2006/relationships/slideLayout" Target="../slideLayouts/slideLayout7.xml"/><Relationship Id="rId3" Type="http://schemas.openxmlformats.org/officeDocument/2006/relationships/tags" Target="../tags/tag464.xml"/><Relationship Id="rId7" Type="http://schemas.openxmlformats.org/officeDocument/2006/relationships/tags" Target="../tags/tag468.xml"/><Relationship Id="rId12" Type="http://schemas.openxmlformats.org/officeDocument/2006/relationships/tags" Target="../tags/tag473.xml"/><Relationship Id="rId17" Type="http://schemas.openxmlformats.org/officeDocument/2006/relationships/tags" Target="../tags/tag478.xml"/><Relationship Id="rId2" Type="http://schemas.openxmlformats.org/officeDocument/2006/relationships/tags" Target="../tags/tag463.xml"/><Relationship Id="rId16" Type="http://schemas.openxmlformats.org/officeDocument/2006/relationships/tags" Target="../tags/tag477.xml"/><Relationship Id="rId1" Type="http://schemas.openxmlformats.org/officeDocument/2006/relationships/tags" Target="../tags/tag462.xml"/><Relationship Id="rId6" Type="http://schemas.openxmlformats.org/officeDocument/2006/relationships/tags" Target="../tags/tag467.xml"/><Relationship Id="rId11" Type="http://schemas.openxmlformats.org/officeDocument/2006/relationships/tags" Target="../tags/tag472.xml"/><Relationship Id="rId5" Type="http://schemas.openxmlformats.org/officeDocument/2006/relationships/tags" Target="../tags/tag466.xml"/><Relationship Id="rId15" Type="http://schemas.openxmlformats.org/officeDocument/2006/relationships/tags" Target="../tags/tag476.xml"/><Relationship Id="rId10" Type="http://schemas.openxmlformats.org/officeDocument/2006/relationships/tags" Target="../tags/tag471.xml"/><Relationship Id="rId19" Type="http://schemas.openxmlformats.org/officeDocument/2006/relationships/image" Target="../media/image20.tmp"/><Relationship Id="rId4" Type="http://schemas.openxmlformats.org/officeDocument/2006/relationships/tags" Target="../tags/tag465.xml"/><Relationship Id="rId9" Type="http://schemas.openxmlformats.org/officeDocument/2006/relationships/tags" Target="../tags/tag470.xml"/><Relationship Id="rId14" Type="http://schemas.openxmlformats.org/officeDocument/2006/relationships/tags" Target="../tags/tag475.xml"/></Relationships>
</file>

<file path=ppt/slides/_rels/slide1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slide" Target="slide177.xml"/></Relationships>
</file>

<file path=ppt/slides/_rels/slide1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76.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slide" Target="slide177.xml"/><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8" Type="http://schemas.openxmlformats.org/officeDocument/2006/relationships/tags" Target="../tags/tag486.xml"/><Relationship Id="rId13" Type="http://schemas.openxmlformats.org/officeDocument/2006/relationships/tags" Target="../tags/tag491.xml"/><Relationship Id="rId18" Type="http://schemas.openxmlformats.org/officeDocument/2006/relationships/slideLayout" Target="../slideLayouts/slideLayout7.xml"/><Relationship Id="rId3" Type="http://schemas.openxmlformats.org/officeDocument/2006/relationships/tags" Target="../tags/tag481.xml"/><Relationship Id="rId7" Type="http://schemas.openxmlformats.org/officeDocument/2006/relationships/tags" Target="../tags/tag485.xml"/><Relationship Id="rId12" Type="http://schemas.openxmlformats.org/officeDocument/2006/relationships/tags" Target="../tags/tag490.xml"/><Relationship Id="rId17" Type="http://schemas.openxmlformats.org/officeDocument/2006/relationships/tags" Target="../tags/tag495.xml"/><Relationship Id="rId2" Type="http://schemas.openxmlformats.org/officeDocument/2006/relationships/tags" Target="../tags/tag480.xml"/><Relationship Id="rId16" Type="http://schemas.openxmlformats.org/officeDocument/2006/relationships/tags" Target="../tags/tag494.xml"/><Relationship Id="rId1" Type="http://schemas.openxmlformats.org/officeDocument/2006/relationships/tags" Target="../tags/tag479.xml"/><Relationship Id="rId6" Type="http://schemas.openxmlformats.org/officeDocument/2006/relationships/tags" Target="../tags/tag484.xml"/><Relationship Id="rId11" Type="http://schemas.openxmlformats.org/officeDocument/2006/relationships/tags" Target="../tags/tag489.xml"/><Relationship Id="rId5" Type="http://schemas.openxmlformats.org/officeDocument/2006/relationships/tags" Target="../tags/tag483.xml"/><Relationship Id="rId15" Type="http://schemas.openxmlformats.org/officeDocument/2006/relationships/tags" Target="../tags/tag493.xml"/><Relationship Id="rId10" Type="http://schemas.openxmlformats.org/officeDocument/2006/relationships/tags" Target="../tags/tag488.xml"/><Relationship Id="rId19" Type="http://schemas.openxmlformats.org/officeDocument/2006/relationships/image" Target="../media/image20.tmp"/><Relationship Id="rId4" Type="http://schemas.openxmlformats.org/officeDocument/2006/relationships/tags" Target="../tags/tag482.xml"/><Relationship Id="rId9" Type="http://schemas.openxmlformats.org/officeDocument/2006/relationships/tags" Target="../tags/tag487.xml"/><Relationship Id="rId14" Type="http://schemas.openxmlformats.org/officeDocument/2006/relationships/tags" Target="../tags/tag492.xml"/></Relationships>
</file>

<file path=ppt/slides/_rels/slide1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88.xml.rels><?xml version="1.0" encoding="UTF-8" standalone="yes"?>
<Relationships xmlns="http://schemas.openxmlformats.org/package/2006/relationships"><Relationship Id="rId2" Type="http://schemas.openxmlformats.org/officeDocument/2006/relationships/slide" Target="slide189.xml"/><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3" Type="http://schemas.openxmlformats.org/officeDocument/2006/relationships/slide" Target="slide189.xml"/><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2" Type="http://schemas.openxmlformats.org/officeDocument/2006/relationships/slide" Target="slide189.xml"/><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3" Type="http://schemas.openxmlformats.org/officeDocument/2006/relationships/slide" Target="slide189.xml"/><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2" Type="http://schemas.openxmlformats.org/officeDocument/2006/relationships/slide" Target="slide189.xml"/><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2" Type="http://schemas.openxmlformats.org/officeDocument/2006/relationships/slide" Target="slide189.xml"/><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0AE99B-94AC-4F5A-B0CB-8D2F113253E1}"/>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F6A2531C-820D-4098-834D-B38FF9FDB373}"/>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781525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27764" y="1627532"/>
            <a:ext cx="7715250" cy="1928813"/>
          </a:xfrm>
        </p:spPr>
        <p:txBody>
          <a:bodyPr/>
          <a:lstStyle/>
          <a:p>
            <a:r>
              <a:rPr lang="zh-CN" altLang="en-US" dirty="0"/>
              <a:t>第六章 指针、引用与动态内存分配</a:t>
            </a:r>
          </a:p>
        </p:txBody>
      </p:sp>
      <p:sp>
        <p:nvSpPr>
          <p:cNvPr id="3076" name="副标题 8"/>
          <p:cNvSpPr>
            <a:spLocks noGrp="1"/>
          </p:cNvSpPr>
          <p:nvPr>
            <p:ph type="subTitle" idx="1"/>
          </p:nvPr>
        </p:nvSpPr>
        <p:spPr>
          <a:xfrm>
            <a:off x="714375" y="4000500"/>
            <a:ext cx="7715250" cy="1928813"/>
          </a:xfrm>
        </p:spPr>
        <p:txBody>
          <a:bodyPr/>
          <a:lstStyle/>
          <a:p>
            <a:pPr indent="2509838" algn="l"/>
            <a:r>
              <a:rPr lang="zh-CN" altLang="en-US" sz="2000" dirty="0"/>
              <a:t>主讲： 刘晓光   张海威</a:t>
            </a:r>
            <a:endParaRPr lang="en-US" altLang="zh-CN" sz="2000" dirty="0"/>
          </a:p>
          <a:p>
            <a:pPr indent="3319463" algn="l"/>
            <a:r>
              <a:rPr lang="zh-CN" altLang="en-US" sz="2000" dirty="0"/>
              <a:t>张    莹   殷爱茹</a:t>
            </a:r>
            <a:endParaRPr lang="en-US" altLang="zh-CN" sz="2000" dirty="0"/>
          </a:p>
          <a:p>
            <a:pPr indent="3319463" algn="l"/>
            <a:r>
              <a:rPr lang="zh-CN" altLang="en-US" sz="2000" dirty="0"/>
              <a:t>沈    玮   宋春瑶</a:t>
            </a:r>
            <a:endParaRPr lang="en-US" altLang="zh-CN" sz="2000" dirty="0"/>
          </a:p>
          <a:p>
            <a:pPr indent="3319463" algn="l"/>
            <a:r>
              <a:rPr lang="zh-CN" altLang="en-US" sz="2000" dirty="0"/>
              <a:t>李雨森   卢少平</a:t>
            </a:r>
          </a:p>
        </p:txBody>
      </p:sp>
      <p:pic>
        <p:nvPicPr>
          <p:cNvPr id="8" name="图片 7">
            <a:extLst>
              <a:ext uri="{FF2B5EF4-FFF2-40B4-BE49-F238E27FC236}">
                <a16:creationId xmlns:a16="http://schemas.microsoft.com/office/drawing/2014/main" id="{AD1DBA2B-B576-4FDA-B5FC-A7A65C42FD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0" name="图片 9">
            <a:extLst>
              <a:ext uri="{FF2B5EF4-FFF2-40B4-BE49-F238E27FC236}">
                <a16:creationId xmlns:a16="http://schemas.microsoft.com/office/drawing/2014/main" id="{43C7EBD2-FE0F-497B-85C7-A5E4B5078FC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
        <p:nvSpPr>
          <p:cNvPr id="12" name="TextBox 8">
            <a:extLst>
              <a:ext uri="{FF2B5EF4-FFF2-40B4-BE49-F238E27FC236}">
                <a16:creationId xmlns:a16="http://schemas.microsoft.com/office/drawing/2014/main" id="{58B932A9-A37D-4FE5-BB09-38D8ED7EB0F6}"/>
              </a:ext>
            </a:extLst>
          </p:cNvPr>
          <p:cNvSpPr txBox="1">
            <a:spLocks noChangeArrowheads="1"/>
          </p:cNvSpPr>
          <p:nvPr/>
        </p:nvSpPr>
        <p:spPr bwMode="auto">
          <a:xfrm>
            <a:off x="5796136" y="895350"/>
            <a:ext cx="3199915" cy="461665"/>
          </a:xfrm>
          <a:prstGeom prst="rect">
            <a:avLst/>
          </a:prstGeom>
          <a:noFill/>
          <a:ln w="9525">
            <a:noFill/>
            <a:miter lim="800000"/>
            <a:headEnd/>
            <a:tailEnd/>
          </a:ln>
        </p:spPr>
        <p:txBody>
          <a:bodyPr wrap="none">
            <a:spAutoFit/>
          </a:bodyPr>
          <a:lstStyle/>
          <a:p>
            <a:r>
              <a:rPr lang="zh-CN" altLang="en-US" sz="2400" dirty="0">
                <a:solidFill>
                  <a:schemeClr val="bg1"/>
                </a:solidFill>
                <a:latin typeface="华文琥珀" pitchFamily="2" charset="-122"/>
                <a:ea typeface="华文琥珀" pitchFamily="2" charset="-122"/>
              </a:rPr>
              <a:t>高级语言</a:t>
            </a:r>
            <a:r>
              <a:rPr lang="en-US" altLang="zh-CN" sz="2400" b="1" dirty="0">
                <a:solidFill>
                  <a:schemeClr val="bg1"/>
                </a:solidFill>
                <a:latin typeface="Courier New" pitchFamily="49" charset="0"/>
                <a:ea typeface="华文琥珀" pitchFamily="2" charset="-122"/>
                <a:cs typeface="Courier New" pitchFamily="49" charset="0"/>
              </a:rPr>
              <a:t>C++</a:t>
            </a:r>
            <a:r>
              <a:rPr lang="zh-CN" altLang="en-US" sz="2400" dirty="0">
                <a:solidFill>
                  <a:schemeClr val="bg1"/>
                </a:solidFill>
                <a:latin typeface="华文琥珀" pitchFamily="2" charset="-122"/>
                <a:ea typeface="华文琥珀" pitchFamily="2" charset="-122"/>
              </a:rPr>
              <a:t>程序设计</a:t>
            </a:r>
          </a:p>
        </p:txBody>
      </p:sp>
    </p:spTree>
    <p:extLst>
      <p:ext uri="{BB962C8B-B14F-4D97-AF65-F5344CB8AC3E}">
        <p14:creationId xmlns:p14="http://schemas.microsoft.com/office/powerpoint/2010/main" val="124589964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1424693"/>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 name="组合 34"/>
          <p:cNvGrpSpPr>
            <a:grpSpLocks/>
          </p:cNvGrpSpPr>
          <p:nvPr/>
        </p:nvGrpSpPr>
        <p:grpSpPr bwMode="auto">
          <a:xfrm>
            <a:off x="1643063" y="414671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a:grpSpLocks/>
          </p:cNvGrpSpPr>
          <p:nvPr/>
        </p:nvGrpSpPr>
        <p:grpSpPr bwMode="auto">
          <a:xfrm>
            <a:off x="868546" y="1419527"/>
            <a:ext cx="6129279" cy="2642190"/>
            <a:chOff x="869985" y="3218860"/>
            <a:chExt cx="6129303" cy="264220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a:grpSpLocks/>
            </p:cNvGrpSpPr>
            <p:nvPr/>
          </p:nvGrpSpPr>
          <p:grpSpPr bwMode="auto">
            <a:xfrm>
              <a:off x="869985" y="5072072"/>
              <a:ext cx="1565222" cy="788990"/>
              <a:chOff x="80998" y="1643048"/>
              <a:chExt cx="1565222" cy="788990"/>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0998" y="1643048"/>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指针类型与指针变量</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指针与常量</a:t>
            </a: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指针与数组</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指针与字符串</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指针与函数</a:t>
            </a:r>
          </a:p>
        </p:txBody>
      </p:sp>
      <p:pic>
        <p:nvPicPr>
          <p:cNvPr id="56" name="图片 22" descr="NANKAI.png">
            <a:extLst>
              <a:ext uri="{FF2B5EF4-FFF2-40B4-BE49-F238E27FC236}">
                <a16:creationId xmlns:a16="http://schemas.microsoft.com/office/drawing/2014/main" id="{635CF39D-0381-4190-A4CB-9B6B54B338F0}"/>
              </a:ext>
            </a:extLst>
          </p:cNvPr>
          <p:cNvPicPr>
            <a:picLocks noChangeAspect="1"/>
          </p:cNvPicPr>
          <p:nvPr/>
        </p:nvPicPr>
        <p:blipFill>
          <a:blip r:embed="rId3" cstate="print"/>
          <a:srcRect/>
          <a:stretch>
            <a:fillRect/>
          </a:stretch>
        </p:blipFill>
        <p:spPr bwMode="auto">
          <a:xfrm>
            <a:off x="1641600" y="3274321"/>
            <a:ext cx="788984" cy="788984"/>
          </a:xfrm>
          <a:prstGeom prst="rect">
            <a:avLst/>
          </a:prstGeom>
          <a:noFill/>
          <a:ln w="9525">
            <a:noFill/>
            <a:miter lim="800000"/>
            <a:headEnd/>
            <a:tailEnd/>
          </a:ln>
        </p:spPr>
      </p:pic>
      <p:sp>
        <p:nvSpPr>
          <p:cNvPr id="34" name="矩形 33">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40" name="矩形 3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48" name="矩形 4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49" name="矩形 4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50" name="矩形 4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51" name="矩形 5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52" name="矩形 5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Tree>
    <p:extLst>
      <p:ext uri="{BB962C8B-B14F-4D97-AF65-F5344CB8AC3E}">
        <p14:creationId xmlns:p14="http://schemas.microsoft.com/office/powerpoint/2010/main" val="345485318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初识指针</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167353037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变量存储回顾</a:t>
            </a:r>
            <a:endParaRPr lang="en-US" altLang="zh-CN" dirty="0"/>
          </a:p>
        </p:txBody>
      </p:sp>
      <p:sp>
        <p:nvSpPr>
          <p:cNvPr id="3" name="内容占位符 2"/>
          <p:cNvSpPr>
            <a:spLocks noGrp="1"/>
          </p:cNvSpPr>
          <p:nvPr>
            <p:ph idx="1"/>
          </p:nvPr>
        </p:nvSpPr>
        <p:spPr>
          <a:xfrm>
            <a:off x="569467" y="1826173"/>
            <a:ext cx="7952233" cy="4500562"/>
          </a:xfrm>
        </p:spPr>
        <p:txBody>
          <a:bodyPr/>
          <a:lstStyle/>
          <a:p>
            <a:pPr lvl="1"/>
            <a:r>
              <a:rPr lang="zh-CN" altLang="en-US" dirty="0"/>
              <a:t>根据数据类型为变量分配相应大小的内存空间</a:t>
            </a:r>
            <a:endParaRPr lang="en-US" altLang="zh-CN" dirty="0"/>
          </a:p>
          <a:p>
            <a:pPr lvl="2"/>
            <a:r>
              <a:rPr lang="zh-CN" altLang="en-US" dirty="0"/>
              <a:t>变量地址即变量在内存空间的位置</a:t>
            </a:r>
            <a:endParaRPr lang="en-US" altLang="zh-CN" dirty="0"/>
          </a:p>
          <a:p>
            <a:pPr lvl="2"/>
            <a:r>
              <a:rPr lang="zh-CN" altLang="en-US" dirty="0"/>
              <a:t>内存空间中每个字节的编号即地址</a:t>
            </a:r>
            <a:endParaRPr lang="en-US" altLang="zh-CN" dirty="0">
              <a:solidFill>
                <a:srgbClr val="C00000"/>
              </a:solidFill>
            </a:endParaRPr>
          </a:p>
        </p:txBody>
      </p:sp>
      <p:sp>
        <p:nvSpPr>
          <p:cNvPr id="6" name="矩形 5">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pic>
        <p:nvPicPr>
          <p:cNvPr id="1026" name="Picture 2" descr="https://img2018.cnblogs.com/common/1418489/202002/1418489-20200209204325314-27945759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3031" y="3161337"/>
            <a:ext cx="5740812" cy="3165398"/>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hlinkClick r:id="" action="ppaction://noaction"/>
            <a:extLst>
              <a:ext uri="{FF2B5EF4-FFF2-40B4-BE49-F238E27FC236}">
                <a16:creationId xmlns:a16="http://schemas.microsoft.com/office/drawing/2014/main" id="{B843BD93-1182-4F80-A6C7-3745822CC57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3071003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变量存储回顾</a:t>
            </a:r>
            <a:endParaRPr lang="en-US" altLang="zh-CN" dirty="0"/>
          </a:p>
        </p:txBody>
      </p:sp>
      <p:pic>
        <p:nvPicPr>
          <p:cNvPr id="15" name="Picture 3"/>
          <p:cNvPicPr>
            <a:picLocks noChangeAspect="1" noChangeArrowheads="1"/>
          </p:cNvPicPr>
          <p:nvPr/>
        </p:nvPicPr>
        <p:blipFill rotWithShape="1">
          <a:blip r:embed="rId4" cstate="print"/>
          <a:srcRect r="-806" b="64961"/>
          <a:stretch/>
        </p:blipFill>
        <p:spPr bwMode="auto">
          <a:xfrm>
            <a:off x="4049108" y="4205530"/>
            <a:ext cx="623672" cy="1397030"/>
          </a:xfrm>
          <a:prstGeom prst="rect">
            <a:avLst/>
          </a:prstGeom>
          <a:noFill/>
          <a:ln w="9525">
            <a:noFill/>
            <a:miter lim="800000"/>
            <a:headEnd/>
            <a:tailEnd/>
          </a:ln>
          <a:effectLst/>
        </p:spPr>
      </p:pic>
      <p:pic>
        <p:nvPicPr>
          <p:cNvPr id="16" name="Picture 6"/>
          <p:cNvPicPr>
            <a:picLocks noChangeAspect="1" noChangeArrowheads="1"/>
          </p:cNvPicPr>
          <p:nvPr/>
        </p:nvPicPr>
        <p:blipFill rotWithShape="1">
          <a:blip r:embed="rId5" cstate="print"/>
          <a:srcRect b="65024"/>
          <a:stretch/>
        </p:blipFill>
        <p:spPr bwMode="auto">
          <a:xfrm>
            <a:off x="1788959" y="4206912"/>
            <a:ext cx="2031738" cy="1394531"/>
          </a:xfrm>
          <a:prstGeom prst="rect">
            <a:avLst/>
          </a:prstGeom>
          <a:noFill/>
          <a:ln w="9525">
            <a:noFill/>
            <a:miter lim="800000"/>
            <a:headEnd/>
            <a:tailEnd/>
          </a:ln>
          <a:effectLst/>
        </p:spPr>
      </p:pic>
      <p:sp>
        <p:nvSpPr>
          <p:cNvPr id="26" name="内容占位符 2"/>
          <p:cNvSpPr txBox="1">
            <a:spLocks/>
          </p:cNvSpPr>
          <p:nvPr/>
        </p:nvSpPr>
        <p:spPr bwMode="auto">
          <a:xfrm>
            <a:off x="921834" y="1858145"/>
            <a:ext cx="7599866" cy="2106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1200"/>
              </a:spcBef>
            </a:pPr>
            <a:r>
              <a:rPr lang="en-US" altLang="zh-CN" dirty="0">
                <a:solidFill>
                  <a:srgbClr val="C00000"/>
                </a:solidFill>
              </a:rPr>
              <a:t>【</a:t>
            </a:r>
            <a:r>
              <a:rPr lang="zh-CN" altLang="en-US" dirty="0">
                <a:solidFill>
                  <a:srgbClr val="C00000"/>
                </a:solidFill>
              </a:rPr>
              <a:t>例</a:t>
            </a:r>
            <a:r>
              <a:rPr lang="en-US" altLang="zh-CN" dirty="0">
                <a:solidFill>
                  <a:srgbClr val="C00000"/>
                </a:solidFill>
              </a:rPr>
              <a:t>】</a:t>
            </a:r>
            <a:r>
              <a:rPr lang="zh-CN" altLang="en-US" dirty="0"/>
              <a:t>声明两个整型变量并赋值</a:t>
            </a:r>
            <a:endParaRPr lang="en-US" altLang="zh-CN" dirty="0"/>
          </a:p>
          <a:p>
            <a:pPr marL="457200" lvl="1" indent="0">
              <a:spcBef>
                <a:spcPts val="1200"/>
              </a:spcBef>
              <a:buNone/>
            </a:pPr>
            <a:r>
              <a:rPr lang="en-US" altLang="zh-CN" b="1" dirty="0">
                <a:solidFill>
                  <a:srgbClr val="0000FF"/>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a,b</a:t>
            </a:r>
            <a:r>
              <a:rPr lang="en-US" altLang="zh-CN" b="1" dirty="0">
                <a:latin typeface="Courier New" pitchFamily="49" charset="0"/>
                <a:cs typeface="Courier New" pitchFamily="49" charset="0"/>
              </a:rPr>
              <a:t>; </a:t>
            </a:r>
          </a:p>
          <a:p>
            <a:pPr marL="457200" lvl="1" indent="0">
              <a:spcBef>
                <a:spcPts val="600"/>
              </a:spcBef>
              <a:buNone/>
            </a:pPr>
            <a:r>
              <a:rPr lang="en-US" altLang="zh-CN" b="1" dirty="0">
                <a:latin typeface="Courier New" pitchFamily="49" charset="0"/>
                <a:cs typeface="Courier New" pitchFamily="49" charset="0"/>
              </a:rPr>
              <a:t>  a = 100;</a:t>
            </a:r>
          </a:p>
          <a:p>
            <a:pPr marL="457200" lvl="1" indent="0">
              <a:spcBef>
                <a:spcPts val="600"/>
              </a:spcBef>
              <a:buNone/>
            </a:pPr>
            <a:r>
              <a:rPr lang="en-US" altLang="zh-CN" b="1" dirty="0">
                <a:latin typeface="Courier New" pitchFamily="49" charset="0"/>
                <a:cs typeface="Courier New" pitchFamily="49" charset="0"/>
              </a:rPr>
              <a:t>  b = 150;</a:t>
            </a:r>
          </a:p>
          <a:p>
            <a:pPr lvl="2">
              <a:lnSpc>
                <a:spcPct val="130000"/>
              </a:lnSpc>
            </a:pPr>
            <a:endParaRPr lang="zh-CN" altLang="en-US" dirty="0"/>
          </a:p>
        </p:txBody>
      </p:sp>
      <p:pic>
        <p:nvPicPr>
          <p:cNvPr id="19" name="Picture 4"/>
          <p:cNvPicPr>
            <a:picLocks noChangeAspect="1" noChangeArrowheads="1"/>
          </p:cNvPicPr>
          <p:nvPr/>
        </p:nvPicPr>
        <p:blipFill>
          <a:blip r:embed="rId6" cstate="print"/>
          <a:srcRect/>
          <a:stretch>
            <a:fillRect/>
          </a:stretch>
        </p:blipFill>
        <p:spPr bwMode="auto">
          <a:xfrm>
            <a:off x="5091171" y="4781641"/>
            <a:ext cx="725621" cy="724146"/>
          </a:xfrm>
          <a:prstGeom prst="rect">
            <a:avLst/>
          </a:prstGeom>
          <a:noFill/>
          <a:ln w="9525">
            <a:noFill/>
            <a:miter lim="800000"/>
            <a:headEnd/>
            <a:tailEnd/>
          </a:ln>
          <a:effectLst/>
        </p:spPr>
      </p:pic>
      <p:pic>
        <p:nvPicPr>
          <p:cNvPr id="20" name="Picture 5"/>
          <p:cNvPicPr>
            <a:picLocks noChangeAspect="1" noChangeArrowheads="1"/>
          </p:cNvPicPr>
          <p:nvPr/>
        </p:nvPicPr>
        <p:blipFill rotWithShape="1">
          <a:blip r:embed="rId7" cstate="print"/>
          <a:srcRect b="65028"/>
          <a:stretch/>
        </p:blipFill>
        <p:spPr bwMode="auto">
          <a:xfrm>
            <a:off x="6035058" y="4195077"/>
            <a:ext cx="1168630" cy="1394356"/>
          </a:xfrm>
          <a:prstGeom prst="rect">
            <a:avLst/>
          </a:prstGeom>
          <a:noFill/>
          <a:ln w="9525">
            <a:noFill/>
            <a:miter lim="800000"/>
            <a:headEnd/>
            <a:tailEnd/>
          </a:ln>
          <a:effectLst/>
        </p:spPr>
      </p:pic>
      <p:sp>
        <p:nvSpPr>
          <p:cNvPr id="17" name="矩形 16">
            <a:hlinkClick r:id="rId8" action="ppaction://hlinksldjump"/>
            <a:extLst>
              <a:ext uri="{FF2B5EF4-FFF2-40B4-BE49-F238E27FC236}">
                <a16:creationId xmlns:a16="http://schemas.microsoft.com/office/drawing/2014/main" id="{01FDE9D8-AE23-46B8-9198-518117485B7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8" name="矩形 17">
            <a:hlinkClick r:id="" action="ppaction://noaction"/>
            <a:extLst>
              <a:ext uri="{FF2B5EF4-FFF2-40B4-BE49-F238E27FC236}">
                <a16:creationId xmlns:a16="http://schemas.microsoft.com/office/drawing/2014/main" id="{B809A6E9-2571-479B-B647-840462ADE42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1" name="矩形 20">
            <a:hlinkClick r:id="" action="ppaction://noaction"/>
            <a:extLst>
              <a:ext uri="{FF2B5EF4-FFF2-40B4-BE49-F238E27FC236}">
                <a16:creationId xmlns:a16="http://schemas.microsoft.com/office/drawing/2014/main" id="{39B8C6AD-54EF-454A-A558-4118608C3C7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2" name="矩形 21">
            <a:hlinkClick r:id="" action="ppaction://noaction"/>
            <a:extLst>
              <a:ext uri="{FF2B5EF4-FFF2-40B4-BE49-F238E27FC236}">
                <a16:creationId xmlns:a16="http://schemas.microsoft.com/office/drawing/2014/main" id="{F2A0BD51-D018-4242-9B62-06E3507B47A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23" name="矩形 22">
            <a:hlinkClick r:id="" action="ppaction://noaction"/>
            <a:extLst>
              <a:ext uri="{FF2B5EF4-FFF2-40B4-BE49-F238E27FC236}">
                <a16:creationId xmlns:a16="http://schemas.microsoft.com/office/drawing/2014/main" id="{42E8136E-C006-48F8-80D0-25595A68BF8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24" name="矩形 23">
            <a:hlinkClick r:id="" action="ppaction://noaction"/>
            <a:extLst>
              <a:ext uri="{FF2B5EF4-FFF2-40B4-BE49-F238E27FC236}">
                <a16:creationId xmlns:a16="http://schemas.microsoft.com/office/drawing/2014/main" id="{0B65CE8B-2BD6-47FF-8999-32F0DE90F23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25" name="矩形 24">
            <a:hlinkClick r:id="" action="ppaction://noaction"/>
            <a:extLst>
              <a:ext uri="{FF2B5EF4-FFF2-40B4-BE49-F238E27FC236}">
                <a16:creationId xmlns:a16="http://schemas.microsoft.com/office/drawing/2014/main" id="{3E78F30B-DDB1-404C-A1EB-97B3986699A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7" name="矩形 26">
            <a:hlinkClick r:id="" action="ppaction://noaction"/>
            <a:extLst>
              <a:ext uri="{FF2B5EF4-FFF2-40B4-BE49-F238E27FC236}">
                <a16:creationId xmlns:a16="http://schemas.microsoft.com/office/drawing/2014/main" id="{D53AA856-F7A3-45D6-9D02-CCEF473887B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1559166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数组存储回顾</a:t>
            </a:r>
            <a:endParaRPr lang="en-US" altLang="zh-CN" dirty="0"/>
          </a:p>
        </p:txBody>
      </p:sp>
      <p:sp>
        <p:nvSpPr>
          <p:cNvPr id="3" name="内容占位符 2"/>
          <p:cNvSpPr>
            <a:spLocks noGrp="1"/>
          </p:cNvSpPr>
          <p:nvPr>
            <p:ph idx="1"/>
          </p:nvPr>
        </p:nvSpPr>
        <p:spPr>
          <a:xfrm>
            <a:off x="-64605" y="1774134"/>
            <a:ext cx="6210459" cy="4500562"/>
          </a:xfrm>
        </p:spPr>
        <p:txBody>
          <a:bodyPr/>
          <a:lstStyle/>
          <a:p>
            <a:pPr lvl="1"/>
            <a:r>
              <a:rPr lang="zh-CN" altLang="en-US" dirty="0"/>
              <a:t>空间连续分配的相同类型的元素序列</a:t>
            </a:r>
            <a:endParaRPr lang="en-US" altLang="zh-CN" dirty="0"/>
          </a:p>
          <a:p>
            <a:pPr lvl="2">
              <a:lnSpc>
                <a:spcPct val="130000"/>
              </a:lnSpc>
            </a:pPr>
            <a:r>
              <a:rPr lang="zh-CN" altLang="en-US" dirty="0"/>
              <a:t>数组每一个元素等价于一个同类型变量，</a:t>
            </a:r>
            <a:endParaRPr lang="en-US" altLang="zh-CN" dirty="0"/>
          </a:p>
          <a:p>
            <a:pPr marL="914400" lvl="2" indent="0">
              <a:lnSpc>
                <a:spcPct val="130000"/>
              </a:lnSpc>
              <a:buNone/>
            </a:pPr>
            <a:r>
              <a:rPr lang="en-US" altLang="zh-CN" dirty="0"/>
              <a:t>   </a:t>
            </a:r>
            <a:r>
              <a:rPr lang="zh-CN" altLang="en-US" dirty="0"/>
              <a:t>占据存储空间相等，变量名：数组名</a:t>
            </a:r>
            <a:r>
              <a:rPr lang="en-US" altLang="zh-CN" dirty="0"/>
              <a:t>[</a:t>
            </a:r>
            <a:r>
              <a:rPr lang="zh-CN" altLang="en-US" dirty="0"/>
              <a:t>下标</a:t>
            </a:r>
            <a:r>
              <a:rPr lang="en-US" altLang="zh-CN" dirty="0"/>
              <a:t>]</a:t>
            </a:r>
          </a:p>
          <a:p>
            <a:pPr lvl="2">
              <a:lnSpc>
                <a:spcPct val="130000"/>
              </a:lnSpc>
            </a:pPr>
            <a:r>
              <a:rPr lang="zh-CN" altLang="en-US" dirty="0">
                <a:solidFill>
                  <a:srgbClr val="FF0000"/>
                </a:solidFill>
              </a:rPr>
              <a:t>数组名</a:t>
            </a:r>
            <a:r>
              <a:rPr lang="zh-CN" altLang="en-US" dirty="0"/>
              <a:t>等价于数组（第一个元素）的首地址</a:t>
            </a:r>
            <a:endParaRPr lang="en-US" altLang="zh-CN" dirty="0"/>
          </a:p>
          <a:p>
            <a:pPr lvl="1">
              <a:spcBef>
                <a:spcPts val="1200"/>
              </a:spcBef>
            </a:pPr>
            <a:r>
              <a:rPr lang="en-US" altLang="zh-CN" dirty="0">
                <a:solidFill>
                  <a:srgbClr val="C00000"/>
                </a:solidFill>
              </a:rPr>
              <a:t>【</a:t>
            </a:r>
            <a:r>
              <a:rPr lang="zh-CN" altLang="en-US" dirty="0">
                <a:solidFill>
                  <a:srgbClr val="C00000"/>
                </a:solidFill>
              </a:rPr>
              <a:t>例</a:t>
            </a:r>
            <a:r>
              <a:rPr lang="en-US" altLang="zh-CN" dirty="0">
                <a:solidFill>
                  <a:srgbClr val="C00000"/>
                </a:solidFill>
              </a:rPr>
              <a:t>】</a:t>
            </a:r>
            <a:r>
              <a:rPr lang="zh-CN" altLang="en-US" dirty="0"/>
              <a:t>整型数组</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a[10];</a:t>
            </a:r>
          </a:p>
          <a:p>
            <a:pPr lvl="2">
              <a:lnSpc>
                <a:spcPct val="130000"/>
              </a:lnSpc>
            </a:pPr>
            <a:r>
              <a:rPr lang="zh-CN" altLang="en-US" dirty="0"/>
              <a:t>数组名</a:t>
            </a:r>
            <a:r>
              <a:rPr lang="en-US" altLang="zh-CN" dirty="0"/>
              <a:t>a</a:t>
            </a:r>
            <a:r>
              <a:rPr lang="zh-CN" altLang="en-US" dirty="0"/>
              <a:t>，表示数组第一个元素</a:t>
            </a:r>
            <a:r>
              <a:rPr lang="en-US" altLang="zh-CN" dirty="0"/>
              <a:t>a[0]</a:t>
            </a:r>
            <a:r>
              <a:rPr lang="zh-CN" altLang="en-US" dirty="0"/>
              <a:t>的</a:t>
            </a:r>
            <a:r>
              <a:rPr lang="zh-CN" altLang="en-US" dirty="0">
                <a:solidFill>
                  <a:srgbClr val="FF0000"/>
                </a:solidFill>
              </a:rPr>
              <a:t>首地址</a:t>
            </a:r>
            <a:endParaRPr lang="en-US" altLang="zh-CN" dirty="0"/>
          </a:p>
          <a:p>
            <a:pPr lvl="2">
              <a:lnSpc>
                <a:spcPct val="130000"/>
              </a:lnSpc>
            </a:pPr>
            <a:r>
              <a:rPr lang="zh-CN" altLang="en-US" dirty="0"/>
              <a:t>从该地址开始每</a:t>
            </a:r>
            <a:r>
              <a:rPr lang="en-US" altLang="zh-CN" dirty="0"/>
              <a:t>4</a:t>
            </a:r>
            <a:r>
              <a:rPr lang="zh-CN" altLang="en-US" dirty="0"/>
              <a:t>个字节存储一个数组元素</a:t>
            </a:r>
            <a:endParaRPr lang="en-US" altLang="zh-CN" dirty="0"/>
          </a:p>
          <a:p>
            <a:pPr lvl="2">
              <a:lnSpc>
                <a:spcPct val="130000"/>
              </a:lnSpc>
            </a:pPr>
            <a:r>
              <a:rPr lang="zh-CN" altLang="en-US" dirty="0"/>
              <a:t>数组元素</a:t>
            </a:r>
            <a:r>
              <a:rPr lang="en-US" altLang="zh-CN" dirty="0"/>
              <a:t>a[</a:t>
            </a:r>
            <a:r>
              <a:rPr lang="en-US" altLang="zh-CN" dirty="0" err="1"/>
              <a:t>i</a:t>
            </a:r>
            <a:r>
              <a:rPr lang="en-US" altLang="zh-CN" dirty="0"/>
              <a:t>]</a:t>
            </a:r>
            <a:r>
              <a:rPr lang="zh-CN" altLang="en-US" dirty="0"/>
              <a:t>的地址 </a:t>
            </a:r>
            <a:r>
              <a:rPr lang="en-US" altLang="zh-CN" dirty="0"/>
              <a:t>= a[0]</a:t>
            </a:r>
            <a:r>
              <a:rPr lang="zh-CN" altLang="en-US" dirty="0"/>
              <a:t>的地址 </a:t>
            </a:r>
            <a:r>
              <a:rPr lang="en-US" altLang="zh-CN" dirty="0"/>
              <a:t>+ 4 </a:t>
            </a:r>
            <a:r>
              <a:rPr lang="zh-CN" altLang="en-US" dirty="0"/>
              <a:t>* </a:t>
            </a:r>
            <a:r>
              <a:rPr lang="en-US" altLang="zh-CN" dirty="0" err="1"/>
              <a:t>i</a:t>
            </a:r>
            <a:endParaRPr lang="zh-CN" altLang="en-US" dirty="0"/>
          </a:p>
        </p:txBody>
      </p:sp>
      <p:pic>
        <p:nvPicPr>
          <p:cNvPr id="14" name="Picture 6"/>
          <p:cNvPicPr>
            <a:picLocks noChangeAspect="1" noChangeArrowheads="1"/>
          </p:cNvPicPr>
          <p:nvPr/>
        </p:nvPicPr>
        <p:blipFill>
          <a:blip r:embed="rId3" cstate="print"/>
          <a:srcRect/>
          <a:stretch>
            <a:fillRect/>
          </a:stretch>
        </p:blipFill>
        <p:spPr bwMode="auto">
          <a:xfrm>
            <a:off x="6439301" y="2120900"/>
            <a:ext cx="2401555" cy="3378335"/>
          </a:xfrm>
          <a:prstGeom prst="rect">
            <a:avLst/>
          </a:prstGeom>
          <a:noFill/>
          <a:ln w="9525">
            <a:noFill/>
            <a:miter lim="800000"/>
            <a:headEnd/>
            <a:tailEnd/>
          </a:ln>
        </p:spPr>
      </p:pic>
      <p:sp>
        <p:nvSpPr>
          <p:cNvPr id="15" name="矩形 14">
            <a:hlinkClick r:id="rId4" action="ppaction://hlinksldjump"/>
            <a:extLst>
              <a:ext uri="{FF2B5EF4-FFF2-40B4-BE49-F238E27FC236}">
                <a16:creationId xmlns:a16="http://schemas.microsoft.com/office/drawing/2014/main" id="{F7EF8B6C-09A0-4BF3-B4F6-A4619780455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6" name="矩形 15">
            <a:hlinkClick r:id="" action="ppaction://noaction"/>
            <a:extLst>
              <a:ext uri="{FF2B5EF4-FFF2-40B4-BE49-F238E27FC236}">
                <a16:creationId xmlns:a16="http://schemas.microsoft.com/office/drawing/2014/main" id="{73A1B027-D53A-4E0D-B1B4-EDC081588E2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7" name="矩形 16">
            <a:hlinkClick r:id="" action="ppaction://noaction"/>
            <a:extLst>
              <a:ext uri="{FF2B5EF4-FFF2-40B4-BE49-F238E27FC236}">
                <a16:creationId xmlns:a16="http://schemas.microsoft.com/office/drawing/2014/main" id="{3C7EDF78-7B2A-4A87-A2B9-F3F360CE3F7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8" name="矩形 17">
            <a:hlinkClick r:id="" action="ppaction://noaction"/>
            <a:extLst>
              <a:ext uri="{FF2B5EF4-FFF2-40B4-BE49-F238E27FC236}">
                <a16:creationId xmlns:a16="http://schemas.microsoft.com/office/drawing/2014/main" id="{0146EF3D-BC26-4E2B-8B81-50BC258B15F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9" name="矩形 18">
            <a:hlinkClick r:id="" action="ppaction://noaction"/>
            <a:extLst>
              <a:ext uri="{FF2B5EF4-FFF2-40B4-BE49-F238E27FC236}">
                <a16:creationId xmlns:a16="http://schemas.microsoft.com/office/drawing/2014/main" id="{533334A0-504C-43A6-9945-752C06051F9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20" name="矩形 19">
            <a:hlinkClick r:id="" action="ppaction://noaction"/>
            <a:extLst>
              <a:ext uri="{FF2B5EF4-FFF2-40B4-BE49-F238E27FC236}">
                <a16:creationId xmlns:a16="http://schemas.microsoft.com/office/drawing/2014/main" id="{82E0C875-8E9E-4CA4-B184-DB853F220DC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21" name="矩形 20">
            <a:hlinkClick r:id="" action="ppaction://noaction"/>
            <a:extLst>
              <a:ext uri="{FF2B5EF4-FFF2-40B4-BE49-F238E27FC236}">
                <a16:creationId xmlns:a16="http://schemas.microsoft.com/office/drawing/2014/main" id="{B61AEAC1-EF72-498B-A262-0E589624C31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2" name="矩形 21">
            <a:hlinkClick r:id="" action="ppaction://noaction"/>
            <a:extLst>
              <a:ext uri="{FF2B5EF4-FFF2-40B4-BE49-F238E27FC236}">
                <a16:creationId xmlns:a16="http://schemas.microsoft.com/office/drawing/2014/main" id="{DE18E15F-25C0-42F2-AA6E-5C180E07D92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517796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指针的引入</a:t>
            </a:r>
          </a:p>
        </p:txBody>
      </p:sp>
      <p:sp>
        <p:nvSpPr>
          <p:cNvPr id="3" name="内容占位符 2"/>
          <p:cNvSpPr>
            <a:spLocks noGrp="1"/>
          </p:cNvSpPr>
          <p:nvPr>
            <p:ph idx="1"/>
          </p:nvPr>
        </p:nvSpPr>
        <p:spPr/>
        <p:txBody>
          <a:bodyPr/>
          <a:lstStyle/>
          <a:p>
            <a:pPr>
              <a:buFont typeface="Arial" panose="020B0604020202020204" pitchFamily="34" charset="0"/>
              <a:buChar char="•"/>
            </a:pPr>
            <a:r>
              <a:rPr lang="zh-CN" altLang="en-US" dirty="0"/>
              <a:t>对数据的间接访问</a:t>
            </a:r>
            <a:endParaRPr lang="en-US" altLang="zh-CN" dirty="0"/>
          </a:p>
          <a:p>
            <a:pPr lvl="1">
              <a:buFont typeface="Arial" panose="020B0604020202020204" pitchFamily="34" charset="0"/>
              <a:buChar char="•"/>
            </a:pPr>
            <a:r>
              <a:rPr lang="zh-CN" altLang="en-US" dirty="0"/>
              <a:t>利用地址</a:t>
            </a:r>
            <a:endParaRPr lang="en-US" altLang="zh-CN" dirty="0"/>
          </a:p>
          <a:p>
            <a:pPr>
              <a:buFont typeface="Arial" panose="020B0604020202020204" pitchFamily="34" charset="0"/>
              <a:buChar char="•"/>
            </a:pPr>
            <a:r>
              <a:rPr lang="zh-CN" altLang="en-US" dirty="0"/>
              <a:t>说明动态数组</a:t>
            </a:r>
            <a:endParaRPr lang="en-US" altLang="zh-CN" dirty="0"/>
          </a:p>
          <a:p>
            <a:pPr lvl="1">
              <a:buFont typeface="Arial" panose="020B0604020202020204" pitchFamily="34" charset="0"/>
              <a:buChar char="•"/>
            </a:pPr>
            <a:r>
              <a:rPr lang="zh-CN" altLang="en-US" dirty="0"/>
              <a:t>可将动态数组的大小设置为变量</a:t>
            </a:r>
            <a:endParaRPr lang="en-US" altLang="zh-CN" dirty="0"/>
          </a:p>
          <a:p>
            <a:pPr>
              <a:buFont typeface="Arial" panose="020B0604020202020204" pitchFamily="34" charset="0"/>
              <a:buChar char="•"/>
            </a:pPr>
            <a:r>
              <a:rPr lang="zh-CN" altLang="en-US" dirty="0"/>
              <a:t>函数返回值</a:t>
            </a:r>
            <a:endParaRPr lang="en-US" altLang="zh-CN" dirty="0"/>
          </a:p>
          <a:p>
            <a:pPr lvl="1">
              <a:buFont typeface="Arial" panose="020B0604020202020204" pitchFamily="34" charset="0"/>
              <a:buChar char="•"/>
            </a:pPr>
            <a:r>
              <a:rPr lang="zh-CN" altLang="en-US" dirty="0"/>
              <a:t>希望函数的返回值为数组，而不允许使用数组作为返回值类型，可以采用指针作为函数返回值，实现返回数组的功能</a:t>
            </a:r>
          </a:p>
        </p:txBody>
      </p:sp>
      <p:sp>
        <p:nvSpPr>
          <p:cNvPr id="13" name="矩形 12">
            <a:hlinkClick r:id="rId3" action="ppaction://hlinksldjump"/>
            <a:extLst>
              <a:ext uri="{FF2B5EF4-FFF2-40B4-BE49-F238E27FC236}">
                <a16:creationId xmlns:a16="http://schemas.microsoft.com/office/drawing/2014/main" id="{1C0F22E1-77DE-467C-9501-40F3A742E78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4" name="矩形 13">
            <a:hlinkClick r:id="" action="ppaction://noaction"/>
            <a:extLst>
              <a:ext uri="{FF2B5EF4-FFF2-40B4-BE49-F238E27FC236}">
                <a16:creationId xmlns:a16="http://schemas.microsoft.com/office/drawing/2014/main" id="{3FEAF333-5E7F-4638-BF7B-C274847E1AD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5" name="矩形 14">
            <a:hlinkClick r:id="" action="ppaction://noaction"/>
            <a:extLst>
              <a:ext uri="{FF2B5EF4-FFF2-40B4-BE49-F238E27FC236}">
                <a16:creationId xmlns:a16="http://schemas.microsoft.com/office/drawing/2014/main" id="{1AFDDD8D-191F-429A-A170-04E7E643714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6" name="矩形 15">
            <a:hlinkClick r:id="" action="ppaction://noaction"/>
            <a:extLst>
              <a:ext uri="{FF2B5EF4-FFF2-40B4-BE49-F238E27FC236}">
                <a16:creationId xmlns:a16="http://schemas.microsoft.com/office/drawing/2014/main" id="{635BAC6E-1FAE-4962-8519-BCF21763852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7" name="矩形 16">
            <a:hlinkClick r:id="" action="ppaction://noaction"/>
            <a:extLst>
              <a:ext uri="{FF2B5EF4-FFF2-40B4-BE49-F238E27FC236}">
                <a16:creationId xmlns:a16="http://schemas.microsoft.com/office/drawing/2014/main" id="{03B6DD74-A1A3-488C-B1CA-E01C152D443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8" name="矩形 17">
            <a:hlinkClick r:id="" action="ppaction://noaction"/>
            <a:extLst>
              <a:ext uri="{FF2B5EF4-FFF2-40B4-BE49-F238E27FC236}">
                <a16:creationId xmlns:a16="http://schemas.microsoft.com/office/drawing/2014/main" id="{5F8A4B37-61ED-425A-BBAD-D162B130B67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9" name="矩形 18">
            <a:hlinkClick r:id="" action="ppaction://noaction"/>
            <a:extLst>
              <a:ext uri="{FF2B5EF4-FFF2-40B4-BE49-F238E27FC236}">
                <a16:creationId xmlns:a16="http://schemas.microsoft.com/office/drawing/2014/main" id="{A70962AF-C582-48DD-AD41-DC41A7F5338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a:extLst>
              <a:ext uri="{FF2B5EF4-FFF2-40B4-BE49-F238E27FC236}">
                <a16:creationId xmlns:a16="http://schemas.microsoft.com/office/drawing/2014/main" id="{0F7A0C24-6BCA-4F1E-A175-54CD037606D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596771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指针的基本概念</a:t>
            </a:r>
          </a:p>
        </p:txBody>
      </p:sp>
      <p:sp>
        <p:nvSpPr>
          <p:cNvPr id="3" name="内容占位符 2"/>
          <p:cNvSpPr>
            <a:spLocks noGrp="1"/>
          </p:cNvSpPr>
          <p:nvPr>
            <p:ph idx="1"/>
          </p:nvPr>
        </p:nvSpPr>
        <p:spPr>
          <a:xfrm>
            <a:off x="34787" y="1865970"/>
            <a:ext cx="8943561" cy="4304987"/>
          </a:xfrm>
        </p:spPr>
        <p:txBody>
          <a:bodyPr/>
          <a:lstStyle/>
          <a:p>
            <a:pPr lvl="1"/>
            <a:r>
              <a:rPr lang="zh-CN" altLang="en-US" dirty="0"/>
              <a:t>指针指向内存地址（指针表示</a:t>
            </a:r>
            <a:r>
              <a:rPr lang="zh-CN" altLang="en-US" dirty="0">
                <a:solidFill>
                  <a:srgbClr val="FF0000"/>
                </a:solidFill>
              </a:rPr>
              <a:t>地址</a:t>
            </a:r>
            <a:r>
              <a:rPr lang="zh-CN" altLang="en-US" dirty="0"/>
              <a:t>）</a:t>
            </a:r>
            <a:endParaRPr lang="en-US" altLang="zh-CN" dirty="0"/>
          </a:p>
        </p:txBody>
      </p:sp>
      <p:pic>
        <p:nvPicPr>
          <p:cNvPr id="20" name="Picture 3"/>
          <p:cNvPicPr>
            <a:picLocks noChangeAspect="1" noChangeArrowheads="1"/>
          </p:cNvPicPr>
          <p:nvPr/>
        </p:nvPicPr>
        <p:blipFill rotWithShape="1">
          <a:blip r:embed="rId4" cstate="print"/>
          <a:srcRect l="1" t="1" r="-4192" b="64960"/>
          <a:stretch/>
        </p:blipFill>
        <p:spPr bwMode="auto">
          <a:xfrm>
            <a:off x="5214908" y="2549903"/>
            <a:ext cx="576291" cy="1248945"/>
          </a:xfrm>
          <a:prstGeom prst="rect">
            <a:avLst/>
          </a:prstGeom>
          <a:noFill/>
          <a:ln w="9525">
            <a:noFill/>
            <a:miter lim="800000"/>
            <a:headEnd/>
            <a:tailEnd/>
          </a:ln>
          <a:effectLst/>
        </p:spPr>
      </p:pic>
      <p:pic>
        <p:nvPicPr>
          <p:cNvPr id="21" name="Picture 4"/>
          <p:cNvPicPr>
            <a:picLocks noChangeAspect="1" noChangeArrowheads="1"/>
          </p:cNvPicPr>
          <p:nvPr/>
        </p:nvPicPr>
        <p:blipFill>
          <a:blip r:embed="rId5" cstate="print"/>
          <a:srcRect/>
          <a:stretch>
            <a:fillRect/>
          </a:stretch>
        </p:blipFill>
        <p:spPr bwMode="auto">
          <a:xfrm>
            <a:off x="5904728" y="3134200"/>
            <a:ext cx="648703" cy="612610"/>
          </a:xfrm>
          <a:prstGeom prst="rect">
            <a:avLst/>
          </a:prstGeom>
          <a:noFill/>
          <a:ln w="9525">
            <a:noFill/>
            <a:miter lim="800000"/>
            <a:headEnd/>
            <a:tailEnd/>
          </a:ln>
          <a:effectLst/>
        </p:spPr>
      </p:pic>
      <p:pic>
        <p:nvPicPr>
          <p:cNvPr id="22" name="Picture 5"/>
          <p:cNvPicPr>
            <a:picLocks noChangeAspect="1" noChangeArrowheads="1"/>
          </p:cNvPicPr>
          <p:nvPr/>
        </p:nvPicPr>
        <p:blipFill rotWithShape="1">
          <a:blip r:embed="rId6" cstate="print"/>
          <a:srcRect b="64961"/>
          <a:stretch/>
        </p:blipFill>
        <p:spPr bwMode="auto">
          <a:xfrm>
            <a:off x="6666961" y="2549903"/>
            <a:ext cx="1044752" cy="1248945"/>
          </a:xfrm>
          <a:prstGeom prst="rect">
            <a:avLst/>
          </a:prstGeom>
          <a:noFill/>
          <a:ln w="9525">
            <a:noFill/>
            <a:miter lim="800000"/>
            <a:headEnd/>
            <a:tailEnd/>
          </a:ln>
          <a:effectLst/>
        </p:spPr>
      </p:pic>
      <p:pic>
        <p:nvPicPr>
          <p:cNvPr id="23" name="Picture 6"/>
          <p:cNvPicPr>
            <a:picLocks noChangeAspect="1" noChangeArrowheads="1"/>
          </p:cNvPicPr>
          <p:nvPr/>
        </p:nvPicPr>
        <p:blipFill rotWithShape="1">
          <a:blip r:embed="rId7" cstate="print"/>
          <a:srcRect b="65220"/>
          <a:stretch/>
        </p:blipFill>
        <p:spPr bwMode="auto">
          <a:xfrm>
            <a:off x="3065129" y="2544255"/>
            <a:ext cx="1816368" cy="1239725"/>
          </a:xfrm>
          <a:prstGeom prst="rect">
            <a:avLst/>
          </a:prstGeom>
          <a:noFill/>
          <a:ln w="9525">
            <a:noFill/>
            <a:miter lim="800000"/>
            <a:headEnd/>
            <a:tailEnd/>
          </a:ln>
          <a:effectLst/>
        </p:spPr>
      </p:pic>
      <p:pic>
        <p:nvPicPr>
          <p:cNvPr id="24" name="Picture 7"/>
          <p:cNvPicPr>
            <a:picLocks noChangeAspect="1" noChangeArrowheads="1"/>
          </p:cNvPicPr>
          <p:nvPr/>
        </p:nvPicPr>
        <p:blipFill rotWithShape="1">
          <a:blip r:embed="rId8" cstate="print"/>
          <a:srcRect r="-4942" b="65011"/>
          <a:stretch/>
        </p:blipFill>
        <p:spPr bwMode="auto">
          <a:xfrm>
            <a:off x="1508555" y="2544255"/>
            <a:ext cx="580439" cy="1247159"/>
          </a:xfrm>
          <a:prstGeom prst="rect">
            <a:avLst/>
          </a:prstGeom>
          <a:noFill/>
          <a:ln w="9525">
            <a:noFill/>
            <a:miter lim="800000"/>
            <a:headEnd/>
            <a:tailEnd/>
          </a:ln>
          <a:effectLst/>
        </p:spPr>
      </p:pic>
      <p:pic>
        <p:nvPicPr>
          <p:cNvPr id="25" name="Picture 8"/>
          <p:cNvPicPr>
            <a:picLocks noChangeAspect="1" noChangeArrowheads="1"/>
          </p:cNvPicPr>
          <p:nvPr/>
        </p:nvPicPr>
        <p:blipFill rotWithShape="1">
          <a:blip r:embed="rId9" cstate="print"/>
          <a:srcRect t="79515"/>
          <a:stretch/>
        </p:blipFill>
        <p:spPr bwMode="auto">
          <a:xfrm rot="10800000">
            <a:off x="2210415" y="3178896"/>
            <a:ext cx="655531" cy="567913"/>
          </a:xfrm>
          <a:prstGeom prst="rect">
            <a:avLst/>
          </a:prstGeom>
          <a:noFill/>
          <a:ln w="9525">
            <a:noFill/>
            <a:miter lim="800000"/>
            <a:headEnd/>
            <a:tailEnd/>
          </a:ln>
          <a:effectLst/>
        </p:spPr>
      </p:pic>
      <p:sp>
        <p:nvSpPr>
          <p:cNvPr id="26" name="矩形 25"/>
          <p:cNvSpPr/>
          <p:nvPr/>
        </p:nvSpPr>
        <p:spPr>
          <a:xfrm>
            <a:off x="119017" y="4309688"/>
            <a:ext cx="8458200" cy="1292662"/>
          </a:xfrm>
          <a:prstGeom prst="rect">
            <a:avLst/>
          </a:prstGeom>
        </p:spPr>
        <p:txBody>
          <a:bodyPr wrap="square">
            <a:spAutoFit/>
          </a:bodyPr>
          <a:lstStyle/>
          <a:p>
            <a:pPr marL="1200150" lvl="2" indent="-285750">
              <a:lnSpc>
                <a:spcPct val="130000"/>
              </a:lnSpc>
              <a:buFont typeface="Arial" panose="020B0604020202020204" pitchFamily="34" charset="0"/>
              <a:buChar char="‒"/>
            </a:pPr>
            <a:r>
              <a:rPr lang="zh-CN" altLang="en-US" sz="2000" dirty="0"/>
              <a:t>可以提取所指内存地址的值，这是指针的</a:t>
            </a:r>
            <a:r>
              <a:rPr lang="zh-CN" altLang="en-US" sz="2000" dirty="0">
                <a:solidFill>
                  <a:srgbClr val="FF0000"/>
                </a:solidFill>
              </a:rPr>
              <a:t>操作 </a:t>
            </a:r>
            <a:r>
              <a:rPr lang="en-US" altLang="zh-CN" sz="2000" dirty="0">
                <a:solidFill>
                  <a:schemeClr val="tx2"/>
                </a:solidFill>
              </a:rPr>
              <a:t>(*&lt;</a:t>
            </a:r>
            <a:r>
              <a:rPr lang="zh-CN" altLang="en-US" sz="2000" dirty="0">
                <a:solidFill>
                  <a:schemeClr val="tx2"/>
                </a:solidFill>
              </a:rPr>
              <a:t>指针名</a:t>
            </a:r>
            <a:r>
              <a:rPr lang="en-US" altLang="zh-CN" sz="2000" dirty="0">
                <a:solidFill>
                  <a:schemeClr val="tx2"/>
                </a:solidFill>
              </a:rPr>
              <a:t>&gt;)</a:t>
            </a:r>
          </a:p>
          <a:p>
            <a:pPr marL="1200150" lvl="2" indent="-285750">
              <a:lnSpc>
                <a:spcPct val="130000"/>
              </a:lnSpc>
              <a:buFont typeface="Arial" panose="020B0604020202020204" pitchFamily="34" charset="0"/>
              <a:buChar char="‒"/>
            </a:pPr>
            <a:r>
              <a:rPr lang="zh-CN" altLang="en-US" sz="2000" dirty="0"/>
              <a:t>地址由</a:t>
            </a:r>
            <a:r>
              <a:rPr lang="zh-CN" altLang="en-US" sz="2000" dirty="0">
                <a:solidFill>
                  <a:srgbClr val="FF0000"/>
                </a:solidFill>
              </a:rPr>
              <a:t>取地址</a:t>
            </a:r>
            <a:r>
              <a:rPr lang="zh-CN" altLang="en-US" sz="2000" dirty="0"/>
              <a:t>运算表达式（</a:t>
            </a:r>
            <a:r>
              <a:rPr lang="en-US" altLang="zh-CN" sz="2000" dirty="0">
                <a:solidFill>
                  <a:schemeClr val="tx2"/>
                </a:solidFill>
              </a:rPr>
              <a:t>&amp;&lt;</a:t>
            </a:r>
            <a:r>
              <a:rPr lang="zh-CN" altLang="en-US" sz="2000" dirty="0">
                <a:solidFill>
                  <a:schemeClr val="tx2"/>
                </a:solidFill>
              </a:rPr>
              <a:t>变量名</a:t>
            </a:r>
            <a:r>
              <a:rPr lang="en-US" altLang="zh-CN" sz="2000" dirty="0">
                <a:solidFill>
                  <a:schemeClr val="tx2"/>
                </a:solidFill>
              </a:rPr>
              <a:t>&gt;</a:t>
            </a:r>
            <a:r>
              <a:rPr lang="zh-CN" altLang="en-US" sz="2000" dirty="0"/>
              <a:t>）、</a:t>
            </a:r>
            <a:r>
              <a:rPr lang="zh-CN" altLang="en-US" sz="2000" dirty="0">
                <a:solidFill>
                  <a:srgbClr val="FF0000"/>
                </a:solidFill>
              </a:rPr>
              <a:t>数组名</a:t>
            </a:r>
            <a:r>
              <a:rPr lang="zh-CN" altLang="en-US" sz="2000" dirty="0"/>
              <a:t>、</a:t>
            </a:r>
            <a:r>
              <a:rPr lang="zh-CN" altLang="en-US" sz="2000" dirty="0">
                <a:solidFill>
                  <a:srgbClr val="FF0000"/>
                </a:solidFill>
              </a:rPr>
              <a:t>指针变量名</a:t>
            </a:r>
            <a:r>
              <a:rPr lang="zh-CN" altLang="en-US" sz="2000" dirty="0"/>
              <a:t>描述</a:t>
            </a:r>
            <a:endParaRPr lang="en-US" altLang="zh-CN" sz="2000" dirty="0">
              <a:solidFill>
                <a:srgbClr val="FF0000"/>
              </a:solidFill>
            </a:endParaRPr>
          </a:p>
        </p:txBody>
      </p:sp>
      <p:sp>
        <p:nvSpPr>
          <p:cNvPr id="19" name="矩形 18">
            <a:hlinkClick r:id="rId10" action="ppaction://hlinksldjump"/>
            <a:extLst>
              <a:ext uri="{FF2B5EF4-FFF2-40B4-BE49-F238E27FC236}">
                <a16:creationId xmlns:a16="http://schemas.microsoft.com/office/drawing/2014/main" id="{F5BEE24F-29C5-490E-9FBC-D3ED546942A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27" name="矩形 26">
            <a:hlinkClick r:id="" action="ppaction://noaction"/>
            <a:extLst>
              <a:ext uri="{FF2B5EF4-FFF2-40B4-BE49-F238E27FC236}">
                <a16:creationId xmlns:a16="http://schemas.microsoft.com/office/drawing/2014/main" id="{858C6335-8EF6-494D-9100-240F89CEA12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8" name="矩形 27">
            <a:hlinkClick r:id="" action="ppaction://noaction"/>
            <a:extLst>
              <a:ext uri="{FF2B5EF4-FFF2-40B4-BE49-F238E27FC236}">
                <a16:creationId xmlns:a16="http://schemas.microsoft.com/office/drawing/2014/main" id="{CECDC5B1-F3EB-4354-B134-4752BC9A586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9" name="矩形 28">
            <a:hlinkClick r:id="" action="ppaction://noaction"/>
            <a:extLst>
              <a:ext uri="{FF2B5EF4-FFF2-40B4-BE49-F238E27FC236}">
                <a16:creationId xmlns:a16="http://schemas.microsoft.com/office/drawing/2014/main" id="{31392EE2-407F-4F77-96BB-590DD846EDF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30" name="矩形 29">
            <a:hlinkClick r:id="" action="ppaction://noaction"/>
            <a:extLst>
              <a:ext uri="{FF2B5EF4-FFF2-40B4-BE49-F238E27FC236}">
                <a16:creationId xmlns:a16="http://schemas.microsoft.com/office/drawing/2014/main" id="{B7B39178-F33A-4A53-B00F-1C9B1E4708A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31" name="矩形 30">
            <a:hlinkClick r:id="" action="ppaction://noaction"/>
            <a:extLst>
              <a:ext uri="{FF2B5EF4-FFF2-40B4-BE49-F238E27FC236}">
                <a16:creationId xmlns:a16="http://schemas.microsoft.com/office/drawing/2014/main" id="{8AACEDAB-1222-4206-8384-4D8ED28A973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32" name="矩形 31">
            <a:hlinkClick r:id="" action="ppaction://noaction"/>
            <a:extLst>
              <a:ext uri="{FF2B5EF4-FFF2-40B4-BE49-F238E27FC236}">
                <a16:creationId xmlns:a16="http://schemas.microsoft.com/office/drawing/2014/main" id="{6480EB1D-A320-4ADA-9932-0B53E51EE07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33" name="矩形 32">
            <a:hlinkClick r:id="" action="ppaction://noaction"/>
            <a:extLst>
              <a:ext uri="{FF2B5EF4-FFF2-40B4-BE49-F238E27FC236}">
                <a16:creationId xmlns:a16="http://schemas.microsoft.com/office/drawing/2014/main" id="{EB267F46-9B88-41B6-B204-26FD0530495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2378682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3862" y="980728"/>
            <a:ext cx="8153400" cy="64807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a:t>
            </a:r>
            <a:r>
              <a:rPr lang="zh-CN" altLang="en-US" dirty="0">
                <a:solidFill>
                  <a:srgbClr val="C00000"/>
                </a:solidFill>
              </a:rPr>
              <a:t>实现对一组整型数由小到大排序</a:t>
            </a:r>
            <a:endParaRPr lang="en-US" altLang="zh-CN" dirty="0">
              <a:solidFill>
                <a:srgbClr val="C00000"/>
              </a:solidFill>
            </a:endParaRPr>
          </a:p>
          <a:p>
            <a:pPr lvl="1"/>
            <a:endParaRPr lang="zh-CN" altLang="en-US" dirty="0"/>
          </a:p>
        </p:txBody>
      </p:sp>
      <p:sp>
        <p:nvSpPr>
          <p:cNvPr id="6" name="矩形 5"/>
          <p:cNvSpPr/>
          <p:nvPr/>
        </p:nvSpPr>
        <p:spPr>
          <a:xfrm>
            <a:off x="179512" y="1484784"/>
            <a:ext cx="4248472" cy="5047536"/>
          </a:xfrm>
          <a:prstGeom prst="rect">
            <a:avLst/>
          </a:prstGeom>
        </p:spPr>
        <p:txBody>
          <a:bodyPr wrap="square">
            <a:spAutoFit/>
          </a:bodyPr>
          <a:lstStyle/>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iostream</a:t>
            </a:r>
            <a:r>
              <a:rPr lang="en-US" altLang="zh-CN" sz="1400" b="1" dirty="0">
                <a:latin typeface="Courier New" panose="02070309020205020404" pitchFamily="49" charset="0"/>
                <a:cs typeface="Courier New" panose="02070309020205020404" pitchFamily="49" charset="0"/>
              </a:rPr>
              <a:t>&gt;</a:t>
            </a: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stdlib.h</a:t>
            </a:r>
            <a:r>
              <a:rPr lang="en-US" altLang="zh-CN" sz="1400" b="1" dirty="0">
                <a:latin typeface="Courier New" panose="02070309020205020404" pitchFamily="49" charset="0"/>
                <a:cs typeface="Courier New" panose="02070309020205020404" pitchFamily="49" charset="0"/>
              </a:rPr>
              <a:t>&gt;</a:t>
            </a: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time.h</a:t>
            </a:r>
            <a:r>
              <a:rPr lang="en-US" altLang="zh-CN" sz="1400" b="1" dirty="0">
                <a:latin typeface="Courier New" panose="02070309020205020404" pitchFamily="49" charset="0"/>
                <a:cs typeface="Courier New" panose="02070309020205020404" pitchFamily="49" charset="0"/>
              </a:rPr>
              <a:t>&gt;</a:t>
            </a:r>
          </a:p>
          <a:p>
            <a:r>
              <a:rPr lang="en-US" altLang="zh-CN" sz="1400" b="1" dirty="0">
                <a:solidFill>
                  <a:srgbClr val="0000FF"/>
                </a:solidFill>
                <a:latin typeface="Courier New" panose="02070309020205020404" pitchFamily="49" charset="0"/>
                <a:cs typeface="Courier New" panose="02070309020205020404" pitchFamily="49" charset="0"/>
              </a:rPr>
              <a:t>using namespace </a:t>
            </a:r>
            <a:r>
              <a:rPr lang="en-US" altLang="zh-CN" sz="1400" b="1" dirty="0" err="1">
                <a:latin typeface="Courier New" panose="02070309020205020404" pitchFamily="49" charset="0"/>
                <a:cs typeface="Courier New" panose="02070309020205020404" pitchFamily="49" charset="0"/>
              </a:rPr>
              <a:t>std</a:t>
            </a:r>
            <a:r>
              <a:rPr lang="en-US" altLang="zh-CN" sz="1400" b="1" dirty="0">
                <a:latin typeface="Courier New" panose="02070309020205020404" pitchFamily="49" charset="0"/>
                <a:cs typeface="Courier New" panose="02070309020205020404" pitchFamily="49" charset="0"/>
              </a:rPr>
              <a:t>;</a:t>
            </a:r>
          </a:p>
          <a:p>
            <a:r>
              <a:rPr lang="en-US" altLang="zh-CN" sz="1400" b="1" dirty="0" err="1">
                <a:solidFill>
                  <a:srgbClr val="0000FF"/>
                </a:solidFill>
                <a:latin typeface="Courier New" panose="02070309020205020404" pitchFamily="49" charset="0"/>
                <a:cs typeface="Courier New" panose="02070309020205020404" pitchFamily="49" charset="0"/>
              </a:rPr>
              <a:t>const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N = 20;</a:t>
            </a:r>
          </a:p>
          <a:p>
            <a:r>
              <a:rPr lang="en-US" altLang="zh-CN" sz="1400" b="1" dirty="0">
                <a:solidFill>
                  <a:srgbClr val="0000FF"/>
                </a:solidFill>
                <a:latin typeface="Courier New" panose="02070309020205020404" pitchFamily="49" charset="0"/>
                <a:cs typeface="Courier New" panose="02070309020205020404" pitchFamily="49" charset="0"/>
              </a:rPr>
              <a:t>void</a:t>
            </a:r>
            <a:r>
              <a:rPr lang="en-US" altLang="zh-CN" sz="1400" b="1" dirty="0">
                <a:latin typeface="Courier New" panose="02070309020205020404" pitchFamily="49" charset="0"/>
                <a:cs typeface="Courier New" panose="02070309020205020404" pitchFamily="49" charset="0"/>
              </a:rPr>
              <a:t> main()</a:t>
            </a:r>
          </a:p>
          <a:p>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srand</a:t>
            </a:r>
            <a:r>
              <a:rPr lang="en-US" altLang="zh-CN" sz="1400" b="1" dirty="0">
                <a:latin typeface="Courier New" panose="02070309020205020404" pitchFamily="49" charset="0"/>
                <a:cs typeface="Courier New" panose="02070309020205020404" pitchFamily="49" charset="0"/>
              </a:rPr>
              <a:t>((unsigned)time(NULL));</a:t>
            </a:r>
          </a:p>
          <a:p>
            <a:r>
              <a:rPr lang="en-US" altLang="zh-CN" sz="1400" b="1" dirty="0">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data[N];</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data[</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 rand()%100;</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j=N-1;j&gt;</a:t>
            </a:r>
            <a:r>
              <a:rPr lang="en-US" altLang="zh-CN" sz="1400" b="1" dirty="0" err="1">
                <a:latin typeface="Courier New" panose="02070309020205020404" pitchFamily="49" charset="0"/>
                <a:cs typeface="Courier New" panose="02070309020205020404" pitchFamily="49" charset="0"/>
              </a:rPr>
              <a:t>i;j</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(data[j]&lt;data[j-1]){</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temp = data[j];</a:t>
            </a:r>
          </a:p>
          <a:p>
            <a:r>
              <a:rPr lang="en-US" altLang="zh-CN" sz="1400" b="1" dirty="0">
                <a:latin typeface="Courier New" panose="02070309020205020404" pitchFamily="49" charset="0"/>
                <a:cs typeface="Courier New" panose="02070309020205020404" pitchFamily="49" charset="0"/>
              </a:rPr>
              <a:t>		data[j] = data[j-1];</a:t>
            </a:r>
          </a:p>
          <a:p>
            <a:r>
              <a:rPr lang="en-US" altLang="zh-CN" sz="1400" b="1" dirty="0">
                <a:latin typeface="Courier New" panose="02070309020205020404" pitchFamily="49" charset="0"/>
                <a:cs typeface="Courier New" panose="02070309020205020404" pitchFamily="49" charset="0"/>
              </a:rPr>
              <a:t>		data[j-1]=temp;</a:t>
            </a:r>
          </a:p>
          <a:p>
            <a:r>
              <a:rPr lang="en-US" altLang="zh-CN" sz="1400" b="1" dirty="0">
                <a:latin typeface="Courier New" panose="02070309020205020404" pitchFamily="49" charset="0"/>
                <a:cs typeface="Courier New" panose="02070309020205020404" pitchFamily="49" charset="0"/>
              </a:rPr>
              <a:t>	    }</a:t>
            </a:r>
          </a:p>
          <a:p>
            <a:r>
              <a:rPr lang="en-US" altLang="zh-CN" sz="1400" b="1" dirty="0">
                <a:latin typeface="Courier New" panose="02070309020205020404" pitchFamily="49" charset="0"/>
                <a:cs typeface="Courier New" panose="02070309020205020404" pitchFamily="49" charset="0"/>
              </a:rPr>
              <a:t>    }</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000FF"/>
                </a:solidFill>
                <a:latin typeface="Courier New" panose="02070309020205020404" pitchFamily="49" charset="0"/>
                <a:cs typeface="Courier New" panose="02070309020205020404" pitchFamily="49" charset="0"/>
              </a:rPr>
              <a:t>auto</a:t>
            </a:r>
            <a:r>
              <a:rPr lang="en-US" altLang="zh-CN" sz="1400" b="1" dirty="0">
                <a:latin typeface="Courier New" panose="02070309020205020404" pitchFamily="49" charset="0"/>
                <a:cs typeface="Courier New" panose="02070309020205020404" pitchFamily="49" charset="0"/>
              </a:rPr>
              <a:t> i:data)</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&lt;&lt;" ";</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endl</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a:t>
            </a:r>
            <a:endParaRPr lang="zh-CN" altLang="en-US" sz="1400" b="1" dirty="0">
              <a:solidFill>
                <a:schemeClr val="tx2"/>
              </a:solidFill>
              <a:latin typeface="Courier New" pitchFamily="49" charset="0"/>
              <a:cs typeface="Courier New" pitchFamily="49" charset="0"/>
            </a:endParaRPr>
          </a:p>
        </p:txBody>
      </p:sp>
      <p:sp>
        <p:nvSpPr>
          <p:cNvPr id="8" name="矩形 7"/>
          <p:cNvSpPr/>
          <p:nvPr/>
        </p:nvSpPr>
        <p:spPr>
          <a:xfrm>
            <a:off x="4427984" y="1496368"/>
            <a:ext cx="4536504" cy="5047536"/>
          </a:xfrm>
          <a:prstGeom prst="rect">
            <a:avLst/>
          </a:prstGeom>
        </p:spPr>
        <p:txBody>
          <a:bodyPr wrap="square">
            <a:spAutoFit/>
          </a:bodyPr>
          <a:lstStyle/>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iostream</a:t>
            </a:r>
            <a:r>
              <a:rPr lang="en-US" altLang="zh-CN" sz="1400" b="1" dirty="0">
                <a:latin typeface="Courier New" panose="02070309020205020404" pitchFamily="49" charset="0"/>
                <a:cs typeface="Courier New" panose="02070309020205020404" pitchFamily="49" charset="0"/>
              </a:rPr>
              <a:t>&gt;</a:t>
            </a: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stdlib.h</a:t>
            </a:r>
            <a:r>
              <a:rPr lang="en-US" altLang="zh-CN" sz="1400" b="1" dirty="0">
                <a:latin typeface="Courier New" panose="02070309020205020404" pitchFamily="49" charset="0"/>
                <a:cs typeface="Courier New" panose="02070309020205020404" pitchFamily="49" charset="0"/>
              </a:rPr>
              <a:t>&gt;</a:t>
            </a:r>
          </a:p>
          <a:p>
            <a:r>
              <a:rPr lang="en-US" altLang="zh-CN" sz="1400" b="1" dirty="0">
                <a:solidFill>
                  <a:srgbClr val="0000FF"/>
                </a:solidFill>
                <a:latin typeface="Courier New" panose="02070309020205020404" pitchFamily="49" charset="0"/>
                <a:cs typeface="Courier New" panose="02070309020205020404" pitchFamily="49" charset="0"/>
              </a:rPr>
              <a:t>#include</a:t>
            </a:r>
            <a:r>
              <a:rPr lang="en-US" altLang="zh-CN" sz="1400" b="1" dirty="0">
                <a:latin typeface="Courier New" panose="02070309020205020404" pitchFamily="49" charset="0"/>
                <a:cs typeface="Courier New" panose="02070309020205020404" pitchFamily="49" charset="0"/>
              </a:rPr>
              <a:t>&lt;</a:t>
            </a:r>
            <a:r>
              <a:rPr lang="en-US" altLang="zh-CN" sz="1400" b="1" dirty="0" err="1">
                <a:latin typeface="Courier New" panose="02070309020205020404" pitchFamily="49" charset="0"/>
                <a:cs typeface="Courier New" panose="02070309020205020404" pitchFamily="49" charset="0"/>
              </a:rPr>
              <a:t>time.h</a:t>
            </a:r>
            <a:r>
              <a:rPr lang="en-US" altLang="zh-CN" sz="1400" b="1" dirty="0">
                <a:latin typeface="Courier New" panose="02070309020205020404" pitchFamily="49" charset="0"/>
                <a:cs typeface="Courier New" panose="02070309020205020404" pitchFamily="49" charset="0"/>
              </a:rPr>
              <a:t>&gt;</a:t>
            </a:r>
          </a:p>
          <a:p>
            <a:r>
              <a:rPr lang="en-US" altLang="zh-CN" sz="1400" b="1" dirty="0">
                <a:solidFill>
                  <a:srgbClr val="0000FF"/>
                </a:solidFill>
                <a:latin typeface="Courier New" panose="02070309020205020404" pitchFamily="49" charset="0"/>
                <a:cs typeface="Courier New" panose="02070309020205020404" pitchFamily="49" charset="0"/>
              </a:rPr>
              <a:t>using namespace </a:t>
            </a:r>
            <a:r>
              <a:rPr lang="en-US" altLang="zh-CN" sz="1400" b="1" dirty="0" err="1">
                <a:latin typeface="Courier New" panose="02070309020205020404" pitchFamily="49" charset="0"/>
                <a:cs typeface="Courier New" panose="02070309020205020404" pitchFamily="49" charset="0"/>
              </a:rPr>
              <a:t>std</a:t>
            </a:r>
            <a:r>
              <a:rPr lang="en-US" altLang="zh-CN" sz="1400" b="1" dirty="0">
                <a:latin typeface="Courier New" panose="02070309020205020404" pitchFamily="49" charset="0"/>
                <a:cs typeface="Courier New" panose="02070309020205020404" pitchFamily="49" charset="0"/>
              </a:rPr>
              <a:t>;</a:t>
            </a:r>
          </a:p>
          <a:p>
            <a:r>
              <a:rPr lang="en-US" altLang="zh-CN" sz="1400" b="1" dirty="0" err="1">
                <a:solidFill>
                  <a:srgbClr val="0000FF"/>
                </a:solidFill>
                <a:latin typeface="Courier New" panose="02070309020205020404" pitchFamily="49" charset="0"/>
                <a:cs typeface="Courier New" panose="02070309020205020404" pitchFamily="49" charset="0"/>
              </a:rPr>
              <a:t>const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N = 20;</a:t>
            </a:r>
          </a:p>
          <a:p>
            <a:r>
              <a:rPr lang="en-US" altLang="zh-CN" sz="1400" b="1" dirty="0">
                <a:solidFill>
                  <a:srgbClr val="0000FF"/>
                </a:solidFill>
                <a:latin typeface="Courier New" panose="02070309020205020404" pitchFamily="49" charset="0"/>
                <a:cs typeface="Courier New" panose="02070309020205020404" pitchFamily="49" charset="0"/>
              </a:rPr>
              <a:t>void</a:t>
            </a:r>
            <a:r>
              <a:rPr lang="en-US" altLang="zh-CN" sz="1400" b="1" dirty="0">
                <a:latin typeface="Courier New" panose="02070309020205020404" pitchFamily="49" charset="0"/>
                <a:cs typeface="Courier New" panose="02070309020205020404" pitchFamily="49" charset="0"/>
              </a:rPr>
              <a:t> main()</a:t>
            </a:r>
          </a:p>
          <a:p>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srand</a:t>
            </a:r>
            <a:r>
              <a:rPr lang="en-US" altLang="zh-CN" sz="1400" b="1" dirty="0">
                <a:latin typeface="Courier New" panose="02070309020205020404" pitchFamily="49" charset="0"/>
                <a:cs typeface="Courier New" panose="02070309020205020404" pitchFamily="49" charset="0"/>
              </a:rPr>
              <a:t>((unsigned)time(NULL));</a:t>
            </a:r>
          </a:p>
          <a:p>
            <a:r>
              <a:rPr lang="en-US" altLang="zh-CN" sz="1400" b="1" dirty="0">
                <a:latin typeface="Courier New" panose="02070309020205020404" pitchFamily="49" charset="0"/>
                <a:cs typeface="Courier New" panose="02070309020205020404" pitchFamily="49" charset="0"/>
              </a:rPr>
              <a:t>    </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data[N];</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data+i</a:t>
            </a:r>
            <a:r>
              <a:rPr lang="en-US" altLang="zh-CN" sz="1400" b="1" dirty="0">
                <a:latin typeface="Courier New" panose="02070309020205020404" pitchFamily="49" charset="0"/>
                <a:cs typeface="Courier New" panose="02070309020205020404" pitchFamily="49" charset="0"/>
              </a:rPr>
              <a:t>) = rand()%100;</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=0;i&lt;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solidFill>
                  <a:srgbClr val="0000FF"/>
                </a:solidFill>
                <a:latin typeface="Courier New" panose="02070309020205020404" pitchFamily="49" charset="0"/>
                <a:cs typeface="Courier New" panose="02070309020205020404" pitchFamily="49" charset="0"/>
              </a:rPr>
              <a:t>int</a:t>
            </a:r>
            <a:r>
              <a:rPr lang="en-US" altLang="zh-CN" sz="1400" b="1" dirty="0">
                <a:solidFill>
                  <a:srgbClr val="0000FF"/>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j=N-1;j&gt;</a:t>
            </a:r>
            <a:r>
              <a:rPr lang="en-US" altLang="zh-CN" sz="1400" b="1" dirty="0" err="1">
                <a:latin typeface="Courier New" panose="02070309020205020404" pitchFamily="49" charset="0"/>
                <a:cs typeface="Courier New" panose="02070309020205020404" pitchFamily="49" charset="0"/>
              </a:rPr>
              <a:t>i;j</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data+j</a:t>
            </a:r>
            <a:r>
              <a:rPr lang="en-US" altLang="zh-CN" sz="1400" b="1" dirty="0">
                <a:latin typeface="Courier New" panose="02070309020205020404" pitchFamily="49" charset="0"/>
                <a:cs typeface="Courier New" panose="02070309020205020404" pitchFamily="49" charset="0"/>
              </a:rPr>
              <a:t>)&lt;*(data+j-1)){</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 temp = *(</a:t>
            </a:r>
            <a:r>
              <a:rPr lang="en-US" altLang="zh-CN" sz="1400" b="1" dirty="0" err="1">
                <a:latin typeface="Courier New" panose="02070309020205020404" pitchFamily="49" charset="0"/>
                <a:cs typeface="Courier New" panose="02070309020205020404" pitchFamily="49" charset="0"/>
              </a:rPr>
              <a:t>data+j</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data+j</a:t>
            </a:r>
            <a:r>
              <a:rPr lang="en-US" altLang="zh-CN" sz="1400" b="1" dirty="0">
                <a:latin typeface="Courier New" panose="02070309020205020404" pitchFamily="49" charset="0"/>
                <a:cs typeface="Courier New" panose="02070309020205020404" pitchFamily="49" charset="0"/>
              </a:rPr>
              <a:t>) = *(data+j-1);</a:t>
            </a:r>
          </a:p>
          <a:p>
            <a:r>
              <a:rPr lang="en-US" altLang="zh-CN" sz="1400" b="1" dirty="0">
                <a:latin typeface="Courier New" panose="02070309020205020404" pitchFamily="49" charset="0"/>
                <a:cs typeface="Courier New" panose="02070309020205020404" pitchFamily="49" charset="0"/>
              </a:rPr>
              <a:t>		*(data+j-1)=temp;</a:t>
            </a:r>
          </a:p>
          <a:p>
            <a:r>
              <a:rPr lang="en-US" altLang="zh-CN" sz="1400" b="1" dirty="0">
                <a:latin typeface="Courier New" panose="02070309020205020404" pitchFamily="49" charset="0"/>
                <a:cs typeface="Courier New" panose="02070309020205020404" pitchFamily="49" charset="0"/>
              </a:rPr>
              <a:t>	    }</a:t>
            </a:r>
          </a:p>
          <a:p>
            <a:r>
              <a:rPr lang="en-US" altLang="zh-CN" sz="1400" b="1" dirty="0">
                <a:latin typeface="Courier New" panose="02070309020205020404" pitchFamily="49" charset="0"/>
                <a:cs typeface="Courier New" panose="02070309020205020404" pitchFamily="49" charset="0"/>
              </a:rPr>
              <a:t>    }</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00FF"/>
                </a:solidFill>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000FF"/>
                </a:solidFill>
                <a:latin typeface="Courier New" panose="02070309020205020404" pitchFamily="49" charset="0"/>
                <a:cs typeface="Courier New" panose="02070309020205020404" pitchFamily="49" charset="0"/>
              </a:rPr>
              <a:t>auto</a:t>
            </a:r>
            <a:r>
              <a:rPr lang="en-US" altLang="zh-CN" sz="1400" b="1" dirty="0">
                <a:latin typeface="Courier New" panose="02070309020205020404" pitchFamily="49" charset="0"/>
                <a:cs typeface="Courier New" panose="02070309020205020404" pitchFamily="49" charset="0"/>
              </a:rPr>
              <a:t> i:data)</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&lt;&lt;" ";</a:t>
            </a: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cout</a:t>
            </a:r>
            <a:r>
              <a:rPr lang="en-US" altLang="zh-CN" sz="1400" b="1" dirty="0">
                <a:latin typeface="Courier New" panose="02070309020205020404" pitchFamily="49" charset="0"/>
                <a:cs typeface="Courier New" panose="02070309020205020404" pitchFamily="49" charset="0"/>
              </a:rPr>
              <a:t>&lt;&lt;</a:t>
            </a:r>
            <a:r>
              <a:rPr lang="en-US" altLang="zh-CN" sz="1400" b="1" dirty="0" err="1">
                <a:latin typeface="Courier New" panose="02070309020205020404" pitchFamily="49" charset="0"/>
                <a:cs typeface="Courier New" panose="02070309020205020404" pitchFamily="49" charset="0"/>
              </a:rPr>
              <a:t>endl</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a:t>
            </a:r>
            <a:endParaRPr lang="zh-CN" altLang="en-US" sz="1400" b="1" dirty="0">
              <a:solidFill>
                <a:schemeClr val="tx2"/>
              </a:solidFill>
              <a:latin typeface="Courier New" pitchFamily="49" charset="0"/>
              <a:cs typeface="Courier New" pitchFamily="49" charset="0"/>
            </a:endParaRPr>
          </a:p>
        </p:txBody>
      </p:sp>
      <p:sp>
        <p:nvSpPr>
          <p:cNvPr id="10" name="矩形 9"/>
          <p:cNvSpPr/>
          <p:nvPr/>
        </p:nvSpPr>
        <p:spPr>
          <a:xfrm>
            <a:off x="1115616" y="3645024"/>
            <a:ext cx="86409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436096" y="3645024"/>
            <a:ext cx="1008112" cy="2520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hlinkClick r:id="rId4" action="ppaction://hlinksldjump"/>
            <a:extLst>
              <a:ext uri="{FF2B5EF4-FFF2-40B4-BE49-F238E27FC236}">
                <a16:creationId xmlns:a16="http://schemas.microsoft.com/office/drawing/2014/main" id="{8D2FC9DB-58A3-447F-8C8C-B6AFB4DA314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21" name="矩形 20">
            <a:hlinkClick r:id="" action="ppaction://noaction"/>
            <a:extLst>
              <a:ext uri="{FF2B5EF4-FFF2-40B4-BE49-F238E27FC236}">
                <a16:creationId xmlns:a16="http://schemas.microsoft.com/office/drawing/2014/main" id="{591BE5FC-A35E-45C9-BDD3-40C236DD17F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2" name="矩形 21">
            <a:hlinkClick r:id="" action="ppaction://noaction"/>
            <a:extLst>
              <a:ext uri="{FF2B5EF4-FFF2-40B4-BE49-F238E27FC236}">
                <a16:creationId xmlns:a16="http://schemas.microsoft.com/office/drawing/2014/main" id="{7A80F85B-3BEC-45A5-A106-51166A5E018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3" name="矩形 22">
            <a:hlinkClick r:id="" action="ppaction://noaction"/>
            <a:extLst>
              <a:ext uri="{FF2B5EF4-FFF2-40B4-BE49-F238E27FC236}">
                <a16:creationId xmlns:a16="http://schemas.microsoft.com/office/drawing/2014/main" id="{4F127236-26D3-446B-A505-DCBABEE4E75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24" name="矩形 23">
            <a:hlinkClick r:id="" action="ppaction://noaction"/>
            <a:extLst>
              <a:ext uri="{FF2B5EF4-FFF2-40B4-BE49-F238E27FC236}">
                <a16:creationId xmlns:a16="http://schemas.microsoft.com/office/drawing/2014/main" id="{3E8CF4CB-6ED2-4437-A77E-67F44D44147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25" name="矩形 24">
            <a:hlinkClick r:id="" action="ppaction://noaction"/>
            <a:extLst>
              <a:ext uri="{FF2B5EF4-FFF2-40B4-BE49-F238E27FC236}">
                <a16:creationId xmlns:a16="http://schemas.microsoft.com/office/drawing/2014/main" id="{FD5C7410-7A80-4235-A94C-B9F7993148B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26" name="矩形 25">
            <a:hlinkClick r:id="" action="ppaction://noaction"/>
            <a:extLst>
              <a:ext uri="{FF2B5EF4-FFF2-40B4-BE49-F238E27FC236}">
                <a16:creationId xmlns:a16="http://schemas.microsoft.com/office/drawing/2014/main" id="{CB4D771A-3F87-4B40-A15C-ED1570F1EBD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7" name="矩形 26">
            <a:hlinkClick r:id="" action="ppaction://noaction"/>
            <a:extLst>
              <a:ext uri="{FF2B5EF4-FFF2-40B4-BE49-F238E27FC236}">
                <a16:creationId xmlns:a16="http://schemas.microsoft.com/office/drawing/2014/main" id="{119352FC-3737-4A6C-A98D-5B6F9DDCE48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294319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指针变量</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428975313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a:t>
            </a:r>
          </a:p>
        </p:txBody>
      </p:sp>
      <p:sp>
        <p:nvSpPr>
          <p:cNvPr id="3" name="内容占位符 2"/>
          <p:cNvSpPr>
            <a:spLocks noGrp="1"/>
          </p:cNvSpPr>
          <p:nvPr>
            <p:ph idx="1"/>
          </p:nvPr>
        </p:nvSpPr>
        <p:spPr/>
        <p:txBody>
          <a:bodyPr/>
          <a:lstStyle/>
          <a:p>
            <a:pPr marL="914400" lvl="2" indent="0">
              <a:buNone/>
            </a:pPr>
            <a:endParaRPr lang="en-US" altLang="zh-CN" dirty="0"/>
          </a:p>
          <a:p>
            <a:pPr lvl="1"/>
            <a:r>
              <a:rPr lang="zh-CN" altLang="en-US" dirty="0"/>
              <a:t>指针指向内存地址（指针表示</a:t>
            </a:r>
            <a:r>
              <a:rPr lang="zh-CN" altLang="en-US" dirty="0">
                <a:solidFill>
                  <a:srgbClr val="FF0000"/>
                </a:solidFill>
              </a:rPr>
              <a:t>地址</a:t>
            </a:r>
            <a:r>
              <a:rPr lang="zh-CN" altLang="en-US" dirty="0"/>
              <a:t>）</a:t>
            </a:r>
            <a:endParaRPr lang="en-US" altLang="zh-CN" dirty="0"/>
          </a:p>
          <a:p>
            <a:pPr lvl="1"/>
            <a:endParaRPr lang="en-US" altLang="zh-CN" dirty="0"/>
          </a:p>
          <a:p>
            <a:pPr lvl="1"/>
            <a:r>
              <a:rPr lang="zh-CN" altLang="en-US" dirty="0"/>
              <a:t>指针是一种复合数据类型</a:t>
            </a:r>
            <a:endParaRPr lang="en-US" altLang="zh-CN" dirty="0"/>
          </a:p>
          <a:p>
            <a:pPr lvl="2"/>
            <a:r>
              <a:rPr lang="zh-CN" altLang="en-US" dirty="0"/>
              <a:t>基本类型的指针</a:t>
            </a:r>
            <a:endParaRPr lang="en-US" altLang="zh-CN" dirty="0"/>
          </a:p>
          <a:p>
            <a:pPr lvl="2"/>
            <a:r>
              <a:rPr lang="zh-CN" altLang="en-US" dirty="0"/>
              <a:t>数组类型的指针</a:t>
            </a:r>
            <a:endParaRPr lang="en-US" altLang="zh-CN" dirty="0"/>
          </a:p>
          <a:p>
            <a:pPr lvl="2"/>
            <a:r>
              <a:rPr lang="zh-CN" altLang="en-US" dirty="0"/>
              <a:t>指针类型的指针（多重指针）</a:t>
            </a:r>
            <a:endParaRPr lang="en-US" altLang="zh-CN" dirty="0"/>
          </a:p>
          <a:p>
            <a:pPr lvl="2"/>
            <a:r>
              <a:rPr lang="zh-CN" altLang="en-US" dirty="0"/>
              <a:t>函数的指针</a:t>
            </a:r>
            <a:endParaRPr lang="en-US" altLang="zh-CN" dirty="0"/>
          </a:p>
          <a:p>
            <a:pPr lvl="2"/>
            <a:r>
              <a:rPr lang="zh-CN" altLang="en-US" dirty="0"/>
              <a:t>类类型的指针</a:t>
            </a:r>
            <a:endParaRPr lang="en-US" altLang="zh-CN"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Tree>
    <p:extLst>
      <p:ext uri="{BB962C8B-B14F-4D97-AF65-F5344CB8AC3E}">
        <p14:creationId xmlns:p14="http://schemas.microsoft.com/office/powerpoint/2010/main" val="2722536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指针变量的说明</a:t>
            </a:r>
          </a:p>
        </p:txBody>
      </p:sp>
      <p:sp>
        <p:nvSpPr>
          <p:cNvPr id="3" name="内容占位符 2"/>
          <p:cNvSpPr>
            <a:spLocks noGrp="1"/>
          </p:cNvSpPr>
          <p:nvPr>
            <p:ph idx="1"/>
          </p:nvPr>
        </p:nvSpPr>
        <p:spPr/>
        <p:txBody>
          <a:bodyPr/>
          <a:lstStyle/>
          <a:p>
            <a:r>
              <a:rPr lang="en-US" altLang="zh-CN" dirty="0"/>
              <a:t>&lt;</a:t>
            </a:r>
            <a:r>
              <a:rPr lang="zh-CN" altLang="en-US" dirty="0"/>
              <a:t>数据类型</a:t>
            </a:r>
            <a:r>
              <a:rPr lang="en-US" altLang="zh-CN" dirty="0"/>
              <a:t>&gt;*&lt;</a:t>
            </a:r>
            <a:r>
              <a:rPr lang="zh-CN" altLang="en-US" dirty="0"/>
              <a:t>指针变量名</a:t>
            </a:r>
            <a:r>
              <a:rPr lang="en-US" altLang="zh-CN" dirty="0"/>
              <a:t>&gt;</a:t>
            </a:r>
            <a:r>
              <a:rPr lang="en-US" altLang="zh-CN" dirty="0">
                <a:solidFill>
                  <a:srgbClr val="C00000"/>
                </a:solidFill>
              </a:rPr>
              <a:t>[</a:t>
            </a:r>
            <a:r>
              <a:rPr lang="en-US" altLang="zh-CN" dirty="0">
                <a:solidFill>
                  <a:srgbClr val="C00000"/>
                </a:solidFill>
                <a:latin typeface="Courier New" pitchFamily="49" charset="0"/>
                <a:cs typeface="Courier New" pitchFamily="49" charset="0"/>
              </a:rPr>
              <a:t>,</a:t>
            </a:r>
            <a:r>
              <a:rPr lang="en-US" altLang="zh-CN" dirty="0">
                <a:solidFill>
                  <a:srgbClr val="C00000"/>
                </a:solidFill>
              </a:rPr>
              <a:t>*&lt;</a:t>
            </a:r>
            <a:r>
              <a:rPr lang="zh-CN" altLang="en-US" dirty="0">
                <a:solidFill>
                  <a:srgbClr val="C00000"/>
                </a:solidFill>
              </a:rPr>
              <a:t>指针变量名</a:t>
            </a:r>
            <a:r>
              <a:rPr lang="en-US" altLang="zh-CN" dirty="0">
                <a:solidFill>
                  <a:srgbClr val="C00000"/>
                </a:solidFill>
              </a:rPr>
              <a:t>&gt;]</a:t>
            </a:r>
            <a:r>
              <a:rPr lang="en-US" altLang="zh-CN" dirty="0">
                <a:solidFill>
                  <a:schemeClr val="tx2"/>
                </a:solidFill>
                <a:latin typeface="Courier New" pitchFamily="49" charset="0"/>
                <a:cs typeface="Courier New" pitchFamily="49" charset="0"/>
              </a:rPr>
              <a:t>;</a:t>
            </a:r>
          </a:p>
          <a:p>
            <a:pPr lvl="1"/>
            <a:r>
              <a:rPr lang="zh-CN" altLang="en-US" dirty="0"/>
              <a:t>数据类型：基本数据类型、用户定义类型</a:t>
            </a:r>
            <a:endParaRPr lang="en-US" altLang="zh-CN" dirty="0"/>
          </a:p>
          <a:p>
            <a:pPr lvl="1"/>
            <a:r>
              <a:rPr lang="zh-CN" altLang="en-US" dirty="0"/>
              <a:t>指针变量名：标识符</a:t>
            </a:r>
            <a:endParaRPr lang="en-US" altLang="zh-CN" dirty="0"/>
          </a:p>
          <a:p>
            <a:pPr lvl="1"/>
            <a:r>
              <a:rPr lang="zh-CN" altLang="en-US" dirty="0"/>
              <a:t>表示指针指向</a:t>
            </a:r>
            <a:r>
              <a:rPr lang="en-US" altLang="zh-CN" dirty="0"/>
              <a:t>&lt;</a:t>
            </a:r>
            <a:r>
              <a:rPr lang="zh-CN" altLang="en-US" dirty="0"/>
              <a:t>数据类型</a:t>
            </a:r>
            <a:r>
              <a:rPr lang="en-US" altLang="zh-CN" dirty="0"/>
              <a:t>&gt;</a:t>
            </a:r>
            <a:r>
              <a:rPr lang="zh-CN" altLang="en-US" dirty="0"/>
              <a:t>类型变量的首地址</a:t>
            </a:r>
            <a:endParaRPr lang="en-US" altLang="zh-CN" dirty="0"/>
          </a:p>
          <a:p>
            <a:pPr lvl="2"/>
            <a:r>
              <a:rPr lang="zh-CN" altLang="en-US" dirty="0"/>
              <a:t>不同数据类型在内存中占空间不同，指向第一个字节所在的地址</a:t>
            </a:r>
            <a:endParaRPr lang="en-US" altLang="zh-CN" dirty="0"/>
          </a:p>
          <a:p>
            <a:pPr lvl="2"/>
            <a:r>
              <a:rPr lang="zh-CN" altLang="en-US" dirty="0"/>
              <a:t>指针指向的地址空间大小由数据类型决定</a:t>
            </a:r>
            <a:endParaRPr lang="en-US" altLang="zh-CN" dirty="0"/>
          </a:p>
          <a:p>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*p;</a:t>
            </a:r>
          </a:p>
          <a:p>
            <a:pPr lvl="1"/>
            <a:r>
              <a:rPr lang="zh-CN" altLang="en-US" dirty="0"/>
              <a:t>指针变量名为</a:t>
            </a:r>
            <a:r>
              <a:rPr lang="en-US" altLang="zh-CN" dirty="0"/>
              <a:t>p</a:t>
            </a:r>
            <a:r>
              <a:rPr lang="zh-CN" altLang="en-US" dirty="0"/>
              <a:t>，指向</a:t>
            </a:r>
            <a:r>
              <a:rPr lang="zh-CN" altLang="en-US" dirty="0">
                <a:solidFill>
                  <a:srgbClr val="FF0000"/>
                </a:solidFill>
              </a:rPr>
              <a:t>某</a:t>
            </a:r>
            <a:r>
              <a:rPr lang="zh-CN" altLang="en-US" dirty="0"/>
              <a:t>整型变量的</a:t>
            </a:r>
            <a:r>
              <a:rPr lang="zh-CN" altLang="en-US" dirty="0">
                <a:solidFill>
                  <a:srgbClr val="FF0000"/>
                </a:solidFill>
              </a:rPr>
              <a:t>首地址</a:t>
            </a:r>
            <a:endParaRPr lang="en-US" altLang="zh-CN" dirty="0">
              <a:solidFill>
                <a:srgbClr val="FF0000"/>
              </a:solidFill>
            </a:endParaRPr>
          </a:p>
          <a:p>
            <a:pPr lvl="2"/>
            <a:r>
              <a:rPr lang="zh-CN" altLang="en-US" dirty="0"/>
              <a:t>未赋初值，属于</a:t>
            </a:r>
            <a:r>
              <a:rPr lang="zh-CN" altLang="en-US" dirty="0">
                <a:solidFill>
                  <a:srgbClr val="FF0000"/>
                </a:solidFill>
              </a:rPr>
              <a:t>悬挂</a:t>
            </a:r>
            <a:r>
              <a:rPr lang="zh-CN" altLang="en-US" dirty="0"/>
              <a:t>状态</a:t>
            </a:r>
            <a:endParaRPr lang="en-US" altLang="zh-CN" dirty="0">
              <a:solidFill>
                <a:srgbClr val="FF0000"/>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3" name="矩形 12">
            <a:hlinkClick r:id="" action="ppaction://noaction"/>
            <a:extLst>
              <a:ext uri="{FF2B5EF4-FFF2-40B4-BE49-F238E27FC236}">
                <a16:creationId xmlns:a16="http://schemas.microsoft.com/office/drawing/2014/main" id="{C47B0BFA-CD75-49C1-91B3-4116028EE21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710996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指针变量的说明</a:t>
            </a:r>
          </a:p>
        </p:txBody>
      </p:sp>
      <p:sp>
        <p:nvSpPr>
          <p:cNvPr id="3" name="内容占位符 2"/>
          <p:cNvSpPr>
            <a:spLocks noGrp="1"/>
          </p:cNvSpPr>
          <p:nvPr>
            <p:ph idx="1"/>
          </p:nvPr>
        </p:nvSpPr>
        <p:spPr>
          <a:xfrm>
            <a:off x="457200" y="1736750"/>
            <a:ext cx="8229600" cy="4706912"/>
          </a:xfrm>
        </p:spPr>
        <p:txBody>
          <a:bodyPr/>
          <a:lstStyle/>
          <a:p>
            <a:r>
              <a:rPr lang="zh-CN" altLang="en-US" sz="2600" dirty="0"/>
              <a:t>指针变量的值</a:t>
            </a:r>
            <a:endParaRPr lang="en-US" altLang="zh-CN" sz="2600" dirty="0"/>
          </a:p>
          <a:p>
            <a:pPr lvl="1"/>
            <a:r>
              <a:rPr lang="zh-CN" altLang="en-US" dirty="0"/>
              <a:t>该指针变量指向的</a:t>
            </a:r>
            <a:r>
              <a:rPr lang="zh-CN" altLang="en-US" dirty="0">
                <a:solidFill>
                  <a:srgbClr val="FF0000"/>
                </a:solidFill>
              </a:rPr>
              <a:t>地址</a:t>
            </a:r>
            <a:endParaRPr lang="en-US" altLang="zh-CN" dirty="0">
              <a:solidFill>
                <a:srgbClr val="FF0000"/>
              </a:solidFill>
            </a:endParaRPr>
          </a:p>
          <a:p>
            <a:r>
              <a:rPr lang="zh-CN" altLang="en-US" sz="2600" dirty="0"/>
              <a:t>系统同样为指针变量分配空间</a:t>
            </a:r>
            <a:endParaRPr lang="en-US" altLang="zh-CN" sz="2600" dirty="0"/>
          </a:p>
          <a:p>
            <a:pPr lvl="1"/>
            <a:r>
              <a:rPr lang="zh-CN" altLang="en-US" dirty="0"/>
              <a:t>指针变量所占空间由系统决定</a:t>
            </a:r>
            <a:endParaRPr lang="en-US" altLang="zh-CN" dirty="0"/>
          </a:p>
          <a:p>
            <a:pPr lvl="1"/>
            <a:r>
              <a:rPr lang="en-US" altLang="zh-CN" dirty="0"/>
              <a:t>32</a:t>
            </a:r>
            <a:r>
              <a:rPr lang="zh-CN" altLang="en-US" dirty="0"/>
              <a:t>位系统下占用</a:t>
            </a:r>
            <a:r>
              <a:rPr lang="en-US" altLang="zh-CN" dirty="0">
                <a:solidFill>
                  <a:srgbClr val="FF0000"/>
                </a:solidFill>
              </a:rPr>
              <a:t>4</a:t>
            </a:r>
            <a:r>
              <a:rPr lang="zh-CN" altLang="en-US" dirty="0"/>
              <a:t>字节（</a:t>
            </a:r>
            <a:r>
              <a:rPr lang="en-US" altLang="zh-CN" dirty="0"/>
              <a:t>32 bit = 4 Byte</a:t>
            </a:r>
            <a:r>
              <a:rPr lang="zh-CN" altLang="en-US" dirty="0"/>
              <a:t>）</a:t>
            </a:r>
            <a:endParaRPr lang="en-US" altLang="zh-CN" dirty="0"/>
          </a:p>
          <a:p>
            <a:pPr marL="342900" lvl="1" indent="-342900">
              <a:buFont typeface="Arial" charset="0"/>
              <a:buChar char=" "/>
            </a:pPr>
            <a:r>
              <a:rPr lang="zh-CN" altLang="en-US" sz="2600" dirty="0"/>
              <a:t>指针可以指向的“成分”</a:t>
            </a:r>
            <a:endParaRPr lang="en-US" altLang="zh-CN" sz="2600" dirty="0"/>
          </a:p>
          <a:p>
            <a:pPr lvl="1"/>
            <a:r>
              <a:rPr lang="zh-CN" altLang="en-US" sz="2200" dirty="0"/>
              <a:t>变量</a:t>
            </a:r>
            <a:endParaRPr lang="en-US" altLang="zh-CN" sz="2200" dirty="0"/>
          </a:p>
          <a:p>
            <a:pPr lvl="1"/>
            <a:r>
              <a:rPr lang="zh-CN" altLang="en-US" sz="2200" dirty="0"/>
              <a:t>常量</a:t>
            </a:r>
            <a:endParaRPr lang="en-US" altLang="zh-CN" sz="2200" dirty="0"/>
          </a:p>
          <a:p>
            <a:pPr lvl="1"/>
            <a:r>
              <a:rPr lang="zh-CN" altLang="en-US" sz="2200" dirty="0"/>
              <a:t>数组</a:t>
            </a:r>
            <a:endParaRPr lang="en-US" altLang="zh-CN" sz="2200" dirty="0"/>
          </a:p>
          <a:p>
            <a:pPr lvl="1"/>
            <a:r>
              <a:rPr lang="zh-CN" altLang="en-US" sz="2200" dirty="0"/>
              <a:t>函数</a:t>
            </a:r>
          </a:p>
          <a:p>
            <a:pPr lvl="1"/>
            <a:r>
              <a:rPr lang="zh-CN" altLang="en-US" sz="2200" dirty="0"/>
              <a:t>类对象</a:t>
            </a:r>
            <a:endParaRPr lang="en-US" altLang="zh-CN" sz="2200" dirty="0"/>
          </a:p>
        </p:txBody>
      </p:sp>
      <p:sp>
        <p:nvSpPr>
          <p:cNvPr id="12" name="矩形 11">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a:extLst>
              <a:ext uri="{FF2B5EF4-FFF2-40B4-BE49-F238E27FC236}">
                <a16:creationId xmlns:a16="http://schemas.microsoft.com/office/drawing/2014/main" id="{DB469FDE-EF9E-41F5-B6F6-0D4146E6BBE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896188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指针变量的初始化</a:t>
            </a:r>
          </a:p>
        </p:txBody>
      </p:sp>
      <p:sp>
        <p:nvSpPr>
          <p:cNvPr id="3" name="内容占位符 2"/>
          <p:cNvSpPr>
            <a:spLocks noGrp="1"/>
          </p:cNvSpPr>
          <p:nvPr>
            <p:ph idx="1"/>
          </p:nvPr>
        </p:nvSpPr>
        <p:spPr>
          <a:xfrm>
            <a:off x="-37256" y="1749287"/>
            <a:ext cx="6073330" cy="4570784"/>
          </a:xfrm>
        </p:spPr>
        <p:txBody>
          <a:bodyPr/>
          <a:lstStyle/>
          <a:p>
            <a:pPr lvl="1"/>
            <a:r>
              <a:rPr lang="zh-CN" altLang="en-US" dirty="0"/>
              <a:t>初始化为内存地址</a:t>
            </a:r>
            <a:endParaRPr lang="en-US" altLang="zh-CN" dirty="0"/>
          </a:p>
          <a:p>
            <a:pPr lvl="2"/>
            <a:r>
              <a:rPr lang="zh-CN" altLang="en-US" dirty="0"/>
              <a:t>初始化时，“</a:t>
            </a:r>
            <a:r>
              <a:rPr lang="en-US" altLang="zh-CN" dirty="0"/>
              <a:t>=</a:t>
            </a:r>
            <a:r>
              <a:rPr lang="zh-CN" altLang="en-US" dirty="0"/>
              <a:t>”右边是能够表示地址的值</a:t>
            </a:r>
            <a:endParaRPr lang="en-US" altLang="zh-CN" dirty="0"/>
          </a:p>
          <a:p>
            <a:pPr marL="914400" lvl="2" indent="0">
              <a:buNone/>
            </a:pPr>
            <a:r>
              <a:rPr lang="en-US" altLang="zh-CN" b="1" dirty="0">
                <a:solidFill>
                  <a:srgbClr val="0000FF"/>
                </a:solidFill>
                <a:latin typeface="Courier New" pitchFamily="49" charset="0"/>
                <a:cs typeface="Courier New" pitchFamily="49" charset="0"/>
              </a:rPr>
              <a:t>int </a:t>
            </a:r>
            <a:r>
              <a:rPr lang="en-US" altLang="zh-CN" b="1" dirty="0">
                <a:latin typeface="Courier New" pitchFamily="49" charset="0"/>
                <a:cs typeface="Courier New" pitchFamily="49" charset="0"/>
              </a:rPr>
              <a:t>a = 18;</a:t>
            </a:r>
          </a:p>
          <a:p>
            <a:pPr marL="914400" lvl="2" indent="0">
              <a:buNone/>
            </a:pPr>
            <a:r>
              <a:rPr lang="en-US" altLang="zh-CN" b="1" dirty="0" err="1">
                <a:solidFill>
                  <a:srgbClr val="0000FF"/>
                </a:solidFill>
                <a:latin typeface="Courier New" pitchFamily="49" charset="0"/>
                <a:cs typeface="Courier New" pitchFamily="49" charset="0"/>
              </a:rPr>
              <a:t>int</a:t>
            </a:r>
            <a:r>
              <a:rPr lang="en-US" altLang="zh-CN" b="1" dirty="0">
                <a:solidFill>
                  <a:srgbClr val="0000FF"/>
                </a:solidFill>
                <a:latin typeface="Courier New" pitchFamily="49" charset="0"/>
                <a:cs typeface="Courier New" pitchFamily="49" charset="0"/>
              </a:rPr>
              <a:t> </a:t>
            </a:r>
            <a:r>
              <a:rPr lang="en-US" altLang="zh-CN" b="1" dirty="0">
                <a:latin typeface="Courier New" pitchFamily="49" charset="0"/>
                <a:cs typeface="Courier New" pitchFamily="49" charset="0"/>
              </a:rPr>
              <a:t>*p = &amp;a;</a:t>
            </a:r>
            <a:r>
              <a:rPr lang="en-US" altLang="zh-CN" dirty="0">
                <a:solidFill>
                  <a:srgbClr val="007434"/>
                </a:solidFill>
              </a:rPr>
              <a:t> </a:t>
            </a:r>
            <a:r>
              <a:rPr lang="en-US" altLang="zh-CN" b="1" dirty="0">
                <a:solidFill>
                  <a:srgbClr val="007434"/>
                </a:solidFill>
              </a:rPr>
              <a:t>/</a:t>
            </a:r>
            <a:r>
              <a:rPr lang="zh-CN" altLang="en-US" b="1" dirty="0">
                <a:solidFill>
                  <a:srgbClr val="007434"/>
                </a:solidFill>
              </a:rPr>
              <a:t>*</a:t>
            </a:r>
            <a:r>
              <a:rPr lang="en-US" altLang="zh-CN" b="1" dirty="0">
                <a:solidFill>
                  <a:srgbClr val="007434"/>
                </a:solidFill>
              </a:rPr>
              <a:t> p</a:t>
            </a:r>
            <a:r>
              <a:rPr lang="zh-CN" altLang="en-US" b="1" dirty="0">
                <a:solidFill>
                  <a:srgbClr val="007434"/>
                </a:solidFill>
              </a:rPr>
              <a:t>为</a:t>
            </a:r>
            <a:r>
              <a:rPr lang="en-US" altLang="zh-CN" b="1" dirty="0" err="1">
                <a:solidFill>
                  <a:srgbClr val="007434"/>
                </a:solidFill>
              </a:rPr>
              <a:t>int</a:t>
            </a:r>
            <a:r>
              <a:rPr lang="en-US" altLang="zh-CN" b="1" dirty="0">
                <a:solidFill>
                  <a:srgbClr val="007434"/>
                </a:solidFill>
              </a:rPr>
              <a:t>*</a:t>
            </a:r>
            <a:r>
              <a:rPr lang="zh-CN" altLang="en-US" b="1" dirty="0">
                <a:solidFill>
                  <a:srgbClr val="007434"/>
                </a:solidFill>
              </a:rPr>
              <a:t>型变量，其取值为一个</a:t>
            </a:r>
            <a:r>
              <a:rPr lang="en-US" altLang="zh-CN" b="1" dirty="0" err="1">
                <a:solidFill>
                  <a:srgbClr val="007434"/>
                </a:solidFill>
              </a:rPr>
              <a:t>int</a:t>
            </a:r>
            <a:r>
              <a:rPr lang="zh-CN" altLang="en-US" b="1" dirty="0">
                <a:solidFill>
                  <a:srgbClr val="007434"/>
                </a:solidFill>
              </a:rPr>
              <a:t>型变量的地址，也称</a:t>
            </a:r>
            <a:r>
              <a:rPr lang="en-US" altLang="zh-CN" b="1" dirty="0">
                <a:solidFill>
                  <a:srgbClr val="007434"/>
                </a:solidFill>
              </a:rPr>
              <a:t>p</a:t>
            </a:r>
            <a:r>
              <a:rPr lang="zh-CN" altLang="en-US" b="1" dirty="0">
                <a:solidFill>
                  <a:srgbClr val="007434"/>
                </a:solidFill>
              </a:rPr>
              <a:t>为指向</a:t>
            </a:r>
            <a:r>
              <a:rPr lang="en-US" altLang="zh-CN" b="1" dirty="0" err="1">
                <a:solidFill>
                  <a:srgbClr val="007434"/>
                </a:solidFill>
              </a:rPr>
              <a:t>int</a:t>
            </a:r>
            <a:r>
              <a:rPr lang="zh-CN" altLang="en-US" b="1" dirty="0">
                <a:solidFill>
                  <a:srgbClr val="007434"/>
                </a:solidFill>
              </a:rPr>
              <a:t>型数据的指针变量（简称指针）；</a:t>
            </a:r>
            <a:endParaRPr lang="en-US" altLang="zh-CN" b="1" dirty="0">
              <a:solidFill>
                <a:srgbClr val="007434"/>
              </a:solidFill>
            </a:endParaRPr>
          </a:p>
          <a:p>
            <a:pPr marL="914400" lvl="2" indent="0">
              <a:buNone/>
            </a:pPr>
            <a:r>
              <a:rPr lang="en-US" altLang="zh-CN" b="1" dirty="0">
                <a:solidFill>
                  <a:srgbClr val="007434"/>
                </a:solidFill>
              </a:rPr>
              <a:t>&amp;</a:t>
            </a:r>
            <a:r>
              <a:rPr lang="zh-CN" altLang="en-US" b="1" dirty="0">
                <a:solidFill>
                  <a:srgbClr val="007434"/>
                </a:solidFill>
              </a:rPr>
              <a:t>作单目运算符时为“取变量地址”*</a:t>
            </a:r>
            <a:r>
              <a:rPr lang="en-US" altLang="zh-CN" b="1" dirty="0">
                <a:solidFill>
                  <a:srgbClr val="007434"/>
                </a:solidFill>
              </a:rPr>
              <a:t>/</a:t>
            </a:r>
          </a:p>
          <a:p>
            <a:pPr lvl="1"/>
            <a:r>
              <a:rPr lang="zh-CN" altLang="en-US" dirty="0"/>
              <a:t>初始化为</a:t>
            </a:r>
            <a:r>
              <a:rPr lang="en-US" altLang="zh-CN" dirty="0" err="1"/>
              <a:t>nullptr</a:t>
            </a:r>
            <a:endParaRPr lang="en-US" altLang="zh-CN" dirty="0"/>
          </a:p>
          <a:p>
            <a:pPr lvl="2"/>
            <a:r>
              <a:rPr lang="zh-CN" altLang="en-US" dirty="0"/>
              <a:t>空指针，表示指针不指向任何变量的地址</a:t>
            </a:r>
            <a:endParaRPr lang="en-US" altLang="zh-CN" dirty="0"/>
          </a:p>
          <a:p>
            <a:pPr marL="914400" lvl="2" indent="0">
              <a:buNone/>
            </a:pPr>
            <a:r>
              <a:rPr lang="en-US" altLang="zh-CN" b="1" dirty="0">
                <a:solidFill>
                  <a:srgbClr val="0000FF"/>
                </a:solidFill>
                <a:latin typeface="Courier New" pitchFamily="49" charset="0"/>
                <a:cs typeface="Courier New" pitchFamily="49" charset="0"/>
              </a:rPr>
              <a:t>int </a:t>
            </a:r>
            <a:r>
              <a:rPr lang="en-US" altLang="zh-CN" b="1" dirty="0">
                <a:latin typeface="Courier New" pitchFamily="49" charset="0"/>
                <a:cs typeface="Courier New" pitchFamily="49" charset="0"/>
              </a:rPr>
              <a:t>*p = </a:t>
            </a:r>
            <a:r>
              <a:rPr lang="en-US" altLang="zh-CN" b="1" dirty="0" err="1">
                <a:solidFill>
                  <a:srgbClr val="0000FF"/>
                </a:solidFill>
                <a:latin typeface="Courier New" pitchFamily="49" charset="0"/>
                <a:cs typeface="Courier New" pitchFamily="49" charset="0"/>
              </a:rPr>
              <a:t>nullptr</a:t>
            </a:r>
            <a:r>
              <a:rPr lang="en-US" altLang="zh-CN" b="1" dirty="0">
                <a:latin typeface="Courier New" pitchFamily="49" charset="0"/>
                <a:cs typeface="Courier New" pitchFamily="49" charset="0"/>
              </a:rPr>
              <a:t>;</a:t>
            </a:r>
            <a:r>
              <a:rPr lang="en-US" altLang="zh-CN" b="1" dirty="0">
                <a:solidFill>
                  <a:srgbClr val="007434"/>
                </a:solidFill>
              </a:rPr>
              <a:t> //</a:t>
            </a:r>
            <a:r>
              <a:rPr lang="zh-CN" altLang="en-US" b="1" dirty="0">
                <a:solidFill>
                  <a:srgbClr val="007434"/>
                </a:solidFill>
              </a:rPr>
              <a:t>空指针常量</a:t>
            </a:r>
            <a:endParaRPr lang="en-US" altLang="zh-CN" b="1" dirty="0">
              <a:latin typeface="Courier New" pitchFamily="49" charset="0"/>
              <a:cs typeface="Courier New" pitchFamily="49" charset="0"/>
            </a:endParaRPr>
          </a:p>
          <a:p>
            <a:pPr marL="914400" lvl="2" indent="0">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 = NULL; </a:t>
            </a:r>
            <a:r>
              <a:rPr lang="en-US" altLang="zh-CN" b="1" dirty="0">
                <a:solidFill>
                  <a:srgbClr val="007434"/>
                </a:solidFill>
              </a:rPr>
              <a:t>//</a:t>
            </a:r>
            <a:r>
              <a:rPr lang="zh-CN" altLang="en-US" b="1" dirty="0">
                <a:solidFill>
                  <a:srgbClr val="007434"/>
                </a:solidFill>
              </a:rPr>
              <a:t>旧标准写法，含义同</a:t>
            </a:r>
            <a:r>
              <a:rPr lang="en-US" altLang="zh-CN" b="1" dirty="0" err="1">
                <a:solidFill>
                  <a:srgbClr val="007434"/>
                </a:solidFill>
              </a:rPr>
              <a:t>nullptr</a:t>
            </a:r>
            <a:r>
              <a:rPr lang="zh-CN" altLang="en-US" b="1" dirty="0">
                <a:solidFill>
                  <a:srgbClr val="007434"/>
                </a:solidFill>
              </a:rPr>
              <a:t>，宏定义</a:t>
            </a:r>
            <a:r>
              <a:rPr lang="en-US" altLang="zh-CN" b="1" dirty="0">
                <a:solidFill>
                  <a:srgbClr val="007434"/>
                </a:solidFill>
              </a:rPr>
              <a:t>NULL</a:t>
            </a:r>
            <a:r>
              <a:rPr lang="zh-CN" altLang="en-US" b="1" dirty="0">
                <a:solidFill>
                  <a:srgbClr val="007434"/>
                </a:solidFill>
              </a:rPr>
              <a:t>为整数</a:t>
            </a:r>
            <a:r>
              <a:rPr lang="en-US" altLang="zh-CN" b="1" dirty="0">
                <a:solidFill>
                  <a:srgbClr val="007434"/>
                </a:solidFill>
              </a:rPr>
              <a:t>0</a:t>
            </a:r>
          </a:p>
          <a:p>
            <a:pPr marL="914400" lvl="2" indent="0">
              <a:buNone/>
            </a:pPr>
            <a:r>
              <a:rPr lang="en-US" altLang="zh-CN" b="1" dirty="0" err="1">
                <a:solidFill>
                  <a:srgbClr val="0000FF"/>
                </a:solidFill>
                <a:latin typeface="Courier New" pitchFamily="49" charset="0"/>
                <a:cs typeface="Courier New" pitchFamily="49" charset="0"/>
              </a:rPr>
              <a:t>int</a:t>
            </a:r>
            <a:r>
              <a:rPr lang="en-US" altLang="zh-CN" b="1" dirty="0">
                <a:solidFill>
                  <a:srgbClr val="0000FF"/>
                </a:solidFill>
                <a:latin typeface="Courier New" pitchFamily="49" charset="0"/>
                <a:cs typeface="Courier New" pitchFamily="49" charset="0"/>
              </a:rPr>
              <a:t> </a:t>
            </a:r>
            <a:r>
              <a:rPr lang="en-US" altLang="zh-CN" b="1" dirty="0">
                <a:latin typeface="Courier New" pitchFamily="49" charset="0"/>
                <a:cs typeface="Courier New" pitchFamily="49" charset="0"/>
              </a:rPr>
              <a:t>*p = 0; </a:t>
            </a:r>
            <a:endParaRPr lang="en-US" altLang="zh-CN" b="1" dirty="0">
              <a:solidFill>
                <a:srgbClr val="007434"/>
              </a:solidFill>
            </a:endParaRPr>
          </a:p>
        </p:txBody>
      </p:sp>
      <p:graphicFrame>
        <p:nvGraphicFramePr>
          <p:cNvPr id="6" name="Group 67"/>
          <p:cNvGraphicFramePr>
            <a:graphicFrameLocks noGrp="1"/>
          </p:cNvGraphicFramePr>
          <p:nvPr>
            <p:extLst/>
          </p:nvPr>
        </p:nvGraphicFramePr>
        <p:xfrm>
          <a:off x="6156176" y="2571744"/>
          <a:ext cx="1143000" cy="685800"/>
        </p:xfrm>
        <a:graphic>
          <a:graphicData uri="http://schemas.openxmlformats.org/drawingml/2006/table">
            <a:tbl>
              <a:tblPr/>
              <a:tblGrid>
                <a:gridCol w="1143000">
                  <a:extLst>
                    <a:ext uri="{9D8B030D-6E8A-4147-A177-3AD203B41FA5}">
                      <a16:colId xmlns:a16="http://schemas.microsoft.com/office/drawing/2014/main" val="20000"/>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0"/>
                  </a:ext>
                </a:extLst>
              </a:tr>
            </a:tbl>
          </a:graphicData>
        </a:graphic>
      </p:graphicFrame>
      <p:graphicFrame>
        <p:nvGraphicFramePr>
          <p:cNvPr id="7" name="Group 65"/>
          <p:cNvGraphicFramePr>
            <a:graphicFrameLocks noGrp="1"/>
          </p:cNvGraphicFramePr>
          <p:nvPr>
            <p:extLst/>
          </p:nvPr>
        </p:nvGraphicFramePr>
        <p:xfrm>
          <a:off x="7908776" y="2571744"/>
          <a:ext cx="1143000" cy="685800"/>
        </p:xfrm>
        <a:graphic>
          <a:graphicData uri="http://schemas.openxmlformats.org/drawingml/2006/table">
            <a:tbl>
              <a:tblPr/>
              <a:tblGrid>
                <a:gridCol w="1143000">
                  <a:extLst>
                    <a:ext uri="{9D8B030D-6E8A-4147-A177-3AD203B41FA5}">
                      <a16:colId xmlns:a16="http://schemas.microsoft.com/office/drawing/2014/main" val="20000"/>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0" i="0" u="none" strike="noStrike" cap="none" normalizeH="0" baseline="0" dirty="0">
                          <a:ln>
                            <a:noFill/>
                          </a:ln>
                          <a:solidFill>
                            <a:schemeClr val="hlink"/>
                          </a:solidFill>
                          <a:effectLst/>
                          <a:latin typeface="Arial" charset="0"/>
                          <a:ea typeface="宋体" charset="-122"/>
                        </a:rPr>
                        <a:t>   </a:t>
                      </a:r>
                      <a:endParaRPr kumimoji="0" lang="en-US" altLang="zh-CN" sz="2800" b="1" i="0" u="none" strike="noStrike" cap="none" normalizeH="0" baseline="0" dirty="0">
                        <a:ln>
                          <a:noFill/>
                        </a:ln>
                        <a:solidFill>
                          <a:schemeClr val="hlink"/>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8" name="Line 27"/>
          <p:cNvSpPr>
            <a:spLocks noChangeShapeType="1"/>
          </p:cNvSpPr>
          <p:nvPr/>
        </p:nvSpPr>
        <p:spPr bwMode="auto">
          <a:xfrm>
            <a:off x="6918176" y="2952744"/>
            <a:ext cx="990600" cy="0"/>
          </a:xfrm>
          <a:prstGeom prst="line">
            <a:avLst/>
          </a:prstGeom>
          <a:noFill/>
          <a:ln w="28575">
            <a:solidFill>
              <a:schemeClr val="tx1"/>
            </a:solidFill>
            <a:round/>
            <a:headEnd/>
            <a:tailEnd type="triangle" w="med" len="med"/>
          </a:ln>
          <a:effectLst/>
        </p:spPr>
        <p:txBody>
          <a:bodyPr wrap="none"/>
          <a:lstStyle/>
          <a:p>
            <a:endParaRPr lang="zh-CN" altLang="en-US"/>
          </a:p>
        </p:txBody>
      </p:sp>
      <p:sp>
        <p:nvSpPr>
          <p:cNvPr id="9" name="Text Box 55"/>
          <p:cNvSpPr txBox="1">
            <a:spLocks noChangeArrowheads="1"/>
          </p:cNvSpPr>
          <p:nvPr/>
        </p:nvSpPr>
        <p:spPr bwMode="auto">
          <a:xfrm>
            <a:off x="8335584" y="2038344"/>
            <a:ext cx="320922" cy="461665"/>
          </a:xfrm>
          <a:prstGeom prst="rect">
            <a:avLst/>
          </a:prstGeom>
          <a:noFill/>
          <a:ln w="9525">
            <a:noFill/>
            <a:miter lim="800000"/>
            <a:headEnd/>
            <a:tailEnd/>
          </a:ln>
          <a:effectLst/>
        </p:spPr>
        <p:txBody>
          <a:bodyPr wrap="none">
            <a:spAutoFit/>
          </a:bodyPr>
          <a:lstStyle/>
          <a:p>
            <a:r>
              <a:rPr kumimoji="1" lang="en-US" altLang="zh-CN" sz="2400" b="0" dirty="0">
                <a:latin typeface="Times New Roman" pitchFamily="18" charset="0"/>
                <a:ea typeface="宋体" charset="-122"/>
              </a:rPr>
              <a:t>a</a:t>
            </a:r>
          </a:p>
        </p:txBody>
      </p:sp>
      <p:sp>
        <p:nvSpPr>
          <p:cNvPr id="10" name="Text Box 56"/>
          <p:cNvSpPr txBox="1">
            <a:spLocks noChangeArrowheads="1"/>
          </p:cNvSpPr>
          <p:nvPr/>
        </p:nvSpPr>
        <p:spPr bwMode="auto">
          <a:xfrm>
            <a:off x="6513366" y="2038344"/>
            <a:ext cx="338554" cy="461665"/>
          </a:xfrm>
          <a:prstGeom prst="rect">
            <a:avLst/>
          </a:prstGeom>
          <a:noFill/>
          <a:ln w="9525">
            <a:noFill/>
            <a:miter lim="800000"/>
            <a:headEnd/>
            <a:tailEnd/>
          </a:ln>
          <a:effectLst/>
        </p:spPr>
        <p:txBody>
          <a:bodyPr wrap="none">
            <a:spAutoFit/>
          </a:bodyPr>
          <a:lstStyle/>
          <a:p>
            <a:r>
              <a:rPr kumimoji="1" lang="en-US" altLang="zh-CN" sz="2400" b="0" dirty="0">
                <a:latin typeface="Times New Roman" pitchFamily="18" charset="0"/>
                <a:ea typeface="宋体" charset="-122"/>
              </a:rPr>
              <a:t>p</a:t>
            </a:r>
          </a:p>
        </p:txBody>
      </p:sp>
      <p:pic>
        <p:nvPicPr>
          <p:cNvPr id="17" name="Picture 2"/>
          <p:cNvPicPr>
            <a:picLocks noChangeAspect="1" noChangeArrowheads="1"/>
          </p:cNvPicPr>
          <p:nvPr/>
        </p:nvPicPr>
        <p:blipFill>
          <a:blip r:embed="rId4" cstate="print"/>
          <a:srcRect/>
          <a:stretch>
            <a:fillRect/>
          </a:stretch>
        </p:blipFill>
        <p:spPr bwMode="auto">
          <a:xfrm>
            <a:off x="8299293" y="2714625"/>
            <a:ext cx="368300" cy="439738"/>
          </a:xfrm>
          <a:prstGeom prst="rect">
            <a:avLst/>
          </a:prstGeom>
          <a:noFill/>
          <a:ln w="9525">
            <a:miter lim="800000"/>
            <a:headEnd/>
            <a:tailEnd/>
          </a:ln>
          <a:effectLst/>
        </p:spPr>
      </p:pic>
      <p:graphicFrame>
        <p:nvGraphicFramePr>
          <p:cNvPr id="12" name="Group 67"/>
          <p:cNvGraphicFramePr>
            <a:graphicFrameLocks noGrp="1"/>
          </p:cNvGraphicFramePr>
          <p:nvPr>
            <p:extLst/>
          </p:nvPr>
        </p:nvGraphicFramePr>
        <p:xfrm>
          <a:off x="6107538" y="4975448"/>
          <a:ext cx="1143000" cy="685800"/>
        </p:xfrm>
        <a:graphic>
          <a:graphicData uri="http://schemas.openxmlformats.org/drawingml/2006/table">
            <a:tbl>
              <a:tblPr/>
              <a:tblGrid>
                <a:gridCol w="1143000">
                  <a:extLst>
                    <a:ext uri="{9D8B030D-6E8A-4147-A177-3AD203B41FA5}">
                      <a16:colId xmlns:a16="http://schemas.microsoft.com/office/drawing/2014/main" val="20000"/>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0"/>
                  </a:ext>
                </a:extLst>
              </a:tr>
            </a:tbl>
          </a:graphicData>
        </a:graphic>
      </p:graphicFrame>
      <p:sp>
        <p:nvSpPr>
          <p:cNvPr id="13" name="Line 27"/>
          <p:cNvSpPr>
            <a:spLocks noChangeShapeType="1"/>
          </p:cNvSpPr>
          <p:nvPr/>
        </p:nvSpPr>
        <p:spPr bwMode="auto">
          <a:xfrm>
            <a:off x="6869538" y="5356448"/>
            <a:ext cx="990600" cy="0"/>
          </a:xfrm>
          <a:prstGeom prst="line">
            <a:avLst/>
          </a:prstGeom>
          <a:noFill/>
          <a:ln w="28575">
            <a:solidFill>
              <a:schemeClr val="tx1"/>
            </a:solidFill>
            <a:round/>
            <a:headEnd/>
            <a:tailEnd type="triangle" w="med" len="med"/>
          </a:ln>
          <a:effectLst/>
        </p:spPr>
        <p:txBody>
          <a:bodyPr wrap="none"/>
          <a:lstStyle/>
          <a:p>
            <a:endParaRPr lang="zh-CN" altLang="en-US"/>
          </a:p>
        </p:txBody>
      </p:sp>
      <p:sp>
        <p:nvSpPr>
          <p:cNvPr id="14" name="Text Box 56"/>
          <p:cNvSpPr txBox="1">
            <a:spLocks noChangeArrowheads="1"/>
          </p:cNvSpPr>
          <p:nvPr/>
        </p:nvSpPr>
        <p:spPr bwMode="auto">
          <a:xfrm>
            <a:off x="6464728" y="4442048"/>
            <a:ext cx="338554" cy="461665"/>
          </a:xfrm>
          <a:prstGeom prst="rect">
            <a:avLst/>
          </a:prstGeom>
          <a:noFill/>
          <a:ln w="9525">
            <a:noFill/>
            <a:miter lim="800000"/>
            <a:headEnd/>
            <a:tailEnd/>
          </a:ln>
          <a:effectLst/>
        </p:spPr>
        <p:txBody>
          <a:bodyPr wrap="none">
            <a:spAutoFit/>
          </a:bodyPr>
          <a:lstStyle/>
          <a:p>
            <a:r>
              <a:rPr kumimoji="1" lang="en-US" altLang="zh-CN" sz="2400" b="0" dirty="0">
                <a:latin typeface="Times New Roman" pitchFamily="18" charset="0"/>
                <a:ea typeface="宋体" charset="-122"/>
              </a:rPr>
              <a:t>p</a:t>
            </a:r>
          </a:p>
        </p:txBody>
      </p:sp>
      <p:graphicFrame>
        <p:nvGraphicFramePr>
          <p:cNvPr id="15" name="Group 65"/>
          <p:cNvGraphicFramePr>
            <a:graphicFrameLocks noGrp="1"/>
          </p:cNvGraphicFramePr>
          <p:nvPr>
            <p:extLst/>
          </p:nvPr>
        </p:nvGraphicFramePr>
        <p:xfrm>
          <a:off x="7893496" y="4970694"/>
          <a:ext cx="1143000" cy="685800"/>
        </p:xfrm>
        <a:graphic>
          <a:graphicData uri="http://schemas.openxmlformats.org/drawingml/2006/table">
            <a:tbl>
              <a:tblPr/>
              <a:tblGrid>
                <a:gridCol w="1143000">
                  <a:extLst>
                    <a:ext uri="{9D8B030D-6E8A-4147-A177-3AD203B41FA5}">
                      <a16:colId xmlns:a16="http://schemas.microsoft.com/office/drawing/2014/main" val="20000"/>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0" i="0" u="none" strike="noStrike" cap="none" normalizeH="0" baseline="0" dirty="0">
                          <a:ln>
                            <a:noFill/>
                          </a:ln>
                          <a:solidFill>
                            <a:schemeClr val="hlink"/>
                          </a:solidFill>
                          <a:effectLst/>
                          <a:latin typeface="Arial" charset="0"/>
                          <a:ea typeface="宋体" charset="-122"/>
                        </a:rPr>
                        <a:t>   </a:t>
                      </a:r>
                      <a:endParaRPr kumimoji="0" lang="en-US" altLang="zh-CN" sz="2800" b="1" i="0" u="none" strike="noStrike" cap="none" normalizeH="0" baseline="0" dirty="0">
                        <a:ln>
                          <a:noFill/>
                        </a:ln>
                        <a:solidFill>
                          <a:schemeClr val="hlink"/>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pic>
        <p:nvPicPr>
          <p:cNvPr id="18" name="Picture 3"/>
          <p:cNvPicPr>
            <a:picLocks noChangeAspect="1" noChangeArrowheads="1"/>
          </p:cNvPicPr>
          <p:nvPr/>
        </p:nvPicPr>
        <p:blipFill>
          <a:blip r:embed="rId5" cstate="print"/>
          <a:srcRect/>
          <a:stretch>
            <a:fillRect/>
          </a:stretch>
        </p:blipFill>
        <p:spPr bwMode="auto">
          <a:xfrm>
            <a:off x="8358605" y="5042109"/>
            <a:ext cx="249237" cy="542925"/>
          </a:xfrm>
          <a:prstGeom prst="rect">
            <a:avLst/>
          </a:prstGeom>
          <a:noFill/>
          <a:ln w="9525">
            <a:miter lim="800000"/>
            <a:headEnd/>
            <a:tailEnd/>
          </a:ln>
          <a:effectLst/>
        </p:spPr>
      </p:pic>
      <p:sp>
        <p:nvSpPr>
          <p:cNvPr id="16" name="矩形 15">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9" name="矩形 1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0" name="矩形 1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3" name="矩形 2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24" name="矩形 2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25" name="矩形 2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6" name="矩形 2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27" name="矩形 26">
            <a:hlinkClick r:id="" action="ppaction://noaction"/>
            <a:extLst>
              <a:ext uri="{FF2B5EF4-FFF2-40B4-BE49-F238E27FC236}">
                <a16:creationId xmlns:a16="http://schemas.microsoft.com/office/drawing/2014/main" id="{78FC24AA-893D-468F-8778-19FE9FFB58F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339003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heckerboard(across)">
                                      <p:cBhvr>
                                        <p:cTn id="15" dur="500"/>
                                        <p:tgtEl>
                                          <p:spTgt spid="10"/>
                                        </p:tgtEl>
                                      </p:cBhvr>
                                    </p:animEffect>
                                  </p:childTnLst>
                                </p:cTn>
                              </p:par>
                              <p:par>
                                <p:cTn id="16" presetID="5"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heckerboard(across)">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heckerboard(across)">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checkerboard(across)">
                                      <p:cBhvr>
                                        <p:cTn id="28" dur="500"/>
                                        <p:tgtEl>
                                          <p:spTgt spid="14"/>
                                        </p:tgtEl>
                                      </p:cBhvr>
                                    </p:animEffect>
                                  </p:childTnLst>
                                </p:cTn>
                              </p:par>
                              <p:par>
                                <p:cTn id="29" presetID="5" presetClass="entr" presetSubtype="1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checkerboard(across)">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checkerboard(across)">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3" grpId="0" animBg="1"/>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2"/>
          <p:cNvSpPr txBox="1">
            <a:spLocks/>
          </p:cNvSpPr>
          <p:nvPr/>
        </p:nvSpPr>
        <p:spPr bwMode="auto">
          <a:xfrm>
            <a:off x="4925762" y="3531779"/>
            <a:ext cx="3518947" cy="28342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200" b="1" dirty="0" err="1">
                <a:latin typeface="Courier New" pitchFamily="49" charset="0"/>
                <a:cs typeface="Courier New" pitchFamily="49" charset="0"/>
              </a:rPr>
              <a:t>int</a:t>
            </a:r>
            <a:r>
              <a:rPr lang="en-US" altLang="zh-CN" sz="2200" b="1" dirty="0">
                <a:latin typeface="Courier New" pitchFamily="49" charset="0"/>
                <a:cs typeface="Courier New" pitchFamily="49" charset="0"/>
              </a:rPr>
              <a:t> main(){</a:t>
            </a:r>
          </a:p>
          <a:p>
            <a:pPr marL="457200" lvl="1" indent="0">
              <a:buFont typeface="Arial" charset="0"/>
              <a:buNone/>
            </a:pPr>
            <a:r>
              <a:rPr lang="en-US" altLang="zh-CN" sz="2200" b="1" dirty="0">
                <a:latin typeface="Courier New" pitchFamily="49" charset="0"/>
                <a:cs typeface="Courier New" pitchFamily="49" charset="0"/>
              </a:rPr>
              <a:t> f(0); </a:t>
            </a:r>
            <a:endParaRPr lang="en-US" altLang="zh-CN" sz="2200" b="1" dirty="0">
              <a:solidFill>
                <a:srgbClr val="007434"/>
              </a:solidFill>
            </a:endParaRPr>
          </a:p>
          <a:p>
            <a:pPr marL="457200" lvl="1" indent="0">
              <a:buNone/>
            </a:pPr>
            <a:r>
              <a:rPr lang="en-US" altLang="zh-CN" sz="2200" b="1" dirty="0">
                <a:latin typeface="Courier New" pitchFamily="49" charset="0"/>
                <a:cs typeface="Courier New" pitchFamily="49" charset="0"/>
              </a:rPr>
              <a:t> f((</a:t>
            </a:r>
            <a:r>
              <a:rPr lang="en-US" altLang="zh-CN" sz="2200" b="1" dirty="0" err="1">
                <a:solidFill>
                  <a:srgbClr val="0000FF"/>
                </a:solidFill>
                <a:latin typeface="Courier New" pitchFamily="49" charset="0"/>
                <a:cs typeface="Courier New" pitchFamily="49" charset="0"/>
              </a:rPr>
              <a:t>int</a:t>
            </a:r>
            <a:r>
              <a:rPr lang="en-US" altLang="zh-CN" sz="2200" b="1" dirty="0">
                <a:latin typeface="Courier New" pitchFamily="49" charset="0"/>
                <a:cs typeface="Courier New" pitchFamily="49" charset="0"/>
              </a:rPr>
              <a:t>*)</a:t>
            </a:r>
            <a:r>
              <a:rPr lang="en-US" altLang="zh-CN" sz="2200" b="1" dirty="0">
                <a:solidFill>
                  <a:srgbClr val="6F008A"/>
                </a:solidFill>
                <a:latin typeface="Courier New" panose="02070309020205020404" pitchFamily="49" charset="0"/>
                <a:ea typeface="新宋体" panose="02010609030101010101" pitchFamily="49" charset="-122"/>
                <a:cs typeface="Courier New" panose="02070309020205020404" pitchFamily="49" charset="0"/>
              </a:rPr>
              <a:t>NULL</a:t>
            </a:r>
            <a:r>
              <a:rPr lang="en-US" altLang="zh-CN" sz="2200" b="1" dirty="0">
                <a:latin typeface="Courier New" pitchFamily="49" charset="0"/>
                <a:cs typeface="Courier New" pitchFamily="49" charset="0"/>
              </a:rPr>
              <a:t>);</a:t>
            </a:r>
          </a:p>
          <a:p>
            <a:pPr marL="457200" lvl="1" indent="0">
              <a:buNone/>
            </a:pPr>
            <a:r>
              <a:rPr lang="en-US" altLang="zh-CN" sz="2200" b="1" dirty="0">
                <a:latin typeface="Courier New" pitchFamily="49" charset="0"/>
                <a:cs typeface="Courier New" pitchFamily="49" charset="0"/>
              </a:rPr>
              <a:t> f(</a:t>
            </a:r>
            <a:r>
              <a:rPr lang="en-US" altLang="zh-CN" sz="2200" b="1" dirty="0">
                <a:solidFill>
                  <a:srgbClr val="6F008A"/>
                </a:solidFill>
                <a:latin typeface="Courier New" panose="02070309020205020404" pitchFamily="49" charset="0"/>
                <a:ea typeface="新宋体" panose="02010609030101010101" pitchFamily="49" charset="-122"/>
                <a:cs typeface="Courier New" panose="02070309020205020404" pitchFamily="49" charset="0"/>
              </a:rPr>
              <a:t>NULL</a:t>
            </a:r>
            <a:r>
              <a:rPr lang="en-US" altLang="zh-CN" sz="2200" b="1" dirty="0">
                <a:latin typeface="Courier New" pitchFamily="49" charset="0"/>
                <a:cs typeface="Courier New" pitchFamily="49" charset="0"/>
              </a:rPr>
              <a:t>); </a:t>
            </a:r>
            <a:endParaRPr lang="en-US" altLang="zh-CN" sz="2200" b="1" dirty="0">
              <a:solidFill>
                <a:srgbClr val="007434"/>
              </a:solidFill>
            </a:endParaRPr>
          </a:p>
          <a:p>
            <a:pPr marL="457200" lvl="1" indent="0">
              <a:buFont typeface="Arial" charset="0"/>
              <a:buNone/>
            </a:pPr>
            <a:r>
              <a:rPr lang="en-US" altLang="zh-CN" sz="2200" b="1" dirty="0">
                <a:latin typeface="Courier New" pitchFamily="49" charset="0"/>
                <a:cs typeface="Courier New" pitchFamily="49" charset="0"/>
              </a:rPr>
              <a:t> return 0;</a:t>
            </a:r>
          </a:p>
          <a:p>
            <a:r>
              <a:rPr lang="en-US" altLang="zh-CN" sz="2200" b="1" dirty="0">
                <a:latin typeface="Courier New" pitchFamily="49" charset="0"/>
                <a:cs typeface="Courier New" pitchFamily="49" charset="0"/>
              </a:rPr>
              <a:t> }</a:t>
            </a:r>
            <a:endParaRPr lang="zh-CN" altLang="en-US" sz="2200" b="1" dirty="0">
              <a:latin typeface="Courier New" pitchFamily="49" charset="0"/>
              <a:cs typeface="Courier New" pitchFamily="49" charset="0"/>
            </a:endParaRPr>
          </a:p>
        </p:txBody>
      </p:sp>
      <p:sp>
        <p:nvSpPr>
          <p:cNvPr id="2" name="标题 1"/>
          <p:cNvSpPr>
            <a:spLocks noGrp="1"/>
          </p:cNvSpPr>
          <p:nvPr>
            <p:ph type="title"/>
          </p:nvPr>
        </p:nvSpPr>
        <p:spPr/>
        <p:txBody>
          <a:bodyPr/>
          <a:lstStyle/>
          <a:p>
            <a:r>
              <a:rPr lang="zh-CN" altLang="en-US" dirty="0"/>
              <a:t>指针变量的初始化</a:t>
            </a:r>
          </a:p>
        </p:txBody>
      </p:sp>
      <p:sp>
        <p:nvSpPr>
          <p:cNvPr id="3" name="内容占位符 2"/>
          <p:cNvSpPr>
            <a:spLocks noGrp="1"/>
          </p:cNvSpPr>
          <p:nvPr>
            <p:ph idx="1"/>
          </p:nvPr>
        </p:nvSpPr>
        <p:spPr>
          <a:xfrm>
            <a:off x="457200" y="1792171"/>
            <a:ext cx="8435280" cy="1237665"/>
          </a:xfrm>
        </p:spPr>
        <p:txBody>
          <a:bodyPr/>
          <a:lstStyle/>
          <a:p>
            <a:pPr lvl="1" algn="just">
              <a:buNone/>
            </a:pPr>
            <a:r>
              <a:rPr lang="en-US" altLang="zh-CN" sz="2200" b="1" dirty="0">
                <a:solidFill>
                  <a:srgbClr val="0000FF"/>
                </a:solidFill>
                <a:latin typeface="Courier New" pitchFamily="49" charset="0"/>
                <a:cs typeface="Courier New" pitchFamily="49" charset="0"/>
              </a:rPr>
              <a:t>int </a:t>
            </a:r>
            <a:r>
              <a:rPr lang="zh-CN" altLang="en-US" sz="2200" b="1" dirty="0">
                <a:latin typeface="Courier New" pitchFamily="49" charset="0"/>
                <a:cs typeface="Courier New" pitchFamily="49" charset="0"/>
              </a:rPr>
              <a:t>*</a:t>
            </a:r>
            <a:r>
              <a:rPr lang="en-US" altLang="zh-CN" sz="2200" b="1" dirty="0">
                <a:latin typeface="Courier New" pitchFamily="49" charset="0"/>
                <a:cs typeface="Courier New" pitchFamily="49" charset="0"/>
              </a:rPr>
              <a:t>p=NULL;</a:t>
            </a:r>
          </a:p>
          <a:p>
            <a:pPr lvl="1" algn="just">
              <a:buNone/>
            </a:pPr>
            <a:r>
              <a:rPr lang="en-US" altLang="zh-CN" sz="2200" b="1" dirty="0">
                <a:solidFill>
                  <a:srgbClr val="007434"/>
                </a:solidFill>
              </a:rPr>
              <a:t>/*</a:t>
            </a:r>
            <a:r>
              <a:rPr lang="zh-CN" altLang="en-US" sz="2200" b="1" dirty="0">
                <a:solidFill>
                  <a:srgbClr val="007434"/>
                </a:solidFill>
              </a:rPr>
              <a:t>在使用</a:t>
            </a:r>
            <a:r>
              <a:rPr lang="en-US" altLang="zh-CN" sz="2200" b="1" dirty="0">
                <a:solidFill>
                  <a:srgbClr val="007434"/>
                </a:solidFill>
              </a:rPr>
              <a:t>NULL</a:t>
            </a:r>
            <a:r>
              <a:rPr lang="zh-CN" altLang="en-US" sz="2200" b="1" dirty="0">
                <a:solidFill>
                  <a:srgbClr val="007434"/>
                </a:solidFill>
              </a:rPr>
              <a:t>初始化的过程中，由于</a:t>
            </a:r>
            <a:r>
              <a:rPr lang="en-US" altLang="zh-CN" sz="2200" b="1" dirty="0">
                <a:solidFill>
                  <a:srgbClr val="007434"/>
                </a:solidFill>
              </a:rPr>
              <a:t>C++</a:t>
            </a:r>
            <a:r>
              <a:rPr lang="zh-CN" altLang="en-US" sz="2200" b="1" dirty="0">
                <a:solidFill>
                  <a:srgbClr val="007434"/>
                </a:solidFill>
              </a:rPr>
              <a:t>宏定义</a:t>
            </a:r>
            <a:r>
              <a:rPr lang="en-US" altLang="zh-CN" sz="2200" b="1" dirty="0">
                <a:solidFill>
                  <a:srgbClr val="007434"/>
                </a:solidFill>
              </a:rPr>
              <a:t>NULL</a:t>
            </a:r>
            <a:r>
              <a:rPr lang="zh-CN" altLang="en-US" sz="2200" b="1" dirty="0">
                <a:solidFill>
                  <a:srgbClr val="007434"/>
                </a:solidFill>
              </a:rPr>
              <a:t>为</a:t>
            </a:r>
            <a:r>
              <a:rPr lang="en-US" altLang="zh-CN" sz="2200" b="1" dirty="0">
                <a:solidFill>
                  <a:srgbClr val="007434"/>
                </a:solidFill>
              </a:rPr>
              <a:t>0</a:t>
            </a:r>
            <a:r>
              <a:rPr lang="zh-CN" altLang="en-US" sz="2200" b="1" dirty="0">
                <a:solidFill>
                  <a:srgbClr val="007434"/>
                </a:solidFill>
              </a:rPr>
              <a:t>，因此该语句实际执行了一个隐式类型转换</a:t>
            </a:r>
            <a:r>
              <a:rPr lang="en-US" altLang="zh-CN" sz="2200" b="1" dirty="0">
                <a:solidFill>
                  <a:srgbClr val="007434"/>
                </a:solidFill>
              </a:rPr>
              <a:t>int</a:t>
            </a:r>
            <a:r>
              <a:rPr lang="zh-CN" altLang="en-US" sz="2200" b="1" dirty="0">
                <a:solidFill>
                  <a:srgbClr val="007434"/>
                </a:solidFill>
              </a:rPr>
              <a:t>* </a:t>
            </a:r>
            <a:r>
              <a:rPr lang="en-US" altLang="zh-CN" sz="2200" b="1" dirty="0">
                <a:solidFill>
                  <a:srgbClr val="007434"/>
                </a:solidFill>
              </a:rPr>
              <a:t>p = (int*)0; */</a:t>
            </a:r>
          </a:p>
          <a:p>
            <a:pPr lvl="1" algn="just">
              <a:buNone/>
            </a:pPr>
            <a:r>
              <a:rPr lang="en-US" altLang="zh-CN" sz="2200" dirty="0">
                <a:solidFill>
                  <a:srgbClr val="C00000"/>
                </a:solidFill>
              </a:rPr>
              <a:t>【</a:t>
            </a:r>
            <a:r>
              <a:rPr lang="zh-CN" altLang="en-US" sz="2200" dirty="0">
                <a:solidFill>
                  <a:srgbClr val="C00000"/>
                </a:solidFill>
              </a:rPr>
              <a:t>例如</a:t>
            </a:r>
            <a:r>
              <a:rPr lang="en-US" altLang="zh-CN" sz="2200" dirty="0">
                <a:solidFill>
                  <a:srgbClr val="C00000"/>
                </a:solidFill>
              </a:rPr>
              <a:t>】</a:t>
            </a:r>
          </a:p>
          <a:p>
            <a:pPr lvl="1" algn="just">
              <a:buNone/>
            </a:pPr>
            <a:endParaRPr lang="en-US" altLang="zh-CN" sz="2200" b="1" dirty="0">
              <a:solidFill>
                <a:srgbClr val="007434"/>
              </a:solidFill>
            </a:endParaRPr>
          </a:p>
          <a:p>
            <a:endParaRPr lang="zh-CN" altLang="en-US" dirty="0"/>
          </a:p>
        </p:txBody>
      </p:sp>
      <p:sp>
        <p:nvSpPr>
          <p:cNvPr id="4" name="矩形 3">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内容占位符 2">
            <a:extLst>
              <a:ext uri="{FF2B5EF4-FFF2-40B4-BE49-F238E27FC236}">
                <a16:creationId xmlns:a16="http://schemas.microsoft.com/office/drawing/2014/main" id="{1546800B-BFC6-44C7-AFFB-FEADFBC9D463}"/>
              </a:ext>
            </a:extLst>
          </p:cNvPr>
          <p:cNvSpPr txBox="1">
            <a:spLocks/>
          </p:cNvSpPr>
          <p:nvPr/>
        </p:nvSpPr>
        <p:spPr bwMode="auto">
          <a:xfrm>
            <a:off x="499899" y="3531779"/>
            <a:ext cx="4469667" cy="25830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000" b="1" dirty="0">
                <a:solidFill>
                  <a:srgbClr val="0000FF"/>
                </a:solidFill>
                <a:latin typeface="Courier New" pitchFamily="49" charset="0"/>
                <a:cs typeface="Courier New"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f(</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itchFamily="49" charset="0"/>
                <a:cs typeface="Courier New" pitchFamily="49" charset="0"/>
              </a:rPr>
              <a:t>"f(int)" </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a:t>
            </a:r>
          </a:p>
          <a:p>
            <a:r>
              <a:rPr lang="en-US" altLang="zh-CN" sz="2000" b="1" dirty="0">
                <a:solidFill>
                  <a:srgbClr val="0000FF"/>
                </a:solidFill>
                <a:latin typeface="Courier New" pitchFamily="49" charset="0"/>
                <a:cs typeface="Courier New"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f(</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itchFamily="49" charset="0"/>
                <a:cs typeface="Courier New" pitchFamily="49" charset="0"/>
              </a:rPr>
              <a:t>"f(int*)" </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15" name="文本框 14">
            <a:extLst>
              <a:ext uri="{FF2B5EF4-FFF2-40B4-BE49-F238E27FC236}">
                <a16:creationId xmlns:a16="http://schemas.microsoft.com/office/drawing/2014/main" id="{7F6A5574-706B-451C-B5F8-03A8B683DEAE}"/>
              </a:ext>
            </a:extLst>
          </p:cNvPr>
          <p:cNvSpPr txBox="1"/>
          <p:nvPr/>
        </p:nvSpPr>
        <p:spPr>
          <a:xfrm>
            <a:off x="6662841" y="3942005"/>
            <a:ext cx="963725"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en-US" altLang="zh-CN" sz="2000" b="1" dirty="0">
                <a:solidFill>
                  <a:srgbClr val="007434"/>
                </a:solidFill>
              </a:rPr>
              <a:t>)</a:t>
            </a:r>
          </a:p>
        </p:txBody>
      </p:sp>
      <p:sp>
        <p:nvSpPr>
          <p:cNvPr id="16" name="文本框 15">
            <a:extLst>
              <a:ext uri="{FF2B5EF4-FFF2-40B4-BE49-F238E27FC236}">
                <a16:creationId xmlns:a16="http://schemas.microsoft.com/office/drawing/2014/main" id="{03BBDFC7-2CC6-4840-A3CD-C264A916D9A9}"/>
              </a:ext>
            </a:extLst>
          </p:cNvPr>
          <p:cNvSpPr txBox="1"/>
          <p:nvPr/>
        </p:nvSpPr>
        <p:spPr>
          <a:xfrm>
            <a:off x="7241420" y="4810708"/>
            <a:ext cx="1686680" cy="400110"/>
          </a:xfrm>
          <a:prstGeom prst="rect">
            <a:avLst/>
          </a:prstGeom>
          <a:noFill/>
        </p:spPr>
        <p:txBody>
          <a:bodyPr wrap="none" rtlCol="0">
            <a:spAutoFit/>
          </a:bodyPr>
          <a:lstStyle/>
          <a:p>
            <a:r>
              <a:rPr lang="en-US" altLang="zh-CN" sz="2000" b="1" dirty="0">
                <a:solidFill>
                  <a:srgbClr val="007434"/>
                </a:solidFill>
              </a:rPr>
              <a:t>// </a:t>
            </a:r>
            <a:r>
              <a:rPr lang="zh-CN" altLang="en-US" sz="2000" b="1" dirty="0">
                <a:solidFill>
                  <a:srgbClr val="007434"/>
                </a:solidFill>
              </a:rPr>
              <a:t>报错，重载</a:t>
            </a:r>
            <a:endParaRPr lang="en-US" altLang="zh-CN" sz="2000" b="1" dirty="0">
              <a:solidFill>
                <a:srgbClr val="007434"/>
              </a:solidFill>
            </a:endParaRPr>
          </a:p>
        </p:txBody>
      </p:sp>
      <p:sp>
        <p:nvSpPr>
          <p:cNvPr id="17" name="文本框 16">
            <a:extLst>
              <a:ext uri="{FF2B5EF4-FFF2-40B4-BE49-F238E27FC236}">
                <a16:creationId xmlns:a16="http://schemas.microsoft.com/office/drawing/2014/main" id="{8E27563A-A77A-441B-B201-616CFFC3FB4C}"/>
              </a:ext>
            </a:extLst>
          </p:cNvPr>
          <p:cNvSpPr txBox="1"/>
          <p:nvPr/>
        </p:nvSpPr>
        <p:spPr>
          <a:xfrm>
            <a:off x="8045242" y="4358279"/>
            <a:ext cx="1063112"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zh-CN" altLang="en-US" sz="2000" b="1" dirty="0">
                <a:solidFill>
                  <a:srgbClr val="007434"/>
                </a:solidFill>
              </a:rPr>
              <a:t>*</a:t>
            </a:r>
            <a:r>
              <a:rPr lang="en-US" altLang="zh-CN" sz="2000" b="1" dirty="0">
                <a:solidFill>
                  <a:srgbClr val="007434"/>
                </a:solidFill>
              </a:rPr>
              <a:t>)</a:t>
            </a: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27" name="文本框 26">
            <a:extLst>
              <a:ext uri="{FF2B5EF4-FFF2-40B4-BE49-F238E27FC236}">
                <a16:creationId xmlns:a16="http://schemas.microsoft.com/office/drawing/2014/main" id="{03BBDFC7-2CC6-4840-A3CD-C264A916D9A9}"/>
              </a:ext>
            </a:extLst>
          </p:cNvPr>
          <p:cNvSpPr txBox="1"/>
          <p:nvPr/>
        </p:nvSpPr>
        <p:spPr>
          <a:xfrm>
            <a:off x="5327608" y="4758389"/>
            <a:ext cx="325730" cy="400110"/>
          </a:xfrm>
          <a:prstGeom prst="rect">
            <a:avLst/>
          </a:prstGeom>
          <a:noFill/>
        </p:spPr>
        <p:txBody>
          <a:bodyPr wrap="none" rtlCol="0">
            <a:spAutoFit/>
          </a:bodyPr>
          <a:lstStyle/>
          <a:p>
            <a:r>
              <a:rPr lang="en-US" altLang="zh-CN" sz="2000" b="1" dirty="0">
                <a:solidFill>
                  <a:srgbClr val="007434"/>
                </a:solidFill>
              </a:rPr>
              <a:t>//</a:t>
            </a:r>
          </a:p>
        </p:txBody>
      </p:sp>
      <p:sp>
        <p:nvSpPr>
          <p:cNvPr id="20" name="矩形 19">
            <a:hlinkClick r:id="" action="ppaction://noaction"/>
            <a:extLst>
              <a:ext uri="{FF2B5EF4-FFF2-40B4-BE49-F238E27FC236}">
                <a16:creationId xmlns:a16="http://schemas.microsoft.com/office/drawing/2014/main" id="{18AE668E-7DE4-490C-9420-09E720856A6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147725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fill="hold"/>
                                        <p:tgtEl>
                                          <p:spTgt spid="27"/>
                                        </p:tgtEl>
                                        <p:attrNameLst>
                                          <p:attrName>ppt_x</p:attrName>
                                        </p:attrNameLst>
                                      </p:cBhvr>
                                      <p:tavLst>
                                        <p:tav tm="0">
                                          <p:val>
                                            <p:strVal val="#ppt_x"/>
                                          </p:val>
                                        </p:tav>
                                        <p:tav tm="100000">
                                          <p:val>
                                            <p:strVal val="#ppt_x"/>
                                          </p:val>
                                        </p:tav>
                                      </p:tavLst>
                                    </p:anim>
                                    <p:anim calcmode="lin" valueType="num">
                                      <p:cBhvr additive="base">
                                        <p:cTn id="2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txBox="1">
            <a:spLocks/>
          </p:cNvSpPr>
          <p:nvPr/>
        </p:nvSpPr>
        <p:spPr bwMode="auto">
          <a:xfrm>
            <a:off x="5287618" y="3597965"/>
            <a:ext cx="2925521" cy="20359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just">
              <a:buFont typeface="Arial" charset="0"/>
              <a:buNone/>
            </a:pP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main(){</a:t>
            </a:r>
          </a:p>
          <a:p>
            <a:pPr marL="457200" lvl="1" indent="0">
              <a:buFont typeface="Arial" charset="0"/>
              <a:buNone/>
            </a:pPr>
            <a:r>
              <a:rPr lang="en-US" altLang="zh-CN" sz="2000" b="1" dirty="0">
                <a:latin typeface="Courier New" pitchFamily="49" charset="0"/>
                <a:cs typeface="Courier New" pitchFamily="49" charset="0"/>
              </a:rPr>
              <a:t> f(0); </a:t>
            </a:r>
            <a:endParaRPr lang="en-US" altLang="zh-CN" sz="2000" b="1" dirty="0">
              <a:solidFill>
                <a:srgbClr val="007434"/>
              </a:solidFill>
            </a:endParaRPr>
          </a:p>
          <a:p>
            <a:pPr marL="457200" lvl="1" indent="0">
              <a:buFont typeface="Arial" charset="0"/>
              <a:buNone/>
            </a:pPr>
            <a:r>
              <a:rPr lang="en-US" altLang="zh-CN" sz="2000" b="1" dirty="0">
                <a:latin typeface="Courier New" pitchFamily="49" charset="0"/>
                <a:cs typeface="Courier New" pitchFamily="49" charset="0"/>
              </a:rPr>
              <a:t> f(</a:t>
            </a:r>
            <a:r>
              <a:rPr lang="en-US" altLang="zh-CN" sz="2000" b="1" dirty="0" err="1">
                <a:solidFill>
                  <a:srgbClr val="0000FF"/>
                </a:solidFill>
                <a:latin typeface="Courier New" pitchFamily="49" charset="0"/>
                <a:cs typeface="Courier New" pitchFamily="49" charset="0"/>
              </a:rPr>
              <a:t>nullptr</a:t>
            </a:r>
            <a:r>
              <a:rPr lang="en-US" altLang="zh-CN" sz="2000" b="1" dirty="0">
                <a:latin typeface="Courier New" pitchFamily="49" charset="0"/>
                <a:cs typeface="Courier New" pitchFamily="49" charset="0"/>
              </a:rPr>
              <a:t>);</a:t>
            </a:r>
          </a:p>
          <a:p>
            <a:pPr marL="457200" lvl="1" indent="0">
              <a:buFont typeface="Arial" charset="0"/>
              <a:buNone/>
            </a:pPr>
            <a:r>
              <a:rPr lang="en-US" altLang="zh-CN" sz="2000" b="1" dirty="0">
                <a:latin typeface="Courier New" pitchFamily="49" charset="0"/>
                <a:cs typeface="Courier New" pitchFamily="49" charset="0"/>
              </a:rPr>
              <a:t> return 0;</a:t>
            </a:r>
          </a:p>
          <a:p>
            <a:r>
              <a:rPr lang="en-US" altLang="zh-CN" sz="2000" b="1" dirty="0">
                <a:latin typeface="Courier New" pitchFamily="49" charset="0"/>
                <a:cs typeface="Courier New" pitchFamily="49" charset="0"/>
              </a:rPr>
              <a:t> }</a:t>
            </a:r>
            <a:endParaRPr lang="zh-CN" altLang="en-US" sz="2000" b="1" dirty="0">
              <a:latin typeface="Courier New" pitchFamily="49" charset="0"/>
              <a:cs typeface="Courier New" pitchFamily="49" charset="0"/>
            </a:endParaRPr>
          </a:p>
          <a:p>
            <a:endParaRPr lang="zh-CN" altLang="en-US" sz="2400" dirty="0"/>
          </a:p>
        </p:txBody>
      </p:sp>
      <p:sp>
        <p:nvSpPr>
          <p:cNvPr id="19" name="内容占位符 2">
            <a:extLst>
              <a:ext uri="{FF2B5EF4-FFF2-40B4-BE49-F238E27FC236}">
                <a16:creationId xmlns:a16="http://schemas.microsoft.com/office/drawing/2014/main" id="{1546800B-BFC6-44C7-AFFB-FEADFBC9D463}"/>
              </a:ext>
            </a:extLst>
          </p:cNvPr>
          <p:cNvSpPr txBox="1">
            <a:spLocks/>
          </p:cNvSpPr>
          <p:nvPr/>
        </p:nvSpPr>
        <p:spPr bwMode="auto">
          <a:xfrm>
            <a:off x="499899" y="3531779"/>
            <a:ext cx="4469667" cy="25830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000" b="1" dirty="0">
                <a:solidFill>
                  <a:srgbClr val="0000FF"/>
                </a:solidFill>
                <a:latin typeface="Courier New" pitchFamily="49" charset="0"/>
                <a:cs typeface="Courier New"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f(</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itchFamily="49" charset="0"/>
                <a:cs typeface="Courier New" pitchFamily="49" charset="0"/>
              </a:rPr>
              <a:t>"f(int)" </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a:t>
            </a:r>
          </a:p>
          <a:p>
            <a:r>
              <a:rPr lang="en-US" altLang="zh-CN" sz="2000" b="1" dirty="0">
                <a:solidFill>
                  <a:srgbClr val="0000FF"/>
                </a:solidFill>
                <a:latin typeface="Courier New" pitchFamily="49" charset="0"/>
                <a:cs typeface="Courier New" pitchFamily="49" charset="0"/>
              </a:rPr>
              <a:t>void</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f(</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latin typeface="Courier New" pitchFamily="49" charset="0"/>
                <a:cs typeface="Courier New" pitchFamily="49" charset="0"/>
              </a:rPr>
              <a:t>&lt;&lt;</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b="1" dirty="0">
                <a:solidFill>
                  <a:srgbClr val="C00000"/>
                </a:solidFill>
                <a:latin typeface="Courier New" pitchFamily="49" charset="0"/>
                <a:cs typeface="Courier New" pitchFamily="49" charset="0"/>
              </a:rPr>
              <a:t>"f(int*)" </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2" name="标题 1"/>
          <p:cNvSpPr>
            <a:spLocks noGrp="1"/>
          </p:cNvSpPr>
          <p:nvPr>
            <p:ph type="title"/>
          </p:nvPr>
        </p:nvSpPr>
        <p:spPr/>
        <p:txBody>
          <a:bodyPr/>
          <a:lstStyle/>
          <a:p>
            <a:r>
              <a:rPr lang="zh-CN" altLang="en-US" dirty="0"/>
              <a:t>指针变量的初始化</a:t>
            </a:r>
          </a:p>
        </p:txBody>
      </p:sp>
      <p:sp>
        <p:nvSpPr>
          <p:cNvPr id="3" name="内容占位符 2"/>
          <p:cNvSpPr>
            <a:spLocks noGrp="1"/>
          </p:cNvSpPr>
          <p:nvPr>
            <p:ph idx="1"/>
          </p:nvPr>
        </p:nvSpPr>
        <p:spPr>
          <a:xfrm>
            <a:off x="457200" y="1928813"/>
            <a:ext cx="8435280" cy="1669152"/>
          </a:xfrm>
        </p:spPr>
        <p:txBody>
          <a:bodyPr/>
          <a:lstStyle/>
          <a:p>
            <a:pPr lvl="1" algn="just">
              <a:buNone/>
            </a:pPr>
            <a:r>
              <a:rPr lang="en-US" altLang="zh-CN" sz="2200" b="1" dirty="0">
                <a:solidFill>
                  <a:srgbClr val="0000FF"/>
                </a:solidFill>
                <a:latin typeface="Courier New" pitchFamily="49" charset="0"/>
                <a:cs typeface="Courier New" pitchFamily="49" charset="0"/>
              </a:rPr>
              <a:t>int </a:t>
            </a:r>
            <a:r>
              <a:rPr lang="zh-CN" altLang="en-US" sz="2200" b="1" dirty="0">
                <a:latin typeface="Courier New" pitchFamily="49" charset="0"/>
                <a:cs typeface="Courier New" pitchFamily="49" charset="0"/>
              </a:rPr>
              <a:t>*</a:t>
            </a:r>
            <a:r>
              <a:rPr lang="en-US" altLang="zh-CN" sz="2200" b="1" dirty="0">
                <a:latin typeface="Courier New" pitchFamily="49" charset="0"/>
                <a:cs typeface="Courier New" pitchFamily="49" charset="0"/>
              </a:rPr>
              <a:t>p = NULL;</a:t>
            </a:r>
            <a:r>
              <a:rPr lang="en-US" altLang="zh-CN" sz="2200" b="1" dirty="0">
                <a:solidFill>
                  <a:srgbClr val="007434"/>
                </a:solidFill>
              </a:rPr>
              <a:t> //</a:t>
            </a:r>
            <a:r>
              <a:rPr lang="zh-CN" altLang="en-US" sz="2200" b="1" dirty="0">
                <a:solidFill>
                  <a:srgbClr val="007434"/>
                </a:solidFill>
              </a:rPr>
              <a:t>不推荐的写法</a:t>
            </a:r>
            <a:endParaRPr lang="en-US" altLang="zh-CN" sz="2200" b="1" dirty="0">
              <a:latin typeface="Courier New" pitchFamily="49" charset="0"/>
              <a:cs typeface="Courier New" pitchFamily="49" charset="0"/>
            </a:endParaRPr>
          </a:p>
          <a:p>
            <a:pPr lvl="1" algn="just">
              <a:buNone/>
            </a:pPr>
            <a:r>
              <a:rPr lang="en-US" altLang="zh-CN" sz="2200" b="1" dirty="0">
                <a:solidFill>
                  <a:srgbClr val="0000FF"/>
                </a:solidFill>
                <a:latin typeface="Courier New" pitchFamily="49" charset="0"/>
                <a:cs typeface="Courier New" pitchFamily="49" charset="0"/>
              </a:rPr>
              <a:t>int </a:t>
            </a:r>
            <a:r>
              <a:rPr lang="en-US" altLang="zh-CN" sz="2200" b="1" dirty="0">
                <a:latin typeface="Courier New" pitchFamily="49" charset="0"/>
                <a:cs typeface="Courier New" pitchFamily="49" charset="0"/>
              </a:rPr>
              <a:t>*pi</a:t>
            </a:r>
            <a:r>
              <a:rPr lang="en-US" altLang="zh-CN" sz="2200" b="1" dirty="0">
                <a:solidFill>
                  <a:srgbClr val="007434"/>
                </a:solidFill>
              </a:rPr>
              <a:t> </a:t>
            </a:r>
            <a:r>
              <a:rPr lang="en-US" altLang="zh-CN" sz="2200" b="1" dirty="0">
                <a:latin typeface="Courier New" pitchFamily="49" charset="0"/>
                <a:cs typeface="Courier New" pitchFamily="49" charset="0"/>
              </a:rPr>
              <a:t>=</a:t>
            </a:r>
            <a:r>
              <a:rPr lang="en-US" altLang="zh-CN" sz="2200" b="1" dirty="0">
                <a:solidFill>
                  <a:srgbClr val="007434"/>
                </a:solidFill>
              </a:rPr>
              <a:t> </a:t>
            </a:r>
            <a:r>
              <a:rPr lang="en-US" altLang="zh-CN" sz="2200" b="1" dirty="0" err="1">
                <a:solidFill>
                  <a:srgbClr val="0000FF"/>
                </a:solidFill>
                <a:latin typeface="Courier New" pitchFamily="49" charset="0"/>
                <a:cs typeface="Courier New" pitchFamily="49" charset="0"/>
              </a:rPr>
              <a:t>nullptr</a:t>
            </a:r>
            <a:r>
              <a:rPr lang="en-US" altLang="zh-CN" sz="2200" b="1" dirty="0">
                <a:latin typeface="Courier New" pitchFamily="49" charset="0"/>
                <a:cs typeface="Courier New" pitchFamily="49" charset="0"/>
              </a:rPr>
              <a:t>; </a:t>
            </a:r>
            <a:r>
              <a:rPr lang="en-US" altLang="zh-CN" sz="2200" b="1" dirty="0">
                <a:solidFill>
                  <a:srgbClr val="007434"/>
                </a:solidFill>
              </a:rPr>
              <a:t>//</a:t>
            </a:r>
            <a:r>
              <a:rPr lang="zh-CN" altLang="en-US" sz="2200" b="1" dirty="0">
                <a:solidFill>
                  <a:srgbClr val="007434"/>
                </a:solidFill>
              </a:rPr>
              <a:t>推荐的新标准写法</a:t>
            </a:r>
            <a:endParaRPr lang="en-US" altLang="zh-CN" sz="2400" dirty="0">
              <a:solidFill>
                <a:srgbClr val="C00000"/>
              </a:solidFill>
            </a:endParaRPr>
          </a:p>
          <a:p>
            <a:pPr lvl="1" algn="just">
              <a:spcBef>
                <a:spcPts val="1800"/>
              </a:spcBef>
              <a:buNone/>
            </a:pPr>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p>
          <a:p>
            <a:r>
              <a:rPr lang="en-US" altLang="zh-CN" sz="2200" b="1" dirty="0">
                <a:latin typeface="Courier New" pitchFamily="49" charset="0"/>
                <a:cs typeface="Courier New" pitchFamily="49" charset="0"/>
              </a:rPr>
              <a:t> </a:t>
            </a:r>
            <a:endParaRPr lang="zh-CN" altLang="en-US" dirty="0"/>
          </a:p>
        </p:txBody>
      </p:sp>
      <p:sp>
        <p:nvSpPr>
          <p:cNvPr id="4" name="矩形 3">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文本框 14">
            <a:extLst>
              <a:ext uri="{FF2B5EF4-FFF2-40B4-BE49-F238E27FC236}">
                <a16:creationId xmlns:a16="http://schemas.microsoft.com/office/drawing/2014/main" id="{7F6A5574-706B-451C-B5F8-03A8B683DEAE}"/>
              </a:ext>
            </a:extLst>
          </p:cNvPr>
          <p:cNvSpPr txBox="1"/>
          <p:nvPr/>
        </p:nvSpPr>
        <p:spPr>
          <a:xfrm>
            <a:off x="7019847" y="3969618"/>
            <a:ext cx="963725"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en-US" altLang="zh-CN" sz="2000" b="1" dirty="0">
                <a:solidFill>
                  <a:srgbClr val="007434"/>
                </a:solidFill>
              </a:rPr>
              <a:t>)</a:t>
            </a:r>
          </a:p>
        </p:txBody>
      </p:sp>
      <p:sp>
        <p:nvSpPr>
          <p:cNvPr id="17" name="文本框 16">
            <a:extLst>
              <a:ext uri="{FF2B5EF4-FFF2-40B4-BE49-F238E27FC236}">
                <a16:creationId xmlns:a16="http://schemas.microsoft.com/office/drawing/2014/main" id="{8E27563A-A77A-441B-B201-616CFFC3FB4C}"/>
              </a:ext>
            </a:extLst>
          </p:cNvPr>
          <p:cNvSpPr txBox="1"/>
          <p:nvPr/>
        </p:nvSpPr>
        <p:spPr>
          <a:xfrm>
            <a:off x="7820575" y="4392396"/>
            <a:ext cx="1063112" cy="400110"/>
          </a:xfrm>
          <a:prstGeom prst="rect">
            <a:avLst/>
          </a:prstGeom>
          <a:noFill/>
        </p:spPr>
        <p:txBody>
          <a:bodyPr wrap="none" rtlCol="0">
            <a:spAutoFit/>
          </a:bodyPr>
          <a:lstStyle/>
          <a:p>
            <a:r>
              <a:rPr lang="en-US" altLang="zh-CN" sz="2000" b="1" dirty="0">
                <a:solidFill>
                  <a:srgbClr val="007434"/>
                </a:solidFill>
              </a:rPr>
              <a:t>// f(</a:t>
            </a:r>
            <a:r>
              <a:rPr lang="en-US" altLang="zh-CN" sz="2000" b="1" dirty="0" err="1">
                <a:solidFill>
                  <a:srgbClr val="007434"/>
                </a:solidFill>
              </a:rPr>
              <a:t>int</a:t>
            </a:r>
            <a:r>
              <a:rPr lang="zh-CN" altLang="en-US" sz="2000" b="1" dirty="0">
                <a:solidFill>
                  <a:srgbClr val="007434"/>
                </a:solidFill>
              </a:rPr>
              <a:t>*</a:t>
            </a:r>
            <a:r>
              <a:rPr lang="en-US" altLang="zh-CN" sz="2000" b="1" dirty="0">
                <a:solidFill>
                  <a:srgbClr val="007434"/>
                </a:solidFill>
              </a:rPr>
              <a:t>)</a:t>
            </a: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20" name="矩形 19">
            <a:hlinkClick r:id="" action="ppaction://noaction"/>
            <a:extLst>
              <a:ext uri="{FF2B5EF4-FFF2-40B4-BE49-F238E27FC236}">
                <a16:creationId xmlns:a16="http://schemas.microsoft.com/office/drawing/2014/main" id="{6B8548F9-64CE-4F77-A781-F02104189D9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176363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指针变量的赋值</a:t>
            </a:r>
          </a:p>
        </p:txBody>
      </p:sp>
      <p:sp>
        <p:nvSpPr>
          <p:cNvPr id="3" name="内容占位符 2"/>
          <p:cNvSpPr>
            <a:spLocks noGrp="1"/>
          </p:cNvSpPr>
          <p:nvPr>
            <p:ph idx="1"/>
          </p:nvPr>
        </p:nvSpPr>
        <p:spPr>
          <a:xfrm>
            <a:off x="457200" y="1928813"/>
            <a:ext cx="8408504" cy="4500562"/>
          </a:xfrm>
        </p:spPr>
        <p:txBody>
          <a:bodyPr/>
          <a:lstStyle/>
          <a:p>
            <a:pPr>
              <a:buFont typeface="Wingdings" panose="05000000000000000000" pitchFamily="2" charset="2"/>
              <a:buChar char="ü"/>
            </a:pPr>
            <a:r>
              <a:rPr lang="zh-CN" altLang="en-US" dirty="0"/>
              <a:t>赋值运算符“</a:t>
            </a:r>
            <a:r>
              <a:rPr lang="en-US" altLang="zh-CN" dirty="0"/>
              <a:t>=</a:t>
            </a:r>
            <a:r>
              <a:rPr lang="zh-CN" altLang="en-US" dirty="0"/>
              <a:t>”</a:t>
            </a:r>
            <a:r>
              <a:rPr lang="zh-CN" altLang="en-US" dirty="0">
                <a:solidFill>
                  <a:srgbClr val="FF0000"/>
                </a:solidFill>
              </a:rPr>
              <a:t>类型</a:t>
            </a:r>
            <a:r>
              <a:rPr lang="zh-CN" altLang="en-US" dirty="0"/>
              <a:t>一致</a:t>
            </a:r>
            <a:endParaRPr lang="en-US" altLang="zh-CN" dirty="0"/>
          </a:p>
          <a:p>
            <a:pPr lvl="1"/>
            <a:r>
              <a:rPr lang="zh-CN" altLang="en-US" dirty="0"/>
              <a:t>左边：指针变量（注意与</a:t>
            </a:r>
            <a:r>
              <a:rPr lang="zh-CN" altLang="en-US" dirty="0">
                <a:solidFill>
                  <a:srgbClr val="FF0000"/>
                </a:solidFill>
              </a:rPr>
              <a:t>初始化表达式</a:t>
            </a:r>
            <a:r>
              <a:rPr lang="zh-CN" altLang="en-US" dirty="0"/>
              <a:t>的区别）</a:t>
            </a:r>
            <a:endParaRPr lang="en-US" altLang="zh-CN" dirty="0"/>
          </a:p>
          <a:p>
            <a:pPr marL="914400" lvl="2" indent="0">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 = &amp;a;</a:t>
            </a:r>
          </a:p>
          <a:p>
            <a:pPr marL="914400" lvl="2" indent="0">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a:t>
            </a:r>
          </a:p>
          <a:p>
            <a:pPr lvl="2">
              <a:buNone/>
            </a:pPr>
            <a:r>
              <a:rPr lang="en-US" altLang="zh-CN" b="1" dirty="0">
                <a:latin typeface="Courier New" pitchFamily="49" charset="0"/>
                <a:cs typeface="Courier New" pitchFamily="49" charset="0"/>
              </a:rPr>
              <a:t>p = &amp;a;</a:t>
            </a:r>
          </a:p>
          <a:p>
            <a:pPr lvl="1"/>
            <a:r>
              <a:rPr lang="zh-CN" altLang="en-US" dirty="0"/>
              <a:t>右边：描述</a:t>
            </a:r>
            <a:r>
              <a:rPr lang="zh-CN" altLang="en-US" dirty="0">
                <a:solidFill>
                  <a:srgbClr val="FF0000"/>
                </a:solidFill>
              </a:rPr>
              <a:t>地址</a:t>
            </a:r>
            <a:r>
              <a:rPr lang="zh-CN" altLang="en-US" dirty="0"/>
              <a:t>的表达式</a:t>
            </a:r>
            <a:endParaRPr lang="en-US" altLang="zh-CN" dirty="0"/>
          </a:p>
          <a:p>
            <a:pPr lvl="1"/>
            <a:r>
              <a:rPr lang="zh-CN" altLang="en-US" dirty="0"/>
              <a:t>地址存放数据的类型与指针说明的类型一致</a:t>
            </a:r>
            <a:endParaRPr lang="en-US" altLang="zh-CN" dirty="0"/>
          </a:p>
          <a:p>
            <a:pPr>
              <a:spcBef>
                <a:spcPts val="0"/>
              </a:spcBef>
              <a:buFont typeface="Wingdings" panose="05000000000000000000" pitchFamily="2" charset="2"/>
              <a:buChar char="ü"/>
            </a:pPr>
            <a:r>
              <a:rPr lang="zh-CN" altLang="en-US" dirty="0"/>
              <a:t>指针绝不可任意赋一个内存地址，</a:t>
            </a:r>
            <a:r>
              <a:rPr lang="zh-CN" altLang="en-US" dirty="0">
                <a:solidFill>
                  <a:srgbClr val="FF0000"/>
                </a:solidFill>
              </a:rPr>
              <a:t>不可赋地址常量</a:t>
            </a:r>
            <a:endParaRPr lang="en-US" altLang="zh-CN" dirty="0">
              <a:solidFill>
                <a:srgbClr val="FF0000"/>
              </a:solidFill>
            </a:endParaRPr>
          </a:p>
          <a:p>
            <a:pPr>
              <a:spcBef>
                <a:spcPts val="0"/>
              </a:spcBef>
            </a:pPr>
            <a:r>
              <a:rPr lang="zh-CN" altLang="en-US" dirty="0"/>
              <a:t>只能取一个</a:t>
            </a:r>
            <a:r>
              <a:rPr lang="zh-CN" altLang="en-US" dirty="0">
                <a:solidFill>
                  <a:srgbClr val="FF0000"/>
                </a:solidFill>
              </a:rPr>
              <a:t>已经分配了内存的变量</a:t>
            </a:r>
            <a:r>
              <a:rPr lang="zh-CN" altLang="en-US" dirty="0"/>
              <a:t>的地址赋给指针变量，或者赋值为</a:t>
            </a:r>
            <a:r>
              <a:rPr lang="en-US" altLang="zh-CN" dirty="0" err="1">
                <a:solidFill>
                  <a:srgbClr val="FF0000"/>
                </a:solidFill>
              </a:rPr>
              <a:t>nullptr</a:t>
            </a:r>
            <a:endParaRPr lang="en-US" altLang="zh-CN" dirty="0"/>
          </a:p>
        </p:txBody>
      </p:sp>
      <p:sp>
        <p:nvSpPr>
          <p:cNvPr id="4" name="矩形 3">
            <a:extLst>
              <a:ext uri="{FF2B5EF4-FFF2-40B4-BE49-F238E27FC236}">
                <a16:creationId xmlns:a16="http://schemas.microsoft.com/office/drawing/2014/main" id="{37989D2E-F83E-4DB7-A67C-397E69D1F8DC}"/>
              </a:ext>
            </a:extLst>
          </p:cNvPr>
          <p:cNvSpPr/>
          <p:nvPr/>
        </p:nvSpPr>
        <p:spPr>
          <a:xfrm>
            <a:off x="1331640" y="3212976"/>
            <a:ext cx="1368152" cy="7143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4" name="矩形 13">
            <a:hlinkClick r:id="" action="ppaction://noaction"/>
            <a:extLst>
              <a:ext uri="{FF2B5EF4-FFF2-40B4-BE49-F238E27FC236}">
                <a16:creationId xmlns:a16="http://schemas.microsoft.com/office/drawing/2014/main" id="{E6A457BC-81B4-40F8-A2AC-80F8F52A294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091971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6.2】</a:t>
            </a:r>
            <a:r>
              <a:rPr lang="zh-CN" altLang="en-US" dirty="0">
                <a:solidFill>
                  <a:srgbClr val="C00000"/>
                </a:solidFill>
              </a:rPr>
              <a:t>指针变量的赋值</a:t>
            </a:r>
            <a:endParaRPr lang="en-US" altLang="zh-CN" dirty="0"/>
          </a:p>
          <a:p>
            <a:pPr lvl="1" algn="just">
              <a:buNone/>
            </a:pPr>
            <a:r>
              <a:rPr lang="en-US" altLang="zh-CN" sz="2400" b="1" dirty="0">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=3,*pi;</a:t>
            </a:r>
          </a:p>
          <a:p>
            <a:pPr lvl="1" algn="just">
              <a:lnSpc>
                <a:spcPct val="80000"/>
              </a:lnSpc>
              <a:buNone/>
            </a:pPr>
            <a:r>
              <a:rPr lang="en-US" altLang="zh-CN" sz="2400" b="1" dirty="0">
                <a:latin typeface="Courier New" pitchFamily="49" charset="0"/>
                <a:cs typeface="Courier New" pitchFamily="49" charset="0"/>
              </a:rPr>
              <a:t>pi = &amp;</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lvl="1" algn="just">
              <a:lnSpc>
                <a:spcPct val="80000"/>
              </a:lnSpc>
              <a:buNone/>
            </a:pPr>
            <a:endParaRPr lang="en-US" altLang="zh-CN" sz="2400" b="1" dirty="0">
              <a:latin typeface="Courier New" pitchFamily="49" charset="0"/>
              <a:cs typeface="Courier New" pitchFamily="49" charset="0"/>
            </a:endParaRPr>
          </a:p>
          <a:p>
            <a:pPr lvl="1" algn="just">
              <a:buNone/>
            </a:pPr>
            <a:r>
              <a:rPr lang="en-US" altLang="zh-CN" sz="2400" b="1" dirty="0">
                <a:solidFill>
                  <a:srgbClr val="0000FF"/>
                </a:solidFill>
                <a:latin typeface="Courier New" pitchFamily="49" charset="0"/>
                <a:cs typeface="Courier New" pitchFamily="49" charset="0"/>
              </a:rPr>
              <a:t>float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b="1" dirty="0" err="1">
                <a:latin typeface="Courier New" pitchFamily="49" charset="0"/>
                <a:cs typeface="Courier New" pitchFamily="49" charset="0"/>
              </a:rPr>
              <a:t>pn</a:t>
            </a:r>
            <a:r>
              <a:rPr lang="en-US" altLang="zh-CN" b="1" dirty="0">
                <a:latin typeface="Courier New" pitchFamily="49" charset="0"/>
                <a:cs typeface="Courier New" pitchFamily="49" charset="0"/>
              </a:rPr>
              <a:t>;</a:t>
            </a:r>
          </a:p>
          <a:p>
            <a:pPr lvl="1" algn="just">
              <a:buNone/>
            </a:pPr>
            <a:r>
              <a:rPr lang="en-US" altLang="zh-CN" b="1" dirty="0" err="1">
                <a:latin typeface="Courier New" pitchFamily="49" charset="0"/>
                <a:cs typeface="Courier New" pitchFamily="49" charset="0"/>
              </a:rPr>
              <a:t>pn</a:t>
            </a:r>
            <a:r>
              <a:rPr lang="en-US" altLang="zh-CN" b="1" dirty="0">
                <a:latin typeface="Courier New" pitchFamily="49" charset="0"/>
                <a:cs typeface="Courier New" pitchFamily="49" charset="0"/>
              </a:rPr>
              <a:t> </a:t>
            </a:r>
            <a:r>
              <a:rPr lang="en-US" altLang="zh-CN" sz="2400"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nullptr</a:t>
            </a:r>
            <a:r>
              <a:rPr lang="en-US" altLang="zh-CN" sz="2400" b="1" dirty="0">
                <a:latin typeface="Courier New" pitchFamily="49" charset="0"/>
                <a:cs typeface="Courier New" pitchFamily="49" charset="0"/>
              </a:rPr>
              <a:t>;</a:t>
            </a:r>
            <a:r>
              <a:rPr lang="en-US" altLang="zh-CN" b="1" dirty="0">
                <a:solidFill>
                  <a:srgbClr val="007434"/>
                </a:solidFill>
                <a:latin typeface="Courier New" pitchFamily="49" charset="0"/>
                <a:cs typeface="Courier New" pitchFamily="49" charset="0"/>
              </a:rPr>
              <a:t>/*</a:t>
            </a:r>
            <a:r>
              <a:rPr lang="en-US" altLang="zh-CN" b="1" dirty="0" err="1">
                <a:solidFill>
                  <a:srgbClr val="007434"/>
                </a:solidFill>
                <a:latin typeface="Courier New" pitchFamily="49" charset="0"/>
                <a:cs typeface="Courier New" pitchFamily="49" charset="0"/>
              </a:rPr>
              <a:t>nullptr</a:t>
            </a:r>
            <a:r>
              <a:rPr lang="zh-CN" altLang="en-US" b="1" dirty="0">
                <a:solidFill>
                  <a:srgbClr val="007434"/>
                </a:solidFill>
                <a:latin typeface="Courier New" pitchFamily="49" charset="0"/>
                <a:cs typeface="Courier New" pitchFamily="49" charset="0"/>
              </a:rPr>
              <a:t>是空指针，它是可以赋给任一类型指针变量的值，表示当前该指针不指向任何变量的地址。</a:t>
            </a:r>
            <a:r>
              <a:rPr lang="en-US" altLang="zh-CN" sz="2400" b="1" dirty="0">
                <a:solidFill>
                  <a:srgbClr val="007434"/>
                </a:solidFill>
                <a:latin typeface="Courier New" pitchFamily="49" charset="0"/>
                <a:cs typeface="Courier New" pitchFamily="49" charset="0"/>
              </a:rPr>
              <a:t>*/</a:t>
            </a:r>
            <a:endParaRPr lang="zh-CN" altLang="en-US" b="1" dirty="0">
              <a:solidFill>
                <a:srgbClr val="007434"/>
              </a:solidFill>
            </a:endParaRPr>
          </a:p>
        </p:txBody>
      </p:sp>
      <p:sp>
        <p:nvSpPr>
          <p:cNvPr id="12" name="矩形 11">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初识指针</a:t>
            </a:r>
          </a:p>
        </p:txBody>
      </p:sp>
      <p:sp>
        <p:nvSpPr>
          <p:cNvPr id="16" name="矩形 15">
            <a:hlinkClick r:id="" action="ppaction://noaction"/>
            <a:extLst>
              <a:ext uri="{FF2B5EF4-FFF2-40B4-BE49-F238E27FC236}">
                <a16:creationId xmlns:a16="http://schemas.microsoft.com/office/drawing/2014/main" id="{755CA66A-1182-4CC7-AA76-3342E1E3CA7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4174884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E17B4B3B-10C3-4B30-86F9-A101C5B6F1F7}"/>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下列关于指针的用法中，错误的是（       ）</a:t>
            </a:r>
          </a:p>
        </p:txBody>
      </p:sp>
      <p:sp>
        <p:nvSpPr>
          <p:cNvPr id="7" name="文本框 6">
            <a:extLst>
              <a:ext uri="{FF2B5EF4-FFF2-40B4-BE49-F238E27FC236}">
                <a16:creationId xmlns:a16="http://schemas.microsoft.com/office/drawing/2014/main" id="{EDFC9F23-9F28-4CC1-B8DF-02262F4757B8}"/>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int *p=&amp;</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DB78EC41-635F-4E2A-A76C-D0C3292E38AA}"/>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int *p;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538CEAFE-B783-4EB6-B5FF-C3E9971E9DEE}"/>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 p=0;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064E8F5E-B747-45D5-A3BF-E01873A38071}"/>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  int *p; p=&amp;</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B0836906-57DB-434F-9A72-82285CA3A97F}"/>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6A6ABEF6-5661-46D4-8252-A46ADCD56117}"/>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1BAA507-66B7-476C-8EA7-A1F98128994A}"/>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EBFE8BCD-AF71-41E4-B247-2077ED72C741}"/>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982D61EA-402B-4A1C-A4D5-8091908B4067}"/>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EAA7F475-B1F5-4610-851B-AD35FBAC98E3}"/>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B978FFA5-D5C4-435F-AB94-E47EE41E65A3}"/>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DEA666CE-928C-417B-8F00-6B6690D0C213}"/>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2D5B6561-7D3B-4CED-94A2-EE2C0F62677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9BD591D3-1C66-4C73-BB9D-E554D01860D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778A02D7-CF1D-4D78-9D47-195E33B51F42}"/>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059453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929A123-25A6-4F42-B48E-1BEA917D89DB}"/>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*p=&amp;k;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定义了指针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，与这个语句等效的语句序列是（       ）</a:t>
            </a:r>
          </a:p>
        </p:txBody>
      </p:sp>
      <p:sp>
        <p:nvSpPr>
          <p:cNvPr id="5" name="文本框 4">
            <a:extLst>
              <a:ext uri="{FF2B5EF4-FFF2-40B4-BE49-F238E27FC236}">
                <a16:creationId xmlns:a16="http://schemas.microsoft.com/office/drawing/2014/main" id="{01F82987-18D8-4DDC-B2F9-A6527A896DC1}"/>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  p=&amp;k;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10D11B18-0A68-4968-AB13-7F0220C749EF}"/>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  p=k;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6824D1D0-619A-4611-9A0B-036B945B73D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  *p=&amp;k;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830A6FE0-385E-4882-8DED-5C37AAEEBC3C}"/>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  *p=k;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85589266-9EF7-4E88-914A-41A6CC6C9722}"/>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8A7965E9-0CBE-4828-88AB-7A5390A55D40}"/>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931667D4-107E-4DBA-9B15-3CF0BD53CDA2}"/>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D8459D49-BD25-4BB0-888E-9751A6C553D0}"/>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08504CC8-F8BD-4596-B3AB-4BF56920C487}"/>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477051E7-B4AC-4598-82E7-E02DAD81CC54}"/>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E48A4ACC-AD24-4B1E-BEF5-0CD834157348}"/>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B7B21161-A6A1-4637-9039-81FD2534571F}"/>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E90255E6-B5F9-4F54-B987-FDDADB2A396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EA14086B-00C0-480C-BED4-A820A2FC9AC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32CAFF38-989A-4DB4-816B-5C1CF0529AA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246488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27327A2-7B1A-4DFB-A4FE-0D46BBAA041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有关指针变量说法不正确的是（       ）</a:t>
            </a:r>
          </a:p>
        </p:txBody>
      </p:sp>
      <p:sp>
        <p:nvSpPr>
          <p:cNvPr id="5" name="文本框 4">
            <a:extLst>
              <a:ext uri="{FF2B5EF4-FFF2-40B4-BE49-F238E27FC236}">
                <a16:creationId xmlns:a16="http://schemas.microsoft.com/office/drawing/2014/main" id="{5A147B48-412A-4FE3-A155-2EAA3273E35D}"/>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指针变量有地址</a:t>
            </a:r>
          </a:p>
        </p:txBody>
      </p:sp>
      <p:sp>
        <p:nvSpPr>
          <p:cNvPr id="6" name="文本框 5">
            <a:extLst>
              <a:ext uri="{FF2B5EF4-FFF2-40B4-BE49-F238E27FC236}">
                <a16:creationId xmlns:a16="http://schemas.microsoft.com/office/drawing/2014/main" id="{8E405C6E-4AF5-4763-BC07-14AD3E743C4C}"/>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指针变量是一个不变的地址</a:t>
            </a:r>
          </a:p>
        </p:txBody>
      </p:sp>
      <p:sp>
        <p:nvSpPr>
          <p:cNvPr id="7" name="文本框 6">
            <a:extLst>
              <a:ext uri="{FF2B5EF4-FFF2-40B4-BE49-F238E27FC236}">
                <a16:creationId xmlns:a16="http://schemas.microsoft.com/office/drawing/2014/main" id="{421FDD8E-F792-4E43-90C6-D3D0759C39AB}"/>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指针变量是一个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字节存储单元</a:t>
            </a:r>
          </a:p>
        </p:txBody>
      </p:sp>
      <p:sp>
        <p:nvSpPr>
          <p:cNvPr id="8" name="文本框 7">
            <a:extLst>
              <a:ext uri="{FF2B5EF4-FFF2-40B4-BE49-F238E27FC236}">
                <a16:creationId xmlns:a16="http://schemas.microsoft.com/office/drawing/2014/main" id="{C66F7913-0B65-43E8-9AE4-2066FCFB868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指针变量可存放存储单元地址</a:t>
            </a:r>
          </a:p>
        </p:txBody>
      </p:sp>
      <p:sp>
        <p:nvSpPr>
          <p:cNvPr id="9" name="椭圆 8">
            <a:extLst>
              <a:ext uri="{FF2B5EF4-FFF2-40B4-BE49-F238E27FC236}">
                <a16:creationId xmlns:a16="http://schemas.microsoft.com/office/drawing/2014/main" id="{15BE8562-2C92-4054-A4A4-2BAF5E61A479}"/>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4C6FC083-4BD3-47A0-A8CA-77832A43BEE2}"/>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6065D6E4-A178-41B0-9EA7-374AC966ECCB}"/>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38473A18-72E9-489F-BC17-98FD7DDE4D0D}"/>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AAB496B-2E51-4825-85FD-E99CFEABAA79}"/>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CC77B866-4EF3-405F-BB42-BB2D3AA9C78E}"/>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329B0D8B-54FB-40F3-9CE8-55AAADF6F7A7}"/>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44905BB0-1953-43FD-882D-8DE8C1EAA7F0}"/>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F9C8864F-BE99-4D2F-BEF0-B3AAAFA8D5D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E4FD0B44-CF62-4084-AB69-85A070E8DF25}"/>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1FF274A3-FAEC-4253-B435-A86A9ACF0DB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084951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BDE411D-722B-428C-806D-D8BA23E5CA1D}"/>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有以下定义及初始化：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a=3, *p=&amp;a;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则由此可以推断，*</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33628861-DED5-4948-ABC9-1600192FC47C}"/>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变量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的值，即</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BA66DE10-9A9D-453B-9F80-CE223D1AC68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变量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的地址值</a:t>
            </a:r>
          </a:p>
        </p:txBody>
      </p:sp>
      <p:sp>
        <p:nvSpPr>
          <p:cNvPr id="7" name="文本框 6">
            <a:extLst>
              <a:ext uri="{FF2B5EF4-FFF2-40B4-BE49-F238E27FC236}">
                <a16:creationId xmlns:a16="http://schemas.microsoft.com/office/drawing/2014/main" id="{080B909F-2718-41FE-A33A-6FF68D2B8F82}"/>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变量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的地址值</a:t>
            </a:r>
          </a:p>
        </p:txBody>
      </p:sp>
      <p:sp>
        <p:nvSpPr>
          <p:cNvPr id="8" name="文本框 7">
            <a:extLst>
              <a:ext uri="{FF2B5EF4-FFF2-40B4-BE49-F238E27FC236}">
                <a16:creationId xmlns:a16="http://schemas.microsoft.com/office/drawing/2014/main" id="{8115F64C-4FD2-45E1-A05A-86CDB8A4EB88}"/>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无意义</a:t>
            </a:r>
          </a:p>
        </p:txBody>
      </p:sp>
      <p:sp>
        <p:nvSpPr>
          <p:cNvPr id="9" name="椭圆 8">
            <a:extLst>
              <a:ext uri="{FF2B5EF4-FFF2-40B4-BE49-F238E27FC236}">
                <a16:creationId xmlns:a16="http://schemas.microsoft.com/office/drawing/2014/main" id="{4161B754-69C1-4589-89DC-CF4723FFCB69}"/>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138944DF-6141-4C92-8405-0614DACB209C}"/>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AC1CA060-3790-4051-954F-505724CA5660}"/>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407E745C-5693-4DCC-83BE-D20008DCB761}"/>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E80C3621-0E38-4BF7-855B-79132FB040B8}"/>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99D137E9-4ABB-47A2-98BD-E86683AAA56F}"/>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548D15E6-E5CA-474D-9CC7-D2CF6D893C94}"/>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C9036642-3452-41C1-8517-F26E342FE3AD}"/>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D9CDB991-B2FC-4158-9342-2E745E95CF9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565A2447-43E7-4280-BDC2-F507979C3D2B}"/>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AF7FB596-832C-4F9F-B5F0-B919B5DDA05B}"/>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90576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指针运算</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89360088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p>
        </p:txBody>
      </p:sp>
      <p:sp>
        <p:nvSpPr>
          <p:cNvPr id="3" name="内容占位符 2"/>
          <p:cNvSpPr>
            <a:spLocks noGrp="1"/>
          </p:cNvSpPr>
          <p:nvPr>
            <p:ph idx="1"/>
          </p:nvPr>
        </p:nvSpPr>
        <p:spPr>
          <a:xfrm>
            <a:off x="347870" y="1715111"/>
            <a:ext cx="8229600" cy="4500562"/>
          </a:xfrm>
        </p:spPr>
        <p:txBody>
          <a:bodyPr/>
          <a:lstStyle/>
          <a:p>
            <a:r>
              <a:rPr lang="zh-CN" altLang="en-US" dirty="0"/>
              <a:t>“</a:t>
            </a:r>
            <a:r>
              <a:rPr lang="en-US" altLang="zh-CN" dirty="0">
                <a:solidFill>
                  <a:srgbClr val="FF0000"/>
                </a:solidFill>
              </a:rPr>
              <a:t>*</a:t>
            </a:r>
            <a:r>
              <a:rPr lang="zh-CN" altLang="en-US" dirty="0"/>
              <a:t>”取内容运算</a:t>
            </a:r>
            <a:endParaRPr lang="en-US" altLang="zh-CN" dirty="0"/>
          </a:p>
          <a:p>
            <a:pPr lvl="1"/>
            <a:r>
              <a:rPr lang="zh-CN" altLang="en-US" dirty="0"/>
              <a:t>运算表达式：</a:t>
            </a:r>
            <a:r>
              <a:rPr lang="en-US" altLang="zh-CN" dirty="0"/>
              <a:t>*&lt;</a:t>
            </a:r>
            <a:r>
              <a:rPr lang="zh-CN" altLang="en-US" dirty="0"/>
              <a:t>指针变量名</a:t>
            </a:r>
            <a:r>
              <a:rPr lang="en-US" altLang="zh-CN" dirty="0"/>
              <a:t>&gt;</a:t>
            </a:r>
          </a:p>
          <a:p>
            <a:pPr lvl="2"/>
            <a:r>
              <a:rPr lang="zh-CN" altLang="en-US" dirty="0"/>
              <a:t>可看作一个变量</a:t>
            </a:r>
            <a:endParaRPr lang="en-US" altLang="zh-CN" dirty="0"/>
          </a:p>
          <a:p>
            <a:pPr lvl="1"/>
            <a:r>
              <a:rPr lang="zh-CN" altLang="en-US" dirty="0"/>
              <a:t>作用于一个</a:t>
            </a:r>
            <a:r>
              <a:rPr lang="zh-CN" altLang="en-US" dirty="0">
                <a:solidFill>
                  <a:srgbClr val="FF0000"/>
                </a:solidFill>
              </a:rPr>
              <a:t>指针类型</a:t>
            </a:r>
            <a:r>
              <a:rPr lang="zh-CN" altLang="en-US" dirty="0"/>
              <a:t>的变量</a:t>
            </a:r>
            <a:endParaRPr lang="en-US" altLang="zh-CN" dirty="0"/>
          </a:p>
          <a:p>
            <a:pPr lvl="1"/>
            <a:r>
              <a:rPr lang="zh-CN" altLang="en-US" dirty="0"/>
              <a:t>访问该指针所指向的内存</a:t>
            </a:r>
            <a:r>
              <a:rPr lang="zh-CN" altLang="en-US" dirty="0">
                <a:solidFill>
                  <a:srgbClr val="FF0000"/>
                </a:solidFill>
              </a:rPr>
              <a:t>数据</a:t>
            </a:r>
            <a:endParaRPr lang="en-US" altLang="zh-CN" dirty="0">
              <a:solidFill>
                <a:srgbClr val="FF0000"/>
              </a:solidFill>
            </a:endParaRPr>
          </a:p>
        </p:txBody>
      </p:sp>
      <p:sp>
        <p:nvSpPr>
          <p:cNvPr id="12" name="矩形 11">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4" name="矩形 13">
            <a:hlinkClick r:id="rId4"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1" name="内容占位符 2"/>
          <p:cNvSpPr txBox="1">
            <a:spLocks/>
          </p:cNvSpPr>
          <p:nvPr/>
        </p:nvSpPr>
        <p:spPr bwMode="auto">
          <a:xfrm>
            <a:off x="347870" y="4102406"/>
            <a:ext cx="8229600" cy="23412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a:t>
            </a:r>
            <a:r>
              <a:rPr lang="en-US" altLang="zh-CN" dirty="0">
                <a:solidFill>
                  <a:srgbClr val="FF0000"/>
                </a:solidFill>
              </a:rPr>
              <a:t>&amp;</a:t>
            </a:r>
            <a:r>
              <a:rPr lang="zh-CN" altLang="en-US" dirty="0"/>
              <a:t>”取地址运算</a:t>
            </a:r>
            <a:endParaRPr lang="en-US" altLang="zh-CN" dirty="0"/>
          </a:p>
          <a:p>
            <a:pPr lvl="1"/>
            <a:r>
              <a:rPr lang="zh-CN" altLang="en-US" dirty="0"/>
              <a:t>运算表达式：</a:t>
            </a:r>
            <a:r>
              <a:rPr lang="en-US" altLang="zh-CN" dirty="0"/>
              <a:t>&amp;&lt;</a:t>
            </a:r>
            <a:r>
              <a:rPr lang="zh-CN" altLang="en-US" dirty="0"/>
              <a:t>可寻址数据名</a:t>
            </a:r>
            <a:r>
              <a:rPr lang="en-US" altLang="zh-CN" dirty="0"/>
              <a:t>&gt;</a:t>
            </a:r>
          </a:p>
          <a:p>
            <a:pPr lvl="2"/>
            <a:r>
              <a:rPr lang="zh-CN" altLang="en-US" dirty="0"/>
              <a:t>可寻址数据包括：变量、数组元素、类对象等</a:t>
            </a:r>
            <a:endParaRPr lang="en-US" altLang="zh-CN" dirty="0"/>
          </a:p>
          <a:p>
            <a:pPr lvl="1"/>
            <a:r>
              <a:rPr lang="zh-CN" altLang="en-US" dirty="0"/>
              <a:t>作用于内存中一个</a:t>
            </a:r>
            <a:r>
              <a:rPr lang="zh-CN" altLang="en-US" dirty="0">
                <a:solidFill>
                  <a:srgbClr val="FF0000"/>
                </a:solidFill>
              </a:rPr>
              <a:t>可寻址</a:t>
            </a:r>
            <a:r>
              <a:rPr lang="zh-CN" altLang="en-US" dirty="0"/>
              <a:t>的数据</a:t>
            </a:r>
            <a:endParaRPr lang="en-US" altLang="zh-CN" dirty="0"/>
          </a:p>
          <a:p>
            <a:pPr lvl="1"/>
            <a:r>
              <a:rPr lang="zh-CN" altLang="en-US" dirty="0"/>
              <a:t>操作的结果是获得</a:t>
            </a:r>
            <a:r>
              <a:rPr lang="zh-CN" altLang="en-US" dirty="0">
                <a:solidFill>
                  <a:srgbClr val="FF0000"/>
                </a:solidFill>
              </a:rPr>
              <a:t>该数据的地址</a:t>
            </a:r>
            <a:endParaRPr lang="en-US" altLang="zh-CN" dirty="0">
              <a:solidFill>
                <a:srgbClr val="FF0000"/>
              </a:solidFill>
            </a:endParaRPr>
          </a:p>
        </p:txBody>
      </p:sp>
      <p:sp>
        <p:nvSpPr>
          <p:cNvPr id="13" name="矩形 12">
            <a:hlinkClick r:id="" action="ppaction://noaction"/>
            <a:extLst>
              <a:ext uri="{FF2B5EF4-FFF2-40B4-BE49-F238E27FC236}">
                <a16:creationId xmlns:a16="http://schemas.microsoft.com/office/drawing/2014/main" id="{F1A63831-897C-4708-9864-41D241F0DCF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3087715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p:cNvSpPr/>
          <p:nvPr/>
        </p:nvSpPr>
        <p:spPr>
          <a:xfrm>
            <a:off x="175767" y="2697137"/>
            <a:ext cx="8929750" cy="2460032"/>
          </a:xfrm>
          <a:prstGeom prst="rect">
            <a:avLst/>
          </a:prstGeom>
        </p:spPr>
        <p:txBody>
          <a:bodyPr wrap="square">
            <a:spAutoFit/>
          </a:bodyPr>
          <a:lstStyle/>
          <a:p>
            <a:pPr lvl="1" algn="just">
              <a:lnSpc>
                <a:spcPct val="130000"/>
              </a:lnSpc>
              <a:buNone/>
            </a:pPr>
            <a:r>
              <a:rPr lang="en-US" altLang="zh-CN" sz="2400" b="1" dirty="0" err="1">
                <a:solidFill>
                  <a:srgbClr val="0000FF"/>
                </a:solidFill>
                <a:latin typeface="Courier New" pitchFamily="49" charset="0"/>
                <a:ea typeface="楷体_GB2312" pitchFamily="49" charset="-122"/>
                <a:cs typeface="Courier New" pitchFamily="49" charset="0"/>
              </a:rPr>
              <a:t>int</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a=18,*p;</a:t>
            </a:r>
          </a:p>
          <a:p>
            <a:pPr lvl="1" algn="just">
              <a:lnSpc>
                <a:spcPct val="130000"/>
              </a:lnSpc>
              <a:buNone/>
            </a:pPr>
            <a:r>
              <a:rPr lang="en-US" altLang="zh-CN" sz="2400" b="1" dirty="0">
                <a:latin typeface="Courier New" pitchFamily="49" charset="0"/>
                <a:ea typeface="楷体_GB2312" pitchFamily="49" charset="-122"/>
                <a:cs typeface="Courier New" pitchFamily="49" charset="0"/>
              </a:rPr>
              <a:t>p = &amp;a;</a:t>
            </a:r>
          </a:p>
          <a:p>
            <a:pPr lvl="1" algn="just">
              <a:lnSpc>
                <a:spcPct val="130000"/>
              </a:lnSpc>
              <a:buNone/>
            </a:pPr>
            <a:r>
              <a:rPr lang="en-US" altLang="zh-CN" sz="2400" b="1" dirty="0" err="1">
                <a:latin typeface="Courier New" pitchFamily="49" charset="0"/>
                <a:ea typeface="楷体_GB2312" pitchFamily="49" charset="-122"/>
                <a:cs typeface="Courier New" pitchFamily="49" charset="0"/>
              </a:rPr>
              <a:t>cout</a:t>
            </a:r>
            <a:r>
              <a:rPr lang="en-US" altLang="zh-CN" sz="2400" b="1" dirty="0">
                <a:latin typeface="Courier New" pitchFamily="49" charset="0"/>
                <a:ea typeface="楷体_GB2312" pitchFamily="49" charset="-122"/>
                <a:cs typeface="Courier New" pitchFamily="49" charset="0"/>
              </a:rPr>
              <a:t>&lt;&lt;p;</a:t>
            </a:r>
            <a:r>
              <a:rPr lang="en-US" altLang="zh-CN" sz="2400" b="1" dirty="0">
                <a:solidFill>
                  <a:srgbClr val="007434"/>
                </a:solidFill>
                <a:latin typeface="Courier New" pitchFamily="49" charset="0"/>
                <a:ea typeface="楷体_GB2312" pitchFamily="49" charset="-122"/>
                <a:cs typeface="Courier New" pitchFamily="49" charset="0"/>
              </a:rPr>
              <a:t>//</a:t>
            </a:r>
            <a:r>
              <a:rPr lang="zh-CN" altLang="en-US" sz="2400" b="1" dirty="0">
                <a:solidFill>
                  <a:srgbClr val="007434"/>
                </a:solidFill>
                <a:latin typeface="Courier New" pitchFamily="49" charset="0"/>
                <a:ea typeface="楷体_GB2312" pitchFamily="49" charset="-122"/>
                <a:cs typeface="Courier New" pitchFamily="49" charset="0"/>
              </a:rPr>
              <a:t>输出</a:t>
            </a:r>
            <a:r>
              <a:rPr lang="en-US" altLang="zh-CN" sz="2400" b="1" dirty="0">
                <a:solidFill>
                  <a:srgbClr val="007434"/>
                </a:solidFill>
                <a:latin typeface="Courier New" pitchFamily="49" charset="0"/>
                <a:ea typeface="楷体_GB2312" pitchFamily="49" charset="-122"/>
                <a:cs typeface="Courier New" pitchFamily="49" charset="0"/>
              </a:rPr>
              <a:t>0x1234abcd</a:t>
            </a:r>
            <a:r>
              <a:rPr lang="zh-CN" altLang="en-US" sz="2400" b="1" dirty="0">
                <a:solidFill>
                  <a:srgbClr val="007434"/>
                </a:solidFill>
                <a:latin typeface="Courier New" pitchFamily="49" charset="0"/>
                <a:ea typeface="楷体_GB2312" pitchFamily="49" charset="-122"/>
                <a:cs typeface="Courier New" pitchFamily="49" charset="0"/>
              </a:rPr>
              <a:t>，是变量</a:t>
            </a:r>
            <a:r>
              <a:rPr lang="en-US" altLang="zh-CN" sz="2400" b="1" dirty="0">
                <a:solidFill>
                  <a:srgbClr val="007434"/>
                </a:solidFill>
                <a:latin typeface="Courier New" pitchFamily="49" charset="0"/>
                <a:ea typeface="楷体_GB2312" pitchFamily="49" charset="-122"/>
                <a:cs typeface="Courier New" pitchFamily="49" charset="0"/>
              </a:rPr>
              <a:t>a</a:t>
            </a:r>
            <a:r>
              <a:rPr lang="zh-CN" altLang="en-US" sz="2400" b="1" dirty="0">
                <a:solidFill>
                  <a:srgbClr val="007434"/>
                </a:solidFill>
                <a:latin typeface="Courier New" pitchFamily="49" charset="0"/>
                <a:ea typeface="楷体_GB2312" pitchFamily="49" charset="-122"/>
                <a:cs typeface="Courier New" pitchFamily="49" charset="0"/>
              </a:rPr>
              <a:t>的地址</a:t>
            </a:r>
            <a:endParaRPr lang="en-US" altLang="zh-CN" sz="2400" b="1" dirty="0">
              <a:solidFill>
                <a:srgbClr val="007434"/>
              </a:solidFill>
              <a:latin typeface="Courier New" pitchFamily="49" charset="0"/>
              <a:ea typeface="楷体_GB2312" pitchFamily="49" charset="-122"/>
              <a:cs typeface="Courier New" pitchFamily="49" charset="0"/>
            </a:endParaRPr>
          </a:p>
          <a:p>
            <a:pPr lvl="1" algn="just">
              <a:lnSpc>
                <a:spcPct val="130000"/>
              </a:lnSpc>
              <a:buNone/>
            </a:pPr>
            <a:r>
              <a:rPr lang="en-US" altLang="zh-CN" sz="2400" b="1" dirty="0" err="1">
                <a:latin typeface="Courier New" pitchFamily="49" charset="0"/>
                <a:ea typeface="楷体_GB2312" pitchFamily="49" charset="-122"/>
                <a:cs typeface="Courier New" pitchFamily="49" charset="0"/>
              </a:rPr>
              <a:t>cout</a:t>
            </a:r>
            <a:r>
              <a:rPr lang="en-US" altLang="zh-CN" sz="2400" b="1" dirty="0">
                <a:latin typeface="Courier New" pitchFamily="49" charset="0"/>
                <a:ea typeface="楷体_GB2312" pitchFamily="49" charset="-122"/>
                <a:cs typeface="Courier New" pitchFamily="49" charset="0"/>
              </a:rPr>
              <a:t>&lt;&lt;*p;</a:t>
            </a:r>
            <a:r>
              <a:rPr lang="en-US" altLang="zh-CN" sz="2400" b="1" dirty="0">
                <a:solidFill>
                  <a:srgbClr val="007434"/>
                </a:solidFill>
                <a:latin typeface="Courier New" pitchFamily="49" charset="0"/>
                <a:ea typeface="楷体_GB2312" pitchFamily="49" charset="-122"/>
                <a:cs typeface="Courier New" pitchFamily="49" charset="0"/>
              </a:rPr>
              <a:t>//</a:t>
            </a:r>
            <a:r>
              <a:rPr lang="zh-CN" altLang="en-US" sz="2400" b="1" dirty="0">
                <a:solidFill>
                  <a:srgbClr val="007434"/>
                </a:solidFill>
                <a:latin typeface="Courier New" pitchFamily="49" charset="0"/>
                <a:ea typeface="楷体_GB2312" pitchFamily="49" charset="-122"/>
                <a:cs typeface="Courier New" pitchFamily="49" charset="0"/>
              </a:rPr>
              <a:t>输出</a:t>
            </a:r>
            <a:r>
              <a:rPr lang="en-US" altLang="zh-CN" sz="2400" b="1" dirty="0">
                <a:solidFill>
                  <a:srgbClr val="007434"/>
                </a:solidFill>
                <a:latin typeface="Courier New" pitchFamily="49" charset="0"/>
                <a:ea typeface="楷体_GB2312" pitchFamily="49" charset="-122"/>
                <a:cs typeface="Courier New" pitchFamily="49" charset="0"/>
              </a:rPr>
              <a:t>18</a:t>
            </a:r>
            <a:r>
              <a:rPr lang="zh-CN" altLang="en-US" sz="2400" b="1" dirty="0">
                <a:solidFill>
                  <a:srgbClr val="007434"/>
                </a:solidFill>
                <a:latin typeface="Courier New" pitchFamily="49" charset="0"/>
                <a:ea typeface="楷体_GB2312" pitchFamily="49" charset="-122"/>
                <a:cs typeface="Courier New" pitchFamily="49" charset="0"/>
              </a:rPr>
              <a:t>，是变量</a:t>
            </a:r>
            <a:r>
              <a:rPr lang="en-US" altLang="zh-CN" sz="2400" b="1" dirty="0">
                <a:solidFill>
                  <a:srgbClr val="007434"/>
                </a:solidFill>
                <a:latin typeface="Courier New" pitchFamily="49" charset="0"/>
                <a:ea typeface="楷体_GB2312" pitchFamily="49" charset="-122"/>
                <a:cs typeface="Courier New" pitchFamily="49" charset="0"/>
              </a:rPr>
              <a:t>a</a:t>
            </a:r>
            <a:r>
              <a:rPr lang="zh-CN" altLang="en-US" sz="2400" b="1" dirty="0">
                <a:solidFill>
                  <a:srgbClr val="007434"/>
                </a:solidFill>
                <a:latin typeface="Courier New" pitchFamily="49" charset="0"/>
                <a:ea typeface="楷体_GB2312" pitchFamily="49" charset="-122"/>
                <a:cs typeface="Courier New" pitchFamily="49" charset="0"/>
              </a:rPr>
              <a:t>所在地址的数据值，即</a:t>
            </a:r>
            <a:r>
              <a:rPr lang="en-US" altLang="zh-CN" sz="2400" b="1" dirty="0">
                <a:solidFill>
                  <a:srgbClr val="007434"/>
                </a:solidFill>
                <a:latin typeface="Courier New" pitchFamily="49" charset="0"/>
                <a:ea typeface="楷体_GB2312" pitchFamily="49" charset="-122"/>
                <a:cs typeface="Courier New" pitchFamily="49" charset="0"/>
              </a:rPr>
              <a:t>a</a:t>
            </a:r>
            <a:r>
              <a:rPr lang="zh-CN" altLang="en-US" sz="2400" b="1" dirty="0">
                <a:solidFill>
                  <a:srgbClr val="007434"/>
                </a:solidFill>
                <a:latin typeface="Courier New" pitchFamily="49" charset="0"/>
                <a:ea typeface="楷体_GB2312" pitchFamily="49" charset="-122"/>
                <a:cs typeface="Courier New" pitchFamily="49" charset="0"/>
              </a:rPr>
              <a:t>的值</a:t>
            </a:r>
            <a:endParaRPr lang="en-US" altLang="zh-CN" sz="2400" b="1" dirty="0">
              <a:solidFill>
                <a:srgbClr val="007434"/>
              </a:solidFill>
              <a:latin typeface="Courier New" pitchFamily="49" charset="0"/>
              <a:ea typeface="楷体_GB2312" pitchFamily="49" charset="-122"/>
              <a:cs typeface="Courier New" pitchFamily="49" charset="0"/>
            </a:endParaRPr>
          </a:p>
          <a:p>
            <a:pPr lvl="1" algn="just">
              <a:lnSpc>
                <a:spcPct val="130000"/>
              </a:lnSpc>
              <a:buNone/>
            </a:pPr>
            <a:r>
              <a:rPr lang="en-US" altLang="zh-CN" sz="2400" b="1" dirty="0" err="1">
                <a:latin typeface="Courier New" pitchFamily="49" charset="0"/>
                <a:ea typeface="楷体_GB2312" pitchFamily="49" charset="-122"/>
                <a:cs typeface="Courier New" pitchFamily="49" charset="0"/>
              </a:rPr>
              <a:t>cout</a:t>
            </a:r>
            <a:r>
              <a:rPr lang="en-US" altLang="zh-CN" sz="2400" b="1" dirty="0">
                <a:latin typeface="Courier New" pitchFamily="49" charset="0"/>
                <a:ea typeface="楷体_GB2312" pitchFamily="49" charset="-122"/>
                <a:cs typeface="Courier New" pitchFamily="49" charset="0"/>
              </a:rPr>
              <a:t>&lt;&lt;&amp;p;</a:t>
            </a:r>
            <a:r>
              <a:rPr lang="en-US" altLang="zh-CN" sz="2400" b="1" dirty="0">
                <a:solidFill>
                  <a:srgbClr val="007434"/>
                </a:solidFill>
                <a:latin typeface="Courier New" pitchFamily="49" charset="0"/>
                <a:ea typeface="楷体_GB2312" pitchFamily="49" charset="-122"/>
                <a:cs typeface="Courier New" pitchFamily="49" charset="0"/>
              </a:rPr>
              <a:t>//</a:t>
            </a:r>
            <a:r>
              <a:rPr lang="zh-CN" altLang="en-US" sz="2400" b="1" dirty="0">
                <a:solidFill>
                  <a:srgbClr val="007434"/>
                </a:solidFill>
                <a:latin typeface="Courier New" pitchFamily="49" charset="0"/>
                <a:ea typeface="楷体_GB2312" pitchFamily="49" charset="-122"/>
                <a:cs typeface="Courier New" pitchFamily="49" charset="0"/>
              </a:rPr>
              <a:t>输出</a:t>
            </a:r>
            <a:r>
              <a:rPr lang="en-US" altLang="zh-CN" sz="2400" b="1" dirty="0">
                <a:solidFill>
                  <a:srgbClr val="007434"/>
                </a:solidFill>
                <a:latin typeface="Courier New" pitchFamily="49" charset="0"/>
                <a:ea typeface="楷体_GB2312" pitchFamily="49" charset="-122"/>
                <a:cs typeface="Courier New" pitchFamily="49" charset="0"/>
              </a:rPr>
              <a:t>0x456789bcd</a:t>
            </a:r>
            <a:r>
              <a:rPr lang="zh-CN" altLang="en-US" sz="2400" b="1" dirty="0">
                <a:solidFill>
                  <a:srgbClr val="007434"/>
                </a:solidFill>
                <a:latin typeface="Courier New" pitchFamily="49" charset="0"/>
                <a:ea typeface="楷体_GB2312" pitchFamily="49" charset="-122"/>
                <a:cs typeface="Courier New" pitchFamily="49" charset="0"/>
              </a:rPr>
              <a:t>，是指针变量</a:t>
            </a:r>
            <a:r>
              <a:rPr lang="en-US" altLang="zh-CN" sz="2400" b="1" dirty="0">
                <a:solidFill>
                  <a:srgbClr val="007434"/>
                </a:solidFill>
                <a:latin typeface="Courier New" pitchFamily="49" charset="0"/>
                <a:ea typeface="楷体_GB2312" pitchFamily="49" charset="-122"/>
                <a:cs typeface="Courier New" pitchFamily="49" charset="0"/>
              </a:rPr>
              <a:t>p</a:t>
            </a:r>
            <a:r>
              <a:rPr lang="zh-CN" altLang="en-US" sz="2400" b="1" dirty="0">
                <a:solidFill>
                  <a:srgbClr val="007434"/>
                </a:solidFill>
                <a:latin typeface="Courier New" pitchFamily="49" charset="0"/>
                <a:ea typeface="楷体_GB2312" pitchFamily="49" charset="-122"/>
                <a:cs typeface="Courier New" pitchFamily="49" charset="0"/>
              </a:rPr>
              <a:t>的地址</a:t>
            </a:r>
            <a:endParaRPr lang="zh-CN" altLang="en-US" b="1" dirty="0">
              <a:solidFill>
                <a:srgbClr val="007434"/>
              </a:solidFill>
              <a:ea typeface="楷体_GB2312" pitchFamily="49" charset="-122"/>
            </a:endParaRPr>
          </a:p>
        </p:txBody>
      </p:sp>
      <p:graphicFrame>
        <p:nvGraphicFramePr>
          <p:cNvPr id="14" name="Group 67"/>
          <p:cNvGraphicFramePr>
            <a:graphicFrameLocks noGrp="1"/>
          </p:cNvGraphicFramePr>
          <p:nvPr>
            <p:extLst/>
          </p:nvPr>
        </p:nvGraphicFramePr>
        <p:xfrm>
          <a:off x="5659536" y="2208755"/>
          <a:ext cx="1143000" cy="685800"/>
        </p:xfrm>
        <a:graphic>
          <a:graphicData uri="http://schemas.openxmlformats.org/drawingml/2006/table">
            <a:tbl>
              <a:tblPr/>
              <a:tblGrid>
                <a:gridCol w="1143000">
                  <a:extLst>
                    <a:ext uri="{9D8B030D-6E8A-4147-A177-3AD203B41FA5}">
                      <a16:colId xmlns:a16="http://schemas.microsoft.com/office/drawing/2014/main" val="20000"/>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CC33"/>
                    </a:solidFill>
                  </a:tcPr>
                </a:tc>
                <a:extLst>
                  <a:ext uri="{0D108BD9-81ED-4DB2-BD59-A6C34878D82A}">
                    <a16:rowId xmlns:a16="http://schemas.microsoft.com/office/drawing/2014/main" val="10000"/>
                  </a:ext>
                </a:extLst>
              </a:tr>
            </a:tbl>
          </a:graphicData>
        </a:graphic>
      </p:graphicFrame>
      <p:graphicFrame>
        <p:nvGraphicFramePr>
          <p:cNvPr id="15" name="Group 65"/>
          <p:cNvGraphicFramePr>
            <a:graphicFrameLocks noGrp="1"/>
          </p:cNvGraphicFramePr>
          <p:nvPr>
            <p:extLst/>
          </p:nvPr>
        </p:nvGraphicFramePr>
        <p:xfrm>
          <a:off x="7412136" y="2208755"/>
          <a:ext cx="1143000" cy="685800"/>
        </p:xfrm>
        <a:graphic>
          <a:graphicData uri="http://schemas.openxmlformats.org/drawingml/2006/table">
            <a:tbl>
              <a:tblPr/>
              <a:tblGrid>
                <a:gridCol w="1143000">
                  <a:extLst>
                    <a:ext uri="{9D8B030D-6E8A-4147-A177-3AD203B41FA5}">
                      <a16:colId xmlns:a16="http://schemas.microsoft.com/office/drawing/2014/main" val="20000"/>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0" i="0" u="none" strike="noStrike" cap="none" normalizeH="0" baseline="0" dirty="0">
                          <a:ln>
                            <a:noFill/>
                          </a:ln>
                          <a:solidFill>
                            <a:schemeClr val="hlink"/>
                          </a:solidFill>
                          <a:effectLst/>
                          <a:latin typeface="Arial" charset="0"/>
                          <a:ea typeface="宋体" charset="-122"/>
                        </a:rPr>
                        <a:t>   </a:t>
                      </a:r>
                      <a:endParaRPr kumimoji="0" lang="en-US" altLang="zh-CN" sz="2800" b="1" i="0" u="none" strike="noStrike" cap="none" normalizeH="0" baseline="0" dirty="0">
                        <a:ln>
                          <a:noFill/>
                        </a:ln>
                        <a:solidFill>
                          <a:schemeClr val="hlink"/>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16" name="Line 27"/>
          <p:cNvSpPr>
            <a:spLocks noChangeShapeType="1"/>
          </p:cNvSpPr>
          <p:nvPr/>
        </p:nvSpPr>
        <p:spPr bwMode="auto">
          <a:xfrm>
            <a:off x="6421536" y="2589755"/>
            <a:ext cx="990600" cy="0"/>
          </a:xfrm>
          <a:prstGeom prst="line">
            <a:avLst/>
          </a:prstGeom>
          <a:noFill/>
          <a:ln w="28575">
            <a:solidFill>
              <a:schemeClr val="tx1"/>
            </a:solidFill>
            <a:round/>
            <a:headEnd/>
            <a:tailEnd type="triangle" w="med" len="med"/>
          </a:ln>
          <a:effectLst/>
        </p:spPr>
        <p:txBody>
          <a:bodyPr wrap="none"/>
          <a:lstStyle/>
          <a:p>
            <a:endParaRPr lang="zh-CN" altLang="en-US"/>
          </a:p>
        </p:txBody>
      </p:sp>
      <p:sp>
        <p:nvSpPr>
          <p:cNvPr id="17" name="Text Box 55"/>
          <p:cNvSpPr txBox="1">
            <a:spLocks noChangeArrowheads="1"/>
          </p:cNvSpPr>
          <p:nvPr/>
        </p:nvSpPr>
        <p:spPr bwMode="auto">
          <a:xfrm>
            <a:off x="7838944" y="1675355"/>
            <a:ext cx="320922" cy="461665"/>
          </a:xfrm>
          <a:prstGeom prst="rect">
            <a:avLst/>
          </a:prstGeom>
          <a:noFill/>
          <a:ln w="9525">
            <a:noFill/>
            <a:miter lim="800000"/>
            <a:headEnd/>
            <a:tailEnd/>
          </a:ln>
          <a:effectLst/>
        </p:spPr>
        <p:txBody>
          <a:bodyPr wrap="none">
            <a:spAutoFit/>
          </a:bodyPr>
          <a:lstStyle/>
          <a:p>
            <a:r>
              <a:rPr kumimoji="1" lang="en-US" altLang="zh-CN" sz="2400" b="0" dirty="0">
                <a:latin typeface="Times New Roman" pitchFamily="18" charset="0"/>
                <a:ea typeface="宋体" charset="-122"/>
              </a:rPr>
              <a:t>a</a:t>
            </a:r>
          </a:p>
        </p:txBody>
      </p:sp>
      <p:sp>
        <p:nvSpPr>
          <p:cNvPr id="18" name="Text Box 56"/>
          <p:cNvSpPr txBox="1">
            <a:spLocks noChangeArrowheads="1"/>
          </p:cNvSpPr>
          <p:nvPr/>
        </p:nvSpPr>
        <p:spPr bwMode="auto">
          <a:xfrm>
            <a:off x="6016726" y="1675355"/>
            <a:ext cx="338554" cy="461665"/>
          </a:xfrm>
          <a:prstGeom prst="rect">
            <a:avLst/>
          </a:prstGeom>
          <a:noFill/>
          <a:ln w="9525">
            <a:noFill/>
            <a:miter lim="800000"/>
            <a:headEnd/>
            <a:tailEnd/>
          </a:ln>
          <a:effectLst/>
        </p:spPr>
        <p:txBody>
          <a:bodyPr wrap="none">
            <a:spAutoFit/>
          </a:bodyPr>
          <a:lstStyle/>
          <a:p>
            <a:r>
              <a:rPr kumimoji="1" lang="en-US" altLang="zh-CN" sz="2400" b="0" dirty="0">
                <a:latin typeface="Times New Roman" pitchFamily="18" charset="0"/>
                <a:ea typeface="宋体" charset="-122"/>
              </a:rPr>
              <a:t>p</a:t>
            </a:r>
          </a:p>
        </p:txBody>
      </p:sp>
      <p:pic>
        <p:nvPicPr>
          <p:cNvPr id="19" name="Picture 2"/>
          <p:cNvPicPr>
            <a:picLocks noChangeAspect="1" noChangeArrowheads="1"/>
          </p:cNvPicPr>
          <p:nvPr/>
        </p:nvPicPr>
        <p:blipFill>
          <a:blip r:embed="rId4" cstate="print"/>
          <a:srcRect/>
          <a:stretch>
            <a:fillRect/>
          </a:stretch>
        </p:blipFill>
        <p:spPr bwMode="auto">
          <a:xfrm>
            <a:off x="7802631" y="2351641"/>
            <a:ext cx="368300" cy="439737"/>
          </a:xfrm>
          <a:prstGeom prst="rect">
            <a:avLst/>
          </a:prstGeom>
          <a:noFill/>
          <a:ln w="9525">
            <a:miter lim="800000"/>
            <a:headEnd/>
            <a:tailEnd/>
          </a:ln>
          <a:effectLst/>
        </p:spPr>
      </p:pic>
      <p:sp>
        <p:nvSpPr>
          <p:cNvPr id="20" name="矩形 19"/>
          <p:cNvSpPr/>
          <p:nvPr/>
        </p:nvSpPr>
        <p:spPr>
          <a:xfrm>
            <a:off x="529368" y="2089449"/>
            <a:ext cx="1415772" cy="461665"/>
          </a:xfrm>
          <a:prstGeom prst="rect">
            <a:avLst/>
          </a:prstGeom>
        </p:spPr>
        <p:txBody>
          <a:bodyPr wrap="none">
            <a:spAutoFit/>
          </a:bodyPr>
          <a:lstStyle/>
          <a:p>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endParaRPr lang="zh-CN" altLang="en-US" sz="2400" dirty="0"/>
          </a:p>
        </p:txBody>
      </p:sp>
      <p:sp>
        <p:nvSpPr>
          <p:cNvPr id="21" name="矩形 20">
            <a:hlinkClick r:id="" action="ppaction://noaction"/>
            <a:extLst>
              <a:ext uri="{FF2B5EF4-FFF2-40B4-BE49-F238E27FC236}">
                <a16:creationId xmlns:a16="http://schemas.microsoft.com/office/drawing/2014/main" id="{8903B225-0E25-4154-826D-5224EF9AB96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679691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p>
        </p:txBody>
      </p:sp>
      <p:sp>
        <p:nvSpPr>
          <p:cNvPr id="3" name="内容占位符 2"/>
          <p:cNvSpPr>
            <a:spLocks noGrp="1"/>
          </p:cNvSpPr>
          <p:nvPr>
            <p:ph idx="1"/>
          </p:nvPr>
        </p:nvSpPr>
        <p:spPr>
          <a:xfrm>
            <a:off x="139148" y="1799605"/>
            <a:ext cx="8637104" cy="4500562"/>
          </a:xfrm>
        </p:spPr>
        <p:txBody>
          <a:bodyPr/>
          <a:lstStyle/>
          <a:p>
            <a:r>
              <a:rPr lang="en-US" altLang="zh-CN" sz="2200" dirty="0">
                <a:solidFill>
                  <a:srgbClr val="C00000"/>
                </a:solidFill>
              </a:rPr>
              <a:t>【</a:t>
            </a:r>
            <a:r>
              <a:rPr lang="zh-CN" altLang="en-US" sz="2200" dirty="0">
                <a:solidFill>
                  <a:srgbClr val="C00000"/>
                </a:solidFill>
              </a:rPr>
              <a:t>例如</a:t>
            </a:r>
            <a:r>
              <a:rPr lang="en-US" altLang="zh-CN" sz="2200" dirty="0">
                <a:solidFill>
                  <a:srgbClr val="C00000"/>
                </a:solidFill>
              </a:rPr>
              <a:t>】</a:t>
            </a:r>
            <a:r>
              <a:rPr lang="zh-CN" altLang="en-US" sz="2200" dirty="0"/>
              <a:t>如下3处出现的*</a:t>
            </a:r>
            <a:r>
              <a:rPr lang="en-US" altLang="zh-CN" sz="2200" dirty="0"/>
              <a:t>pi，</a:t>
            </a:r>
            <a:r>
              <a:rPr lang="zh-CN" altLang="en-US" sz="2200" dirty="0"/>
              <a:t>其含义各不相同：</a:t>
            </a:r>
          </a:p>
          <a:p>
            <a:pPr algn="just">
              <a:buNone/>
            </a:pPr>
            <a:r>
              <a:rPr lang="en-US" altLang="zh-CN" sz="2200" dirty="0">
                <a:solidFill>
                  <a:srgbClr val="0000FF"/>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=23, *pi=&amp;</a:t>
            </a:r>
            <a:r>
              <a:rPr lang="en-US" altLang="zh-CN" sz="2200" b="1" dirty="0" err="1">
                <a:latin typeface="Courier New" pitchFamily="49" charset="0"/>
                <a:cs typeface="Courier New" pitchFamily="49" charset="0"/>
              </a:rPr>
              <a:t>i</a:t>
            </a:r>
            <a:r>
              <a:rPr lang="en-US" altLang="zh-CN" sz="2200" b="1" dirty="0">
                <a:latin typeface="Courier New" pitchFamily="49" charset="0"/>
                <a:cs typeface="Courier New" pitchFamily="49" charset="0"/>
              </a:rPr>
              <a:t>;</a:t>
            </a:r>
          </a:p>
          <a:p>
            <a:pPr algn="just">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&lt;&lt;*pi;  </a:t>
            </a:r>
          </a:p>
          <a:p>
            <a:pPr algn="just">
              <a:buNone/>
            </a:pPr>
            <a:r>
              <a:rPr lang="en-US" altLang="zh-CN" sz="2200" b="1" dirty="0">
                <a:latin typeface="Courier New" pitchFamily="49" charset="0"/>
                <a:cs typeface="Courier New" pitchFamily="49" charset="0"/>
              </a:rPr>
              <a:t>    	*pi=56; </a:t>
            </a:r>
            <a:endParaRPr lang="en-US" altLang="zh-CN" dirty="0">
              <a:solidFill>
                <a:srgbClr val="00B050"/>
              </a:solidFill>
            </a:endParaRPr>
          </a:p>
          <a:p>
            <a:pPr lvl="1"/>
            <a:r>
              <a:rPr lang="zh-CN" altLang="en-US" sz="2200" dirty="0">
                <a:solidFill>
                  <a:srgbClr val="00B050"/>
                </a:solidFill>
              </a:rPr>
              <a:t>第一行</a:t>
            </a:r>
            <a:r>
              <a:rPr lang="zh-CN" altLang="en-US" sz="2200" dirty="0"/>
              <a:t>的“*</a:t>
            </a:r>
            <a:r>
              <a:rPr lang="en-US" altLang="zh-CN" sz="2200" dirty="0"/>
              <a:t>pi”</a:t>
            </a:r>
            <a:r>
              <a:rPr lang="zh-CN" altLang="en-US" sz="2200" dirty="0"/>
              <a:t>处于变量说明处，是说明</a:t>
            </a:r>
            <a:r>
              <a:rPr lang="en-US" altLang="zh-CN" sz="2200" dirty="0"/>
              <a:t>pi</a:t>
            </a:r>
            <a:r>
              <a:rPr lang="zh-CN" altLang="en-US" sz="2200" dirty="0"/>
              <a:t>为“</a:t>
            </a:r>
            <a:r>
              <a:rPr lang="en-US" altLang="zh-CN" sz="2200" dirty="0" err="1"/>
              <a:t>int</a:t>
            </a:r>
            <a:r>
              <a:rPr lang="en-US" altLang="zh-CN" sz="2200" dirty="0"/>
              <a:t>*”</a:t>
            </a:r>
            <a:r>
              <a:rPr lang="zh-CN" altLang="en-US" sz="2200" dirty="0"/>
              <a:t>型变量，并同时将该指针变量初始化为</a:t>
            </a:r>
            <a:r>
              <a:rPr lang="en-US" altLang="zh-CN" sz="2200" dirty="0" err="1"/>
              <a:t>i</a:t>
            </a:r>
            <a:r>
              <a:rPr lang="zh-CN" altLang="en-US" sz="2200" dirty="0"/>
              <a:t>的地址。不可将此处的“*”理解为“取内容”运算，它与前面的</a:t>
            </a:r>
            <a:r>
              <a:rPr lang="en-US" altLang="zh-CN" sz="2200" dirty="0" err="1"/>
              <a:t>int</a:t>
            </a:r>
            <a:r>
              <a:rPr lang="zh-CN" altLang="en-US" sz="2200" dirty="0"/>
              <a:t>联合起来以说明</a:t>
            </a:r>
            <a:r>
              <a:rPr lang="en-US" altLang="zh-CN" sz="2200" dirty="0"/>
              <a:t>pi</a:t>
            </a:r>
            <a:r>
              <a:rPr lang="zh-CN" altLang="en-US" sz="2200" dirty="0"/>
              <a:t>为“</a:t>
            </a:r>
            <a:r>
              <a:rPr lang="en-US" altLang="zh-CN" sz="2200" dirty="0" err="1"/>
              <a:t>int</a:t>
            </a:r>
            <a:r>
              <a:rPr lang="en-US" altLang="zh-CN" sz="2200" dirty="0"/>
              <a:t>*”</a:t>
            </a:r>
            <a:r>
              <a:rPr lang="zh-CN" altLang="en-US" sz="2200" dirty="0"/>
              <a:t>型变量。</a:t>
            </a:r>
            <a:endParaRPr lang="en-US" altLang="zh-CN" sz="2200" dirty="0"/>
          </a:p>
          <a:p>
            <a:pPr lvl="1"/>
            <a:r>
              <a:rPr lang="zh-CN" altLang="en-US" sz="2200" dirty="0">
                <a:solidFill>
                  <a:srgbClr val="00B050"/>
                </a:solidFill>
              </a:rPr>
              <a:t>第二行</a:t>
            </a:r>
            <a:r>
              <a:rPr lang="zh-CN" altLang="en-US" sz="2200" dirty="0"/>
              <a:t>的“*</a:t>
            </a:r>
            <a:r>
              <a:rPr lang="en-US" altLang="zh-CN" sz="2200" dirty="0"/>
              <a:t>pi”</a:t>
            </a:r>
            <a:r>
              <a:rPr lang="zh-CN" altLang="en-US" sz="2200" dirty="0"/>
              <a:t>表示指针变量</a:t>
            </a:r>
            <a:r>
              <a:rPr lang="en-US" altLang="zh-CN" sz="2200" dirty="0"/>
              <a:t>pi</a:t>
            </a:r>
            <a:r>
              <a:rPr lang="zh-CN" altLang="en-US" sz="2200" dirty="0"/>
              <a:t>所指向的那一变量（即</a:t>
            </a:r>
            <a:r>
              <a:rPr lang="en-US" altLang="zh-CN" sz="2200" dirty="0" err="1"/>
              <a:t>i</a:t>
            </a:r>
            <a:r>
              <a:rPr lang="en-US" altLang="zh-CN" sz="2200" dirty="0"/>
              <a:t>）</a:t>
            </a:r>
            <a:r>
              <a:rPr lang="zh-CN" altLang="en-US" sz="2200" dirty="0"/>
              <a:t>的内容（*理解为“取内容”运算，使用其值）。</a:t>
            </a:r>
            <a:endParaRPr lang="en-US" altLang="zh-CN" sz="2200" dirty="0"/>
          </a:p>
          <a:p>
            <a:pPr lvl="1"/>
            <a:r>
              <a:rPr lang="zh-CN" altLang="en-US" sz="2200" dirty="0">
                <a:solidFill>
                  <a:srgbClr val="00B050"/>
                </a:solidFill>
              </a:rPr>
              <a:t>第三行</a:t>
            </a:r>
            <a:r>
              <a:rPr lang="zh-CN" altLang="en-US" sz="2200" dirty="0"/>
              <a:t>的“*</a:t>
            </a:r>
            <a:r>
              <a:rPr lang="en-US" altLang="zh-CN" sz="2200" dirty="0"/>
              <a:t>pi”</a:t>
            </a:r>
            <a:r>
              <a:rPr lang="zh-CN" altLang="en-US" sz="2200" dirty="0"/>
              <a:t>为左值（存储空间概念），表示要改变指针变量</a:t>
            </a:r>
            <a:r>
              <a:rPr lang="en-US" altLang="zh-CN" sz="2200" dirty="0"/>
              <a:t>pi</a:t>
            </a:r>
            <a:r>
              <a:rPr lang="zh-CN" altLang="en-US" sz="2200" dirty="0"/>
              <a:t>所指向的那一变量（即</a:t>
            </a:r>
            <a:r>
              <a:rPr lang="en-US" altLang="zh-CN" sz="2200" dirty="0" err="1"/>
              <a:t>i</a:t>
            </a:r>
            <a:r>
              <a:rPr lang="en-US" altLang="zh-CN" sz="2200" dirty="0"/>
              <a:t>）</a:t>
            </a:r>
            <a:r>
              <a:rPr lang="zh-CN" altLang="en-US" sz="2200" dirty="0"/>
              <a:t>空间中的内容（使用其存储空间）</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4"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5A8CFC11-D36E-4F4F-A971-C924520FE3D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021887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p>
        </p:txBody>
      </p:sp>
      <p:sp>
        <p:nvSpPr>
          <p:cNvPr id="3" name="内容占位符 2"/>
          <p:cNvSpPr>
            <a:spLocks noGrp="1"/>
          </p:cNvSpPr>
          <p:nvPr>
            <p:ph idx="1"/>
          </p:nvPr>
        </p:nvSpPr>
        <p:spPr>
          <a:xfrm>
            <a:off x="457200" y="1928813"/>
            <a:ext cx="7275443" cy="4500562"/>
          </a:xfrm>
        </p:spPr>
        <p:txBody>
          <a:bodyPr/>
          <a:lstStyle/>
          <a:p>
            <a:r>
              <a:rPr lang="zh-CN" altLang="en-US" dirty="0"/>
              <a:t>算术运算</a:t>
            </a:r>
            <a:endParaRPr lang="en-US" altLang="zh-CN" dirty="0"/>
          </a:p>
          <a:p>
            <a:pPr lvl="1">
              <a:lnSpc>
                <a:spcPct val="120000"/>
              </a:lnSpc>
            </a:pPr>
            <a:r>
              <a:rPr lang="zh-CN" altLang="en-US" dirty="0"/>
              <a:t>当指针变量指向数组时，可以进行算术运算，</a:t>
            </a:r>
            <a:endParaRPr lang="en-US" altLang="zh-CN" dirty="0"/>
          </a:p>
          <a:p>
            <a:pPr marL="457200" lvl="1" indent="0">
              <a:lnSpc>
                <a:spcPct val="120000"/>
              </a:lnSpc>
              <a:buNone/>
            </a:pPr>
            <a:r>
              <a:rPr lang="en-US" altLang="zh-CN" dirty="0"/>
              <a:t>   </a:t>
            </a:r>
            <a:r>
              <a:rPr lang="zh-CN" altLang="en-US" dirty="0"/>
              <a:t>包括</a:t>
            </a:r>
            <a:r>
              <a:rPr lang="en-US" altLang="zh-CN" dirty="0">
                <a:latin typeface="Courier New" pitchFamily="49" charset="0"/>
                <a:cs typeface="Courier New" pitchFamily="49" charset="0"/>
              </a:rPr>
              <a:t>+</a:t>
            </a:r>
            <a:r>
              <a:rPr lang="zh-CN" altLang="en-US" dirty="0">
                <a:latin typeface="Courier New" pitchFamily="49" charset="0"/>
                <a:cs typeface="Courier New" pitchFamily="49" charset="0"/>
              </a:rPr>
              <a:t>、</a:t>
            </a:r>
            <a:r>
              <a:rPr lang="en-US" altLang="zh-CN" dirty="0">
                <a:latin typeface="Courier New" pitchFamily="49" charset="0"/>
                <a:cs typeface="Courier New" pitchFamily="49" charset="0"/>
              </a:rPr>
              <a:t>-</a:t>
            </a:r>
            <a:r>
              <a:rPr lang="zh-CN" altLang="en-US" dirty="0">
                <a:latin typeface="Courier New" pitchFamily="49" charset="0"/>
                <a:cs typeface="Courier New" pitchFamily="49" charset="0"/>
              </a:rPr>
              <a:t>、</a:t>
            </a:r>
            <a:r>
              <a:rPr lang="en-US" altLang="zh-CN" dirty="0">
                <a:latin typeface="Courier New" pitchFamily="49" charset="0"/>
                <a:cs typeface="Courier New" pitchFamily="49" charset="0"/>
              </a:rPr>
              <a:t>++</a:t>
            </a:r>
            <a:r>
              <a:rPr lang="zh-CN" altLang="en-US" dirty="0">
                <a:latin typeface="Courier New" pitchFamily="49" charset="0"/>
                <a:cs typeface="Courier New" pitchFamily="49" charset="0"/>
              </a:rPr>
              <a:t>、</a:t>
            </a:r>
            <a:r>
              <a:rPr lang="en-US" altLang="zh-CN" dirty="0">
                <a:latin typeface="Courier New" pitchFamily="49" charset="0"/>
                <a:cs typeface="Courier New" pitchFamily="49" charset="0"/>
              </a:rPr>
              <a:t>--</a:t>
            </a:r>
          </a:p>
          <a:p>
            <a:pPr lvl="1" algn="just">
              <a:lnSpc>
                <a:spcPct val="120000"/>
              </a:lnSpc>
            </a:pPr>
            <a:r>
              <a:rPr lang="zh-CN" altLang="en-US" dirty="0"/>
              <a:t>若</a:t>
            </a:r>
            <a:r>
              <a:rPr lang="en-US" altLang="zh-CN" dirty="0"/>
              <a:t>p</a:t>
            </a:r>
            <a:r>
              <a:rPr lang="zh-CN" altLang="en-US" dirty="0"/>
              <a:t>为指针，已指向数组的某一元素，</a:t>
            </a:r>
            <a:endParaRPr lang="en-US" altLang="zh-CN" dirty="0"/>
          </a:p>
          <a:p>
            <a:pPr marL="457200" lvl="1" indent="0" algn="just">
              <a:lnSpc>
                <a:spcPct val="120000"/>
              </a:lnSpc>
              <a:buNone/>
            </a:pPr>
            <a:r>
              <a:rPr lang="en-US" altLang="zh-CN" dirty="0"/>
              <a:t>   </a:t>
            </a:r>
            <a:r>
              <a:rPr lang="zh-CN" altLang="en-US" dirty="0"/>
              <a:t>则</a:t>
            </a:r>
            <a:r>
              <a:rPr lang="en-US" altLang="zh-CN" dirty="0" err="1"/>
              <a:t>p+i</a:t>
            </a:r>
            <a:r>
              <a:rPr lang="en-US" altLang="zh-CN" dirty="0"/>
              <a:t> (</a:t>
            </a:r>
            <a:r>
              <a:rPr lang="zh-CN" altLang="en-US" dirty="0"/>
              <a:t>或</a:t>
            </a:r>
            <a:r>
              <a:rPr lang="en-US" altLang="zh-CN" dirty="0"/>
              <a:t>p-</a:t>
            </a:r>
            <a:r>
              <a:rPr lang="en-US" altLang="zh-CN" dirty="0" err="1"/>
              <a:t>i</a:t>
            </a:r>
            <a:r>
              <a:rPr lang="en-US" altLang="zh-CN" dirty="0"/>
              <a:t>,</a:t>
            </a:r>
            <a:r>
              <a:rPr lang="zh-CN" altLang="en-US" dirty="0"/>
              <a:t>其中</a:t>
            </a:r>
            <a:r>
              <a:rPr lang="en-US" altLang="zh-CN" dirty="0" err="1"/>
              <a:t>i</a:t>
            </a:r>
            <a:r>
              <a:rPr lang="zh-CN" altLang="en-US" dirty="0"/>
              <a:t>为正整数)也为一指针，</a:t>
            </a:r>
            <a:endParaRPr lang="en-US" altLang="zh-CN" dirty="0"/>
          </a:p>
          <a:p>
            <a:pPr marL="457200" lvl="1" indent="0" algn="just">
              <a:lnSpc>
                <a:spcPct val="120000"/>
              </a:lnSpc>
              <a:buNone/>
            </a:pPr>
            <a:r>
              <a:rPr lang="en-US" altLang="zh-CN" dirty="0"/>
              <a:t>   </a:t>
            </a:r>
            <a:r>
              <a:rPr lang="zh-CN" altLang="en-US" dirty="0"/>
              <a:t>它指向当前</a:t>
            </a:r>
            <a:r>
              <a:rPr lang="en-US" altLang="zh-CN" dirty="0"/>
              <a:t>p</a:t>
            </a:r>
            <a:r>
              <a:rPr lang="zh-CN" altLang="en-US" dirty="0"/>
              <a:t>已指元素的后面(或前面)第</a:t>
            </a:r>
            <a:r>
              <a:rPr lang="en-US" altLang="zh-CN" dirty="0" err="1"/>
              <a:t>i</a:t>
            </a:r>
            <a:r>
              <a:rPr lang="zh-CN" altLang="en-US" dirty="0"/>
              <a:t>个元素</a:t>
            </a:r>
            <a:endParaRPr lang="en-US" altLang="zh-CN" dirty="0"/>
          </a:p>
          <a:p>
            <a:pPr algn="just">
              <a:lnSpc>
                <a:spcPct val="120000"/>
              </a:lnSpc>
              <a:buNone/>
            </a:pPr>
            <a:r>
              <a:rPr lang="en-US" altLang="zh-CN" sz="2800" dirty="0">
                <a:solidFill>
                  <a:srgbClr val="C00000"/>
                </a:solidFill>
              </a:rPr>
              <a:t>	</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D5C45251-13E1-4E5A-92F6-1C862F4A855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1012635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p>
        </p:txBody>
      </p:sp>
      <p:sp>
        <p:nvSpPr>
          <p:cNvPr id="3" name="内容占位符 2"/>
          <p:cNvSpPr>
            <a:spLocks noGrp="1"/>
          </p:cNvSpPr>
          <p:nvPr>
            <p:ph idx="1"/>
          </p:nvPr>
        </p:nvSpPr>
        <p:spPr>
          <a:xfrm>
            <a:off x="203751" y="2808568"/>
            <a:ext cx="8786192" cy="3736350"/>
          </a:xfrm>
        </p:spPr>
        <p:txBody>
          <a:bodyPr/>
          <a:lstStyle/>
          <a:p>
            <a:pPr algn="just">
              <a:buNone/>
            </a:pPr>
            <a:r>
              <a:rPr lang="en-US" altLang="zh-CN" sz="2400" dirty="0"/>
              <a:t>	</a:t>
            </a:r>
            <a:r>
              <a:rPr lang="zh-CN" altLang="en-US" sz="2400" dirty="0"/>
              <a:t>无论何时, 下述两种表示数组元素</a:t>
            </a:r>
            <a:r>
              <a:rPr lang="en-US" altLang="zh-CN" sz="2400" dirty="0"/>
              <a:t>a[</a:t>
            </a:r>
            <a:r>
              <a:rPr lang="en-US" altLang="zh-CN" sz="2400" dirty="0" err="1"/>
              <a:t>i</a:t>
            </a:r>
            <a:r>
              <a:rPr lang="en-US" altLang="zh-CN" sz="2400" dirty="0"/>
              <a:t>]</a:t>
            </a:r>
            <a:r>
              <a:rPr lang="zh-CN" altLang="en-US" sz="2400" dirty="0"/>
              <a:t>的方式总是相同的：</a:t>
            </a:r>
          </a:p>
          <a:p>
            <a:pPr algn="just">
              <a:lnSpc>
                <a:spcPct val="75000"/>
              </a:lnSpc>
              <a:buNone/>
            </a:pPr>
            <a:r>
              <a:rPr lang="zh-CN" altLang="en-US" sz="2400" dirty="0"/>
              <a:t>		</a:t>
            </a:r>
            <a:r>
              <a:rPr lang="en-US" altLang="zh-CN" sz="2400" b="1" dirty="0">
                <a:latin typeface="Courier New" pitchFamily="49" charset="0"/>
                <a:cs typeface="Courier New" pitchFamily="49" charset="0"/>
              </a:rPr>
              <a:t>a[0] &lt;==&gt; *a     </a:t>
            </a:r>
          </a:p>
          <a:p>
            <a:pPr algn="just">
              <a:lnSpc>
                <a:spcPct val="75000"/>
              </a:lnSpc>
              <a:buNone/>
            </a:pPr>
            <a:r>
              <a:rPr lang="en-US" altLang="zh-CN" sz="2400" b="1" dirty="0">
                <a:latin typeface="Courier New" pitchFamily="49" charset="0"/>
                <a:cs typeface="Courier New" pitchFamily="49" charset="0"/>
              </a:rPr>
              <a:t>		a[1] &lt;==&gt; *(a+1) </a:t>
            </a:r>
          </a:p>
          <a:p>
            <a:pPr algn="just">
              <a:lnSpc>
                <a:spcPct val="75000"/>
              </a:lnSpc>
              <a:buNone/>
            </a:pPr>
            <a:r>
              <a:rPr lang="en-US" altLang="zh-CN" sz="2400" b="1" dirty="0">
                <a:latin typeface="Courier New" pitchFamily="49" charset="0"/>
                <a:cs typeface="Courier New" pitchFamily="49" charset="0"/>
              </a:rPr>
              <a:t>		...</a:t>
            </a:r>
          </a:p>
          <a:p>
            <a:pPr algn="just">
              <a:lnSpc>
                <a:spcPct val="75000"/>
              </a:lnSpc>
              <a:buNone/>
            </a:pPr>
            <a:r>
              <a:rPr lang="en-US" altLang="zh-CN" sz="2400" b="1" dirty="0">
                <a:latin typeface="Courier New" pitchFamily="49" charset="0"/>
                <a:cs typeface="Courier New" pitchFamily="49" charset="0"/>
              </a:rPr>
              <a:t>		a[9] &lt;==&gt; *(a+9)</a:t>
            </a:r>
            <a:r>
              <a:rPr lang="en-US" altLang="zh-CN" sz="2400" b="1" dirty="0">
                <a:latin typeface="Times New Roman"/>
              </a:rPr>
              <a:t> 	</a:t>
            </a:r>
          </a:p>
          <a:p>
            <a:pPr algn="just">
              <a:buNone/>
            </a:pPr>
            <a:r>
              <a:rPr lang="en-US" altLang="zh-CN" sz="2400" dirty="0">
                <a:latin typeface="Times New Roman"/>
              </a:rPr>
              <a:t>	</a:t>
            </a:r>
            <a:r>
              <a:rPr lang="zh-CN" altLang="en-US" sz="2400" dirty="0"/>
              <a:t>另外下述两种表示数组元素</a:t>
            </a:r>
            <a:r>
              <a:rPr lang="en-US" altLang="zh-CN" sz="2400" dirty="0"/>
              <a:t>a[</a:t>
            </a:r>
            <a:r>
              <a:rPr lang="en-US" altLang="zh-CN" sz="2400" dirty="0" err="1"/>
              <a:t>i</a:t>
            </a:r>
            <a:r>
              <a:rPr lang="en-US" altLang="zh-CN" sz="2400" dirty="0"/>
              <a:t>]</a:t>
            </a:r>
            <a:r>
              <a:rPr lang="zh-CN" altLang="en-US" sz="2400" dirty="0"/>
              <a:t>之地址的方式也总是相同的：</a:t>
            </a:r>
          </a:p>
          <a:p>
            <a:pPr algn="just">
              <a:lnSpc>
                <a:spcPct val="75000"/>
              </a:lnSpc>
              <a:buNone/>
            </a:pPr>
            <a:r>
              <a:rPr lang="zh-CN" altLang="en-US" sz="2400" dirty="0"/>
              <a:t>		</a:t>
            </a:r>
            <a:r>
              <a:rPr lang="zh-CN" altLang="en-US" sz="2400" b="1" dirty="0">
                <a:latin typeface="Courier New" pitchFamily="49" charset="0"/>
                <a:cs typeface="Courier New" pitchFamily="49" charset="0"/>
              </a:rPr>
              <a:t>&amp;</a:t>
            </a:r>
            <a:r>
              <a:rPr lang="en-US" altLang="zh-CN" sz="2400" b="1" dirty="0">
                <a:latin typeface="Courier New" pitchFamily="49" charset="0"/>
                <a:cs typeface="Courier New" pitchFamily="49" charset="0"/>
              </a:rPr>
              <a:t>a[0] &lt;==&gt; a   </a:t>
            </a:r>
          </a:p>
          <a:p>
            <a:pPr algn="just">
              <a:lnSpc>
                <a:spcPct val="75000"/>
              </a:lnSpc>
              <a:buNone/>
            </a:pPr>
            <a:r>
              <a:rPr lang="en-US" altLang="zh-CN" sz="2400" b="1" dirty="0">
                <a:latin typeface="Courier New" pitchFamily="49" charset="0"/>
                <a:cs typeface="Courier New" pitchFamily="49" charset="0"/>
              </a:rPr>
              <a:t>		&amp;a[1] &lt;==&gt; a+1 </a:t>
            </a:r>
          </a:p>
          <a:p>
            <a:pPr algn="just">
              <a:lnSpc>
                <a:spcPct val="75000"/>
              </a:lnSpc>
              <a:buNone/>
            </a:pPr>
            <a:r>
              <a:rPr lang="en-US" altLang="zh-CN" sz="2400" b="1" dirty="0">
                <a:latin typeface="Courier New" pitchFamily="49" charset="0"/>
                <a:cs typeface="Courier New" pitchFamily="49" charset="0"/>
              </a:rPr>
              <a:t>		...</a:t>
            </a:r>
          </a:p>
          <a:p>
            <a:pPr algn="just">
              <a:lnSpc>
                <a:spcPct val="75000"/>
              </a:lnSpc>
              <a:buNone/>
            </a:pPr>
            <a:r>
              <a:rPr lang="en-US" altLang="zh-CN" sz="2400" b="1" dirty="0">
                <a:latin typeface="Courier New" pitchFamily="49" charset="0"/>
                <a:cs typeface="Courier New" pitchFamily="49" charset="0"/>
              </a:rPr>
              <a:t>		&amp;a[9] &lt;==&gt; a+9</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p:cNvSpPr/>
          <p:nvPr/>
        </p:nvSpPr>
        <p:spPr>
          <a:xfrm>
            <a:off x="606287" y="1672281"/>
            <a:ext cx="7926456" cy="978729"/>
          </a:xfrm>
          <a:prstGeom prst="rect">
            <a:avLst/>
          </a:prstGeom>
        </p:spPr>
        <p:txBody>
          <a:bodyPr wrap="square">
            <a:spAutoFit/>
          </a:bodyPr>
          <a:lstStyle/>
          <a:p>
            <a:pPr algn="just">
              <a:lnSpc>
                <a:spcPct val="120000"/>
              </a:lnSpc>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a[10];</a:t>
            </a:r>
            <a:r>
              <a:rPr lang="en-US" altLang="zh-CN" sz="2400" b="1" dirty="0"/>
              <a:t> </a:t>
            </a:r>
            <a:r>
              <a:rPr lang="en-US" altLang="zh-CN" sz="2400" dirty="0">
                <a:solidFill>
                  <a:srgbClr val="00B050"/>
                </a:solidFill>
              </a:rPr>
              <a:t>/*</a:t>
            </a:r>
            <a:r>
              <a:rPr lang="zh-CN" altLang="en-US" sz="2400" dirty="0">
                <a:solidFill>
                  <a:srgbClr val="00B050"/>
                </a:solidFill>
              </a:rPr>
              <a:t>任一数组名字，如</a:t>
            </a:r>
            <a:r>
              <a:rPr lang="en-US" altLang="zh-CN" sz="2400" dirty="0">
                <a:solidFill>
                  <a:srgbClr val="00B050"/>
                </a:solidFill>
              </a:rPr>
              <a:t>a</a:t>
            </a:r>
            <a:r>
              <a:rPr lang="zh-CN" altLang="en-US" sz="2400" dirty="0">
                <a:solidFill>
                  <a:srgbClr val="00B050"/>
                </a:solidFill>
              </a:rPr>
              <a:t>，都是一个</a:t>
            </a:r>
            <a:r>
              <a:rPr lang="zh-CN" altLang="en-US" sz="2400" dirty="0">
                <a:solidFill>
                  <a:srgbClr val="FF0000"/>
                </a:solidFill>
              </a:rPr>
              <a:t>指针常量</a:t>
            </a:r>
            <a:r>
              <a:rPr lang="zh-CN" altLang="en-US" sz="2400" dirty="0">
                <a:solidFill>
                  <a:srgbClr val="00B050"/>
                </a:solidFill>
              </a:rPr>
              <a:t>, 代表数组的首地址（即首元素的地址）, </a:t>
            </a:r>
            <a:r>
              <a:rPr lang="en-US" altLang="zh-CN" sz="2400" dirty="0">
                <a:solidFill>
                  <a:srgbClr val="00B050"/>
                </a:solidFill>
              </a:rPr>
              <a:t>a</a:t>
            </a:r>
            <a:r>
              <a:rPr lang="zh-CN" altLang="en-US" sz="2400" dirty="0">
                <a:solidFill>
                  <a:srgbClr val="00B050"/>
                </a:solidFill>
              </a:rPr>
              <a:t>总等同于&amp;</a:t>
            </a:r>
            <a:r>
              <a:rPr lang="en-US" altLang="zh-CN" sz="2400" dirty="0">
                <a:solidFill>
                  <a:srgbClr val="00B050"/>
                </a:solidFill>
              </a:rPr>
              <a:t>a[0]*/</a:t>
            </a:r>
            <a:endParaRPr lang="zh-CN" altLang="en-US" sz="2400" dirty="0"/>
          </a:p>
        </p:txBody>
      </p:sp>
      <p:sp>
        <p:nvSpPr>
          <p:cNvPr id="13" name="矩形 12">
            <a:hlinkClick r:id="" action="ppaction://noaction"/>
            <a:extLst>
              <a:ext uri="{FF2B5EF4-FFF2-40B4-BE49-F238E27FC236}">
                <a16:creationId xmlns:a16="http://schemas.microsoft.com/office/drawing/2014/main" id="{7BA0E751-573A-4AA0-9B1A-B73E69F3D50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3889949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lgn="just">
              <a:lnSpc>
                <a:spcPct val="80000"/>
              </a:lnSpc>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6.3】</a:t>
            </a:r>
            <a:r>
              <a:rPr lang="zh-CN" altLang="en-US" dirty="0">
                <a:solidFill>
                  <a:srgbClr val="C00000"/>
                </a:solidFill>
              </a:rPr>
              <a:t>指针变量与数组的联系</a:t>
            </a:r>
            <a:endParaRPr lang="en-US" altLang="zh-CN" dirty="0">
              <a:solidFill>
                <a:srgbClr val="C00000"/>
              </a:solidFill>
            </a:endParaRPr>
          </a:p>
          <a:p>
            <a:pPr algn="just">
              <a:lnSpc>
                <a:spcPct val="80000"/>
              </a:lnSpc>
              <a:buNone/>
            </a:pPr>
            <a:r>
              <a:rPr lang="en-US" altLang="zh-CN" dirty="0">
                <a:solidFill>
                  <a:srgbClr val="008000"/>
                </a:solidFill>
              </a:rPr>
              <a:t>	</a:t>
            </a:r>
            <a:r>
              <a:rPr lang="en-US" altLang="zh-CN" b="1" dirty="0">
                <a:solidFill>
                  <a:srgbClr val="0000FF"/>
                </a:solidFill>
                <a:latin typeface="Courier New" pitchFamily="49" charset="0"/>
                <a:cs typeface="Courier New" pitchFamily="49" charset="0"/>
              </a:rPr>
              <a:t>int </a:t>
            </a:r>
            <a:r>
              <a:rPr lang="en-US" altLang="zh-CN" b="1" dirty="0">
                <a:latin typeface="Courier New" pitchFamily="49" charset="0"/>
                <a:cs typeface="Courier New" pitchFamily="49" charset="0"/>
              </a:rPr>
              <a:t>a[10]; </a:t>
            </a:r>
            <a:r>
              <a:rPr lang="en-US" altLang="zh-CN" b="1" dirty="0">
                <a:solidFill>
                  <a:srgbClr val="0000FF"/>
                </a:solidFill>
                <a:latin typeface="Courier New" pitchFamily="49" charset="0"/>
                <a:cs typeface="Courier New" pitchFamily="49" charset="0"/>
              </a:rPr>
              <a:t>int </a:t>
            </a:r>
            <a:r>
              <a:rPr lang="en-US" altLang="zh-CN" b="1" dirty="0">
                <a:latin typeface="Courier New" pitchFamily="49" charset="0"/>
                <a:cs typeface="Courier New" pitchFamily="49" charset="0"/>
              </a:rPr>
              <a:t>*pa=a;</a:t>
            </a:r>
            <a:r>
              <a:rPr lang="en-US" altLang="zh-CN" dirty="0">
                <a:solidFill>
                  <a:srgbClr val="0000FF"/>
                </a:solidFill>
              </a:rPr>
              <a:t> </a:t>
            </a:r>
            <a:r>
              <a:rPr lang="en-US" altLang="zh-CN" dirty="0">
                <a:solidFill>
                  <a:srgbClr val="00B050"/>
                </a:solidFill>
              </a:rPr>
              <a:t>/*pa</a:t>
            </a:r>
            <a:r>
              <a:rPr lang="zh-CN" altLang="en-US" dirty="0">
                <a:solidFill>
                  <a:srgbClr val="00B050"/>
                </a:solidFill>
              </a:rPr>
              <a:t>为指针变量，此时</a:t>
            </a:r>
            <a:r>
              <a:rPr lang="en-US" altLang="zh-CN" dirty="0">
                <a:solidFill>
                  <a:srgbClr val="00B050"/>
                </a:solidFill>
              </a:rPr>
              <a:t>pa</a:t>
            </a:r>
            <a:r>
              <a:rPr lang="zh-CN" altLang="en-US" dirty="0">
                <a:solidFill>
                  <a:srgbClr val="00B050"/>
                </a:solidFill>
              </a:rPr>
              <a:t>与</a:t>
            </a:r>
            <a:r>
              <a:rPr lang="en-US" altLang="zh-CN" dirty="0">
                <a:solidFill>
                  <a:srgbClr val="00B050"/>
                </a:solidFill>
              </a:rPr>
              <a:t>a</a:t>
            </a:r>
            <a:r>
              <a:rPr lang="zh-CN" altLang="en-US" dirty="0">
                <a:solidFill>
                  <a:srgbClr val="00B050"/>
                </a:solidFill>
              </a:rPr>
              <a:t>均指向数组</a:t>
            </a:r>
            <a:r>
              <a:rPr lang="en-US" altLang="zh-CN" dirty="0">
                <a:solidFill>
                  <a:srgbClr val="00B050"/>
                </a:solidFill>
              </a:rPr>
              <a:t>a</a:t>
            </a:r>
            <a:r>
              <a:rPr lang="zh-CN" altLang="en-US" dirty="0">
                <a:solidFill>
                  <a:srgbClr val="00B050"/>
                </a:solidFill>
              </a:rPr>
              <a:t>的首元素的地址 </a:t>
            </a:r>
            <a:r>
              <a:rPr lang="en-US" altLang="zh-CN" dirty="0">
                <a:solidFill>
                  <a:srgbClr val="00B050"/>
                </a:solidFill>
              </a:rPr>
              <a:t>*/</a:t>
            </a:r>
          </a:p>
          <a:p>
            <a:pPr algn="just">
              <a:lnSpc>
                <a:spcPct val="80000"/>
              </a:lnSpc>
              <a:buNone/>
            </a:pPr>
            <a:endParaRPr lang="zh-CN" altLang="en-US" dirty="0">
              <a:solidFill>
                <a:srgbClr val="0000FF"/>
              </a:solidFill>
            </a:endParaRPr>
          </a:p>
          <a:p>
            <a:pPr algn="just">
              <a:lnSpc>
                <a:spcPct val="80000"/>
              </a:lnSpc>
              <a:buNone/>
            </a:pPr>
            <a:r>
              <a:rPr lang="en-US" altLang="zh-CN" dirty="0">
                <a:solidFill>
                  <a:srgbClr val="0000FF"/>
                </a:solidFill>
              </a:rPr>
              <a:t>	</a:t>
            </a:r>
            <a:r>
              <a:rPr lang="zh-CN" altLang="en-US" dirty="0"/>
              <a:t>下述三种表示数组元素</a:t>
            </a:r>
            <a:r>
              <a:rPr lang="en-US" altLang="zh-CN" dirty="0"/>
              <a:t>a[</a:t>
            </a:r>
            <a:r>
              <a:rPr lang="en-US" altLang="zh-CN" dirty="0" err="1"/>
              <a:t>i</a:t>
            </a:r>
            <a:r>
              <a:rPr lang="en-US" altLang="zh-CN" dirty="0"/>
              <a:t>]</a:t>
            </a:r>
            <a:r>
              <a:rPr lang="zh-CN" altLang="en-US" dirty="0"/>
              <a:t>的方式是等同的：</a:t>
            </a:r>
          </a:p>
          <a:p>
            <a:pPr algn="just">
              <a:lnSpc>
                <a:spcPct val="80000"/>
              </a:lnSpc>
              <a:buNone/>
            </a:pPr>
            <a:r>
              <a:rPr lang="en-US" altLang="zh-CN" dirty="0">
                <a:solidFill>
                  <a:srgbClr val="0000FF"/>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a[0]</a:t>
            </a:r>
            <a:r>
              <a:rPr lang="en-US" altLang="zh-CN" b="1" dirty="0">
                <a:solidFill>
                  <a:schemeClr val="hlink"/>
                </a:solidFill>
                <a:latin typeface="Courier New" pitchFamily="49" charset="0"/>
                <a:cs typeface="Courier New" pitchFamily="49" charset="0"/>
              </a:rPr>
              <a:t> &lt;==&gt; </a:t>
            </a:r>
            <a:r>
              <a:rPr lang="en-US" altLang="zh-CN" b="1" dirty="0">
                <a:solidFill>
                  <a:srgbClr val="C00000"/>
                </a:solidFill>
                <a:latin typeface="Courier New" pitchFamily="49" charset="0"/>
                <a:cs typeface="Courier New" pitchFamily="49" charset="0"/>
              </a:rPr>
              <a:t>*a     </a:t>
            </a:r>
            <a:r>
              <a:rPr lang="en-US" altLang="zh-CN" b="1" dirty="0">
                <a:solidFill>
                  <a:schemeClr val="hlink"/>
                </a:solidFill>
                <a:latin typeface="Courier New" pitchFamily="49" charset="0"/>
                <a:cs typeface="Courier New" pitchFamily="49" charset="0"/>
              </a:rPr>
              <a:t>&lt;==&gt; </a:t>
            </a:r>
            <a:r>
              <a:rPr lang="en-US" altLang="zh-CN" b="1" dirty="0">
                <a:solidFill>
                  <a:srgbClr val="002060"/>
                </a:solidFill>
                <a:latin typeface="Courier New" pitchFamily="49" charset="0"/>
                <a:cs typeface="Courier New" pitchFamily="49" charset="0"/>
              </a:rPr>
              <a:t>*pa</a:t>
            </a:r>
          </a:p>
          <a:p>
            <a:pPr algn="just">
              <a:lnSpc>
                <a:spcPct val="80000"/>
              </a:lnSpc>
              <a:buNone/>
            </a:pPr>
            <a:r>
              <a:rPr lang="en-US" altLang="zh-CN" b="1" dirty="0">
                <a:solidFill>
                  <a:schemeClr val="hlink"/>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a[1]</a:t>
            </a:r>
            <a:r>
              <a:rPr lang="en-US" altLang="zh-CN" b="1" dirty="0">
                <a:solidFill>
                  <a:schemeClr val="hlink"/>
                </a:solidFill>
                <a:latin typeface="Courier New" pitchFamily="49" charset="0"/>
                <a:cs typeface="Courier New" pitchFamily="49" charset="0"/>
              </a:rPr>
              <a:t> &lt;==&gt; </a:t>
            </a:r>
            <a:r>
              <a:rPr lang="en-US" altLang="zh-CN" b="1" dirty="0">
                <a:solidFill>
                  <a:srgbClr val="C00000"/>
                </a:solidFill>
                <a:latin typeface="Courier New" pitchFamily="49" charset="0"/>
                <a:cs typeface="Courier New" pitchFamily="49" charset="0"/>
              </a:rPr>
              <a:t>*(a+1) </a:t>
            </a:r>
            <a:r>
              <a:rPr lang="en-US" altLang="zh-CN" b="1" dirty="0">
                <a:solidFill>
                  <a:schemeClr val="hlink"/>
                </a:solidFill>
                <a:latin typeface="Courier New" pitchFamily="49" charset="0"/>
                <a:cs typeface="Courier New" pitchFamily="49" charset="0"/>
              </a:rPr>
              <a:t>&lt;==&gt; </a:t>
            </a:r>
            <a:r>
              <a:rPr lang="en-US" altLang="zh-CN" b="1" dirty="0">
                <a:solidFill>
                  <a:srgbClr val="002060"/>
                </a:solidFill>
                <a:latin typeface="Courier New" pitchFamily="49" charset="0"/>
                <a:cs typeface="Courier New" pitchFamily="49" charset="0"/>
              </a:rPr>
              <a:t>*(pa+1)</a:t>
            </a:r>
          </a:p>
          <a:p>
            <a:pPr algn="just">
              <a:lnSpc>
                <a:spcPct val="80000"/>
              </a:lnSpc>
              <a:buNone/>
            </a:pPr>
            <a:r>
              <a:rPr lang="en-US" altLang="zh-CN" b="1" dirty="0">
                <a:solidFill>
                  <a:schemeClr val="hlink"/>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a:t>
            </a:r>
          </a:p>
          <a:p>
            <a:pPr algn="just">
              <a:lnSpc>
                <a:spcPct val="80000"/>
              </a:lnSpc>
              <a:buNone/>
            </a:pPr>
            <a:r>
              <a:rPr lang="en-US" altLang="zh-CN" b="1" dirty="0">
                <a:solidFill>
                  <a:schemeClr val="hlink"/>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a[9] </a:t>
            </a:r>
            <a:r>
              <a:rPr lang="en-US" altLang="zh-CN" b="1" dirty="0">
                <a:solidFill>
                  <a:schemeClr val="hlink"/>
                </a:solidFill>
                <a:latin typeface="Courier New" pitchFamily="49" charset="0"/>
                <a:cs typeface="Courier New" pitchFamily="49" charset="0"/>
              </a:rPr>
              <a:t>&lt;==&gt; </a:t>
            </a:r>
            <a:r>
              <a:rPr lang="en-US" altLang="zh-CN" b="1" dirty="0">
                <a:solidFill>
                  <a:srgbClr val="C00000"/>
                </a:solidFill>
                <a:latin typeface="Courier New" pitchFamily="49" charset="0"/>
                <a:cs typeface="Courier New" pitchFamily="49" charset="0"/>
              </a:rPr>
              <a:t>*(a+9) </a:t>
            </a:r>
            <a:r>
              <a:rPr lang="en-US" altLang="zh-CN" b="1" dirty="0">
                <a:solidFill>
                  <a:schemeClr val="hlink"/>
                </a:solidFill>
                <a:latin typeface="Courier New" pitchFamily="49" charset="0"/>
                <a:cs typeface="Courier New" pitchFamily="49" charset="0"/>
              </a:rPr>
              <a:t>&lt;==&gt; </a:t>
            </a:r>
            <a:r>
              <a:rPr lang="en-US" altLang="zh-CN" b="1" dirty="0">
                <a:solidFill>
                  <a:srgbClr val="002060"/>
                </a:solidFill>
                <a:latin typeface="Courier New" pitchFamily="49" charset="0"/>
                <a:cs typeface="Courier New" pitchFamily="49" charset="0"/>
              </a:rPr>
              <a:t>*(pa+9)</a:t>
            </a:r>
            <a:endParaRPr lang="zh-CN" altLang="en-US" b="1" dirty="0">
              <a:solidFill>
                <a:srgbClr val="002060"/>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7B1BAC0A-A986-4A66-A034-93A91ADC3F0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3131228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5334" y="1447563"/>
            <a:ext cx="8504853" cy="4500562"/>
          </a:xfrm>
        </p:spPr>
        <p:txBody>
          <a:bodyPr/>
          <a:lstStyle/>
          <a:p>
            <a:pPr algn="just">
              <a:buNone/>
            </a:pPr>
            <a:r>
              <a:rPr lang="zh-CN" altLang="en-US" dirty="0"/>
              <a:t>下述三种表示数组元素</a:t>
            </a:r>
            <a:r>
              <a:rPr lang="en-US" altLang="zh-CN" dirty="0"/>
              <a:t>a[</a:t>
            </a:r>
            <a:r>
              <a:rPr lang="en-US" altLang="zh-CN" dirty="0" err="1"/>
              <a:t>i</a:t>
            </a:r>
            <a:r>
              <a:rPr lang="en-US" altLang="zh-CN" dirty="0"/>
              <a:t>]</a:t>
            </a:r>
            <a:r>
              <a:rPr lang="zh-CN" altLang="en-US" dirty="0"/>
              <a:t>之地址的方式也是等同的：</a:t>
            </a:r>
          </a:p>
          <a:p>
            <a:pPr algn="just">
              <a:buNone/>
            </a:pPr>
            <a:r>
              <a:rPr lang="zh-CN" altLang="en-US" dirty="0">
                <a:solidFill>
                  <a:srgbClr val="0000FF"/>
                </a:solidFill>
              </a:rPr>
              <a:t>		</a:t>
            </a:r>
            <a:r>
              <a:rPr lang="zh-CN" altLang="en-US" b="1" dirty="0">
                <a:solidFill>
                  <a:schemeClr val="tx2"/>
                </a:solidFill>
                <a:latin typeface="Courier New" pitchFamily="49" charset="0"/>
                <a:cs typeface="Courier New" pitchFamily="49" charset="0"/>
              </a:rPr>
              <a:t>&amp;</a:t>
            </a:r>
            <a:r>
              <a:rPr lang="en-US" altLang="zh-CN" b="1" dirty="0">
                <a:solidFill>
                  <a:schemeClr val="tx2"/>
                </a:solidFill>
                <a:latin typeface="Courier New" pitchFamily="49" charset="0"/>
                <a:cs typeface="Courier New" pitchFamily="49" charset="0"/>
              </a:rPr>
              <a:t>a[0] </a:t>
            </a:r>
            <a:r>
              <a:rPr lang="en-US" altLang="zh-CN" b="1" dirty="0">
                <a:solidFill>
                  <a:schemeClr val="hlink"/>
                </a:solidFill>
                <a:latin typeface="Courier New" pitchFamily="49" charset="0"/>
                <a:cs typeface="Courier New" pitchFamily="49" charset="0"/>
              </a:rPr>
              <a:t>&lt;==&gt; </a:t>
            </a:r>
            <a:r>
              <a:rPr lang="en-US" altLang="zh-CN" b="1" dirty="0">
                <a:solidFill>
                  <a:srgbClr val="C00000"/>
                </a:solidFill>
                <a:latin typeface="Courier New" pitchFamily="49" charset="0"/>
                <a:cs typeface="Courier New" pitchFamily="49" charset="0"/>
              </a:rPr>
              <a:t>a</a:t>
            </a:r>
            <a:r>
              <a:rPr lang="en-US" altLang="zh-CN" b="1" dirty="0">
                <a:solidFill>
                  <a:schemeClr val="hlink"/>
                </a:solidFill>
                <a:latin typeface="Courier New" pitchFamily="49" charset="0"/>
                <a:cs typeface="Courier New" pitchFamily="49" charset="0"/>
              </a:rPr>
              <a:t>   &lt;==&gt; </a:t>
            </a:r>
            <a:r>
              <a:rPr lang="en-US" altLang="zh-CN" b="1" dirty="0">
                <a:solidFill>
                  <a:srgbClr val="002060"/>
                </a:solidFill>
                <a:latin typeface="Courier New" pitchFamily="49" charset="0"/>
                <a:cs typeface="Courier New" pitchFamily="49" charset="0"/>
              </a:rPr>
              <a:t>pa</a:t>
            </a:r>
          </a:p>
          <a:p>
            <a:pPr algn="just">
              <a:buNone/>
            </a:pPr>
            <a:r>
              <a:rPr lang="en-US" altLang="zh-CN" b="1" dirty="0">
                <a:solidFill>
                  <a:schemeClr val="hlink"/>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&amp;a[1] </a:t>
            </a:r>
            <a:r>
              <a:rPr lang="en-US" altLang="zh-CN" b="1" dirty="0">
                <a:solidFill>
                  <a:schemeClr val="hlink"/>
                </a:solidFill>
                <a:latin typeface="Courier New" pitchFamily="49" charset="0"/>
                <a:cs typeface="Courier New" pitchFamily="49" charset="0"/>
              </a:rPr>
              <a:t>&lt;==&gt; </a:t>
            </a:r>
            <a:r>
              <a:rPr lang="en-US" altLang="zh-CN" b="1" dirty="0">
                <a:solidFill>
                  <a:srgbClr val="C00000"/>
                </a:solidFill>
                <a:latin typeface="Courier New" pitchFamily="49" charset="0"/>
                <a:cs typeface="Courier New" pitchFamily="49" charset="0"/>
              </a:rPr>
              <a:t>a+1</a:t>
            </a:r>
            <a:r>
              <a:rPr lang="en-US" altLang="zh-CN" b="1" dirty="0">
                <a:solidFill>
                  <a:schemeClr val="hlink"/>
                </a:solidFill>
                <a:latin typeface="Courier New" pitchFamily="49" charset="0"/>
                <a:cs typeface="Courier New" pitchFamily="49" charset="0"/>
              </a:rPr>
              <a:t> &lt;==&gt; </a:t>
            </a:r>
            <a:r>
              <a:rPr lang="en-US" altLang="zh-CN" b="1" dirty="0">
                <a:solidFill>
                  <a:srgbClr val="002060"/>
                </a:solidFill>
                <a:latin typeface="Courier New" pitchFamily="49" charset="0"/>
                <a:cs typeface="Courier New" pitchFamily="49" charset="0"/>
              </a:rPr>
              <a:t>pa+1</a:t>
            </a:r>
          </a:p>
          <a:p>
            <a:pPr algn="just">
              <a:buNone/>
            </a:pPr>
            <a:r>
              <a:rPr lang="en-US" altLang="zh-CN" b="1" dirty="0">
                <a:solidFill>
                  <a:schemeClr val="hlink"/>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a:t>
            </a:r>
          </a:p>
          <a:p>
            <a:pPr algn="just">
              <a:buNone/>
            </a:pPr>
            <a:r>
              <a:rPr lang="en-US" altLang="zh-CN" b="1" dirty="0">
                <a:solidFill>
                  <a:schemeClr val="hlink"/>
                </a:solidFill>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&amp;a[9] </a:t>
            </a:r>
            <a:r>
              <a:rPr lang="en-US" altLang="zh-CN" b="1" dirty="0">
                <a:solidFill>
                  <a:schemeClr val="hlink"/>
                </a:solidFill>
                <a:latin typeface="Courier New" pitchFamily="49" charset="0"/>
                <a:cs typeface="Courier New" pitchFamily="49" charset="0"/>
              </a:rPr>
              <a:t>&lt;==&gt; </a:t>
            </a:r>
            <a:r>
              <a:rPr lang="en-US" altLang="zh-CN" b="1" dirty="0">
                <a:solidFill>
                  <a:srgbClr val="C00000"/>
                </a:solidFill>
                <a:latin typeface="Courier New" pitchFamily="49" charset="0"/>
                <a:cs typeface="Courier New" pitchFamily="49" charset="0"/>
              </a:rPr>
              <a:t>a+9</a:t>
            </a:r>
            <a:r>
              <a:rPr lang="en-US" altLang="zh-CN" b="1" dirty="0">
                <a:solidFill>
                  <a:schemeClr val="hlink"/>
                </a:solidFill>
                <a:latin typeface="Courier New" pitchFamily="49" charset="0"/>
                <a:cs typeface="Courier New" pitchFamily="49" charset="0"/>
              </a:rPr>
              <a:t> &lt;==&gt; </a:t>
            </a:r>
            <a:r>
              <a:rPr lang="en-US" altLang="zh-CN" b="1" dirty="0">
                <a:solidFill>
                  <a:srgbClr val="002060"/>
                </a:solidFill>
                <a:latin typeface="Courier New" pitchFamily="49" charset="0"/>
                <a:cs typeface="Courier New" pitchFamily="49" charset="0"/>
              </a:rPr>
              <a:t>pa+9</a:t>
            </a:r>
            <a:r>
              <a:rPr lang="en-US" altLang="zh-CN" b="1" dirty="0">
                <a:solidFill>
                  <a:srgbClr val="0000FF"/>
                </a:solidFill>
                <a:latin typeface="Courier New" pitchFamily="49" charset="0"/>
                <a:cs typeface="Courier New" pitchFamily="49" charset="0"/>
              </a:rPr>
              <a:t>	</a:t>
            </a:r>
          </a:p>
          <a:p>
            <a:pPr algn="just">
              <a:buNone/>
            </a:pPr>
            <a:endParaRPr lang="en-US" altLang="zh-CN" b="1" dirty="0">
              <a:solidFill>
                <a:schemeClr val="hlink"/>
              </a:solidFill>
              <a:latin typeface="Courier New" pitchFamily="49" charset="0"/>
              <a:cs typeface="Courier New" pitchFamily="49" charset="0"/>
            </a:endParaRPr>
          </a:p>
          <a:p>
            <a:pPr algn="just">
              <a:buNone/>
            </a:pPr>
            <a:r>
              <a:rPr lang="en-US" altLang="zh-CN" dirty="0">
                <a:solidFill>
                  <a:srgbClr val="0000FF"/>
                </a:solidFill>
              </a:rPr>
              <a:t> </a:t>
            </a:r>
            <a:r>
              <a:rPr lang="zh-CN" altLang="en-US" dirty="0"/>
              <a:t>而 </a:t>
            </a:r>
            <a:r>
              <a:rPr lang="en-US" altLang="zh-CN" b="1" dirty="0">
                <a:latin typeface="Courier New" pitchFamily="49" charset="0"/>
                <a:cs typeface="Courier New" pitchFamily="49" charset="0"/>
              </a:rPr>
              <a:t>pa+=3; </a:t>
            </a:r>
            <a:r>
              <a:rPr lang="zh-CN" altLang="en-US" b="1" dirty="0"/>
              <a:t>及 </a:t>
            </a:r>
            <a:r>
              <a:rPr lang="en-US" altLang="zh-CN" b="1" dirty="0">
                <a:latin typeface="Courier New" pitchFamily="49" charset="0"/>
                <a:cs typeface="Courier New" pitchFamily="49" charset="0"/>
              </a:rPr>
              <a:t>pa--; </a:t>
            </a:r>
            <a:r>
              <a:rPr lang="zh-CN" altLang="en-US" b="1" dirty="0"/>
              <a:t>也都为正确的句子</a:t>
            </a:r>
            <a:endParaRPr lang="en-US" altLang="zh-CN" b="1" dirty="0"/>
          </a:p>
          <a:p>
            <a:pPr algn="just">
              <a:buNone/>
            </a:pPr>
            <a:r>
              <a:rPr lang="zh-CN" altLang="en-US" b="1" dirty="0">
                <a:solidFill>
                  <a:srgbClr val="0000FF"/>
                </a:solidFill>
              </a:rPr>
              <a:t>(但，</a:t>
            </a:r>
            <a:r>
              <a:rPr lang="en-US" altLang="zh-CN" b="1" dirty="0">
                <a:solidFill>
                  <a:srgbClr val="0000FF"/>
                </a:solidFill>
                <a:latin typeface="Courier New" pitchFamily="49" charset="0"/>
                <a:cs typeface="Courier New" pitchFamily="49" charset="0"/>
              </a:rPr>
              <a:t>a+=3; </a:t>
            </a:r>
            <a:r>
              <a:rPr lang="zh-CN" altLang="en-US" b="1" dirty="0">
                <a:solidFill>
                  <a:srgbClr val="0000FF"/>
                </a:solidFill>
              </a:rPr>
              <a:t>及 </a:t>
            </a:r>
            <a:r>
              <a:rPr lang="en-US" altLang="zh-CN" b="1" dirty="0">
                <a:solidFill>
                  <a:srgbClr val="0000FF"/>
                </a:solidFill>
                <a:latin typeface="Courier New" pitchFamily="49" charset="0"/>
                <a:cs typeface="Courier New" pitchFamily="49" charset="0"/>
              </a:rPr>
              <a:t>a--; </a:t>
            </a:r>
            <a:r>
              <a:rPr lang="zh-CN" altLang="en-US" dirty="0">
                <a:solidFill>
                  <a:srgbClr val="0000FF"/>
                </a:solidFill>
              </a:rPr>
              <a:t>却都是不正确的句子! </a:t>
            </a:r>
            <a:endParaRPr lang="en-US" altLang="zh-CN" dirty="0">
              <a:solidFill>
                <a:srgbClr val="0000FF"/>
              </a:solidFill>
            </a:endParaRPr>
          </a:p>
          <a:p>
            <a:pPr algn="just">
              <a:buNone/>
            </a:pPr>
            <a:r>
              <a:rPr lang="zh-CN" altLang="en-US" dirty="0">
                <a:solidFill>
                  <a:srgbClr val="0000FF"/>
                </a:solidFill>
              </a:rPr>
              <a:t>为什么?)</a:t>
            </a:r>
            <a:endParaRPr lang="zh-CN" altLang="en-US"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7" name="矩形 6">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a:extLst>
              <a:ext uri="{FF2B5EF4-FFF2-40B4-BE49-F238E27FC236}">
                <a16:creationId xmlns:a16="http://schemas.microsoft.com/office/drawing/2014/main" id="{B2410499-2A82-40B7-995C-3E95082A443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1196932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p>
        </p:txBody>
      </p:sp>
      <p:sp>
        <p:nvSpPr>
          <p:cNvPr id="3" name="内容占位符 2"/>
          <p:cNvSpPr>
            <a:spLocks noGrp="1"/>
          </p:cNvSpPr>
          <p:nvPr>
            <p:ph idx="1"/>
          </p:nvPr>
        </p:nvSpPr>
        <p:spPr/>
        <p:txBody>
          <a:bodyPr/>
          <a:lstStyle/>
          <a:p>
            <a:r>
              <a:rPr lang="zh-CN" altLang="en-US" dirty="0"/>
              <a:t>指针变量之间的算术运算</a:t>
            </a:r>
            <a:endParaRPr lang="en-US" altLang="zh-CN" dirty="0"/>
          </a:p>
          <a:p>
            <a:pPr lvl="1">
              <a:lnSpc>
                <a:spcPct val="130000"/>
              </a:lnSpc>
            </a:pPr>
            <a:r>
              <a:rPr lang="zh-CN" altLang="en-US" dirty="0"/>
              <a:t>若</a:t>
            </a:r>
            <a:r>
              <a:rPr lang="en-US" altLang="zh-CN" dirty="0" err="1"/>
              <a:t>p,q</a:t>
            </a:r>
            <a:r>
              <a:rPr lang="zh-CN" altLang="en-US" dirty="0"/>
              <a:t>都为同类型的指针</a:t>
            </a:r>
            <a:endParaRPr lang="en-US" altLang="zh-CN" dirty="0"/>
          </a:p>
          <a:p>
            <a:pPr marL="457200" lvl="1" indent="0">
              <a:lnSpc>
                <a:spcPct val="130000"/>
              </a:lnSpc>
              <a:buNone/>
            </a:pPr>
            <a:r>
              <a:rPr lang="en-US" altLang="zh-CN" dirty="0"/>
              <a:t>   </a:t>
            </a:r>
            <a:r>
              <a:rPr lang="zh-CN" altLang="en-US" dirty="0"/>
              <a:t>则</a:t>
            </a:r>
            <a:r>
              <a:rPr lang="en-US" altLang="zh-CN" dirty="0"/>
              <a:t>p-q</a:t>
            </a:r>
            <a:r>
              <a:rPr lang="zh-CN" altLang="en-US" dirty="0"/>
              <a:t>为</a:t>
            </a:r>
            <a:r>
              <a:rPr lang="en-US" altLang="zh-CN" dirty="0"/>
              <a:t>p</a:t>
            </a:r>
            <a:r>
              <a:rPr lang="zh-CN" altLang="en-US" dirty="0"/>
              <a:t>与</a:t>
            </a:r>
            <a:r>
              <a:rPr lang="en-US" altLang="zh-CN" dirty="0"/>
              <a:t>q</a:t>
            </a:r>
            <a:r>
              <a:rPr lang="zh-CN" altLang="en-US" dirty="0"/>
              <a:t>之间的数据项数</a:t>
            </a:r>
            <a:endParaRPr lang="en-US" altLang="zh-CN" dirty="0"/>
          </a:p>
          <a:p>
            <a:pPr marL="457200" lvl="1" indent="0">
              <a:lnSpc>
                <a:spcPct val="130000"/>
              </a:lnSpc>
              <a:buNone/>
            </a:pPr>
            <a:r>
              <a:rPr lang="en-US" altLang="zh-CN" dirty="0"/>
              <a:t>   </a:t>
            </a:r>
            <a:r>
              <a:rPr lang="zh-CN" altLang="en-US" dirty="0"/>
              <a:t>(当</a:t>
            </a:r>
            <a:r>
              <a:rPr lang="en-US" altLang="zh-CN" dirty="0" err="1"/>
              <a:t>p,q</a:t>
            </a:r>
            <a:r>
              <a:rPr lang="zh-CN" altLang="en-US" dirty="0"/>
              <a:t>指向同一数组时，结果有意义)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6CD8EFA3-8DCE-411C-8BAE-68C2A9504B7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838133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指针变量的运算</a:t>
            </a:r>
          </a:p>
        </p:txBody>
      </p:sp>
      <p:sp>
        <p:nvSpPr>
          <p:cNvPr id="3" name="内容占位符 2"/>
          <p:cNvSpPr>
            <a:spLocks noGrp="1"/>
          </p:cNvSpPr>
          <p:nvPr>
            <p:ph idx="1"/>
          </p:nvPr>
        </p:nvSpPr>
        <p:spPr/>
        <p:txBody>
          <a:bodyPr/>
          <a:lstStyle/>
          <a:p>
            <a:r>
              <a:rPr lang="zh-CN" altLang="en-US" dirty="0"/>
              <a:t>关系运算</a:t>
            </a:r>
            <a:endParaRPr lang="en-US" altLang="zh-CN" dirty="0"/>
          </a:p>
          <a:p>
            <a:pPr lvl="1"/>
            <a:r>
              <a:rPr lang="zh-CN" altLang="en-US" dirty="0"/>
              <a:t>若</a:t>
            </a:r>
            <a:r>
              <a:rPr lang="en-US" altLang="zh-CN" dirty="0" err="1"/>
              <a:t>p,q</a:t>
            </a:r>
            <a:r>
              <a:rPr lang="zh-CN" altLang="en-US" dirty="0"/>
              <a:t>都为同类型的指针，可进行关系运算</a:t>
            </a:r>
            <a:endParaRPr lang="en-US" altLang="zh-CN" dirty="0"/>
          </a:p>
          <a:p>
            <a:pPr lvl="2"/>
            <a:r>
              <a:rPr lang="zh-CN" altLang="en-US" sz="2400" dirty="0"/>
              <a:t>相等或不相等</a:t>
            </a:r>
            <a:endParaRPr lang="en-US" altLang="zh-CN" sz="2400" dirty="0"/>
          </a:p>
          <a:p>
            <a:pPr lvl="3"/>
            <a:r>
              <a:rPr lang="zh-CN" altLang="en-US" sz="2000" dirty="0"/>
              <a:t>根据指针指向的地址判断</a:t>
            </a:r>
            <a:endParaRPr lang="en-US" altLang="zh-CN" sz="2000" dirty="0"/>
          </a:p>
          <a:p>
            <a:pPr lvl="3"/>
            <a:r>
              <a:rPr lang="zh-CN" altLang="en-US" sz="2000" dirty="0"/>
              <a:t>与</a:t>
            </a:r>
            <a:r>
              <a:rPr lang="en-US" altLang="zh-CN" sz="2000" dirty="0" err="1"/>
              <a:t>nullptr</a:t>
            </a:r>
            <a:r>
              <a:rPr lang="zh-CN" altLang="en-US" sz="2000" dirty="0"/>
              <a:t>、</a:t>
            </a:r>
            <a:r>
              <a:rPr lang="en-US" altLang="zh-CN" sz="2000" dirty="0"/>
              <a:t>NULL</a:t>
            </a:r>
            <a:r>
              <a:rPr lang="zh-CN" altLang="en-US" sz="2000" dirty="0"/>
              <a:t>进行比较</a:t>
            </a:r>
            <a:endParaRPr lang="en-US" altLang="zh-CN" sz="2000" dirty="0"/>
          </a:p>
          <a:p>
            <a:pPr lvl="2"/>
            <a:r>
              <a:rPr lang="zh-CN" altLang="en-US" sz="2400" dirty="0"/>
              <a:t>数组指针可以进行</a:t>
            </a:r>
            <a:r>
              <a:rPr lang="en-US" altLang="zh-CN" sz="2400" dirty="0"/>
              <a:t>6</a:t>
            </a:r>
            <a:r>
              <a:rPr lang="zh-CN" altLang="en-US" sz="2400" dirty="0"/>
              <a:t>种比较运算</a:t>
            </a:r>
            <a:endParaRPr lang="en-US" altLang="zh-CN" sz="2400" dirty="0"/>
          </a:p>
          <a:p>
            <a:pPr marL="914400" lvl="2" indent="0">
              <a:buNone/>
            </a:pPr>
            <a:r>
              <a:rPr lang="en-US" altLang="zh-CN" sz="2400" dirty="0"/>
              <a:t>   </a:t>
            </a:r>
            <a:r>
              <a:rPr lang="zh-CN" altLang="en-US" sz="2400" dirty="0"/>
              <a:t>(通常用于</a:t>
            </a:r>
            <a:r>
              <a:rPr lang="en-US" altLang="zh-CN" sz="2400" dirty="0" err="1"/>
              <a:t>p,q</a:t>
            </a:r>
            <a:r>
              <a:rPr lang="zh-CN" altLang="en-US" sz="2400" dirty="0"/>
              <a:t>指向同一数组，靠前者其指针值小)</a:t>
            </a:r>
            <a:endParaRPr lang="en-US" altLang="zh-CN" sz="2400"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A377EC36-FBF1-4477-8127-4200F94B5BC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1738080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153400" cy="80405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6.4】</a:t>
            </a:r>
            <a:r>
              <a:rPr lang="zh-CN" altLang="en-US" dirty="0">
                <a:solidFill>
                  <a:srgbClr val="C00000"/>
                </a:solidFill>
              </a:rPr>
              <a:t>分析程序的运行结果</a:t>
            </a:r>
            <a:r>
              <a:rPr lang="en-US" altLang="zh-CN" dirty="0"/>
              <a:t>	</a:t>
            </a:r>
          </a:p>
          <a:p>
            <a:pPr lvl="1"/>
            <a:endParaRPr lang="en-US" altLang="zh-CN" dirty="0"/>
          </a:p>
        </p:txBody>
      </p:sp>
      <p:sp>
        <p:nvSpPr>
          <p:cNvPr id="6" name="矩形 5"/>
          <p:cNvSpPr/>
          <p:nvPr/>
        </p:nvSpPr>
        <p:spPr>
          <a:xfrm>
            <a:off x="473220" y="1742221"/>
            <a:ext cx="8215338" cy="4745915"/>
          </a:xfrm>
          <a:prstGeom prst="rect">
            <a:avLst/>
          </a:prstGeom>
        </p:spPr>
        <p:txBody>
          <a:bodyPr wrap="square">
            <a:spAutoFit/>
          </a:bodyPr>
          <a:lstStyle/>
          <a:p>
            <a:pPr eaLnBrk="1" hangingPunct="1">
              <a:lnSpc>
                <a:spcPct val="90000"/>
              </a:lnSpc>
              <a:buFont typeface="Wingdings" pitchFamily="2" charset="2"/>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eaLnBrk="1" hangingPunct="1">
              <a:lnSpc>
                <a:spcPct val="90000"/>
              </a:lnSpc>
              <a:buFont typeface="Wingdings" pitchFamily="2" charset="2"/>
              <a:buNone/>
            </a:pPr>
            <a:r>
              <a:rPr lang="en-US" altLang="zh-CN" sz="2400" b="1" dirty="0">
                <a:solidFill>
                  <a:srgbClr val="0000FF"/>
                </a:solidFill>
                <a:latin typeface="Courier New" pitchFamily="49" charset="0"/>
                <a:cs typeface="Courier New" pitchFamily="49" charset="0"/>
              </a:rPr>
              <a:t>using namespace</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std;</a:t>
            </a:r>
          </a:p>
          <a:p>
            <a:pPr eaLnBrk="1" hangingPunct="1">
              <a:lnSpc>
                <a:spcPct val="90000"/>
              </a:lnSpc>
              <a:buFont typeface="Wingdings" pitchFamily="2" charset="2"/>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eaLnBrk="1" hangingPunct="1">
              <a:lnSpc>
                <a:spcPct val="90000"/>
              </a:lnSpc>
              <a:buFont typeface="Wingdings" pitchFamily="2" charset="2"/>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=3,j=6,*pi,*</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pi = &amp;</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 = &amp;j;</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i,j</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 "&lt;&lt;j&lt;&lt;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&lt;&lt;"*pi,*</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="&lt;&lt;*pi&lt;&lt;", "&lt;&lt;*</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*pi = 123;	</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 = *pi + 2;</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&lt;&lt;"*pi,*</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="&lt;&lt;*pi&lt;&lt;", "&lt;&lt;*</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i,j</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 "&lt;&lt;j&lt;&lt;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eaLnBrk="1" hangingPunct="1">
              <a:lnSpc>
                <a:spcPct val="90000"/>
              </a:lnSpc>
              <a:buFont typeface="Wingdings" pitchFamily="2" charset="2"/>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 </a:t>
            </a:r>
          </a:p>
          <a:p>
            <a:pPr eaLnBrk="1" hangingPunct="1">
              <a:lnSpc>
                <a:spcPct val="90000"/>
              </a:lnSpc>
              <a:buFont typeface="Wingdings" pitchFamily="2" charset="2"/>
              <a:buNone/>
            </a:pPr>
            <a:r>
              <a:rPr lang="en-US" altLang="zh-CN" sz="2400" b="1" dirty="0">
                <a:latin typeface="Courier New" pitchFamily="49" charset="0"/>
                <a:cs typeface="Courier New" pitchFamily="49" charset="0"/>
              </a:rPr>
              <a:t>}</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4"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a:extLst>
              <a:ext uri="{FF2B5EF4-FFF2-40B4-BE49-F238E27FC236}">
                <a16:creationId xmlns:a16="http://schemas.microsoft.com/office/drawing/2014/main" id="{3D4B4754-5638-483C-95B9-B21BC42500A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783517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solidFill>
                  <a:schemeClr val="accent6">
                    <a:lumMod val="75000"/>
                  </a:schemeClr>
                </a:solidFill>
              </a:rPr>
              <a:t>运行结果：</a:t>
            </a:r>
            <a:endParaRPr lang="en-US" altLang="zh-CN" dirty="0">
              <a:solidFill>
                <a:schemeClr val="accent6">
                  <a:lumMod val="75000"/>
                </a:schemeClr>
              </a:solidFill>
            </a:endParaRPr>
          </a:p>
          <a:p>
            <a:r>
              <a:rPr lang="en-US" altLang="zh-CN" b="1" dirty="0" err="1">
                <a:latin typeface="Courier New" pitchFamily="49" charset="0"/>
                <a:cs typeface="Courier New" pitchFamily="49" charset="0"/>
              </a:rPr>
              <a:t>i,j</a:t>
            </a:r>
            <a:r>
              <a:rPr lang="en-US" altLang="zh-CN" b="1" dirty="0">
                <a:latin typeface="Courier New" pitchFamily="49" charset="0"/>
                <a:cs typeface="Courier New" pitchFamily="49" charset="0"/>
              </a:rPr>
              <a:t>=3, 6</a:t>
            </a:r>
          </a:p>
          <a:p>
            <a:pPr algn="just">
              <a:lnSpc>
                <a:spcPct val="120000"/>
              </a:lnSpc>
              <a:buNone/>
            </a:pPr>
            <a:r>
              <a:rPr lang="en-US" altLang="zh-CN" b="1" dirty="0">
                <a:latin typeface="Courier New" pitchFamily="49" charset="0"/>
                <a:cs typeface="Courier New" pitchFamily="49" charset="0"/>
              </a:rPr>
              <a:t>	*pi,*</a:t>
            </a:r>
            <a:r>
              <a:rPr lang="en-US" altLang="zh-CN" b="1" dirty="0" err="1">
                <a:latin typeface="Courier New" pitchFamily="49" charset="0"/>
                <a:cs typeface="Courier New" pitchFamily="49" charset="0"/>
              </a:rPr>
              <a:t>pj</a:t>
            </a:r>
            <a:r>
              <a:rPr lang="en-US" altLang="zh-CN" b="1" dirty="0">
                <a:latin typeface="Courier New" pitchFamily="49" charset="0"/>
                <a:cs typeface="Courier New" pitchFamily="49" charset="0"/>
              </a:rPr>
              <a:t>=3, 6</a:t>
            </a:r>
          </a:p>
          <a:p>
            <a:pPr algn="just">
              <a:lnSpc>
                <a:spcPct val="120000"/>
              </a:lnSpc>
              <a:buNone/>
            </a:pPr>
            <a:r>
              <a:rPr lang="en-US" altLang="zh-CN" b="1" dirty="0">
                <a:latin typeface="Courier New" pitchFamily="49" charset="0"/>
                <a:cs typeface="Courier New" pitchFamily="49" charset="0"/>
              </a:rPr>
              <a:t>	*pi,*</a:t>
            </a:r>
            <a:r>
              <a:rPr lang="en-US" altLang="zh-CN" b="1" dirty="0" err="1">
                <a:latin typeface="Courier New" pitchFamily="49" charset="0"/>
                <a:cs typeface="Courier New" pitchFamily="49" charset="0"/>
              </a:rPr>
              <a:t>pj</a:t>
            </a:r>
            <a:r>
              <a:rPr lang="en-US" altLang="zh-CN" b="1" dirty="0">
                <a:latin typeface="Courier New" pitchFamily="49" charset="0"/>
                <a:cs typeface="Courier New" pitchFamily="49" charset="0"/>
              </a:rPr>
              <a:t>=123, 125</a:t>
            </a:r>
          </a:p>
          <a:p>
            <a:pPr algn="just">
              <a:lnSpc>
                <a:spcPct val="120000"/>
              </a:lnSpc>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i,j</a:t>
            </a:r>
            <a:r>
              <a:rPr lang="en-US" altLang="zh-CN" b="1" dirty="0">
                <a:latin typeface="Courier New" pitchFamily="49" charset="0"/>
                <a:cs typeface="Courier New" pitchFamily="49" charset="0"/>
              </a:rPr>
              <a:t>=123, 125</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6FA96B8A-9F9C-44C0-9CD6-8E29E0C4E8E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8432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70158"/>
            <a:ext cx="8229600" cy="5232623"/>
          </a:xfrm>
        </p:spPr>
        <p:txBody>
          <a:bodyPr/>
          <a:lstStyle/>
          <a:p>
            <a:pPr algn="just" eaLnBrk="0" hangingPunct="0">
              <a:lnSpc>
                <a:spcPct val="120000"/>
              </a:lnSpc>
              <a:spcBef>
                <a:spcPct val="0"/>
              </a:spcBef>
              <a:buClrTx/>
              <a:buSzTx/>
              <a:buFontTx/>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6.5】</a:t>
            </a:r>
            <a:r>
              <a:rPr lang="zh-CN" altLang="en-US" dirty="0">
                <a:solidFill>
                  <a:srgbClr val="C00000"/>
                </a:solidFill>
              </a:rPr>
              <a:t>编程序，首先输入5个整数放入数组</a:t>
            </a:r>
            <a:r>
              <a:rPr lang="en-US" altLang="zh-CN" dirty="0">
                <a:solidFill>
                  <a:srgbClr val="C00000"/>
                </a:solidFill>
              </a:rPr>
              <a:t>a，</a:t>
            </a:r>
            <a:r>
              <a:rPr lang="zh-CN" altLang="en-US" dirty="0">
                <a:solidFill>
                  <a:srgbClr val="C00000"/>
                </a:solidFill>
              </a:rPr>
              <a:t>而后按输入的相反顺序输出这5个数</a:t>
            </a:r>
            <a:endParaRPr lang="en-US" altLang="zh-CN" dirty="0">
              <a:solidFill>
                <a:srgbClr val="C00000"/>
              </a:solidFill>
            </a:endParaRPr>
          </a:p>
          <a:p>
            <a:pPr algn="just" eaLnBrk="0" hangingPunct="0">
              <a:spcBef>
                <a:spcPct val="0"/>
              </a:spcBef>
              <a:buClrTx/>
              <a:buSzTx/>
              <a:buFontTx/>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lgn="just">
              <a:spcBef>
                <a:spcPct val="0"/>
              </a:spcBef>
              <a:buNone/>
            </a:pPr>
            <a:r>
              <a:rPr kumimoji="1" lang="en-US" altLang="zh-CN" sz="2400" b="1" dirty="0">
                <a:solidFill>
                  <a:srgbClr val="0000FF"/>
                </a:solidFill>
                <a:latin typeface="Courier New" pitchFamily="49" charset="0"/>
                <a:cs typeface="Courier New" pitchFamily="49" charset="0"/>
              </a:rPr>
              <a:t>using namespace </a:t>
            </a:r>
            <a:r>
              <a:rPr kumimoji="1" lang="en-US" altLang="zh-CN" sz="2400" b="1" dirty="0" err="1">
                <a:latin typeface="Courier New" pitchFamily="49" charset="0"/>
                <a:cs typeface="Courier New" pitchFamily="49" charset="0"/>
              </a:rPr>
              <a:t>std</a:t>
            </a:r>
            <a:r>
              <a:rPr kumimoji="1" lang="en-US" altLang="zh-CN" sz="2400" b="1" dirty="0">
                <a:latin typeface="Courier New" pitchFamily="49" charset="0"/>
                <a:cs typeface="Courier New" pitchFamily="49" charset="0"/>
              </a:rPr>
              <a:t>;</a:t>
            </a:r>
            <a:endParaRPr lang="en-US" altLang="zh-CN" sz="2400" b="1" dirty="0">
              <a:latin typeface="Courier New" pitchFamily="49" charset="0"/>
              <a:cs typeface="Courier New" pitchFamily="49" charset="0"/>
            </a:endParaRPr>
          </a:p>
          <a:p>
            <a:pPr algn="just" eaLnBrk="0" hangingPunct="0">
              <a:spcBef>
                <a:spcPct val="0"/>
              </a:spcBef>
              <a:buClrTx/>
              <a:buSzTx/>
              <a:buFontTx/>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eaLnBrk="0" hangingPunct="0">
              <a:spcBef>
                <a:spcPct val="0"/>
              </a:spcBef>
              <a:buClrTx/>
              <a:buSzTx/>
              <a:buFontTx/>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a:t>
            </a:r>
            <a:r>
              <a:rPr lang="en-US" altLang="zh-CN" sz="2400" b="1" dirty="0">
                <a:latin typeface="Courier New" pitchFamily="49" charset="0"/>
                <a:cs typeface="Courier New" pitchFamily="49" charset="0"/>
              </a:rPr>
              <a:t>[5],*p;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指针变量</a:t>
            </a:r>
            <a:r>
              <a:rPr lang="en-US" altLang="zh-CN" sz="2400" b="1" dirty="0">
                <a:solidFill>
                  <a:srgbClr val="00B050"/>
                </a:solidFill>
                <a:latin typeface="Courier New" pitchFamily="49" charset="0"/>
                <a:cs typeface="Courier New" pitchFamily="49" charset="0"/>
              </a:rPr>
              <a:t>p</a:t>
            </a:r>
          </a:p>
          <a:p>
            <a:pPr algn="just" eaLnBrk="0" hangingPunct="0">
              <a:spcBef>
                <a:spcPct val="0"/>
              </a:spcBef>
              <a:buClrTx/>
              <a:buSzTx/>
              <a:buFontTx/>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&lt;&lt;"input 5 integers:"&lt;&lt;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eaLnBrk="0" hangingPunct="0">
              <a:spcBef>
                <a:spcPct val="0"/>
              </a:spcBef>
              <a:buClrTx/>
              <a:buSzTx/>
              <a:buFontTx/>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&lt;5;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lgn="just" eaLnBrk="0" hangingPunct="0">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a:t>
            </a:r>
            <a:r>
              <a:rPr lang="en-US" altLang="zh-CN" sz="2400" b="1" dirty="0" err="1">
                <a:latin typeface="Courier New" pitchFamily="49" charset="0"/>
                <a:cs typeface="Courier New" pitchFamily="49" charset="0"/>
              </a:rPr>
              <a:t>a+i</a:t>
            </a:r>
            <a:r>
              <a:rPr lang="en-US" altLang="zh-CN" sz="2400" b="1" dirty="0">
                <a:latin typeface="Courier New" pitchFamily="49" charset="0"/>
                <a:cs typeface="Courier New" pitchFamily="49" charset="0"/>
              </a:rPr>
              <a:t>);    </a:t>
            </a:r>
          </a:p>
          <a:p>
            <a:pPr algn="just" eaLnBrk="0" hangingPunct="0">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Reverse output: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eaLnBrk="0" hangingPunct="0">
              <a:spcBef>
                <a:spcPct val="0"/>
              </a:spcBef>
              <a:buClrTx/>
              <a:buSzTx/>
              <a:buFontTx/>
              <a:buNone/>
            </a:pPr>
            <a:r>
              <a:rPr lang="en-US" altLang="zh-CN" sz="2400" b="1" dirty="0">
                <a:latin typeface="Courier New" pitchFamily="49" charset="0"/>
                <a:cs typeface="Courier New" pitchFamily="49" charset="0"/>
              </a:rPr>
              <a:t>  for(p=a+4; p&gt;=a; p--)</a:t>
            </a:r>
            <a:r>
              <a:rPr lang="zh-CN" altLang="en-US" sz="2400" b="1" dirty="0">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p&gt;=a</a:t>
            </a:r>
            <a:r>
              <a:rPr lang="zh-CN" altLang="en-US" sz="2400" b="1" dirty="0">
                <a:solidFill>
                  <a:srgbClr val="00B050"/>
                </a:solidFill>
                <a:latin typeface="Courier New" pitchFamily="49" charset="0"/>
                <a:cs typeface="Courier New" pitchFamily="49" charset="0"/>
              </a:rPr>
              <a:t>为指针比较运算</a:t>
            </a:r>
            <a:endParaRPr lang="en-US" altLang="zh-CN" sz="2400" b="1" dirty="0">
              <a:solidFill>
                <a:srgbClr val="00B050"/>
              </a:solidFill>
              <a:latin typeface="Courier New" pitchFamily="49" charset="0"/>
              <a:cs typeface="Courier New" pitchFamily="49" charset="0"/>
            </a:endParaRPr>
          </a:p>
          <a:p>
            <a:pPr algn="just">
              <a:spcBef>
                <a:spcPct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&lt;&lt;*p&lt;&lt;"  "; </a:t>
            </a:r>
            <a:r>
              <a:rPr lang="en-US" altLang="zh-CN" sz="2400" b="1" dirty="0">
                <a:solidFill>
                  <a:srgbClr val="00B050"/>
                </a:solidFill>
                <a:latin typeface="Courier New" pitchFamily="49" charset="0"/>
                <a:cs typeface="Courier New" pitchFamily="49" charset="0"/>
              </a:rPr>
              <a:t>//*p</a:t>
            </a:r>
            <a:r>
              <a:rPr lang="zh-CN" altLang="en-US" sz="2400" b="1" dirty="0">
                <a:solidFill>
                  <a:srgbClr val="00B050"/>
                </a:solidFill>
                <a:latin typeface="Courier New" pitchFamily="49" charset="0"/>
                <a:cs typeface="Courier New" pitchFamily="49" charset="0"/>
              </a:rPr>
              <a:t>指向各不同</a:t>
            </a:r>
            <a:r>
              <a:rPr lang="en-US" altLang="zh-CN" sz="2400" b="1" dirty="0">
                <a:solidFill>
                  <a:srgbClr val="00B050"/>
                </a:solidFill>
                <a:latin typeface="Courier New" pitchFamily="49" charset="0"/>
                <a:cs typeface="Courier New" pitchFamily="49" charset="0"/>
              </a:rPr>
              <a:t>a[</a:t>
            </a:r>
            <a:r>
              <a:rPr lang="en-US" altLang="zh-CN" sz="2400" b="1" dirty="0" err="1">
                <a:solidFill>
                  <a:srgbClr val="00B050"/>
                </a:solidFill>
                <a:latin typeface="Courier New" pitchFamily="49" charset="0"/>
                <a:cs typeface="Courier New" pitchFamily="49" charset="0"/>
              </a:rPr>
              <a:t>i</a:t>
            </a:r>
            <a:r>
              <a:rPr lang="en-US" altLang="zh-CN" sz="2400" b="1" dirty="0">
                <a:solidFill>
                  <a:srgbClr val="00B050"/>
                </a:solidFill>
                <a:latin typeface="Courier New" pitchFamily="49" charset="0"/>
                <a:cs typeface="Courier New" pitchFamily="49" charset="0"/>
              </a:rPr>
              <a:t>]</a:t>
            </a:r>
          </a:p>
          <a:p>
            <a:pPr algn="just" eaLnBrk="0" hangingPunct="0">
              <a:spcBef>
                <a:spcPct val="0"/>
              </a:spcBef>
              <a:buClrTx/>
              <a:buSzTx/>
              <a:buFontTx/>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eaLnBrk="0" hangingPunct="0">
              <a:spcBef>
                <a:spcPct val="0"/>
              </a:spcBef>
              <a:buClrTx/>
              <a:buSzTx/>
              <a:buFontTx/>
              <a:buNone/>
            </a:pP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循环过程中</a:t>
            </a:r>
            <a:r>
              <a:rPr lang="en-US" altLang="zh-CN" sz="2400" b="1" dirty="0">
                <a:solidFill>
                  <a:srgbClr val="00B050"/>
                </a:solidFill>
                <a:latin typeface="Courier New" pitchFamily="49" charset="0"/>
                <a:cs typeface="Courier New" pitchFamily="49" charset="0"/>
              </a:rPr>
              <a:t>p</a:t>
            </a:r>
            <a:r>
              <a:rPr lang="zh-CN" altLang="en-US" sz="2400" b="1" dirty="0">
                <a:solidFill>
                  <a:srgbClr val="00B050"/>
                </a:solidFill>
                <a:latin typeface="Courier New" pitchFamily="49" charset="0"/>
                <a:cs typeface="Courier New" pitchFamily="49" charset="0"/>
              </a:rPr>
              <a:t>值总在变化(通过指针加减运算)</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rId3" action="ppaction://hlinksldjump"/>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指针变量</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D7E10353-9227-4770-8E45-5D91BD84043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42322262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D566A41-B335-460D-BEEE-8E912D7EF04B}"/>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对于类型相同的指针变量，下面进行下面哪种运算是没有意义的（       ）</a:t>
            </a:r>
          </a:p>
        </p:txBody>
      </p:sp>
      <p:sp>
        <p:nvSpPr>
          <p:cNvPr id="7" name="文本框 6">
            <a:extLst>
              <a:ext uri="{FF2B5EF4-FFF2-40B4-BE49-F238E27FC236}">
                <a16:creationId xmlns:a16="http://schemas.microsoft.com/office/drawing/2014/main" id="{9361E5FD-F503-4218-8DDD-7F9252BFF1D8}"/>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C5BDB363-ED96-4290-963C-AB7C2E8A1EC4}"/>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4D929B2F-03C1-4EE7-8847-B82386CCFA10}"/>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D3046742-2D57-4D54-98DB-2EAF54C0831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165B2E4C-E811-4672-A66D-5DDBBFD6176E}"/>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AA53689-B137-4205-8AD4-2669C49BBDD3}"/>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1FDB180D-4892-4385-AD6D-760B67DDF5B0}"/>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E19F4167-64BA-4C62-B94A-D2EBC98E3C44}"/>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CA8F90D7-988C-4419-A740-B143B897D73C}"/>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BFD5C7C9-3F4A-4FDD-939D-03927F1FC2E1}"/>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62A4DD61-5E77-483B-8036-9698E609EB00}"/>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6F45392F-542F-4D8F-8571-D2C994E2DEEC}"/>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48D2BC88-3600-491E-BE5C-B2626D597CCB}"/>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A53744E5-415F-4776-B2EF-B785655CF23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07409994-B2CD-420D-889E-D84618205A9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928116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488020-78AE-4F92-A830-D90B3CD0E014}"/>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zh-CN" sz="2600" dirty="0">
                <a:solidFill>
                  <a:srgbClr val="000000"/>
                </a:solidFill>
                <a:latin typeface="Microsoft Yahei" panose="020B0503020204020204" pitchFamily="34" charset="-122"/>
                <a:ea typeface="Microsoft Yahei" panose="020B0503020204020204" pitchFamily="34" charset="-122"/>
              </a:rPr>
              <a:t>下列关于指针的运算中，</a:t>
            </a:r>
            <a:r>
              <a:rPr lang="zh-CN" altLang="en-US" sz="2600" dirty="0">
                <a:solidFill>
                  <a:srgbClr val="000000"/>
                </a:solidFill>
                <a:latin typeface="Microsoft Yahei" panose="020B0503020204020204" pitchFamily="34" charset="-122"/>
                <a:ea typeface="Microsoft Yahei" panose="020B0503020204020204" pitchFamily="34" charset="-122"/>
              </a:rPr>
              <a:t>（        ）是非法的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43923CBB-3AF8-453C-BBA1-BFEEF2E4BAE8}"/>
              </a:ext>
            </a:extLst>
          </p:cNvPr>
          <p:cNvSpPr txBox="1"/>
          <p:nvPr>
            <p:custDataLst>
              <p:tags r:id="rId3"/>
            </p:custDataLst>
          </p:nvPr>
        </p:nvSpPr>
        <p:spPr>
          <a:xfrm>
            <a:off x="1828800" y="2786063"/>
            <a:ext cx="6863024"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两个指针在一定条件下，可以进行关系运算</a:t>
            </a:r>
          </a:p>
        </p:txBody>
      </p:sp>
      <p:sp>
        <p:nvSpPr>
          <p:cNvPr id="6" name="文本框 5">
            <a:extLst>
              <a:ext uri="{FF2B5EF4-FFF2-40B4-BE49-F238E27FC236}">
                <a16:creationId xmlns:a16="http://schemas.microsoft.com/office/drawing/2014/main" id="{FDD50779-970F-42F6-9C82-5C8B14FDF056}"/>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可以将一个空指针赋值给某个指针</a:t>
            </a:r>
          </a:p>
        </p:txBody>
      </p:sp>
      <p:sp>
        <p:nvSpPr>
          <p:cNvPr id="7" name="文本框 6">
            <a:extLst>
              <a:ext uri="{FF2B5EF4-FFF2-40B4-BE49-F238E27FC236}">
                <a16:creationId xmlns:a16="http://schemas.microsoft.com/office/drawing/2014/main" id="{17CF4759-BB40-461C-810F-8C8CADAE1593}"/>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一个指针可以加上两个整数之差</a:t>
            </a:r>
          </a:p>
        </p:txBody>
      </p:sp>
      <p:sp>
        <p:nvSpPr>
          <p:cNvPr id="8" name="文本框 7">
            <a:extLst>
              <a:ext uri="{FF2B5EF4-FFF2-40B4-BE49-F238E27FC236}">
                <a16:creationId xmlns:a16="http://schemas.microsoft.com/office/drawing/2014/main" id="{207702BC-B21D-4BC4-9B91-EDECAAFD9B3F}"/>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两个指针在一定条件下可以加减运算</a:t>
            </a:r>
          </a:p>
        </p:txBody>
      </p:sp>
      <p:sp>
        <p:nvSpPr>
          <p:cNvPr id="9" name="椭圆 8">
            <a:extLst>
              <a:ext uri="{FF2B5EF4-FFF2-40B4-BE49-F238E27FC236}">
                <a16:creationId xmlns:a16="http://schemas.microsoft.com/office/drawing/2014/main" id="{BEA5C2AE-0AEA-439E-A1FB-1A83AE64A850}"/>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F0206C20-8C3B-4901-A6EB-9C36E7B69BF7}"/>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BA0D8BC6-F751-4182-A989-9107AE9C4395}"/>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31C69108-50D2-453A-B1DD-E0C296F7FD2E}"/>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A2A8A8D8-031D-4388-8AAA-DCFDB8B1AD20}"/>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C784971A-AAD2-41D3-B9B1-C15AC5377042}"/>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F682EA7A-74C9-4535-9F9E-FF2E2018923B}"/>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A23A67AA-D22A-4749-9868-4DDF648F607D}"/>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737C5884-0E31-497B-B6CD-30F17C35696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8147B772-3A4E-4D8E-8D9B-06D896625310}"/>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564ADC60-F22A-4B45-B562-15899BBF90C6}"/>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190919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991B47B-2EC2-454F-9F02-1AF2A0037407}"/>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设有以下程序段：</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a[5]={0},*p,*q;  p=a;  q=a;</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则下列选项中，合法的运算是（     ）</a:t>
            </a:r>
          </a:p>
        </p:txBody>
      </p:sp>
      <p:sp>
        <p:nvSpPr>
          <p:cNvPr id="5" name="文本框 4">
            <a:extLst>
              <a:ext uri="{FF2B5EF4-FFF2-40B4-BE49-F238E27FC236}">
                <a16:creationId xmlns:a16="http://schemas.microsoft.com/office/drawing/2014/main" id="{E68A8A1E-2831-475A-BBC4-63B87CE2C37F}"/>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p+q</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98AB3F81-1C75-4808-A474-9338C4B0B1E8}"/>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p-q</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B92E141B-E919-4444-8C5B-66B481270BDD}"/>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241BBE20-F617-4F29-BD50-494706688899}"/>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p%q</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AD38BB39-AD3A-43CA-AD6C-73C248504C69}"/>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8103BFC7-0FF7-460C-9355-27A6C16C8171}"/>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2D791AAA-FFAF-4C69-B361-8FE5D1D5D809}"/>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1DA8AD7-AD9F-4237-8F3D-E3FB6282CBDB}"/>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FB65CE9-BBC5-4784-A40A-685105B16D05}"/>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E1DF75DB-C3F7-4EC6-A908-4A18E6C4A48C}"/>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D574C032-3C60-49E4-9A0D-263D0F5BB3AA}"/>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D0B80BB6-4275-44CD-95D3-428F2B0A6C85}"/>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C8142930-D466-45A0-8538-1CF45316382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551A22EA-7623-4E6C-8292-A1A7B775801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2DC1EF6E-1782-40D8-9421-36EB054EAC38}"/>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94428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AED503-9690-4E90-8586-B42B6FD02E79}"/>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若有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*p1,*p2,a[10];  p1=&amp;a[1]; p2=&amp;a[6];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      ）</a:t>
            </a:r>
          </a:p>
        </p:txBody>
      </p:sp>
      <p:sp>
        <p:nvSpPr>
          <p:cNvPr id="5" name="文本框 4">
            <a:extLst>
              <a:ext uri="{FF2B5EF4-FFF2-40B4-BE49-F238E27FC236}">
                <a16:creationId xmlns:a16="http://schemas.microsoft.com/office/drawing/2014/main" id="{AE8C2309-F2E1-45E6-9B2F-FE3E7BD41B17}"/>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的值大于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a:t>
            </a:r>
          </a:p>
        </p:txBody>
      </p:sp>
      <p:sp>
        <p:nvSpPr>
          <p:cNvPr id="6" name="文本框 5">
            <a:extLst>
              <a:ext uri="{FF2B5EF4-FFF2-40B4-BE49-F238E27FC236}">
                <a16:creationId xmlns:a16="http://schemas.microsoft.com/office/drawing/2014/main" id="{3411A4C9-36C8-4D22-AAFC-0C4C53E6BD0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的值小于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a:t>
            </a:r>
          </a:p>
        </p:txBody>
      </p:sp>
      <p:sp>
        <p:nvSpPr>
          <p:cNvPr id="7" name="文本框 6">
            <a:extLst>
              <a:ext uri="{FF2B5EF4-FFF2-40B4-BE49-F238E27FC236}">
                <a16:creationId xmlns:a16="http://schemas.microsoft.com/office/drawing/2014/main" id="{AC93016A-3B89-4C6C-B29F-CADDD3E2DEA3}"/>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没有可比性</a:t>
            </a:r>
          </a:p>
        </p:txBody>
      </p:sp>
      <p:sp>
        <p:nvSpPr>
          <p:cNvPr id="8" name="文本框 7">
            <a:extLst>
              <a:ext uri="{FF2B5EF4-FFF2-40B4-BE49-F238E27FC236}">
                <a16:creationId xmlns:a16="http://schemas.microsoft.com/office/drawing/2014/main" id="{54D0448F-0775-4680-9B88-DB55296FCF5F}"/>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哪个大不确定</a:t>
            </a:r>
          </a:p>
        </p:txBody>
      </p:sp>
      <p:sp>
        <p:nvSpPr>
          <p:cNvPr id="9" name="椭圆 8">
            <a:extLst>
              <a:ext uri="{FF2B5EF4-FFF2-40B4-BE49-F238E27FC236}">
                <a16:creationId xmlns:a16="http://schemas.microsoft.com/office/drawing/2014/main" id="{0702D41A-BD9B-4E15-871C-5DDECD82922E}"/>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C30D1674-C1AF-4B0A-92D5-6EF6F73D22CC}"/>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7C42750-AA28-4D5D-8CCE-E37BB8C95BD1}"/>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DE740304-D3C7-4C4E-B09C-9219536FBE54}"/>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2756CA89-3DD8-4BE9-91BE-C213502616A1}"/>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5429B7E7-0AFF-4677-9E79-4C0B45428D84}"/>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A3E2565C-6555-4F0D-BBAE-DEB939B515EF}"/>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6F5AF9A7-5863-4A7B-BD92-9080C24807B2}"/>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2F453787-5079-426B-8DAB-6DE9AD4743A7}"/>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6E21B3E5-6351-49CF-B9AC-56BAACB076FB}"/>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0C4C046A-2336-4104-8301-2EB02F74F5E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036220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233352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 name="组合 34"/>
          <p:cNvGrpSpPr>
            <a:grpSpLocks/>
          </p:cNvGrpSpPr>
          <p:nvPr/>
        </p:nvGrpSpPr>
        <p:grpSpPr bwMode="auto">
          <a:xfrm>
            <a:off x="1643063" y="414671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a:grpSpLocks/>
          </p:cNvGrpSpPr>
          <p:nvPr/>
        </p:nvGrpSpPr>
        <p:grpSpPr bwMode="auto">
          <a:xfrm>
            <a:off x="1641600" y="1397421"/>
            <a:ext cx="5356225" cy="2664296"/>
            <a:chOff x="1643042" y="3196754"/>
            <a:chExt cx="5356246" cy="2664308"/>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指针类型与指针变量</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指针与常量</a:t>
            </a: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指针与数组</a:t>
            </a: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指针与字符串</a:t>
            </a: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指针与函数</a:t>
            </a:r>
          </a:p>
        </p:txBody>
      </p:sp>
      <p:sp>
        <p:nvSpPr>
          <p:cNvPr id="64" name="矩形 63">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65" name="矩形 6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6" name="矩形 6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68" name="矩形 6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指针常量</a:t>
            </a:r>
          </a:p>
        </p:txBody>
      </p:sp>
      <p:sp>
        <p:nvSpPr>
          <p:cNvPr id="69" name="矩形 6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常量指针</a:t>
            </a:r>
          </a:p>
        </p:txBody>
      </p:sp>
      <p:sp>
        <p:nvSpPr>
          <p:cNvPr id="70" name="矩形 6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71" name="矩形 7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40" name="矩形 39">
            <a:hlinkClick r:id="" action="ppaction://noaction"/>
            <a:extLst>
              <a:ext uri="{FF2B5EF4-FFF2-40B4-BE49-F238E27FC236}">
                <a16:creationId xmlns:a16="http://schemas.microsoft.com/office/drawing/2014/main" id="{CA426115-0879-4C56-A59C-3B14885928D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123552694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指针常量</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269596358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指针常量</a:t>
            </a:r>
          </a:p>
        </p:txBody>
      </p:sp>
      <p:sp>
        <p:nvSpPr>
          <p:cNvPr id="3" name="内容占位符 2"/>
          <p:cNvSpPr>
            <a:spLocks noGrp="1"/>
          </p:cNvSpPr>
          <p:nvPr>
            <p:ph idx="1"/>
          </p:nvPr>
        </p:nvSpPr>
        <p:spPr>
          <a:xfrm>
            <a:off x="541683" y="1789665"/>
            <a:ext cx="7419561" cy="4500562"/>
          </a:xfrm>
        </p:spPr>
        <p:txBody>
          <a:bodyPr/>
          <a:lstStyle/>
          <a:p>
            <a:r>
              <a:rPr lang="zh-CN" altLang="en-US" dirty="0"/>
              <a:t>指针本身是常量</a:t>
            </a:r>
            <a:endParaRPr lang="en-US" altLang="zh-CN" dirty="0"/>
          </a:p>
          <a:p>
            <a:pPr lvl="1"/>
            <a:r>
              <a:rPr lang="zh-CN" altLang="en-US" dirty="0"/>
              <a:t>固定指向一个对象的指针，指向的地址固定不变</a:t>
            </a:r>
            <a:endParaRPr lang="en-US" altLang="zh-CN" dirty="0"/>
          </a:p>
          <a:p>
            <a:pPr>
              <a:buNone/>
            </a:pPr>
            <a:r>
              <a:rPr lang="en-US" altLang="zh-CN" sz="2400" dirty="0">
                <a:solidFill>
                  <a:srgbClr val="0000CC"/>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a:t>
            </a:r>
            <a:r>
              <a:rPr lang="en-US" altLang="zh-CN" sz="2400" dirty="0"/>
              <a:t>'</a:t>
            </a:r>
            <a:r>
              <a:rPr lang="en-US" altLang="zh-CN" sz="2400" b="1" dirty="0">
                <a:latin typeface="Courier New" pitchFamily="49" charset="0"/>
                <a:cs typeface="Courier New" pitchFamily="49" charset="0"/>
              </a:rPr>
              <a:t>a</a:t>
            </a:r>
            <a:r>
              <a:rPr lang="en-US" altLang="zh-CN" sz="2400" dirty="0"/>
              <a:t>'</a:t>
            </a:r>
            <a:r>
              <a:rPr lang="en-US" altLang="zh-CN" sz="2400" b="1" dirty="0">
                <a:latin typeface="Courier New" pitchFamily="49" charset="0"/>
                <a:cs typeface="Courier New" pitchFamily="49" charset="0"/>
              </a:rPr>
              <a:t>,ch1=</a:t>
            </a:r>
            <a:r>
              <a:rPr lang="en-US" altLang="zh-CN" sz="2400" dirty="0"/>
              <a:t>'</a:t>
            </a:r>
            <a:r>
              <a:rPr lang="en-US" altLang="zh-CN" sz="2400" b="1" dirty="0">
                <a:latin typeface="Courier New" pitchFamily="49" charset="0"/>
                <a:cs typeface="Courier New" pitchFamily="49" charset="0"/>
              </a:rPr>
              <a:t>x</a:t>
            </a:r>
            <a:r>
              <a:rPr lang="en-US" altLang="zh-CN" sz="2400" dirty="0"/>
              <a:t>'</a:t>
            </a:r>
            <a:r>
              <a:rPr lang="en-US" altLang="zh-CN" sz="2400" b="1" dirty="0">
                <a:latin typeface="Courier New" pitchFamily="49" charset="0"/>
                <a:cs typeface="Courier New" pitchFamily="49" charset="0"/>
              </a:rPr>
              <a:t>;</a:t>
            </a:r>
          </a:p>
          <a:p>
            <a:pPr>
              <a:buNone/>
            </a:pPr>
            <a:r>
              <a:rPr lang="en-US" altLang="zh-CN" sz="2400" b="1" dirty="0">
                <a:solidFill>
                  <a:srgbClr val="0000CC"/>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 * </a:t>
            </a:r>
            <a:r>
              <a:rPr lang="en-US" altLang="zh-CN" sz="2400" b="1" dirty="0">
                <a:solidFill>
                  <a:srgbClr val="0000FF"/>
                </a:solidFill>
                <a:latin typeface="Courier New" pitchFamily="49" charset="0"/>
                <a:cs typeface="Courier New" pitchFamily="49" charset="0"/>
              </a:rPr>
              <a:t>const</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ptr</a:t>
            </a:r>
            <a:r>
              <a:rPr lang="en-US" altLang="zh-CN" sz="2400" b="1" dirty="0">
                <a:latin typeface="Courier New" pitchFamily="49" charset="0"/>
                <a:cs typeface="Courier New" pitchFamily="49" charset="0"/>
              </a:rPr>
              <a:t>=&amp;</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 </a:t>
            </a:r>
            <a:r>
              <a:rPr lang="en-US" altLang="zh-CN" sz="2400" dirty="0">
                <a:solidFill>
                  <a:srgbClr val="00B050"/>
                </a:solidFill>
                <a:latin typeface="Courier New" pitchFamily="49" charset="0"/>
                <a:cs typeface="Courier New" pitchFamily="49" charset="0"/>
              </a:rPr>
              <a:t>//</a:t>
            </a:r>
            <a:r>
              <a:rPr lang="en-US" altLang="zh-CN" sz="2400" dirty="0" err="1">
                <a:solidFill>
                  <a:srgbClr val="00B050"/>
                </a:solidFill>
                <a:latin typeface="Courier New" pitchFamily="49" charset="0"/>
                <a:cs typeface="Courier New" pitchFamily="49" charset="0"/>
              </a:rPr>
              <a:t>ptr</a:t>
            </a:r>
            <a:r>
              <a:rPr lang="zh-CN" altLang="en-US" sz="2400" dirty="0">
                <a:solidFill>
                  <a:srgbClr val="00B050"/>
                </a:solidFill>
                <a:latin typeface="Courier New" pitchFamily="49" charset="0"/>
                <a:cs typeface="Courier New" pitchFamily="49" charset="0"/>
              </a:rPr>
              <a:t>是指针常量</a:t>
            </a:r>
            <a:endParaRPr lang="en-US" altLang="zh-CN" sz="2400" b="1" dirty="0">
              <a:latin typeface="Courier New" pitchFamily="49" charset="0"/>
              <a:cs typeface="Courier New" pitchFamily="49" charset="0"/>
            </a:endParaRPr>
          </a:p>
          <a:p>
            <a:pPr>
              <a:buNone/>
            </a:pPr>
            <a:r>
              <a:rPr lang="en-US" altLang="zh-CN" sz="2400" dirty="0">
                <a:solidFill>
                  <a:srgbClr val="00B050"/>
                </a:solidFill>
                <a:latin typeface="Tahoma" pitchFamily="34" charset="0"/>
              </a:rPr>
              <a:t>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注意</a:t>
            </a:r>
            <a:r>
              <a:rPr lang="en-US" altLang="zh-CN" sz="2400" dirty="0">
                <a:solidFill>
                  <a:srgbClr val="00B050"/>
                </a:solidFill>
                <a:latin typeface="Courier New" pitchFamily="49" charset="0"/>
                <a:cs typeface="Courier New" pitchFamily="49" charset="0"/>
              </a:rPr>
              <a:t>const</a:t>
            </a:r>
            <a:r>
              <a:rPr lang="zh-CN" altLang="en-US" sz="2400" dirty="0">
                <a:solidFill>
                  <a:srgbClr val="00B050"/>
                </a:solidFill>
                <a:latin typeface="Courier New" pitchFamily="49" charset="0"/>
                <a:cs typeface="Courier New" pitchFamily="49" charset="0"/>
              </a:rPr>
              <a:t>放在类型说明之后，标识符之前</a:t>
            </a:r>
          </a:p>
          <a:p>
            <a:pPr>
              <a:buNone/>
            </a:pPr>
            <a:r>
              <a:rPr lang="en-US" altLang="zh-CN" sz="2400" dirty="0">
                <a:latin typeface="Courier New" pitchFamily="49" charset="0"/>
                <a:cs typeface="Courier New" pitchFamily="49" charset="0"/>
              </a:rPr>
              <a:t>	</a:t>
            </a:r>
            <a:r>
              <a:rPr lang="zh-CN" altLang="en-US"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ptr</a:t>
            </a:r>
            <a:r>
              <a:rPr lang="en-US" altLang="zh-CN" sz="2400" b="1" dirty="0">
                <a:latin typeface="Courier New" pitchFamily="49" charset="0"/>
                <a:cs typeface="Courier New" pitchFamily="49" charset="0"/>
              </a:rPr>
              <a:t>=</a:t>
            </a:r>
            <a:r>
              <a:rPr lang="en-US" altLang="zh-CN" sz="2400" dirty="0"/>
              <a:t>'</a:t>
            </a:r>
            <a:r>
              <a:rPr lang="en-US" altLang="zh-CN" sz="2400" b="1" dirty="0">
                <a:latin typeface="Courier New" pitchFamily="49" charset="0"/>
                <a:cs typeface="Courier New" pitchFamily="49" charset="0"/>
              </a:rPr>
              <a:t>b</a:t>
            </a:r>
            <a:r>
              <a:rPr lang="en-US" altLang="zh-CN" sz="2400" dirty="0"/>
              <a:t>'</a:t>
            </a:r>
            <a:r>
              <a:rPr lang="en-US" altLang="zh-CN" sz="2400" b="1" dirty="0">
                <a:latin typeface="Courier New" pitchFamily="49" charset="0"/>
                <a:cs typeface="Courier New" pitchFamily="49" charset="0"/>
              </a:rPr>
              <a:t>;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正确，指向地址的值可以变</a:t>
            </a:r>
          </a:p>
          <a:p>
            <a:pPr>
              <a:buNone/>
            </a:pPr>
            <a:r>
              <a:rPr lang="en-US" altLang="zh-CN" sz="2400" dirty="0">
                <a:solidFill>
                  <a:srgbClr val="00B050"/>
                </a:solidFill>
                <a:latin typeface="Courier New" pitchFamily="49" charset="0"/>
                <a:cs typeface="Courier New" pitchFamily="49" charset="0"/>
              </a:rPr>
              <a:t>	</a:t>
            </a:r>
            <a:r>
              <a:rPr lang="en-US" altLang="zh-CN" sz="2400" b="1" dirty="0" err="1">
                <a:latin typeface="Courier New" pitchFamily="49" charset="0"/>
                <a:cs typeface="Courier New" pitchFamily="49" charset="0"/>
              </a:rPr>
              <a:t>ptr</a:t>
            </a:r>
            <a:r>
              <a:rPr lang="en-US" altLang="zh-CN" sz="2400" b="1" dirty="0">
                <a:latin typeface="Courier New" pitchFamily="49" charset="0"/>
                <a:cs typeface="Courier New" pitchFamily="49" charset="0"/>
              </a:rPr>
              <a:t>=&amp;ch1;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错误，指向的地址固定不变</a:t>
            </a:r>
          </a:p>
          <a:p>
            <a:pPr>
              <a:buNone/>
            </a:pPr>
            <a:r>
              <a:rPr lang="en-US" altLang="zh-CN" sz="2400" dirty="0">
                <a:solidFill>
                  <a:srgbClr val="0000CC"/>
                </a:solidFill>
                <a:latin typeface="Tahoma" pitchFamily="34" charset="0"/>
              </a:rPr>
              <a:t>	</a:t>
            </a:r>
            <a:r>
              <a:rPr lang="en-US" altLang="zh-CN" sz="2400" dirty="0" err="1">
                <a:solidFill>
                  <a:srgbClr val="FF0000"/>
                </a:solidFill>
                <a:latin typeface="Courier New" pitchFamily="49" charset="0"/>
                <a:cs typeface="Courier New" pitchFamily="49" charset="0"/>
              </a:rPr>
              <a:t>ptr</a:t>
            </a:r>
            <a:r>
              <a:rPr lang="zh-CN" altLang="en-US" sz="2400" dirty="0">
                <a:solidFill>
                  <a:srgbClr val="FF0000"/>
                </a:solidFill>
                <a:latin typeface="Courier New" pitchFamily="49" charset="0"/>
                <a:cs typeface="Courier New" pitchFamily="49" charset="0"/>
              </a:rPr>
              <a:t>本身在初始化时所指向的地址是不可改变的，但它指向的目标</a:t>
            </a:r>
            <a:r>
              <a:rPr lang="en-US" altLang="zh-CN" sz="2400" dirty="0" err="1">
                <a:solidFill>
                  <a:srgbClr val="FF0000"/>
                </a:solidFill>
                <a:latin typeface="Courier New" pitchFamily="49" charset="0"/>
                <a:cs typeface="Courier New" pitchFamily="49" charset="0"/>
              </a:rPr>
              <a:t>ch</a:t>
            </a:r>
            <a:r>
              <a:rPr lang="zh-CN" altLang="en-US" sz="2400" dirty="0">
                <a:solidFill>
                  <a:srgbClr val="FF0000"/>
                </a:solidFill>
                <a:latin typeface="Courier New" pitchFamily="49" charset="0"/>
                <a:cs typeface="Courier New" pitchFamily="49" charset="0"/>
              </a:rPr>
              <a:t>的值是可以改变的</a:t>
            </a:r>
            <a:endParaRPr lang="en-US" altLang="zh-CN" sz="2400" dirty="0">
              <a:solidFill>
                <a:srgbClr val="FF0000"/>
              </a:solidFill>
              <a:latin typeface="Courier New" pitchFamily="49" charset="0"/>
              <a:cs typeface="Courier New" pitchFamily="49" charset="0"/>
            </a:endParaRPr>
          </a:p>
          <a:p>
            <a:pPr lvl="1">
              <a:lnSpc>
                <a:spcPct val="130000"/>
              </a:lnSpc>
            </a:pPr>
            <a:r>
              <a:rPr lang="zh-CN" altLang="en-US" dirty="0"/>
              <a:t>任一数组名字，都是一个指针常量</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指针常量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常量指针</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924F935A-F1DE-40A4-9ECE-C9D44C59855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645079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a:t>常量</a:t>
            </a:r>
            <a:r>
              <a:rPr lang="zh-CN" altLang="en-US" dirty="0"/>
              <a:t>指针</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14703817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常量指针</a:t>
            </a:r>
          </a:p>
        </p:txBody>
      </p:sp>
      <p:sp>
        <p:nvSpPr>
          <p:cNvPr id="3" name="内容占位符 2"/>
          <p:cNvSpPr>
            <a:spLocks noGrp="1"/>
          </p:cNvSpPr>
          <p:nvPr>
            <p:ph idx="1"/>
          </p:nvPr>
        </p:nvSpPr>
        <p:spPr>
          <a:xfrm>
            <a:off x="387626" y="1775929"/>
            <a:ext cx="7899124" cy="4500562"/>
          </a:xfrm>
        </p:spPr>
        <p:txBody>
          <a:bodyPr/>
          <a:lstStyle/>
          <a:p>
            <a:r>
              <a:rPr lang="zh-CN" altLang="en-US" dirty="0"/>
              <a:t>指向“常量”的指针</a:t>
            </a:r>
            <a:endParaRPr lang="en-US" altLang="zh-CN" dirty="0"/>
          </a:p>
          <a:p>
            <a:pPr lvl="1">
              <a:lnSpc>
                <a:spcPct val="120000"/>
              </a:lnSpc>
            </a:pPr>
            <a:r>
              <a:rPr lang="zh-CN" altLang="en-US" dirty="0"/>
              <a:t>指针本身可以改指向别的对象，但不能通过该指针修改对象，该对象可以通过其他方式修改</a:t>
            </a:r>
            <a:endParaRPr lang="en-US" altLang="zh-CN" dirty="0"/>
          </a:p>
          <a:p>
            <a:pPr lvl="1"/>
            <a:r>
              <a:rPr lang="zh-CN" altLang="en-US" dirty="0"/>
              <a:t>常用于函数的参数，以免误改了实参</a:t>
            </a:r>
            <a:endParaRPr lang="en-US" altLang="zh-CN" dirty="0"/>
          </a:p>
          <a:p>
            <a:pPr>
              <a:lnSpc>
                <a:spcPct val="11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a:t>
            </a:r>
            <a:r>
              <a:rPr lang="en-US" altLang="zh-CN" sz="2400" dirty="0"/>
              <a:t>'</a:t>
            </a:r>
            <a:r>
              <a:rPr lang="en-US" altLang="zh-CN" sz="2400" b="1" dirty="0">
                <a:latin typeface="Courier New" pitchFamily="49" charset="0"/>
                <a:cs typeface="Courier New" pitchFamily="49" charset="0"/>
              </a:rPr>
              <a:t>a</a:t>
            </a:r>
            <a:r>
              <a:rPr lang="en-US" altLang="zh-CN" sz="2400" dirty="0"/>
              <a:t>'</a:t>
            </a:r>
            <a:r>
              <a:rPr lang="en-US" altLang="zh-CN" sz="2400" b="1" dirty="0">
                <a:latin typeface="Courier New" pitchFamily="49" charset="0"/>
                <a:cs typeface="Courier New" pitchFamily="49" charset="0"/>
              </a:rPr>
              <a:t>,ch1=</a:t>
            </a:r>
            <a:r>
              <a:rPr lang="en-US" altLang="zh-CN" sz="2400" dirty="0"/>
              <a:t>'</a:t>
            </a:r>
            <a:r>
              <a:rPr lang="en-US" altLang="zh-CN" sz="2400" b="1" dirty="0">
                <a:latin typeface="Courier New" pitchFamily="49" charset="0"/>
                <a:cs typeface="Courier New" pitchFamily="49" charset="0"/>
              </a:rPr>
              <a:t>x</a:t>
            </a:r>
            <a:r>
              <a:rPr lang="en-US" altLang="zh-CN" sz="2400" dirty="0"/>
              <a:t>'</a:t>
            </a:r>
            <a:r>
              <a:rPr lang="en-US" altLang="zh-CN" sz="2400" b="1" dirty="0">
                <a:latin typeface="Courier New" pitchFamily="49" charset="0"/>
                <a:cs typeface="Courier New" pitchFamily="49" charset="0"/>
              </a:rPr>
              <a:t>;</a:t>
            </a:r>
          </a:p>
          <a:p>
            <a:pPr>
              <a:lnSpc>
                <a:spcPct val="11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const char </a:t>
            </a:r>
            <a:r>
              <a:rPr lang="en-US" altLang="zh-CN" sz="2400" b="1" dirty="0">
                <a:latin typeface="Courier New" pitchFamily="49" charset="0"/>
                <a:cs typeface="Courier New" pitchFamily="49" charset="0"/>
              </a:rPr>
              <a:t>* ptr1=&amp;</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  </a:t>
            </a:r>
            <a:r>
              <a:rPr lang="en-US" altLang="zh-CN" sz="2400" dirty="0">
                <a:solidFill>
                  <a:srgbClr val="00B050"/>
                </a:solidFill>
                <a:latin typeface="Courier New" pitchFamily="49" charset="0"/>
                <a:cs typeface="Courier New" pitchFamily="49" charset="0"/>
              </a:rPr>
              <a:t>//ptr1</a:t>
            </a:r>
            <a:r>
              <a:rPr lang="zh-CN" altLang="en-US" sz="2400" dirty="0">
                <a:solidFill>
                  <a:srgbClr val="00B050"/>
                </a:solidFill>
                <a:latin typeface="Courier New" pitchFamily="49" charset="0"/>
                <a:cs typeface="Courier New" pitchFamily="49" charset="0"/>
              </a:rPr>
              <a:t>是常量指针</a:t>
            </a:r>
            <a:r>
              <a:rPr lang="en-US" altLang="zh-CN" sz="2400" dirty="0">
                <a:solidFill>
                  <a:srgbClr val="00B050"/>
                </a:solidFill>
                <a:latin typeface="Courier New" pitchFamily="49" charset="0"/>
                <a:cs typeface="Courier New" pitchFamily="49" charset="0"/>
              </a:rPr>
              <a:t> //</a:t>
            </a:r>
            <a:r>
              <a:rPr lang="zh-CN" altLang="en-US" sz="2400" dirty="0">
                <a:solidFill>
                  <a:srgbClr val="00B050"/>
                </a:solidFill>
                <a:latin typeface="Courier New" pitchFamily="49" charset="0"/>
                <a:cs typeface="Courier New" pitchFamily="49" charset="0"/>
              </a:rPr>
              <a:t>注意</a:t>
            </a:r>
            <a:r>
              <a:rPr lang="en-US" altLang="zh-CN" sz="2400" dirty="0" err="1">
                <a:solidFill>
                  <a:srgbClr val="00B050"/>
                </a:solidFill>
                <a:latin typeface="Courier New" pitchFamily="49" charset="0"/>
                <a:cs typeface="Courier New" pitchFamily="49" charset="0"/>
              </a:rPr>
              <a:t>const</a:t>
            </a:r>
            <a:r>
              <a:rPr lang="zh-CN" altLang="en-US" sz="2400" dirty="0">
                <a:solidFill>
                  <a:srgbClr val="00B050"/>
                </a:solidFill>
                <a:latin typeface="Courier New" pitchFamily="49" charset="0"/>
                <a:cs typeface="Courier New" pitchFamily="49" charset="0"/>
              </a:rPr>
              <a:t>放在类型说明之前</a:t>
            </a:r>
            <a:endParaRPr lang="en-US" altLang="zh-CN" sz="2400" dirty="0">
              <a:solidFill>
                <a:srgbClr val="00B050"/>
              </a:solidFill>
              <a:latin typeface="Courier New" pitchFamily="49" charset="0"/>
              <a:cs typeface="Courier New" pitchFamily="49" charset="0"/>
            </a:endParaRPr>
          </a:p>
          <a:p>
            <a:pPr>
              <a:lnSpc>
                <a:spcPct val="110000"/>
              </a:lnSpc>
              <a:buNone/>
            </a:pPr>
            <a:r>
              <a:rPr lang="en-US" altLang="zh-CN" sz="2400" dirty="0">
                <a:solidFill>
                  <a:schemeClr val="tx2"/>
                </a:solidFill>
                <a:latin typeface="Courier New" pitchFamily="49" charset="0"/>
                <a:cs typeface="Courier New" pitchFamily="49" charset="0"/>
              </a:rPr>
              <a:t>	</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ptr1=</a:t>
            </a:r>
            <a:r>
              <a:rPr lang="en-US" altLang="zh-CN" sz="2400" dirty="0"/>
              <a:t>'</a:t>
            </a:r>
            <a:r>
              <a:rPr lang="en-US" altLang="zh-CN" sz="2400" b="1" dirty="0">
                <a:latin typeface="Courier New" pitchFamily="49" charset="0"/>
                <a:cs typeface="Courier New" pitchFamily="49" charset="0"/>
              </a:rPr>
              <a:t>b</a:t>
            </a:r>
            <a:r>
              <a:rPr lang="en-US" altLang="zh-CN" sz="2400" dirty="0"/>
              <a:t>'</a:t>
            </a:r>
            <a:r>
              <a:rPr lang="en-US" altLang="zh-CN" sz="2400" b="1" dirty="0">
                <a:latin typeface="Courier New" pitchFamily="49" charset="0"/>
                <a:cs typeface="Courier New" pitchFamily="49" charset="0"/>
              </a:rPr>
              <a:t>;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错误，不能通过该指针修改对象</a:t>
            </a:r>
            <a:endParaRPr lang="en-US" altLang="zh-CN" sz="2400" dirty="0">
              <a:solidFill>
                <a:srgbClr val="00B050"/>
              </a:solidFill>
              <a:latin typeface="Courier New" pitchFamily="49" charset="0"/>
              <a:cs typeface="Courier New" pitchFamily="49" charset="0"/>
            </a:endParaRPr>
          </a:p>
          <a:p>
            <a:pPr>
              <a:lnSpc>
                <a:spcPct val="110000"/>
              </a:lnSpc>
              <a:buNone/>
            </a:pPr>
            <a:r>
              <a:rPr lang="en-US" altLang="zh-CN" sz="2400" dirty="0">
                <a:solidFill>
                  <a:srgbClr val="00B050"/>
                </a:solidFill>
                <a:latin typeface="Courier New" pitchFamily="49" charset="0"/>
                <a:cs typeface="Courier New" pitchFamily="49" charset="0"/>
              </a:rPr>
              <a:t>  </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a:t>
            </a:r>
            <a:r>
              <a:rPr lang="en-US" altLang="zh-CN" sz="2400" dirty="0"/>
              <a:t>'</a:t>
            </a:r>
            <a:r>
              <a:rPr lang="en-US" altLang="zh-CN" sz="2400" b="1" dirty="0">
                <a:latin typeface="Courier New" pitchFamily="49" charset="0"/>
                <a:cs typeface="Courier New" pitchFamily="49" charset="0"/>
              </a:rPr>
              <a:t>b</a:t>
            </a:r>
            <a:r>
              <a:rPr lang="en-US" altLang="zh-CN" sz="2400" dirty="0"/>
              <a:t>'</a:t>
            </a:r>
            <a:r>
              <a:rPr lang="en-US" altLang="zh-CN" sz="2400" b="1" dirty="0">
                <a:latin typeface="Courier New" pitchFamily="49" charset="0"/>
                <a:cs typeface="Courier New" pitchFamily="49" charset="0"/>
              </a:rPr>
              <a:t>;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正确，该对象可以通过其他方式修改</a:t>
            </a:r>
            <a:endParaRPr lang="en-US" altLang="zh-CN" sz="2400" dirty="0">
              <a:solidFill>
                <a:srgbClr val="00B050"/>
              </a:solidFill>
              <a:latin typeface="Courier New" pitchFamily="49" charset="0"/>
              <a:cs typeface="Courier New" pitchFamily="49" charset="0"/>
            </a:endParaRPr>
          </a:p>
          <a:p>
            <a:pPr>
              <a:lnSpc>
                <a:spcPct val="110000"/>
              </a:lnSpc>
              <a:buNone/>
            </a:pPr>
            <a:r>
              <a:rPr lang="en-US" altLang="zh-CN" sz="2400" b="1" dirty="0">
                <a:latin typeface="Courier New" pitchFamily="49" charset="0"/>
                <a:cs typeface="Courier New" pitchFamily="49" charset="0"/>
              </a:rPr>
              <a:t>  ptr1=&amp;ch1; </a:t>
            </a:r>
            <a:r>
              <a:rPr lang="en-US" altLang="zh-CN" sz="2400" dirty="0">
                <a:solidFill>
                  <a:srgbClr val="00B050"/>
                </a:solidFill>
                <a:latin typeface="Courier New" pitchFamily="49" charset="0"/>
                <a:cs typeface="Courier New" pitchFamily="49" charset="0"/>
              </a:rPr>
              <a:t>//</a:t>
            </a:r>
            <a:r>
              <a:rPr lang="zh-CN" altLang="en-US" sz="2400" dirty="0">
                <a:solidFill>
                  <a:srgbClr val="00B050"/>
                </a:solidFill>
                <a:latin typeface="Courier New" pitchFamily="49" charset="0"/>
                <a:cs typeface="Courier New" pitchFamily="49" charset="0"/>
              </a:rPr>
              <a:t>正确，指针可以改指向别的对象</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指针常量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常量指针</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a:extLst>
              <a:ext uri="{FF2B5EF4-FFF2-40B4-BE49-F238E27FC236}">
                <a16:creationId xmlns:a16="http://schemas.microsoft.com/office/drawing/2014/main" id="{AE7BFDDE-5A36-4A80-8E04-C021F624906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1720547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0C0F5D4-42B0-455C-A628-8A878352777D}"/>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c; </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 const pc="</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asdf</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则以下正确的是（       ）</a:t>
            </a:r>
          </a:p>
        </p:txBody>
      </p:sp>
      <p:sp>
        <p:nvSpPr>
          <p:cNvPr id="7" name="文本框 6">
            <a:extLst>
              <a:ext uri="{FF2B5EF4-FFF2-40B4-BE49-F238E27FC236}">
                <a16:creationId xmlns:a16="http://schemas.microsoft.com/office/drawing/2014/main" id="{C651C103-47C6-4CEC-BE1B-40598DCAB32A}"/>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pc="</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dfgh</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057CBF8F-B063-4E58-9D8B-0F4F190181D6}"/>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rPr>
              <a:t>*pc='b'</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7127F43F-2B66-4D4B-AD85-D12ABD03BC5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*pc++='y'</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6AFD237D-812B-4361-ACCB-ECAAD6892F75}"/>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pc=&amp;c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099FB62-1F7E-4414-926E-6555BD0A27B0}"/>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F73FC56-8025-4B58-9D1A-9E468128BFF8}"/>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64EB04AB-9A01-47AE-91A2-083D9F0B7C57}"/>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3DB32CEC-92BC-407F-BBA4-533CC284517A}"/>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98F13DCE-31D6-4CA2-BCBE-5F961FCE1CA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7BEE9A4E-1D42-4980-B23C-D5D8A8F444D3}"/>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AF324A72-5FFB-4AAC-AEFF-CC36A46AC46C}"/>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F6403EC3-ED02-404C-BA21-8783FD0E1055}"/>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C80D3785-BF0F-469C-8FF6-56537BF577F6}"/>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957B1AE2-6C03-4876-8ACA-EC862A3F0A99}"/>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37EC0616-F333-4DCE-B806-D5A170698DD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47791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3267967"/>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 name="组合 34"/>
          <p:cNvGrpSpPr>
            <a:grpSpLocks/>
          </p:cNvGrpSpPr>
          <p:nvPr/>
        </p:nvGrpSpPr>
        <p:grpSpPr bwMode="auto">
          <a:xfrm>
            <a:off x="1643063" y="414671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a:grpSpLocks/>
          </p:cNvGrpSpPr>
          <p:nvPr/>
        </p:nvGrpSpPr>
        <p:grpSpPr bwMode="auto">
          <a:xfrm>
            <a:off x="1641600" y="1397421"/>
            <a:ext cx="5356225" cy="2664296"/>
            <a:chOff x="1643042" y="3196754"/>
            <a:chExt cx="5356246" cy="2664308"/>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3286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指针类型与指针变量</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指针与常量</a:t>
            </a: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指针与数组</a:t>
            </a: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指针与字符串</a:t>
            </a: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指针与函数</a:t>
            </a:r>
          </a:p>
        </p:txBody>
      </p:sp>
      <p:sp>
        <p:nvSpPr>
          <p:cNvPr id="52" name="矩形 51">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3" name="矩形 5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57" name="矩形 5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59" name="矩形 5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60" name="矩形 5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61" name="矩形 6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62" name="矩形 6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40" name="矩形 39">
            <a:hlinkClick r:id="" action="ppaction://noaction"/>
            <a:extLst>
              <a:ext uri="{FF2B5EF4-FFF2-40B4-BE49-F238E27FC236}">
                <a16:creationId xmlns:a16="http://schemas.microsoft.com/office/drawing/2014/main" id="{B2DA79EB-2F61-4186-9042-C908CE56211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83940710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指向数组元素的指针</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292082460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指向一维数组元素的指针</a:t>
            </a:r>
            <a:endParaRPr lang="zh-CN" altLang="en-US" b="1" dirty="0"/>
          </a:p>
        </p:txBody>
      </p:sp>
      <p:sp>
        <p:nvSpPr>
          <p:cNvPr id="3" name="内容占位符 2"/>
          <p:cNvSpPr>
            <a:spLocks noGrp="1"/>
          </p:cNvSpPr>
          <p:nvPr>
            <p:ph idx="1"/>
          </p:nvPr>
        </p:nvSpPr>
        <p:spPr/>
        <p:txBody>
          <a:bodyPr/>
          <a:lstStyle/>
          <a:p>
            <a:r>
              <a:rPr lang="zh-CN" altLang="en-US" dirty="0"/>
              <a:t>建立指向数组元素的指针</a:t>
            </a:r>
            <a:endParaRPr lang="en-US" altLang="zh-CN" dirty="0"/>
          </a:p>
          <a:p>
            <a:pPr lvl="1"/>
            <a:r>
              <a:rPr lang="zh-CN" altLang="en-US" dirty="0"/>
              <a:t>将数组的首地址赋值给指针变量</a:t>
            </a:r>
            <a:endParaRPr lang="en-US" altLang="zh-CN" dirty="0"/>
          </a:p>
          <a:p>
            <a:pPr lvl="2"/>
            <a:r>
              <a:rPr lang="zh-CN" altLang="en-US" dirty="0"/>
              <a:t>用数组名赋值</a:t>
            </a:r>
            <a:endParaRPr lang="en-US" altLang="zh-CN" dirty="0"/>
          </a:p>
          <a:p>
            <a:pPr lvl="3"/>
            <a:r>
              <a:rPr lang="en-US" altLang="zh-CN" dirty="0" err="1">
                <a:latin typeface="Courier New" pitchFamily="49" charset="0"/>
                <a:cs typeface="Courier New" pitchFamily="49" charset="0"/>
              </a:rPr>
              <a:t>int</a:t>
            </a:r>
            <a:r>
              <a:rPr lang="en-US" altLang="zh-CN" dirty="0">
                <a:latin typeface="Courier New" pitchFamily="49" charset="0"/>
                <a:cs typeface="Courier New" pitchFamily="49" charset="0"/>
              </a:rPr>
              <a:t> a[10];</a:t>
            </a:r>
          </a:p>
          <a:p>
            <a:pPr lvl="3"/>
            <a:r>
              <a:rPr lang="en-US" altLang="zh-CN" dirty="0" err="1">
                <a:latin typeface="Courier New" pitchFamily="49" charset="0"/>
                <a:cs typeface="Courier New" pitchFamily="49" charset="0"/>
              </a:rPr>
              <a:t>int</a:t>
            </a:r>
            <a:r>
              <a:rPr lang="en-US" altLang="zh-CN" dirty="0">
                <a:latin typeface="Courier New" pitchFamily="49" charset="0"/>
                <a:cs typeface="Courier New" pitchFamily="49" charset="0"/>
              </a:rPr>
              <a:t> *p=a;</a:t>
            </a:r>
          </a:p>
          <a:p>
            <a:pPr lvl="2"/>
            <a:r>
              <a:rPr lang="zh-CN" altLang="en-US" dirty="0"/>
              <a:t>用数组第一个元素地址赋值</a:t>
            </a:r>
            <a:endParaRPr lang="en-US" altLang="zh-CN" dirty="0"/>
          </a:p>
          <a:p>
            <a:pPr lvl="3"/>
            <a:r>
              <a:rPr lang="en-US" altLang="zh-CN" dirty="0" err="1">
                <a:latin typeface="Courier New" pitchFamily="49" charset="0"/>
                <a:cs typeface="Courier New" pitchFamily="49" charset="0"/>
              </a:rPr>
              <a:t>int</a:t>
            </a:r>
            <a:r>
              <a:rPr lang="en-US" altLang="zh-CN" dirty="0">
                <a:latin typeface="Courier New" pitchFamily="49" charset="0"/>
                <a:cs typeface="Courier New" pitchFamily="49" charset="0"/>
              </a:rPr>
              <a:t> *p1=&amp;a[0];</a:t>
            </a:r>
          </a:p>
          <a:p>
            <a:pPr lvl="1"/>
            <a:r>
              <a:rPr lang="zh-CN" altLang="en-US" dirty="0">
                <a:latin typeface="Courier New" pitchFamily="49" charset="0"/>
                <a:cs typeface="Courier New" pitchFamily="49" charset="0"/>
              </a:rPr>
              <a:t>数组元素可看作相应数据类型的变量，将其地址赋值给指针变量</a:t>
            </a:r>
            <a:endParaRPr lang="en-US" altLang="zh-CN" dirty="0">
              <a:latin typeface="Courier New" pitchFamily="49" charset="0"/>
              <a:cs typeface="Courier New" pitchFamily="49" charset="0"/>
            </a:endParaRPr>
          </a:p>
          <a:p>
            <a:pPr lvl="3"/>
            <a:r>
              <a:rPr lang="en-US" altLang="zh-CN" dirty="0" err="1">
                <a:latin typeface="Courier New" pitchFamily="49" charset="0"/>
                <a:cs typeface="Courier New" pitchFamily="49" charset="0"/>
              </a:rPr>
              <a:t>int</a:t>
            </a:r>
            <a:r>
              <a:rPr lang="en-US" altLang="zh-CN" dirty="0">
                <a:latin typeface="Courier New" pitchFamily="49" charset="0"/>
                <a:cs typeface="Courier New" pitchFamily="49" charset="0"/>
              </a:rPr>
              <a:t> *p2=&amp;a[4];</a:t>
            </a:r>
            <a:endParaRPr lang="zh-CN" altLang="en-US" dirty="0">
              <a:latin typeface="Courier New" pitchFamily="49" charset="0"/>
              <a:cs typeface="Courier New" pitchFamily="49" charset="0"/>
            </a:endParaRPr>
          </a:p>
          <a:p>
            <a:pPr lvl="1"/>
            <a:r>
              <a:rPr lang="zh-CN" altLang="en-US" dirty="0">
                <a:latin typeface="Courier New" pitchFamily="49" charset="0"/>
                <a:cs typeface="Courier New" pitchFamily="49" charset="0"/>
              </a:rPr>
              <a:t>指向数组元素的指针类似于一般的指针</a:t>
            </a:r>
          </a:p>
          <a:p>
            <a:pPr lvl="1"/>
            <a:endParaRPr lang="zh-CN" altLang="en-US" dirty="0">
              <a:latin typeface="Courier New" pitchFamily="49" charset="0"/>
              <a:cs typeface="Courier New" pitchFamily="49" charset="0"/>
            </a:endParaRPr>
          </a:p>
          <a:p>
            <a:pPr lvl="1"/>
            <a:endParaRPr lang="en-US" altLang="zh-CN"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12" name="矩形 11">
            <a:hlinkClick r:id="" action="ppaction://noaction"/>
            <a:extLst>
              <a:ext uri="{FF2B5EF4-FFF2-40B4-BE49-F238E27FC236}">
                <a16:creationId xmlns:a16="http://schemas.microsoft.com/office/drawing/2014/main" id="{36A21FD8-3781-4DA0-9CD6-4130B3B96DA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32826635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指向一维数组元素的指针</a:t>
            </a:r>
          </a:p>
        </p:txBody>
      </p:sp>
      <p:sp>
        <p:nvSpPr>
          <p:cNvPr id="3" name="内容占位符 2"/>
          <p:cNvSpPr>
            <a:spLocks noGrp="1"/>
          </p:cNvSpPr>
          <p:nvPr>
            <p:ph idx="1"/>
          </p:nvPr>
        </p:nvSpPr>
        <p:spPr/>
        <p:txBody>
          <a:bodyPr/>
          <a:lstStyle/>
          <a:p>
            <a:pPr lvl="1"/>
            <a:endParaRPr lang="en-US" altLang="zh-CN" dirty="0"/>
          </a:p>
          <a:p>
            <a:pPr lvl="1"/>
            <a:endParaRPr lang="en-US" altLang="zh-CN" dirty="0"/>
          </a:p>
          <a:p>
            <a:pPr lvl="1"/>
            <a:endParaRPr lang="en-US" altLang="zh-CN" dirty="0"/>
          </a:p>
          <a:p>
            <a:pPr lvl="1"/>
            <a:endParaRPr lang="en-US" altLang="zh-CN" dirty="0"/>
          </a:p>
        </p:txBody>
      </p:sp>
      <p:sp>
        <p:nvSpPr>
          <p:cNvPr id="5" name="矩形 4">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14" name="内容占位符 2"/>
          <p:cNvSpPr txBox="1">
            <a:spLocks/>
          </p:cNvSpPr>
          <p:nvPr/>
        </p:nvSpPr>
        <p:spPr bwMode="auto">
          <a:xfrm>
            <a:off x="527266" y="1714500"/>
            <a:ext cx="8229600" cy="4500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pPr>
            <a:r>
              <a:rPr lang="zh-CN" altLang="en-US" dirty="0"/>
              <a:t>用指针访问数组元素</a:t>
            </a:r>
            <a:endParaRPr lang="en-US" altLang="zh-CN" dirty="0"/>
          </a:p>
          <a:p>
            <a:pPr lvl="1">
              <a:lnSpc>
                <a:spcPct val="130000"/>
              </a:lnSpc>
            </a:pPr>
            <a:r>
              <a:rPr lang="zh-CN" altLang="en-US" dirty="0"/>
              <a:t>指针常量方式</a:t>
            </a:r>
            <a:endParaRPr lang="en-US" altLang="zh-CN" dirty="0"/>
          </a:p>
          <a:p>
            <a:pPr lvl="2">
              <a:lnSpc>
                <a:spcPct val="130000"/>
              </a:lnSpc>
              <a:buFont typeface="Wingdings" pitchFamily="2" charset="2"/>
              <a:buChar char="ü"/>
            </a:pPr>
            <a:r>
              <a:rPr lang="zh-CN" altLang="en-US" b="1" dirty="0">
                <a:solidFill>
                  <a:srgbClr val="007434"/>
                </a:solidFill>
                <a:latin typeface="楷体_GB2312" pitchFamily="49" charset="-122"/>
                <a:ea typeface="楷体_GB2312" pitchFamily="49" charset="-122"/>
              </a:rPr>
              <a:t>数组名即指针常量，指针常量算术运算</a:t>
            </a:r>
            <a:endParaRPr lang="en-US" altLang="zh-CN" b="1" dirty="0">
              <a:solidFill>
                <a:srgbClr val="007434"/>
              </a:solidFill>
              <a:latin typeface="楷体_GB2312" pitchFamily="49" charset="-122"/>
              <a:ea typeface="楷体_GB2312" pitchFamily="49" charset="-122"/>
            </a:endParaRPr>
          </a:p>
          <a:p>
            <a:pPr lvl="1">
              <a:lnSpc>
                <a:spcPct val="130000"/>
              </a:lnSpc>
            </a:pPr>
            <a:r>
              <a:rPr lang="zh-CN" altLang="en-US" dirty="0"/>
              <a:t>指针变量方式</a:t>
            </a:r>
            <a:endParaRPr lang="en-US" altLang="zh-CN" dirty="0"/>
          </a:p>
          <a:p>
            <a:pPr lvl="2">
              <a:lnSpc>
                <a:spcPct val="130000"/>
              </a:lnSpc>
              <a:buFont typeface="Wingdings" pitchFamily="2" charset="2"/>
              <a:buChar char="ü"/>
            </a:pPr>
            <a:r>
              <a:rPr lang="zh-CN" altLang="en-US" b="1" dirty="0">
                <a:solidFill>
                  <a:srgbClr val="007434"/>
                </a:solidFill>
                <a:latin typeface="楷体_GB2312" pitchFamily="49" charset="-122"/>
                <a:ea typeface="楷体_GB2312" pitchFamily="49" charset="-122"/>
              </a:rPr>
              <a:t>将数组首地址赋予指针变量</a:t>
            </a:r>
            <a:endParaRPr lang="en-US" altLang="zh-CN" b="1" dirty="0">
              <a:solidFill>
                <a:srgbClr val="007434"/>
              </a:solidFill>
              <a:latin typeface="楷体_GB2312" pitchFamily="49" charset="-122"/>
              <a:ea typeface="楷体_GB2312" pitchFamily="49" charset="-122"/>
            </a:endParaRPr>
          </a:p>
          <a:p>
            <a:pPr lvl="3">
              <a:lnSpc>
                <a:spcPct val="130000"/>
              </a:lnSpc>
              <a:buFont typeface="Arial" panose="020B0604020202020204" pitchFamily="34" charset="0"/>
              <a:buChar char="•"/>
            </a:pPr>
            <a:r>
              <a:rPr lang="zh-CN" altLang="en-US" dirty="0"/>
              <a:t>指针变量算术运算</a:t>
            </a:r>
            <a:endParaRPr lang="en-US" altLang="zh-CN" dirty="0"/>
          </a:p>
          <a:p>
            <a:pPr lvl="3">
              <a:lnSpc>
                <a:spcPct val="130000"/>
              </a:lnSpc>
              <a:buFont typeface="Arial" panose="020B0604020202020204" pitchFamily="34" charset="0"/>
              <a:buChar char="•"/>
            </a:pPr>
            <a:r>
              <a:rPr lang="zh-CN" altLang="en-US" dirty="0"/>
              <a:t>指针变量下标方式</a:t>
            </a:r>
            <a:endParaRPr lang="en-US" altLang="zh-CN" dirty="0"/>
          </a:p>
          <a:p>
            <a:pPr marL="457200" lvl="1" indent="0">
              <a:lnSpc>
                <a:spcPct val="130000"/>
              </a:lnSpc>
              <a:buNone/>
            </a:pPr>
            <a:r>
              <a:rPr lang="zh-CN" altLang="en-US" b="1" dirty="0">
                <a:latin typeface="楷体_GB2312" pitchFamily="49" charset="-122"/>
                <a:ea typeface="楷体_GB2312" pitchFamily="49" charset="-122"/>
              </a:rPr>
              <a:t>指针算术运算：加、减、增量、减量</a:t>
            </a:r>
            <a:endParaRPr lang="en-US" altLang="zh-CN" b="1" dirty="0">
              <a:latin typeface="楷体_GB2312" pitchFamily="49" charset="-122"/>
              <a:ea typeface="楷体_GB2312" pitchFamily="49" charset="-122"/>
            </a:endParaRPr>
          </a:p>
          <a:p>
            <a:pPr lvl="2">
              <a:lnSpc>
                <a:spcPct val="130000"/>
              </a:lnSpc>
              <a:buFont typeface="Wingdings" pitchFamily="2" charset="2"/>
              <a:buChar char="ü"/>
            </a:pPr>
            <a:r>
              <a:rPr lang="zh-CN" altLang="en-US" b="1" dirty="0">
                <a:latin typeface="楷体_GB2312" pitchFamily="49" charset="-122"/>
                <a:ea typeface="楷体_GB2312" pitchFamily="49" charset="-122"/>
              </a:rPr>
              <a:t>指针移动的字节数与数组数据类型有关</a:t>
            </a:r>
          </a:p>
          <a:p>
            <a:pPr lvl="2">
              <a:lnSpc>
                <a:spcPct val="130000"/>
              </a:lnSpc>
              <a:buFont typeface="Wingdings" pitchFamily="2" charset="2"/>
              <a:buChar char="ü"/>
            </a:pPr>
            <a:endParaRPr lang="zh-CN" altLang="en-US" b="1" dirty="0">
              <a:latin typeface="楷体_GB2312" pitchFamily="49" charset="-122"/>
              <a:ea typeface="楷体_GB2312" pitchFamily="49" charset="-122"/>
            </a:endParaRPr>
          </a:p>
          <a:p>
            <a:pPr lvl="4">
              <a:lnSpc>
                <a:spcPct val="130000"/>
              </a:lnSpc>
              <a:buFont typeface="Wingdings" pitchFamily="2" charset="2"/>
              <a:buChar char="ü"/>
            </a:pPr>
            <a:endParaRPr lang="en-US" altLang="zh-CN" b="1" dirty="0">
              <a:solidFill>
                <a:srgbClr val="007434"/>
              </a:solidFill>
              <a:latin typeface="楷体_GB2312" pitchFamily="49" charset="-122"/>
              <a:ea typeface="楷体_GB2312" pitchFamily="49" charset="-122"/>
            </a:endParaRPr>
          </a:p>
        </p:txBody>
      </p:sp>
      <p:sp>
        <p:nvSpPr>
          <p:cNvPr id="15" name="矩形 14">
            <a:hlinkClick r:id="" action="ppaction://noaction"/>
            <a:extLst>
              <a:ext uri="{FF2B5EF4-FFF2-40B4-BE49-F238E27FC236}">
                <a16:creationId xmlns:a16="http://schemas.microsoft.com/office/drawing/2014/main" id="{538EA9F6-7030-4478-90DF-E688335D97E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9414686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访问一维数组元素的方式</a:t>
            </a:r>
          </a:p>
        </p:txBody>
      </p:sp>
      <p:sp>
        <p:nvSpPr>
          <p:cNvPr id="3" name="内容占位符 2"/>
          <p:cNvSpPr>
            <a:spLocks noGrp="1"/>
          </p:cNvSpPr>
          <p:nvPr>
            <p:ph idx="1"/>
          </p:nvPr>
        </p:nvSpPr>
        <p:spPr>
          <a:xfrm>
            <a:off x="457200" y="2258958"/>
            <a:ext cx="5326971" cy="370890"/>
          </a:xfrm>
        </p:spPr>
        <p:txBody>
          <a:bodyPr/>
          <a:lstStyle/>
          <a:p>
            <a:pPr marL="457200" lvl="1" indent="0">
              <a:buNone/>
            </a:pPr>
            <a:r>
              <a:rPr lang="zh-CN" altLang="en-US" dirty="0"/>
              <a:t>数组</a:t>
            </a:r>
            <a:r>
              <a:rPr lang="en-US" altLang="zh-CN" dirty="0">
                <a:latin typeface="Courier New" pitchFamily="49" charset="0"/>
                <a:cs typeface="Courier New" pitchFamily="49" charset="0"/>
              </a:rPr>
              <a:t>a</a:t>
            </a:r>
            <a:r>
              <a:rPr lang="zh-CN" altLang="en-US" dirty="0"/>
              <a:t>，指向数组</a:t>
            </a:r>
            <a:r>
              <a:rPr lang="en-US" altLang="zh-CN" dirty="0">
                <a:latin typeface="Courier New" pitchFamily="49" charset="0"/>
                <a:cs typeface="Courier New" pitchFamily="49" charset="0"/>
              </a:rPr>
              <a:t>a</a:t>
            </a:r>
            <a:r>
              <a:rPr lang="zh-CN" altLang="en-US" dirty="0">
                <a:latin typeface="Courier New" pitchFamily="49" charset="0"/>
                <a:cs typeface="Courier New" pitchFamily="49" charset="0"/>
              </a:rPr>
              <a:t>首地址</a:t>
            </a:r>
            <a:r>
              <a:rPr lang="zh-CN" altLang="en-US" dirty="0"/>
              <a:t>的指针</a:t>
            </a:r>
            <a:r>
              <a:rPr lang="en-US" altLang="zh-CN" dirty="0">
                <a:latin typeface="Courier New" pitchFamily="49" charset="0"/>
                <a:cs typeface="Courier New" pitchFamily="49" charset="0"/>
              </a:rPr>
              <a:t>p</a:t>
            </a:r>
          </a:p>
        </p:txBody>
      </p:sp>
      <p:graphicFrame>
        <p:nvGraphicFramePr>
          <p:cNvPr id="35" name="表格 34"/>
          <p:cNvGraphicFramePr>
            <a:graphicFrameLocks noGrp="1"/>
          </p:cNvGraphicFramePr>
          <p:nvPr>
            <p:extLst/>
          </p:nvPr>
        </p:nvGraphicFramePr>
        <p:xfrm>
          <a:off x="566834" y="3305433"/>
          <a:ext cx="8208000" cy="1188720"/>
        </p:xfrm>
        <a:graphic>
          <a:graphicData uri="http://schemas.openxmlformats.org/drawingml/2006/table">
            <a:tbl>
              <a:tblPr firstRow="1" bandRow="1">
                <a:tableStyleId>{5C22544A-7EE6-4342-B048-85BDC9FD1C3A}</a:tableStyleId>
              </a:tblPr>
              <a:tblGrid>
                <a:gridCol w="2052000">
                  <a:extLst>
                    <a:ext uri="{9D8B030D-6E8A-4147-A177-3AD203B41FA5}">
                      <a16:colId xmlns:a16="http://schemas.microsoft.com/office/drawing/2014/main" val="20000"/>
                    </a:ext>
                  </a:extLst>
                </a:gridCol>
                <a:gridCol w="2052000">
                  <a:extLst>
                    <a:ext uri="{9D8B030D-6E8A-4147-A177-3AD203B41FA5}">
                      <a16:colId xmlns:a16="http://schemas.microsoft.com/office/drawing/2014/main" val="20001"/>
                    </a:ext>
                  </a:extLst>
                </a:gridCol>
                <a:gridCol w="2052000">
                  <a:extLst>
                    <a:ext uri="{9D8B030D-6E8A-4147-A177-3AD203B41FA5}">
                      <a16:colId xmlns:a16="http://schemas.microsoft.com/office/drawing/2014/main" val="20002"/>
                    </a:ext>
                  </a:extLst>
                </a:gridCol>
                <a:gridCol w="2052000">
                  <a:extLst>
                    <a:ext uri="{9D8B030D-6E8A-4147-A177-3AD203B41FA5}">
                      <a16:colId xmlns:a16="http://schemas.microsoft.com/office/drawing/2014/main" val="20003"/>
                    </a:ext>
                  </a:extLst>
                </a:gridCol>
              </a:tblGrid>
              <a:tr h="360000">
                <a:tc gridSpan="2">
                  <a:txBody>
                    <a:bodyPr/>
                    <a:lstStyle/>
                    <a:p>
                      <a:pPr algn="ctr"/>
                      <a:r>
                        <a:rPr lang="zh-CN" altLang="en-US" sz="2000" b="1" dirty="0"/>
                        <a:t>下标访问</a:t>
                      </a:r>
                    </a:p>
                  </a:txBody>
                  <a:tcPr/>
                </a:tc>
                <a:tc hMerge="1">
                  <a:txBody>
                    <a:bodyPr/>
                    <a:lstStyle/>
                    <a:p>
                      <a:endParaRPr lang="zh-CN" altLang="en-US" dirty="0"/>
                    </a:p>
                  </a:txBody>
                  <a:tcPr/>
                </a:tc>
                <a:tc gridSpan="2">
                  <a:txBody>
                    <a:bodyPr/>
                    <a:lstStyle/>
                    <a:p>
                      <a:pPr algn="ctr"/>
                      <a:r>
                        <a:rPr lang="zh-CN" altLang="en-US" sz="2000" dirty="0"/>
                        <a:t>指针访问</a:t>
                      </a:r>
                    </a:p>
                  </a:txBody>
                  <a:tcPr/>
                </a:tc>
                <a:tc hMerge="1">
                  <a:txBody>
                    <a:bodyPr/>
                    <a:lstStyle/>
                    <a:p>
                      <a:endParaRPr lang="zh-CN" altLang="en-US" dirty="0"/>
                    </a:p>
                  </a:txBody>
                  <a:tcPr/>
                </a:tc>
                <a:extLst>
                  <a:ext uri="{0D108BD9-81ED-4DB2-BD59-A6C34878D82A}">
                    <a16:rowId xmlns:a16="http://schemas.microsoft.com/office/drawing/2014/main" val="10000"/>
                  </a:ext>
                </a:extLst>
              </a:tr>
              <a:tr h="360000">
                <a:tc>
                  <a:txBody>
                    <a:bodyPr/>
                    <a:lstStyle/>
                    <a:p>
                      <a:pPr algn="ctr"/>
                      <a:r>
                        <a:rPr lang="zh-CN" altLang="en-US" sz="2000" b="1" dirty="0">
                          <a:latin typeface="楷体_GB2312" pitchFamily="49" charset="-122"/>
                          <a:ea typeface="楷体_GB2312" pitchFamily="49" charset="-122"/>
                        </a:rPr>
                        <a:t>数组下标</a:t>
                      </a:r>
                    </a:p>
                  </a:txBody>
                  <a:tcPr/>
                </a:tc>
                <a:tc>
                  <a:txBody>
                    <a:bodyPr/>
                    <a:lstStyle/>
                    <a:p>
                      <a:pPr algn="ctr"/>
                      <a:r>
                        <a:rPr lang="zh-CN" altLang="en-US" sz="2000" b="1" dirty="0">
                          <a:latin typeface="楷体_GB2312" pitchFamily="49" charset="-122"/>
                          <a:ea typeface="楷体_GB2312" pitchFamily="49" charset="-122"/>
                        </a:rPr>
                        <a:t>指针变量下标</a:t>
                      </a:r>
                    </a:p>
                  </a:txBody>
                  <a:tcPr/>
                </a:tc>
                <a:tc>
                  <a:txBody>
                    <a:bodyPr/>
                    <a:lstStyle/>
                    <a:p>
                      <a:pPr algn="ctr"/>
                      <a:r>
                        <a:rPr lang="zh-CN" altLang="en-US" sz="2000" b="1" dirty="0">
                          <a:latin typeface="楷体_GB2312" pitchFamily="49" charset="-122"/>
                          <a:ea typeface="楷体_GB2312" pitchFamily="49" charset="-122"/>
                        </a:rPr>
                        <a:t>指针常量</a:t>
                      </a:r>
                    </a:p>
                  </a:txBody>
                  <a:tcPr/>
                </a:tc>
                <a:tc>
                  <a:txBody>
                    <a:bodyPr/>
                    <a:lstStyle/>
                    <a:p>
                      <a:pPr algn="ctr"/>
                      <a:r>
                        <a:rPr lang="zh-CN" altLang="en-US" sz="2000" b="1" dirty="0">
                          <a:latin typeface="楷体_GB2312" pitchFamily="49" charset="-122"/>
                          <a:ea typeface="楷体_GB2312" pitchFamily="49" charset="-122"/>
                        </a:rPr>
                        <a:t>指针变量</a:t>
                      </a:r>
                    </a:p>
                  </a:txBody>
                  <a:tcPr/>
                </a:tc>
                <a:extLst>
                  <a:ext uri="{0D108BD9-81ED-4DB2-BD59-A6C34878D82A}">
                    <a16:rowId xmlns:a16="http://schemas.microsoft.com/office/drawing/2014/main" val="10001"/>
                  </a:ext>
                </a:extLst>
              </a:tr>
              <a:tr h="360000">
                <a:tc>
                  <a:txBody>
                    <a:bodyPr/>
                    <a:lstStyle/>
                    <a:p>
                      <a:pPr algn="ctr"/>
                      <a:r>
                        <a:rPr lang="en-US" altLang="zh-CN" sz="2000" b="1" dirty="0">
                          <a:solidFill>
                            <a:srgbClr val="C00000"/>
                          </a:solidFill>
                          <a:latin typeface="Courier New" pitchFamily="49" charset="0"/>
                          <a:cs typeface="Courier New" pitchFamily="49" charset="0"/>
                        </a:rPr>
                        <a:t>a[</a:t>
                      </a:r>
                      <a:r>
                        <a:rPr lang="en-US" altLang="zh-CN" sz="2000" b="1" dirty="0" err="1">
                          <a:solidFill>
                            <a:srgbClr val="C00000"/>
                          </a:solidFill>
                          <a:latin typeface="Courier New" pitchFamily="49" charset="0"/>
                          <a:cs typeface="Courier New" pitchFamily="49" charset="0"/>
                        </a:rPr>
                        <a:t>i</a:t>
                      </a:r>
                      <a:r>
                        <a:rPr lang="en-US" altLang="zh-CN" sz="2000" b="1" dirty="0">
                          <a:solidFill>
                            <a:srgbClr val="C00000"/>
                          </a:solidFill>
                          <a:latin typeface="Courier New" pitchFamily="49" charset="0"/>
                          <a:cs typeface="Courier New" pitchFamily="49" charset="0"/>
                        </a:rPr>
                        <a:t>]</a:t>
                      </a:r>
                      <a:endParaRPr lang="zh-CN" altLang="en-US" sz="2000" b="1" dirty="0">
                        <a:solidFill>
                          <a:srgbClr val="C00000"/>
                        </a:solidFill>
                        <a:latin typeface="Courier New" pitchFamily="49" charset="0"/>
                        <a:cs typeface="Courier New" pitchFamily="49" charset="0"/>
                      </a:endParaRPr>
                    </a:p>
                  </a:txBody>
                  <a:tcPr/>
                </a:tc>
                <a:tc>
                  <a:txBody>
                    <a:bodyPr/>
                    <a:lstStyle/>
                    <a:p>
                      <a:pPr algn="ctr"/>
                      <a:r>
                        <a:rPr lang="en-US" altLang="zh-CN" sz="2000" b="1" dirty="0">
                          <a:solidFill>
                            <a:srgbClr val="C00000"/>
                          </a:solidFill>
                          <a:latin typeface="Courier New" pitchFamily="49" charset="0"/>
                          <a:cs typeface="Courier New" pitchFamily="49" charset="0"/>
                        </a:rPr>
                        <a:t>p[</a:t>
                      </a:r>
                      <a:r>
                        <a:rPr lang="en-US" altLang="zh-CN" sz="2000" b="1" dirty="0" err="1">
                          <a:solidFill>
                            <a:srgbClr val="C00000"/>
                          </a:solidFill>
                          <a:latin typeface="Courier New" pitchFamily="49" charset="0"/>
                          <a:cs typeface="Courier New" pitchFamily="49" charset="0"/>
                        </a:rPr>
                        <a:t>i</a:t>
                      </a:r>
                      <a:r>
                        <a:rPr lang="en-US" altLang="zh-CN" sz="2000" b="1" dirty="0">
                          <a:solidFill>
                            <a:srgbClr val="C00000"/>
                          </a:solidFill>
                          <a:latin typeface="Courier New" pitchFamily="49" charset="0"/>
                          <a:cs typeface="Courier New" pitchFamily="49" charset="0"/>
                        </a:rPr>
                        <a:t>]</a:t>
                      </a:r>
                      <a:endParaRPr lang="zh-CN" altLang="en-US" sz="2000" b="1" dirty="0">
                        <a:solidFill>
                          <a:srgbClr val="C00000"/>
                        </a:solidFill>
                        <a:latin typeface="Courier New" pitchFamily="49" charset="0"/>
                        <a:cs typeface="Courier New" pitchFamily="49" charset="0"/>
                      </a:endParaRPr>
                    </a:p>
                  </a:txBody>
                  <a:tcPr/>
                </a:tc>
                <a:tc>
                  <a:txBody>
                    <a:bodyPr/>
                    <a:lstStyle/>
                    <a:p>
                      <a:pPr algn="ctr"/>
                      <a:r>
                        <a:rPr lang="en-US" altLang="zh-CN" sz="2000" b="1" dirty="0">
                          <a:solidFill>
                            <a:srgbClr val="C00000"/>
                          </a:solidFill>
                          <a:latin typeface="Courier New" pitchFamily="49" charset="0"/>
                          <a:cs typeface="Courier New" pitchFamily="49" charset="0"/>
                        </a:rPr>
                        <a:t>*(</a:t>
                      </a:r>
                      <a:r>
                        <a:rPr lang="en-US" altLang="zh-CN" sz="2000" b="1" dirty="0" err="1">
                          <a:solidFill>
                            <a:srgbClr val="C00000"/>
                          </a:solidFill>
                          <a:latin typeface="Courier New" pitchFamily="49" charset="0"/>
                          <a:cs typeface="Courier New" pitchFamily="49" charset="0"/>
                        </a:rPr>
                        <a:t>a+i</a:t>
                      </a:r>
                      <a:r>
                        <a:rPr lang="en-US" altLang="zh-CN" sz="2000" b="1" dirty="0">
                          <a:solidFill>
                            <a:srgbClr val="C00000"/>
                          </a:solidFill>
                          <a:latin typeface="Courier New" pitchFamily="49" charset="0"/>
                          <a:cs typeface="Courier New" pitchFamily="49" charset="0"/>
                        </a:rPr>
                        <a:t>)</a:t>
                      </a:r>
                      <a:endParaRPr lang="zh-CN" altLang="en-US" sz="2000" b="1" dirty="0">
                        <a:solidFill>
                          <a:srgbClr val="C00000"/>
                        </a:solidFill>
                        <a:latin typeface="Courier New" pitchFamily="49" charset="0"/>
                        <a:cs typeface="Courier New" pitchFamily="49" charset="0"/>
                      </a:endParaRPr>
                    </a:p>
                  </a:txBody>
                  <a:tcPr/>
                </a:tc>
                <a:tc>
                  <a:txBody>
                    <a:bodyPr/>
                    <a:lstStyle/>
                    <a:p>
                      <a:pPr algn="ctr"/>
                      <a:r>
                        <a:rPr lang="en-US" altLang="zh-CN" sz="2000" b="1" dirty="0">
                          <a:solidFill>
                            <a:srgbClr val="C00000"/>
                          </a:solidFill>
                          <a:latin typeface="Courier New" pitchFamily="49" charset="0"/>
                          <a:cs typeface="Courier New" pitchFamily="49" charset="0"/>
                        </a:rPr>
                        <a:t>*(</a:t>
                      </a:r>
                      <a:r>
                        <a:rPr lang="en-US" altLang="zh-CN" sz="2000" b="1" dirty="0" err="1">
                          <a:solidFill>
                            <a:srgbClr val="C00000"/>
                          </a:solidFill>
                          <a:latin typeface="Courier New" pitchFamily="49" charset="0"/>
                          <a:cs typeface="Courier New" pitchFamily="49" charset="0"/>
                        </a:rPr>
                        <a:t>p+i</a:t>
                      </a:r>
                      <a:r>
                        <a:rPr lang="en-US" altLang="zh-CN" sz="2000" b="1" dirty="0">
                          <a:solidFill>
                            <a:srgbClr val="C00000"/>
                          </a:solidFill>
                          <a:latin typeface="Courier New" pitchFamily="49" charset="0"/>
                          <a:cs typeface="Courier New" pitchFamily="49" charset="0"/>
                        </a:rPr>
                        <a:t>)</a:t>
                      </a:r>
                      <a:endParaRPr lang="zh-CN" altLang="en-US" sz="2000" b="1" dirty="0">
                        <a:solidFill>
                          <a:srgbClr val="C00000"/>
                        </a:solidFill>
                        <a:latin typeface="Courier New" pitchFamily="49" charset="0"/>
                        <a:cs typeface="Courier New" pitchFamily="49" charset="0"/>
                      </a:endParaRPr>
                    </a:p>
                  </a:txBody>
                  <a:tcPr/>
                </a:tc>
                <a:extLst>
                  <a:ext uri="{0D108BD9-81ED-4DB2-BD59-A6C34878D82A}">
                    <a16:rowId xmlns:a16="http://schemas.microsoft.com/office/drawing/2014/main" val="10002"/>
                  </a:ext>
                </a:extLst>
              </a:tr>
            </a:tbl>
          </a:graphicData>
        </a:graphic>
      </p:graphicFrame>
      <p:sp>
        <p:nvSpPr>
          <p:cNvPr id="13" name="矩形 12">
            <a:hlinkClick r:id="rId2" action="ppaction://hlinksldjump"/>
            <a:extLst>
              <a:ext uri="{FF2B5EF4-FFF2-40B4-BE49-F238E27FC236}">
                <a16:creationId xmlns:a16="http://schemas.microsoft.com/office/drawing/2014/main" id="{CA80545F-2825-4442-A26A-8209139B81A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4" name="矩形 13">
            <a:hlinkClick r:id="" action="ppaction://noaction"/>
            <a:extLst>
              <a:ext uri="{FF2B5EF4-FFF2-40B4-BE49-F238E27FC236}">
                <a16:creationId xmlns:a16="http://schemas.microsoft.com/office/drawing/2014/main" id="{EC1C7540-A98A-4F07-858B-713C5559A4A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5" name="矩形 14">
            <a:hlinkClick r:id="" action="ppaction://noaction"/>
            <a:extLst>
              <a:ext uri="{FF2B5EF4-FFF2-40B4-BE49-F238E27FC236}">
                <a16:creationId xmlns:a16="http://schemas.microsoft.com/office/drawing/2014/main" id="{CD52AD12-93A0-46D0-BF80-496DF2EA2D5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6" name="矩形 15">
            <a:hlinkClick r:id="" action="ppaction://noaction"/>
            <a:extLst>
              <a:ext uri="{FF2B5EF4-FFF2-40B4-BE49-F238E27FC236}">
                <a16:creationId xmlns:a16="http://schemas.microsoft.com/office/drawing/2014/main" id="{5221577E-CA03-4B63-9BE1-231E4C0FD33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F5FE8FC0-1C75-449C-A506-CD04F985D3C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A133580C-CCF3-4E2A-9B93-85550099CA4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D46C06B7-1F3E-4ED9-AF20-75591B386B6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20" name="矩形 19">
            <a:hlinkClick r:id="" action="ppaction://noaction"/>
            <a:extLst>
              <a:ext uri="{FF2B5EF4-FFF2-40B4-BE49-F238E27FC236}">
                <a16:creationId xmlns:a16="http://schemas.microsoft.com/office/drawing/2014/main" id="{5ECCEE7B-0024-4487-9AEE-59C05EC9ACC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1890321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访问一维数组元素的方式</a:t>
            </a:r>
          </a:p>
        </p:txBody>
      </p:sp>
      <p:graphicFrame>
        <p:nvGraphicFramePr>
          <p:cNvPr id="4" name="表格 3"/>
          <p:cNvGraphicFramePr>
            <a:graphicFrameLocks noGrp="1"/>
          </p:cNvGraphicFramePr>
          <p:nvPr>
            <p:extLst/>
          </p:nvPr>
        </p:nvGraphicFramePr>
        <p:xfrm>
          <a:off x="2448339" y="2568088"/>
          <a:ext cx="3887870" cy="3169920"/>
        </p:xfrm>
        <a:graphic>
          <a:graphicData uri="http://schemas.openxmlformats.org/drawingml/2006/table">
            <a:tbl>
              <a:tblPr firstRow="1" bandRow="1">
                <a:tableStyleId>{5940675A-B579-460E-94D1-54222C63F5DA}</a:tableStyleId>
              </a:tblPr>
              <a:tblGrid>
                <a:gridCol w="3887870">
                  <a:extLst>
                    <a:ext uri="{9D8B030D-6E8A-4147-A177-3AD203B41FA5}">
                      <a16:colId xmlns:a16="http://schemas.microsoft.com/office/drawing/2014/main" val="1937364849"/>
                    </a:ext>
                  </a:extLst>
                </a:gridCol>
              </a:tblGrid>
              <a:tr h="360000">
                <a:tc>
                  <a:txBody>
                    <a:bodyPr/>
                    <a:lstStyle/>
                    <a:p>
                      <a:pPr marL="0" lvl="1" indent="0" algn="l" rtl="0" eaLnBrk="0" fontAlgn="base" hangingPunct="0">
                        <a:spcBef>
                          <a:spcPct val="20000"/>
                        </a:spcBef>
                        <a:spcAft>
                          <a:spcPct val="0"/>
                        </a:spcAft>
                        <a:buFont typeface="Arial" charset="0"/>
                        <a:buNone/>
                      </a:pPr>
                      <a:r>
                        <a:rPr lang="en-US" altLang="zh-CN" sz="2000" kern="1200" dirty="0">
                          <a:solidFill>
                            <a:schemeClr val="tx1"/>
                          </a:solidFill>
                          <a:latin typeface="Courier New" pitchFamily="49" charset="0"/>
                          <a:ea typeface="黑体" pitchFamily="2" charset="-122"/>
                          <a:cs typeface="Courier New" pitchFamily="49" charset="0"/>
                        </a:rPr>
                        <a:t>a[0], p[0], </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a:solidFill>
                            <a:schemeClr val="tx1"/>
                          </a:solidFill>
                          <a:latin typeface="Courier New" pitchFamily="49" charset="0"/>
                          <a:ea typeface="黑体" pitchFamily="2" charset="-122"/>
                          <a:cs typeface="Courier New" pitchFamily="49" charset="0"/>
                        </a:rPr>
                        <a:t>a, </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a:solidFill>
                            <a:schemeClr val="tx1"/>
                          </a:solidFill>
                          <a:latin typeface="Courier New" pitchFamily="49" charset="0"/>
                          <a:ea typeface="黑体" pitchFamily="2" charset="-122"/>
                          <a:cs typeface="Courier New" pitchFamily="49" charset="0"/>
                        </a:rPr>
                        <a:t>p</a:t>
                      </a: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3859118453"/>
                  </a:ext>
                </a:extLst>
              </a:tr>
              <a:tr h="360000">
                <a:tc>
                  <a:txBody>
                    <a:bodyPr/>
                    <a:lstStyle/>
                    <a:p>
                      <a:pPr marL="0" marR="0" lvl="1" indent="0" algn="l" defTabSz="914400" rtl="0" eaLnBrk="0" fontAlgn="base" latinLnBrk="0" hangingPunct="0">
                        <a:lnSpc>
                          <a:spcPct val="100000"/>
                        </a:lnSpc>
                        <a:spcBef>
                          <a:spcPct val="20000"/>
                        </a:spcBef>
                        <a:spcAft>
                          <a:spcPct val="0"/>
                        </a:spcAft>
                        <a:buClrTx/>
                        <a:buSzTx/>
                        <a:buFont typeface="Arial" charset="0"/>
                        <a:buNone/>
                        <a:tabLst/>
                        <a:defRPr/>
                      </a:pPr>
                      <a:r>
                        <a:rPr lang="en-US" altLang="zh-CN" sz="2000" kern="1200" dirty="0">
                          <a:solidFill>
                            <a:schemeClr val="tx1"/>
                          </a:solidFill>
                          <a:latin typeface="Courier New" pitchFamily="49" charset="0"/>
                          <a:ea typeface="黑体" pitchFamily="2" charset="-122"/>
                          <a:cs typeface="Courier New" pitchFamily="49" charset="0"/>
                        </a:rPr>
                        <a:t>a[1], p[1], </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a:solidFill>
                            <a:schemeClr val="tx1"/>
                          </a:solidFill>
                          <a:latin typeface="Courier New" pitchFamily="49" charset="0"/>
                          <a:ea typeface="黑体" pitchFamily="2" charset="-122"/>
                          <a:cs typeface="Courier New" pitchFamily="49" charset="0"/>
                        </a:rPr>
                        <a:t>a+1</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a:solidFill>
                            <a:schemeClr val="tx1"/>
                          </a:solidFill>
                          <a:latin typeface="Courier New" pitchFamily="49" charset="0"/>
                          <a:ea typeface="黑体" pitchFamily="2" charset="-122"/>
                          <a:cs typeface="Courier New" pitchFamily="49" charset="0"/>
                        </a:rPr>
                        <a:t>, </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a:solidFill>
                            <a:schemeClr val="tx1"/>
                          </a:solidFill>
                          <a:latin typeface="Courier New" pitchFamily="49" charset="0"/>
                          <a:ea typeface="黑体" pitchFamily="2" charset="-122"/>
                          <a:cs typeface="Courier New" pitchFamily="49" charset="0"/>
                        </a:rPr>
                        <a:t>p+1</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293367466"/>
                  </a:ext>
                </a:extLst>
              </a:tr>
              <a:tr h="360000">
                <a:tc>
                  <a:txBody>
                    <a:bodyPr/>
                    <a:lstStyle/>
                    <a:p>
                      <a:pPr marL="0" lvl="1" indent="0" algn="l" defTabSz="914400" rtl="0" eaLnBrk="0" fontAlgn="base" latinLnBrk="0" hangingPunct="0">
                        <a:spcBef>
                          <a:spcPct val="20000"/>
                        </a:spcBef>
                        <a:spcAft>
                          <a:spcPct val="0"/>
                        </a:spcAft>
                        <a:buFont typeface="Arial" charset="0"/>
                        <a:buNone/>
                      </a:pP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73616461"/>
                  </a:ext>
                </a:extLst>
              </a:tr>
              <a:tr h="360000">
                <a:tc>
                  <a:txBody>
                    <a:bodyPr/>
                    <a:lstStyle/>
                    <a:p>
                      <a:pPr marL="0" lvl="1" indent="0" algn="l" defTabSz="914400" rtl="0" eaLnBrk="0" fontAlgn="base" latinLnBrk="0" hangingPunct="0">
                        <a:spcBef>
                          <a:spcPct val="20000"/>
                        </a:spcBef>
                        <a:spcAft>
                          <a:spcPct val="0"/>
                        </a:spcAft>
                        <a:buFont typeface="Arial" charset="0"/>
                        <a:buNone/>
                      </a:pP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871295895"/>
                  </a:ext>
                </a:extLst>
              </a:tr>
              <a:tr h="360000">
                <a:tc>
                  <a:txBody>
                    <a:bodyPr/>
                    <a:lstStyle/>
                    <a:p>
                      <a:pPr marL="0" lvl="1" indent="0" algn="l" defTabSz="914400" rtl="0" eaLnBrk="0" fontAlgn="base" latinLnBrk="0" hangingPunct="0">
                        <a:spcBef>
                          <a:spcPct val="20000"/>
                        </a:spcBef>
                        <a:spcAft>
                          <a:spcPct val="0"/>
                        </a:spcAft>
                        <a:buFont typeface="Arial" charset="0"/>
                        <a:buNone/>
                      </a:pP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2037192746"/>
                  </a:ext>
                </a:extLst>
              </a:tr>
              <a:tr h="360000">
                <a:tc>
                  <a:txBody>
                    <a:bodyPr/>
                    <a:lstStyle/>
                    <a:p>
                      <a:pPr marL="0" marR="0" lvl="1" indent="0" algn="l" defTabSz="914400" rtl="0" eaLnBrk="0" fontAlgn="base" latinLnBrk="0" hangingPunct="0">
                        <a:lnSpc>
                          <a:spcPct val="100000"/>
                        </a:lnSpc>
                        <a:spcBef>
                          <a:spcPct val="20000"/>
                        </a:spcBef>
                        <a:spcAft>
                          <a:spcPct val="0"/>
                        </a:spcAft>
                        <a:buClrTx/>
                        <a:buSzTx/>
                        <a:buFont typeface="Arial" charset="0"/>
                        <a:buNone/>
                        <a:tabLst/>
                        <a:defRPr/>
                      </a:pPr>
                      <a:r>
                        <a:rPr lang="en-US" altLang="zh-CN" sz="2000" kern="1200" dirty="0">
                          <a:solidFill>
                            <a:schemeClr val="tx1"/>
                          </a:solidFill>
                          <a:latin typeface="Courier New" pitchFamily="49" charset="0"/>
                          <a:ea typeface="黑体" pitchFamily="2" charset="-122"/>
                          <a:cs typeface="Courier New" pitchFamily="49" charset="0"/>
                        </a:rPr>
                        <a:t>a[</a:t>
                      </a:r>
                      <a:r>
                        <a:rPr lang="en-US" altLang="zh-CN" sz="2000" kern="1200" dirty="0" err="1">
                          <a:solidFill>
                            <a:schemeClr val="tx1"/>
                          </a:solidFill>
                          <a:latin typeface="Courier New" pitchFamily="49" charset="0"/>
                          <a:ea typeface="黑体" pitchFamily="2" charset="-122"/>
                          <a:cs typeface="Courier New" pitchFamily="49" charset="0"/>
                        </a:rPr>
                        <a:t>i</a:t>
                      </a:r>
                      <a:r>
                        <a:rPr lang="en-US" altLang="zh-CN" sz="2000" kern="1200" dirty="0">
                          <a:solidFill>
                            <a:schemeClr val="tx1"/>
                          </a:solidFill>
                          <a:latin typeface="Courier New" pitchFamily="49" charset="0"/>
                          <a:ea typeface="黑体" pitchFamily="2" charset="-122"/>
                          <a:cs typeface="Courier New" pitchFamily="49" charset="0"/>
                        </a:rPr>
                        <a:t>], p[</a:t>
                      </a:r>
                      <a:r>
                        <a:rPr lang="en-US" altLang="zh-CN" sz="2000" kern="1200" dirty="0" err="1">
                          <a:solidFill>
                            <a:schemeClr val="tx1"/>
                          </a:solidFill>
                          <a:latin typeface="Courier New" pitchFamily="49" charset="0"/>
                          <a:ea typeface="黑体" pitchFamily="2" charset="-122"/>
                          <a:cs typeface="Courier New" pitchFamily="49" charset="0"/>
                        </a:rPr>
                        <a:t>i</a:t>
                      </a:r>
                      <a:r>
                        <a:rPr lang="en-US" altLang="zh-CN" sz="2000" kern="1200" dirty="0">
                          <a:solidFill>
                            <a:schemeClr val="tx1"/>
                          </a:solidFill>
                          <a:latin typeface="Courier New" pitchFamily="49" charset="0"/>
                          <a:ea typeface="黑体" pitchFamily="2" charset="-122"/>
                          <a:cs typeface="Courier New" pitchFamily="49" charset="0"/>
                        </a:rPr>
                        <a:t>], </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err="1">
                          <a:solidFill>
                            <a:schemeClr val="tx1"/>
                          </a:solidFill>
                          <a:latin typeface="Courier New" pitchFamily="49" charset="0"/>
                          <a:ea typeface="黑体" pitchFamily="2" charset="-122"/>
                          <a:cs typeface="Courier New" pitchFamily="49" charset="0"/>
                        </a:rPr>
                        <a:t>a+i</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a:solidFill>
                            <a:schemeClr val="tx1"/>
                          </a:solidFill>
                          <a:latin typeface="Courier New" pitchFamily="49" charset="0"/>
                          <a:ea typeface="黑体" pitchFamily="2" charset="-122"/>
                          <a:cs typeface="Courier New" pitchFamily="49" charset="0"/>
                        </a:rPr>
                        <a:t>, </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r>
                        <a:rPr lang="en-US" altLang="zh-CN" sz="2000" kern="1200" dirty="0" err="1">
                          <a:solidFill>
                            <a:schemeClr val="tx1"/>
                          </a:solidFill>
                          <a:latin typeface="Courier New" pitchFamily="49" charset="0"/>
                          <a:ea typeface="黑体" pitchFamily="2" charset="-122"/>
                          <a:cs typeface="Courier New" pitchFamily="49" charset="0"/>
                        </a:rPr>
                        <a:t>p+i</a:t>
                      </a:r>
                      <a:r>
                        <a:rPr lang="en-US" altLang="zh-CN" sz="2000" kern="1200" dirty="0">
                          <a:solidFill>
                            <a:schemeClr val="tx1"/>
                          </a:solidFill>
                          <a:latin typeface="Times New Roman" panose="02020603050405020304" pitchFamily="18" charset="0"/>
                          <a:ea typeface="黑体" pitchFamily="2" charset="-122"/>
                          <a:cs typeface="Times New Roman" panose="02020603050405020304" pitchFamily="18" charset="0"/>
                        </a:rPr>
                        <a:t>)</a:t>
                      </a: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3530130108"/>
                  </a:ext>
                </a:extLst>
              </a:tr>
              <a:tr h="360000">
                <a:tc>
                  <a:txBody>
                    <a:bodyPr/>
                    <a:lstStyle/>
                    <a:p>
                      <a:pPr marL="0" lvl="1" indent="0" algn="l" defTabSz="914400" rtl="0" eaLnBrk="0" fontAlgn="base" latinLnBrk="0" hangingPunct="0">
                        <a:spcBef>
                          <a:spcPct val="20000"/>
                        </a:spcBef>
                        <a:spcAft>
                          <a:spcPct val="0"/>
                        </a:spcAft>
                        <a:buFont typeface="Arial" charset="0"/>
                        <a:buNone/>
                      </a:pP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2985177914"/>
                  </a:ext>
                </a:extLst>
              </a:tr>
              <a:tr h="360000">
                <a:tc>
                  <a:txBody>
                    <a:bodyPr/>
                    <a:lstStyle/>
                    <a:p>
                      <a:pPr marL="0" lvl="1" indent="0" algn="l" defTabSz="914400" rtl="0" eaLnBrk="0" fontAlgn="base" latinLnBrk="0" hangingPunct="0">
                        <a:spcBef>
                          <a:spcPct val="20000"/>
                        </a:spcBef>
                        <a:spcAft>
                          <a:spcPct val="0"/>
                        </a:spcAft>
                        <a:buFont typeface="Arial" charset="0"/>
                        <a:buNone/>
                      </a:pPr>
                      <a:endParaRPr lang="zh-CN" altLang="en-US" sz="2000" kern="1200" dirty="0">
                        <a:solidFill>
                          <a:schemeClr val="tx1"/>
                        </a:solidFill>
                        <a:latin typeface="Courier New" pitchFamily="49" charset="0"/>
                        <a:ea typeface="黑体" pitchFamily="2" charset="-122"/>
                        <a:cs typeface="Courier New" pitchFamily="49" charset="0"/>
                      </a:endParaRPr>
                    </a:p>
                  </a:txBody>
                  <a:tcPr/>
                </a:tc>
                <a:extLst>
                  <a:ext uri="{0D108BD9-81ED-4DB2-BD59-A6C34878D82A}">
                    <a16:rowId xmlns:a16="http://schemas.microsoft.com/office/drawing/2014/main" val="3263649312"/>
                  </a:ext>
                </a:extLst>
              </a:tr>
            </a:tbl>
          </a:graphicData>
        </a:graphic>
      </p:graphicFrame>
      <p:sp>
        <p:nvSpPr>
          <p:cNvPr id="13" name="文本框 12"/>
          <p:cNvSpPr txBox="1"/>
          <p:nvPr/>
        </p:nvSpPr>
        <p:spPr>
          <a:xfrm>
            <a:off x="472109" y="2286011"/>
            <a:ext cx="1331844" cy="2779222"/>
          </a:xfrm>
          <a:prstGeom prst="rect">
            <a:avLst/>
          </a:prstGeom>
          <a:noFill/>
        </p:spPr>
        <p:txBody>
          <a:bodyPr wrap="square" rtlCol="0">
            <a:spAutoFit/>
          </a:bodyPr>
          <a:lstStyle/>
          <a:p>
            <a:pPr algn="ctr">
              <a:lnSpc>
                <a:spcPct val="145000"/>
              </a:lnSpc>
            </a:pPr>
            <a:r>
              <a:rPr lang="en-US" altLang="zh-CN" dirty="0">
                <a:latin typeface="Courier New" pitchFamily="49" charset="0"/>
                <a:ea typeface="黑体" pitchFamily="2" charset="-122"/>
                <a:cs typeface="Courier New" pitchFamily="49" charset="0"/>
              </a:rPr>
              <a:t>a, p</a:t>
            </a:r>
          </a:p>
          <a:p>
            <a:pPr>
              <a:lnSpc>
                <a:spcPct val="145000"/>
              </a:lnSpc>
            </a:pPr>
            <a:r>
              <a:rPr lang="en-US" altLang="zh-CN" dirty="0">
                <a:latin typeface="Courier New" pitchFamily="49" charset="0"/>
                <a:ea typeface="黑体" pitchFamily="2" charset="-122"/>
                <a:cs typeface="Courier New" pitchFamily="49" charset="0"/>
              </a:rPr>
              <a:t>a+1, p+1</a:t>
            </a:r>
          </a:p>
          <a:p>
            <a:pPr>
              <a:lnSpc>
                <a:spcPct val="145000"/>
              </a:lnSpc>
            </a:pPr>
            <a:endParaRPr lang="en-US" altLang="zh-CN" dirty="0">
              <a:latin typeface="Courier New" pitchFamily="49" charset="0"/>
              <a:ea typeface="黑体" pitchFamily="2" charset="-122"/>
              <a:cs typeface="Courier New" pitchFamily="49" charset="0"/>
            </a:endParaRPr>
          </a:p>
          <a:p>
            <a:pPr>
              <a:lnSpc>
                <a:spcPct val="145000"/>
              </a:lnSpc>
            </a:pPr>
            <a:endParaRPr lang="en-US" altLang="zh-CN" dirty="0">
              <a:latin typeface="Courier New" pitchFamily="49" charset="0"/>
              <a:ea typeface="黑体" pitchFamily="2" charset="-122"/>
              <a:cs typeface="Courier New" pitchFamily="49" charset="0"/>
            </a:endParaRPr>
          </a:p>
          <a:p>
            <a:pPr>
              <a:lnSpc>
                <a:spcPct val="145000"/>
              </a:lnSpc>
            </a:pPr>
            <a:endParaRPr lang="en-US" altLang="zh-CN" dirty="0">
              <a:latin typeface="Courier New" pitchFamily="49" charset="0"/>
              <a:ea typeface="黑体" pitchFamily="2" charset="-122"/>
              <a:cs typeface="Courier New" pitchFamily="49" charset="0"/>
            </a:endParaRPr>
          </a:p>
          <a:p>
            <a:pPr>
              <a:lnSpc>
                <a:spcPct val="145000"/>
              </a:lnSpc>
            </a:pPr>
            <a:r>
              <a:rPr lang="en-US" altLang="zh-CN" dirty="0" err="1">
                <a:latin typeface="Courier New" pitchFamily="49" charset="0"/>
                <a:ea typeface="黑体" pitchFamily="2" charset="-122"/>
                <a:cs typeface="Courier New" pitchFamily="49" charset="0"/>
              </a:rPr>
              <a:t>a+i</a:t>
            </a:r>
            <a:r>
              <a:rPr lang="en-US" altLang="zh-CN" dirty="0">
                <a:latin typeface="Courier New" pitchFamily="49" charset="0"/>
                <a:ea typeface="黑体" pitchFamily="2" charset="-122"/>
                <a:cs typeface="Courier New" pitchFamily="49" charset="0"/>
              </a:rPr>
              <a:t>, </a:t>
            </a:r>
            <a:r>
              <a:rPr lang="en-US" altLang="zh-CN" dirty="0" err="1">
                <a:latin typeface="Courier New" pitchFamily="49" charset="0"/>
                <a:ea typeface="黑体" pitchFamily="2" charset="-122"/>
                <a:cs typeface="Courier New" pitchFamily="49" charset="0"/>
              </a:rPr>
              <a:t>p+i</a:t>
            </a:r>
            <a:endParaRPr lang="en-US" altLang="zh-CN" dirty="0">
              <a:latin typeface="Courier New" pitchFamily="49" charset="0"/>
              <a:ea typeface="黑体" pitchFamily="2" charset="-122"/>
              <a:cs typeface="Courier New" pitchFamily="49" charset="0"/>
            </a:endParaRPr>
          </a:p>
          <a:p>
            <a:endParaRPr lang="zh-CN" altLang="en-US" dirty="0"/>
          </a:p>
        </p:txBody>
      </p:sp>
      <p:cxnSp>
        <p:nvCxnSpPr>
          <p:cNvPr id="15" name="直接箭头连接符 14"/>
          <p:cNvCxnSpPr/>
          <p:nvPr/>
        </p:nvCxnSpPr>
        <p:spPr>
          <a:xfrm>
            <a:off x="1729408" y="2573057"/>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p:nvPr/>
        </p:nvCxnSpPr>
        <p:spPr>
          <a:xfrm>
            <a:off x="1729407" y="2973936"/>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p:nvPr/>
        </p:nvCxnSpPr>
        <p:spPr>
          <a:xfrm>
            <a:off x="1729407" y="4551359"/>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p:cNvCxnSpPr/>
          <p:nvPr/>
        </p:nvCxnSpPr>
        <p:spPr>
          <a:xfrm flipH="1">
            <a:off x="6369324" y="2568088"/>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p:nvPr/>
        </p:nvCxnSpPr>
        <p:spPr>
          <a:xfrm flipH="1">
            <a:off x="6369323" y="2968967"/>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p:cNvCxnSpPr/>
          <p:nvPr/>
        </p:nvCxnSpPr>
        <p:spPr>
          <a:xfrm flipH="1">
            <a:off x="6369323" y="4546390"/>
            <a:ext cx="630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文本框 31"/>
          <p:cNvSpPr txBox="1"/>
          <p:nvPr/>
        </p:nvSpPr>
        <p:spPr>
          <a:xfrm>
            <a:off x="6968153" y="2286011"/>
            <a:ext cx="1718647" cy="2502223"/>
          </a:xfrm>
          <a:prstGeom prst="rect">
            <a:avLst/>
          </a:prstGeom>
          <a:noFill/>
        </p:spPr>
        <p:txBody>
          <a:bodyPr wrap="square" rtlCol="0">
            <a:spAutoFit/>
          </a:bodyPr>
          <a:lstStyle/>
          <a:p>
            <a:pPr algn="ctr">
              <a:lnSpc>
                <a:spcPct val="145000"/>
              </a:lnSpc>
            </a:pPr>
            <a:r>
              <a:rPr lang="en-US" altLang="zh-CN" dirty="0">
                <a:latin typeface="Courier New" pitchFamily="49" charset="0"/>
                <a:ea typeface="黑体" pitchFamily="2" charset="-122"/>
                <a:cs typeface="Courier New" pitchFamily="49" charset="0"/>
              </a:rPr>
              <a:t>&amp;a[0], &amp;p[0] &amp;a[1], &amp;p[1] </a:t>
            </a:r>
          </a:p>
          <a:p>
            <a:pPr>
              <a:lnSpc>
                <a:spcPct val="145000"/>
              </a:lnSpc>
            </a:pPr>
            <a:endParaRPr lang="en-US" altLang="zh-CN" dirty="0">
              <a:latin typeface="Courier New" pitchFamily="49" charset="0"/>
              <a:ea typeface="黑体" pitchFamily="2" charset="-122"/>
              <a:cs typeface="Courier New" pitchFamily="49" charset="0"/>
            </a:endParaRPr>
          </a:p>
          <a:p>
            <a:pPr>
              <a:lnSpc>
                <a:spcPct val="145000"/>
              </a:lnSpc>
            </a:pPr>
            <a:endParaRPr lang="en-US" altLang="zh-CN" dirty="0">
              <a:latin typeface="Courier New" pitchFamily="49" charset="0"/>
              <a:ea typeface="黑体" pitchFamily="2" charset="-122"/>
              <a:cs typeface="Courier New" pitchFamily="49" charset="0"/>
            </a:endParaRPr>
          </a:p>
          <a:p>
            <a:pPr>
              <a:lnSpc>
                <a:spcPct val="145000"/>
              </a:lnSpc>
            </a:pPr>
            <a:endParaRPr lang="en-US" altLang="zh-CN" dirty="0">
              <a:latin typeface="Courier New" pitchFamily="49" charset="0"/>
              <a:ea typeface="黑体" pitchFamily="2" charset="-122"/>
              <a:cs typeface="Courier New" pitchFamily="49" charset="0"/>
            </a:endParaRPr>
          </a:p>
          <a:p>
            <a:pPr>
              <a:lnSpc>
                <a:spcPct val="145000"/>
              </a:lnSpc>
            </a:pPr>
            <a:r>
              <a:rPr lang="en-US" altLang="zh-CN" dirty="0">
                <a:latin typeface="Courier New" pitchFamily="49" charset="0"/>
                <a:ea typeface="黑体" pitchFamily="2" charset="-122"/>
                <a:cs typeface="Courier New" pitchFamily="49" charset="0"/>
              </a:rPr>
              <a:t>&amp;a[</a:t>
            </a:r>
            <a:r>
              <a:rPr lang="en-US" altLang="zh-CN" dirty="0" err="1">
                <a:latin typeface="Courier New" pitchFamily="49" charset="0"/>
                <a:ea typeface="黑体" pitchFamily="2" charset="-122"/>
                <a:cs typeface="Courier New" pitchFamily="49" charset="0"/>
              </a:rPr>
              <a:t>i</a:t>
            </a:r>
            <a:r>
              <a:rPr lang="en-US" altLang="zh-CN" dirty="0">
                <a:latin typeface="Courier New" pitchFamily="49" charset="0"/>
                <a:ea typeface="黑体" pitchFamily="2" charset="-122"/>
                <a:cs typeface="Courier New" pitchFamily="49" charset="0"/>
              </a:rPr>
              <a:t>], &amp;p[</a:t>
            </a:r>
            <a:r>
              <a:rPr lang="en-US" altLang="zh-CN" dirty="0" err="1">
                <a:latin typeface="Courier New" pitchFamily="49" charset="0"/>
                <a:ea typeface="黑体" pitchFamily="2" charset="-122"/>
                <a:cs typeface="Courier New" pitchFamily="49" charset="0"/>
              </a:rPr>
              <a:t>i</a:t>
            </a:r>
            <a:r>
              <a:rPr lang="en-US" altLang="zh-CN" dirty="0">
                <a:latin typeface="Courier New" pitchFamily="49" charset="0"/>
                <a:ea typeface="黑体" pitchFamily="2" charset="-122"/>
                <a:cs typeface="Courier New" pitchFamily="49" charset="0"/>
              </a:rPr>
              <a:t>]</a:t>
            </a:r>
            <a:endParaRPr lang="zh-CN" altLang="en-US" dirty="0"/>
          </a:p>
        </p:txBody>
      </p:sp>
      <p:sp>
        <p:nvSpPr>
          <p:cNvPr id="31" name="文本框 30"/>
          <p:cNvSpPr txBox="1"/>
          <p:nvPr/>
        </p:nvSpPr>
        <p:spPr>
          <a:xfrm>
            <a:off x="3856397" y="2198756"/>
            <a:ext cx="1162878" cy="369332"/>
          </a:xfrm>
          <a:prstGeom prst="rect">
            <a:avLst/>
          </a:prstGeom>
          <a:noFill/>
        </p:spPr>
        <p:txBody>
          <a:bodyPr wrap="square" rtlCol="0">
            <a:spAutoFit/>
          </a:bodyPr>
          <a:lstStyle/>
          <a:p>
            <a:r>
              <a:rPr lang="zh-CN" altLang="en-US" dirty="0">
                <a:solidFill>
                  <a:srgbClr val="FF0000"/>
                </a:solidFill>
              </a:rPr>
              <a:t>数组</a:t>
            </a:r>
            <a:r>
              <a:rPr lang="en-US" altLang="zh-CN" dirty="0">
                <a:solidFill>
                  <a:srgbClr val="FF0000"/>
                </a:solidFill>
                <a:latin typeface="Courier New" panose="02070309020205020404" pitchFamily="49" charset="0"/>
                <a:cs typeface="Courier New" panose="02070309020205020404" pitchFamily="49" charset="0"/>
              </a:rPr>
              <a:t>a</a:t>
            </a:r>
            <a:endParaRPr lang="zh-CN" altLang="en-US" dirty="0">
              <a:solidFill>
                <a:srgbClr val="FF0000"/>
              </a:solidFill>
              <a:latin typeface="Courier New" panose="02070309020205020404" pitchFamily="49" charset="0"/>
              <a:cs typeface="Courier New" panose="02070309020205020404" pitchFamily="49" charset="0"/>
            </a:endParaRPr>
          </a:p>
        </p:txBody>
      </p:sp>
      <p:sp>
        <p:nvSpPr>
          <p:cNvPr id="21" name="矩形 20">
            <a:hlinkClick r:id="rId2" action="ppaction://hlinksldjump"/>
            <a:extLst>
              <a:ext uri="{FF2B5EF4-FFF2-40B4-BE49-F238E27FC236}">
                <a16:creationId xmlns:a16="http://schemas.microsoft.com/office/drawing/2014/main" id="{0FA54BF3-9AAD-45F0-B587-A5F85E503AD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22" name="矩形 21">
            <a:hlinkClick r:id="" action="ppaction://noaction"/>
            <a:extLst>
              <a:ext uri="{FF2B5EF4-FFF2-40B4-BE49-F238E27FC236}">
                <a16:creationId xmlns:a16="http://schemas.microsoft.com/office/drawing/2014/main" id="{2F7C211A-5460-44C9-B9C2-311C6015BEA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3" name="矩形 22">
            <a:hlinkClick r:id="" action="ppaction://noaction"/>
            <a:extLst>
              <a:ext uri="{FF2B5EF4-FFF2-40B4-BE49-F238E27FC236}">
                <a16:creationId xmlns:a16="http://schemas.microsoft.com/office/drawing/2014/main" id="{F127C416-3D72-477B-9C3A-8326EB14C48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4" name="矩形 23">
            <a:hlinkClick r:id="" action="ppaction://noaction"/>
            <a:extLst>
              <a:ext uri="{FF2B5EF4-FFF2-40B4-BE49-F238E27FC236}">
                <a16:creationId xmlns:a16="http://schemas.microsoft.com/office/drawing/2014/main" id="{02640C4E-E27C-4090-B1AC-2D9EC871417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30" name="矩形 29">
            <a:hlinkClick r:id="" action="ppaction://noaction"/>
            <a:extLst>
              <a:ext uri="{FF2B5EF4-FFF2-40B4-BE49-F238E27FC236}">
                <a16:creationId xmlns:a16="http://schemas.microsoft.com/office/drawing/2014/main" id="{A7DF0756-E838-48C7-8C7F-D9EDB3D644C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33" name="矩形 32">
            <a:hlinkClick r:id="" action="ppaction://noaction"/>
            <a:extLst>
              <a:ext uri="{FF2B5EF4-FFF2-40B4-BE49-F238E27FC236}">
                <a16:creationId xmlns:a16="http://schemas.microsoft.com/office/drawing/2014/main" id="{C7F0E7AA-E37B-45F0-8ED5-796DB5DF04E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34" name="矩形 33">
            <a:hlinkClick r:id="" action="ppaction://noaction"/>
            <a:extLst>
              <a:ext uri="{FF2B5EF4-FFF2-40B4-BE49-F238E27FC236}">
                <a16:creationId xmlns:a16="http://schemas.microsoft.com/office/drawing/2014/main" id="{72E87C6D-9B1E-4A54-BCFC-71F478FC65C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35" name="矩形 34">
            <a:hlinkClick r:id="" action="ppaction://noaction"/>
            <a:extLst>
              <a:ext uri="{FF2B5EF4-FFF2-40B4-BE49-F238E27FC236}">
                <a16:creationId xmlns:a16="http://schemas.microsoft.com/office/drawing/2014/main" id="{F1D1967D-BAB4-4A30-A386-35FB5A74AE0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8026674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9634" y="1033653"/>
            <a:ext cx="8928992" cy="538236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6.6】</a:t>
            </a:r>
            <a:r>
              <a:rPr lang="zh-CN" altLang="en-US" dirty="0">
                <a:solidFill>
                  <a:srgbClr val="C00000"/>
                </a:solidFill>
              </a:rPr>
              <a:t>指针访问数组元素</a:t>
            </a:r>
            <a:endParaRPr lang="en-US" altLang="zh-CN" dirty="0">
              <a:solidFill>
                <a:srgbClr val="C00000"/>
              </a:solidFill>
            </a:endParaRPr>
          </a:p>
          <a:p>
            <a:pPr algn="just">
              <a:lnSpc>
                <a:spcPct val="110000"/>
              </a:lnSpc>
              <a:spcBef>
                <a:spcPts val="0"/>
              </a:spcBef>
              <a:buNone/>
            </a:pPr>
            <a:r>
              <a:rPr kumimoji="1" lang="en-US" altLang="zh-CN" sz="2000" b="1" dirty="0">
                <a:solidFill>
                  <a:srgbClr val="0000FF"/>
                </a:solidFill>
                <a:latin typeface="Courier New" pitchFamily="49" charset="0"/>
                <a:cs typeface="Courier New" pitchFamily="49" charset="0"/>
              </a:rPr>
              <a:t>#include </a:t>
            </a:r>
            <a:r>
              <a:rPr kumimoji="1" lang="en-US" altLang="zh-CN" sz="2000" b="1" dirty="0">
                <a:latin typeface="Courier New" pitchFamily="49" charset="0"/>
                <a:cs typeface="Courier New" pitchFamily="49" charset="0"/>
              </a:rPr>
              <a:t>&lt;</a:t>
            </a:r>
            <a:r>
              <a:rPr kumimoji="1" lang="en-US" altLang="zh-CN" sz="2000" b="1" dirty="0" err="1">
                <a:latin typeface="Courier New" pitchFamily="49" charset="0"/>
                <a:cs typeface="Courier New" pitchFamily="49" charset="0"/>
              </a:rPr>
              <a:t>iostream</a:t>
            </a:r>
            <a:r>
              <a:rPr kumimoji="1" lang="en-US" altLang="zh-CN" sz="2000" b="1" dirty="0">
                <a:latin typeface="Courier New" pitchFamily="49" charset="0"/>
                <a:cs typeface="Courier New" pitchFamily="49" charset="0"/>
              </a:rPr>
              <a:t>&gt;</a:t>
            </a:r>
          </a:p>
          <a:p>
            <a:pPr algn="just">
              <a:lnSpc>
                <a:spcPct val="110000"/>
              </a:lnSpc>
              <a:spcBef>
                <a:spcPts val="0"/>
              </a:spcBef>
              <a:buNone/>
            </a:pPr>
            <a:r>
              <a:rPr kumimoji="1" lang="en-US" altLang="zh-CN" sz="2000" b="1" dirty="0">
                <a:solidFill>
                  <a:srgbClr val="0000FF"/>
                </a:solidFill>
                <a:latin typeface="Courier New" pitchFamily="49" charset="0"/>
                <a:cs typeface="Courier New" pitchFamily="49" charset="0"/>
              </a:rPr>
              <a:t>using namespace </a:t>
            </a:r>
            <a:r>
              <a:rPr kumimoji="1" lang="en-US" altLang="zh-CN" sz="2000" b="1" dirty="0">
                <a:latin typeface="Courier New" pitchFamily="49" charset="0"/>
                <a:cs typeface="Courier New" pitchFamily="49" charset="0"/>
              </a:rPr>
              <a:t>std;</a:t>
            </a:r>
          </a:p>
          <a:p>
            <a:pPr algn="just">
              <a:lnSpc>
                <a:spcPct val="110000"/>
              </a:lnSpc>
              <a:spcBef>
                <a:spcPts val="0"/>
              </a:spcBef>
              <a:buNone/>
            </a:pPr>
            <a:r>
              <a:rPr kumimoji="1" lang="en-US" altLang="zh-CN" sz="2000" b="1" dirty="0" err="1">
                <a:solidFill>
                  <a:srgbClr val="0000FF"/>
                </a:solidFill>
                <a:latin typeface="Courier New" pitchFamily="49" charset="0"/>
                <a:cs typeface="Courier New" pitchFamily="49" charset="0"/>
              </a:rPr>
              <a:t>int</a:t>
            </a:r>
            <a:r>
              <a:rPr kumimoji="1" lang="en-US" altLang="zh-CN" sz="2000" b="1" dirty="0">
                <a:latin typeface="Courier New" pitchFamily="49" charset="0"/>
                <a:cs typeface="Courier New" pitchFamily="49" charset="0"/>
              </a:rPr>
              <a:t> main(){</a:t>
            </a:r>
          </a:p>
          <a:p>
            <a:pPr algn="just">
              <a:lnSpc>
                <a:spcPct val="110000"/>
              </a:lnSpc>
              <a:spcBef>
                <a:spcPts val="0"/>
              </a:spcBef>
              <a:buNone/>
            </a:pPr>
            <a:r>
              <a:rPr kumimoji="1" lang="en-US" altLang="zh-CN" sz="2000" b="1" dirty="0">
                <a:solidFill>
                  <a:srgbClr val="0000CC"/>
                </a:solidFill>
                <a:latin typeface="Courier New" pitchFamily="49" charset="0"/>
                <a:cs typeface="Courier New" pitchFamily="49" charset="0"/>
              </a:rPr>
              <a:t>  </a:t>
            </a:r>
            <a:r>
              <a:rPr kumimoji="1" lang="en-US" altLang="zh-CN" sz="2000" b="1" dirty="0" err="1">
                <a:solidFill>
                  <a:srgbClr val="0000FF"/>
                </a:solidFill>
                <a:latin typeface="Courier New" pitchFamily="49" charset="0"/>
                <a:cs typeface="Courier New" pitchFamily="49" charset="0"/>
              </a:rPr>
              <a:t>int</a:t>
            </a:r>
            <a:r>
              <a:rPr kumimoji="1" lang="en-US" altLang="zh-CN" sz="2000" b="1" dirty="0">
                <a:latin typeface="Courier New" pitchFamily="49" charset="0"/>
                <a:cs typeface="Courier New" pitchFamily="49" charset="0"/>
              </a:rPr>
              <a:t> </a:t>
            </a:r>
            <a:r>
              <a:rPr kumimoji="1" lang="en-US" altLang="zh-CN" sz="2000" b="1" dirty="0" err="1">
                <a:latin typeface="Courier New" pitchFamily="49" charset="0"/>
                <a:cs typeface="Courier New" pitchFamily="49" charset="0"/>
              </a:rPr>
              <a:t>i,fibon</a:t>
            </a:r>
            <a:r>
              <a:rPr kumimoji="1" lang="en-US" altLang="zh-CN" sz="2000" b="1" dirty="0">
                <a:latin typeface="Courier New" pitchFamily="49" charset="0"/>
                <a:cs typeface="Courier New" pitchFamily="49" charset="0"/>
              </a:rPr>
              <a:t>[10]={0,1,1,2,3,5,8,13,21,34},*pfib1,*pfib2;</a:t>
            </a:r>
          </a:p>
          <a:p>
            <a:pPr algn="just">
              <a:lnSpc>
                <a:spcPct val="110000"/>
              </a:lnSpc>
              <a:spcBef>
                <a:spcPts val="0"/>
              </a:spcBef>
              <a:buNone/>
            </a:pPr>
            <a:r>
              <a:rPr kumimoji="1" lang="en-US" altLang="zh-CN" sz="2000" b="1" dirty="0">
                <a:latin typeface="Courier New" pitchFamily="49" charset="0"/>
                <a:cs typeface="Courier New" pitchFamily="49" charset="0"/>
              </a:rPr>
              <a:t>  pfib1=pfib2=</a:t>
            </a:r>
            <a:r>
              <a:rPr kumimoji="1" lang="en-US" altLang="zh-CN" sz="2000" b="1" dirty="0" err="1">
                <a:latin typeface="Courier New" pitchFamily="49" charset="0"/>
                <a:cs typeface="Courier New" pitchFamily="49" charset="0"/>
              </a:rPr>
              <a:t>fibon</a:t>
            </a:r>
            <a:r>
              <a:rPr kumimoji="1" lang="en-US" altLang="zh-CN" sz="2000" b="1" dirty="0">
                <a:latin typeface="Courier New" pitchFamily="49" charset="0"/>
                <a:cs typeface="Courier New" pitchFamily="49" charset="0"/>
              </a:rPr>
              <a:t>; </a:t>
            </a:r>
            <a:r>
              <a:rPr kumimoji="1" lang="en-US" altLang="zh-CN" sz="2000" b="1" dirty="0">
                <a:solidFill>
                  <a:srgbClr val="008000"/>
                </a:solidFill>
                <a:latin typeface="Courier New" pitchFamily="49" charset="0"/>
                <a:cs typeface="Courier New" pitchFamily="49" charset="0"/>
              </a:rPr>
              <a:t>//</a:t>
            </a:r>
            <a:r>
              <a:rPr kumimoji="1" lang="zh-CN" altLang="en-US" sz="2000" b="1" dirty="0">
                <a:solidFill>
                  <a:srgbClr val="008000"/>
                </a:solidFill>
                <a:latin typeface="Courier New" pitchFamily="49" charset="0"/>
                <a:cs typeface="Courier New" pitchFamily="49" charset="0"/>
              </a:rPr>
              <a:t>也可以用</a:t>
            </a:r>
            <a:r>
              <a:rPr kumimoji="1" lang="en-US" altLang="zh-CN" sz="2000" b="1" dirty="0">
                <a:solidFill>
                  <a:srgbClr val="008000"/>
                </a:solidFill>
                <a:latin typeface="Courier New" pitchFamily="49" charset="0"/>
                <a:cs typeface="Courier New" pitchFamily="49" charset="0"/>
              </a:rPr>
              <a:t>pfib1=pfib2=&amp;</a:t>
            </a:r>
            <a:r>
              <a:rPr kumimoji="1" lang="en-US" altLang="zh-CN" sz="2000" b="1" dirty="0" err="1">
                <a:solidFill>
                  <a:srgbClr val="008000"/>
                </a:solidFill>
                <a:latin typeface="Courier New" pitchFamily="49" charset="0"/>
                <a:cs typeface="Courier New" pitchFamily="49" charset="0"/>
              </a:rPr>
              <a:t>fibon</a:t>
            </a:r>
            <a:r>
              <a:rPr kumimoji="1" lang="en-US" altLang="zh-CN" sz="2000" b="1" dirty="0">
                <a:solidFill>
                  <a:srgbClr val="008000"/>
                </a:solidFill>
                <a:latin typeface="Courier New" pitchFamily="49" charset="0"/>
                <a:cs typeface="Courier New" pitchFamily="49" charset="0"/>
              </a:rPr>
              <a:t>[0]</a:t>
            </a:r>
          </a:p>
          <a:p>
            <a:pPr algn="just">
              <a:lnSpc>
                <a:spcPct val="110000"/>
              </a:lnSpc>
              <a:spcBef>
                <a:spcPts val="0"/>
              </a:spcBef>
              <a:buNone/>
            </a:pPr>
            <a:r>
              <a:rPr kumimoji="1" lang="en-US" altLang="zh-CN" sz="2000" b="1" dirty="0">
                <a:latin typeface="Courier New" pitchFamily="49" charset="0"/>
                <a:cs typeface="Courier New" pitchFamily="49" charset="0"/>
              </a:rPr>
              <a:t>  </a:t>
            </a:r>
            <a:r>
              <a:rPr kumimoji="1" lang="en-US" altLang="zh-CN" sz="2000" b="1" dirty="0" err="1">
                <a:latin typeface="Courier New" pitchFamily="49" charset="0"/>
                <a:cs typeface="Courier New" pitchFamily="49" charset="0"/>
              </a:rPr>
              <a:t>cout</a:t>
            </a:r>
            <a:r>
              <a:rPr kumimoji="1" lang="en-US" altLang="zh-CN" sz="2000" b="1" dirty="0">
                <a:latin typeface="Courier New" pitchFamily="49" charset="0"/>
                <a:cs typeface="Courier New" pitchFamily="49" charset="0"/>
              </a:rPr>
              <a:t>&lt;&lt;"</a:t>
            </a:r>
            <a:r>
              <a:rPr kumimoji="1" lang="zh-CN" altLang="en-US" sz="2000" b="1" dirty="0">
                <a:latin typeface="Courier New" pitchFamily="49" charset="0"/>
                <a:cs typeface="Courier New" pitchFamily="49" charset="0"/>
              </a:rPr>
              <a:t>使用数组显示斐波那契数列</a:t>
            </a:r>
            <a:r>
              <a:rPr kumimoji="1" lang="en-US" altLang="zh-CN" sz="2000" b="1" dirty="0">
                <a:latin typeface="Courier New" pitchFamily="49" charset="0"/>
                <a:cs typeface="Courier New" pitchFamily="49" charset="0"/>
              </a:rPr>
              <a:t>"&lt;&lt;</a:t>
            </a:r>
            <a:r>
              <a:rPr kumimoji="1" lang="en-US" altLang="zh-CN" sz="2000" b="1" dirty="0" err="1">
                <a:latin typeface="Courier New" pitchFamily="49" charset="0"/>
                <a:cs typeface="Courier New" pitchFamily="49" charset="0"/>
              </a:rPr>
              <a:t>endl</a:t>
            </a:r>
            <a:r>
              <a:rPr kumimoji="1" lang="en-US" altLang="zh-CN" sz="2000" b="1" dirty="0">
                <a:latin typeface="Courier New" pitchFamily="49" charset="0"/>
                <a:cs typeface="Courier New" pitchFamily="49" charset="0"/>
              </a:rPr>
              <a:t>;</a:t>
            </a:r>
          </a:p>
          <a:p>
            <a:pPr algn="just">
              <a:lnSpc>
                <a:spcPct val="110000"/>
              </a:lnSpc>
              <a:spcBef>
                <a:spcPts val="0"/>
              </a:spcBef>
              <a:buNone/>
            </a:pPr>
            <a:r>
              <a:rPr kumimoji="1" lang="en-US" altLang="zh-CN" sz="2000" b="1" dirty="0">
                <a:solidFill>
                  <a:srgbClr val="0000CC"/>
                </a:solidFill>
                <a:latin typeface="Courier New" pitchFamily="49" charset="0"/>
                <a:cs typeface="Courier New" pitchFamily="49" charset="0"/>
              </a:rPr>
              <a:t>  </a:t>
            </a:r>
            <a:r>
              <a:rPr kumimoji="1" lang="en-US" altLang="zh-CN" sz="2000" b="1" dirty="0">
                <a:solidFill>
                  <a:srgbClr val="0000FF"/>
                </a:solidFill>
                <a:latin typeface="Courier New" pitchFamily="49" charset="0"/>
                <a:cs typeface="Courier New" pitchFamily="49" charset="0"/>
              </a:rPr>
              <a:t>for</a:t>
            </a:r>
            <a:r>
              <a:rPr kumimoji="1" lang="en-US" altLang="zh-CN" sz="2000" b="1" dirty="0">
                <a:latin typeface="Courier New" pitchFamily="49" charset="0"/>
                <a:cs typeface="Courier New" pitchFamily="49" charset="0"/>
              </a:rPr>
              <a:t>(</a:t>
            </a:r>
            <a:r>
              <a:rPr kumimoji="1" lang="en-US" altLang="zh-CN" sz="2000" b="1" dirty="0" err="1">
                <a:latin typeface="Courier New" pitchFamily="49" charset="0"/>
                <a:cs typeface="Courier New" pitchFamily="49" charset="0"/>
              </a:rPr>
              <a:t>i</a:t>
            </a:r>
            <a:r>
              <a:rPr kumimoji="1" lang="en-US" altLang="zh-CN" sz="2000" b="1" dirty="0">
                <a:latin typeface="Courier New" pitchFamily="49" charset="0"/>
                <a:cs typeface="Courier New" pitchFamily="49" charset="0"/>
              </a:rPr>
              <a:t>=0;i&lt;10;i++)</a:t>
            </a:r>
          </a:p>
          <a:p>
            <a:pPr algn="just">
              <a:lnSpc>
                <a:spcPct val="110000"/>
              </a:lnSpc>
              <a:spcBef>
                <a:spcPts val="0"/>
              </a:spcBef>
              <a:buNone/>
            </a:pPr>
            <a:r>
              <a:rPr kumimoji="1" lang="en-US" altLang="zh-CN" sz="2000" b="1" dirty="0">
                <a:latin typeface="Courier New" pitchFamily="49" charset="0"/>
                <a:cs typeface="Courier New" pitchFamily="49" charset="0"/>
              </a:rPr>
              <a:t>    </a:t>
            </a:r>
            <a:r>
              <a:rPr kumimoji="1" lang="en-US" altLang="zh-CN" sz="2000" b="1" dirty="0" err="1">
                <a:latin typeface="Courier New" pitchFamily="49" charset="0"/>
                <a:cs typeface="Courier New" pitchFamily="49" charset="0"/>
              </a:rPr>
              <a:t>cout</a:t>
            </a:r>
            <a:r>
              <a:rPr kumimoji="1" lang="en-US" altLang="zh-CN" sz="2000" b="1" dirty="0">
                <a:latin typeface="Courier New" pitchFamily="49" charset="0"/>
                <a:cs typeface="Courier New" pitchFamily="49" charset="0"/>
              </a:rPr>
              <a:t>&lt;&lt;</a:t>
            </a:r>
            <a:r>
              <a:rPr kumimoji="1" lang="en-US" altLang="zh-CN" sz="2000" b="1" dirty="0" err="1">
                <a:latin typeface="Courier New" pitchFamily="49" charset="0"/>
                <a:cs typeface="Courier New" pitchFamily="49" charset="0"/>
              </a:rPr>
              <a:t>fibon</a:t>
            </a:r>
            <a:r>
              <a:rPr kumimoji="1" lang="en-US" altLang="zh-CN" sz="2000" b="1" dirty="0">
                <a:latin typeface="Courier New" pitchFamily="49" charset="0"/>
                <a:cs typeface="Courier New" pitchFamily="49" charset="0"/>
              </a:rPr>
              <a:t>[</a:t>
            </a:r>
            <a:r>
              <a:rPr kumimoji="1" lang="en-US" altLang="zh-CN" sz="2000" b="1" dirty="0" err="1">
                <a:latin typeface="Courier New" pitchFamily="49" charset="0"/>
                <a:cs typeface="Courier New" pitchFamily="49" charset="0"/>
              </a:rPr>
              <a:t>i</a:t>
            </a:r>
            <a:r>
              <a:rPr kumimoji="1" lang="en-US" altLang="zh-CN" sz="2000" b="1" dirty="0">
                <a:latin typeface="Courier New" pitchFamily="49" charset="0"/>
                <a:cs typeface="Courier New" pitchFamily="49" charset="0"/>
              </a:rPr>
              <a:t>]&lt;&lt;'\t'&lt;&lt;pfib1[</a:t>
            </a:r>
            <a:r>
              <a:rPr kumimoji="1" lang="en-US" altLang="zh-CN" sz="2000" b="1" dirty="0" err="1">
                <a:latin typeface="Courier New" pitchFamily="49" charset="0"/>
                <a:cs typeface="Courier New" pitchFamily="49" charset="0"/>
              </a:rPr>
              <a:t>i</a:t>
            </a:r>
            <a:r>
              <a:rPr kumimoji="1" lang="en-US" altLang="zh-CN" sz="2000" b="1" dirty="0">
                <a:latin typeface="Courier New" pitchFamily="49" charset="0"/>
                <a:cs typeface="Courier New" pitchFamily="49" charset="0"/>
              </a:rPr>
              <a:t>]&lt;&lt;</a:t>
            </a:r>
            <a:r>
              <a:rPr kumimoji="1" lang="en-US" altLang="zh-CN" sz="2000" b="1" dirty="0" err="1">
                <a:latin typeface="Courier New" pitchFamily="49" charset="0"/>
                <a:cs typeface="Courier New" pitchFamily="49" charset="0"/>
              </a:rPr>
              <a:t>endl</a:t>
            </a:r>
            <a:r>
              <a:rPr kumimoji="1" lang="en-US" altLang="zh-CN" sz="2000" b="1" dirty="0">
                <a:latin typeface="Courier New" pitchFamily="49" charset="0"/>
                <a:cs typeface="Courier New" pitchFamily="49" charset="0"/>
              </a:rPr>
              <a:t>;</a:t>
            </a:r>
          </a:p>
          <a:p>
            <a:pPr algn="just">
              <a:lnSpc>
                <a:spcPct val="110000"/>
              </a:lnSpc>
              <a:spcBef>
                <a:spcPts val="0"/>
              </a:spcBef>
              <a:buNone/>
            </a:pPr>
            <a:r>
              <a:rPr kumimoji="1" lang="en-US" altLang="zh-CN" sz="2000" b="1" dirty="0">
                <a:solidFill>
                  <a:schemeClr val="tx2"/>
                </a:solidFill>
                <a:latin typeface="Courier New" pitchFamily="49" charset="0"/>
                <a:cs typeface="Courier New" pitchFamily="49" charset="0"/>
              </a:rPr>
              <a:t>  </a:t>
            </a:r>
            <a:r>
              <a:rPr kumimoji="1" lang="en-US" altLang="zh-CN" sz="2000" b="1" dirty="0" err="1">
                <a:latin typeface="Courier New" pitchFamily="49" charset="0"/>
                <a:cs typeface="Courier New" pitchFamily="49" charset="0"/>
              </a:rPr>
              <a:t>cout</a:t>
            </a:r>
            <a:r>
              <a:rPr kumimoji="1" lang="en-US" altLang="zh-CN" sz="2000" b="1" dirty="0">
                <a:latin typeface="Courier New" pitchFamily="49" charset="0"/>
                <a:cs typeface="Courier New" pitchFamily="49" charset="0"/>
              </a:rPr>
              <a:t>&lt;&lt;"</a:t>
            </a:r>
            <a:r>
              <a:rPr kumimoji="1" lang="zh-CN" altLang="en-US" sz="2000" b="1" dirty="0">
                <a:latin typeface="Courier New" pitchFamily="49" charset="0"/>
                <a:cs typeface="Courier New" pitchFamily="49" charset="0"/>
              </a:rPr>
              <a:t>使用指针显示斐波那契数列</a:t>
            </a:r>
            <a:r>
              <a:rPr kumimoji="1" lang="en-US" altLang="zh-CN" sz="2000" b="1" dirty="0">
                <a:latin typeface="Courier New" pitchFamily="49" charset="0"/>
                <a:cs typeface="Courier New" pitchFamily="49" charset="0"/>
              </a:rPr>
              <a:t>"&lt;&lt;</a:t>
            </a:r>
            <a:r>
              <a:rPr kumimoji="1" lang="en-US" altLang="zh-CN" sz="2000" b="1" dirty="0" err="1">
                <a:latin typeface="Courier New" pitchFamily="49" charset="0"/>
                <a:cs typeface="Courier New" pitchFamily="49" charset="0"/>
              </a:rPr>
              <a:t>endl</a:t>
            </a:r>
            <a:r>
              <a:rPr kumimoji="1" lang="en-US" altLang="zh-CN" sz="2000" b="1" dirty="0">
                <a:latin typeface="Courier New" pitchFamily="49" charset="0"/>
                <a:cs typeface="Courier New" pitchFamily="49" charset="0"/>
              </a:rPr>
              <a:t>;</a:t>
            </a:r>
          </a:p>
          <a:p>
            <a:pPr algn="just">
              <a:lnSpc>
                <a:spcPct val="110000"/>
              </a:lnSpc>
              <a:spcBef>
                <a:spcPts val="0"/>
              </a:spcBef>
              <a:buNone/>
            </a:pPr>
            <a:r>
              <a:rPr kumimoji="1" lang="en-US" altLang="zh-CN" sz="2000" b="1" dirty="0">
                <a:solidFill>
                  <a:srgbClr val="0000CC"/>
                </a:solidFill>
                <a:latin typeface="Courier New" pitchFamily="49" charset="0"/>
                <a:cs typeface="Courier New" pitchFamily="49" charset="0"/>
              </a:rPr>
              <a:t>  </a:t>
            </a:r>
            <a:r>
              <a:rPr kumimoji="1" lang="en-US" altLang="zh-CN" sz="2000" b="1" dirty="0">
                <a:solidFill>
                  <a:srgbClr val="0000FF"/>
                </a:solidFill>
                <a:latin typeface="Courier New" pitchFamily="49" charset="0"/>
                <a:cs typeface="Courier New" pitchFamily="49" charset="0"/>
              </a:rPr>
              <a:t>for</a:t>
            </a:r>
            <a:r>
              <a:rPr kumimoji="1" lang="en-US" altLang="zh-CN" sz="2000" b="1" dirty="0">
                <a:latin typeface="Courier New" pitchFamily="49" charset="0"/>
                <a:cs typeface="Courier New" pitchFamily="49" charset="0"/>
              </a:rPr>
              <a:t>(</a:t>
            </a:r>
            <a:r>
              <a:rPr kumimoji="1" lang="en-US" altLang="zh-CN" sz="2000" b="1" dirty="0" err="1">
                <a:latin typeface="Courier New" pitchFamily="49" charset="0"/>
                <a:cs typeface="Courier New" pitchFamily="49" charset="0"/>
              </a:rPr>
              <a:t>i</a:t>
            </a:r>
            <a:r>
              <a:rPr kumimoji="1" lang="en-US" altLang="zh-CN" sz="2000" b="1" dirty="0">
                <a:latin typeface="Courier New" pitchFamily="49" charset="0"/>
                <a:cs typeface="Courier New" pitchFamily="49" charset="0"/>
              </a:rPr>
              <a:t>=0;i&lt;10;i++)</a:t>
            </a:r>
          </a:p>
          <a:p>
            <a:pPr algn="just">
              <a:lnSpc>
                <a:spcPct val="110000"/>
              </a:lnSpc>
              <a:spcBef>
                <a:spcPts val="0"/>
              </a:spcBef>
              <a:buNone/>
            </a:pPr>
            <a:r>
              <a:rPr kumimoji="1" lang="en-US" altLang="zh-CN" sz="2000" b="1" dirty="0">
                <a:latin typeface="Courier New" pitchFamily="49" charset="0"/>
                <a:cs typeface="Courier New" pitchFamily="49" charset="0"/>
              </a:rPr>
              <a:t>    </a:t>
            </a:r>
            <a:r>
              <a:rPr kumimoji="1" lang="en-US" altLang="zh-CN" sz="2000" b="1" dirty="0" err="1">
                <a:latin typeface="Courier New" pitchFamily="49" charset="0"/>
                <a:cs typeface="Courier New" pitchFamily="49" charset="0"/>
              </a:rPr>
              <a:t>cout</a:t>
            </a:r>
            <a:r>
              <a:rPr kumimoji="1" lang="en-US" altLang="zh-CN" sz="2000" b="1" dirty="0">
                <a:latin typeface="Courier New" pitchFamily="49" charset="0"/>
                <a:cs typeface="Courier New" pitchFamily="49" charset="0"/>
              </a:rPr>
              <a:t>&lt;&lt;</a:t>
            </a:r>
            <a:r>
              <a:rPr kumimoji="1" lang="en-US" altLang="zh-CN" sz="2000" b="1" dirty="0">
                <a:solidFill>
                  <a:srgbClr val="FF0000"/>
                </a:solidFill>
                <a:latin typeface="Courier New" pitchFamily="49" charset="0"/>
                <a:cs typeface="Courier New" pitchFamily="49" charset="0"/>
              </a:rPr>
              <a:t>*(</a:t>
            </a:r>
            <a:r>
              <a:rPr kumimoji="1" lang="en-US" altLang="zh-CN" sz="2000" b="1" dirty="0" err="1">
                <a:solidFill>
                  <a:srgbClr val="FF0000"/>
                </a:solidFill>
                <a:latin typeface="Courier New" pitchFamily="49" charset="0"/>
                <a:cs typeface="Courier New" pitchFamily="49" charset="0"/>
              </a:rPr>
              <a:t>fibon+i</a:t>
            </a:r>
            <a:r>
              <a:rPr kumimoji="1" lang="en-US" altLang="zh-CN" sz="2000" b="1" dirty="0">
                <a:latin typeface="Courier New" pitchFamily="49" charset="0"/>
                <a:cs typeface="Courier New" pitchFamily="49" charset="0"/>
              </a:rPr>
              <a:t>)&lt;&lt;'\t'&lt;&lt;</a:t>
            </a:r>
            <a:r>
              <a:rPr kumimoji="1" lang="en-US" altLang="zh-CN" sz="2000" b="1" dirty="0">
                <a:solidFill>
                  <a:srgbClr val="FF0000"/>
                </a:solidFill>
                <a:latin typeface="Courier New" pitchFamily="49" charset="0"/>
                <a:cs typeface="Courier New" pitchFamily="49" charset="0"/>
              </a:rPr>
              <a:t>*pfib2</a:t>
            </a:r>
            <a:r>
              <a:rPr kumimoji="1" lang="en-US" altLang="zh-CN" sz="2000" b="1" dirty="0">
                <a:latin typeface="Courier New" pitchFamily="49" charset="0"/>
                <a:cs typeface="Courier New" pitchFamily="49" charset="0"/>
              </a:rPr>
              <a:t>++&lt;&lt;</a:t>
            </a:r>
            <a:r>
              <a:rPr kumimoji="1" lang="en-US" altLang="zh-CN" sz="2000" b="1" dirty="0" err="1">
                <a:latin typeface="Courier New" pitchFamily="49" charset="0"/>
                <a:cs typeface="Courier New" pitchFamily="49" charset="0"/>
              </a:rPr>
              <a:t>endl</a:t>
            </a:r>
            <a:r>
              <a:rPr kumimoji="1" lang="en-US" altLang="zh-CN" sz="2000" b="1" dirty="0">
                <a:latin typeface="Courier New" pitchFamily="49" charset="0"/>
                <a:cs typeface="Courier New" pitchFamily="49" charset="0"/>
              </a:rPr>
              <a:t>;</a:t>
            </a:r>
          </a:p>
          <a:p>
            <a:pPr algn="just">
              <a:lnSpc>
                <a:spcPct val="110000"/>
              </a:lnSpc>
              <a:spcBef>
                <a:spcPts val="0"/>
              </a:spcBef>
              <a:buNone/>
            </a:pPr>
            <a:r>
              <a:rPr kumimoji="1" lang="en-US" altLang="zh-CN" sz="2000" b="1" dirty="0">
                <a:latin typeface="Courier New" pitchFamily="49" charset="0"/>
                <a:cs typeface="Courier New" pitchFamily="49" charset="0"/>
              </a:rPr>
              <a:t>  </a:t>
            </a:r>
            <a:r>
              <a:rPr kumimoji="1" lang="en-US" altLang="zh-CN" sz="2000" b="1" dirty="0" err="1">
                <a:latin typeface="Courier New" pitchFamily="49" charset="0"/>
                <a:cs typeface="Courier New" pitchFamily="49" charset="0"/>
              </a:rPr>
              <a:t>cout</a:t>
            </a:r>
            <a:r>
              <a:rPr kumimoji="1" lang="en-US" altLang="zh-CN" sz="2000" b="1" dirty="0">
                <a:latin typeface="Courier New" pitchFamily="49" charset="0"/>
                <a:cs typeface="Courier New" pitchFamily="49" charset="0"/>
              </a:rPr>
              <a:t>&lt;&lt;"</a:t>
            </a:r>
            <a:r>
              <a:rPr kumimoji="1" lang="zh-CN" altLang="en-US" sz="2000" b="1" dirty="0">
                <a:latin typeface="Courier New" pitchFamily="49" charset="0"/>
                <a:cs typeface="Courier New" pitchFamily="49" charset="0"/>
              </a:rPr>
              <a:t>显示指针相减</a:t>
            </a:r>
            <a:r>
              <a:rPr kumimoji="1" lang="en-US" altLang="zh-CN" sz="2000" b="1" dirty="0">
                <a:latin typeface="Courier New" pitchFamily="49" charset="0"/>
                <a:cs typeface="Courier New" pitchFamily="49" charset="0"/>
              </a:rPr>
              <a:t>,</a:t>
            </a:r>
            <a:r>
              <a:rPr kumimoji="1" lang="zh-CN" altLang="en-US" sz="2000" b="1" dirty="0">
                <a:latin typeface="Courier New" pitchFamily="49" charset="0"/>
                <a:cs typeface="Courier New" pitchFamily="49" charset="0"/>
              </a:rPr>
              <a:t>应为数组长度</a:t>
            </a:r>
            <a:r>
              <a:rPr kumimoji="1" lang="en-US" altLang="zh-CN" sz="2000" b="1" dirty="0">
                <a:latin typeface="Courier New" pitchFamily="49" charset="0"/>
                <a:cs typeface="Courier New" pitchFamily="49" charset="0"/>
              </a:rPr>
              <a:t>:";</a:t>
            </a:r>
          </a:p>
          <a:p>
            <a:pPr algn="just">
              <a:lnSpc>
                <a:spcPct val="110000"/>
              </a:lnSpc>
              <a:spcBef>
                <a:spcPts val="0"/>
              </a:spcBef>
              <a:buNone/>
            </a:pPr>
            <a:r>
              <a:rPr kumimoji="1" lang="en-US" altLang="zh-CN" sz="2000" b="1" dirty="0">
                <a:latin typeface="Courier New" pitchFamily="49" charset="0"/>
                <a:cs typeface="Courier New" pitchFamily="49" charset="0"/>
              </a:rPr>
              <a:t>  </a:t>
            </a:r>
            <a:r>
              <a:rPr kumimoji="1" lang="en-US" altLang="zh-CN" sz="2000" b="1" dirty="0" err="1">
                <a:latin typeface="Courier New" pitchFamily="49" charset="0"/>
                <a:cs typeface="Courier New" pitchFamily="49" charset="0"/>
              </a:rPr>
              <a:t>cout</a:t>
            </a:r>
            <a:r>
              <a:rPr kumimoji="1" lang="en-US" altLang="zh-CN" sz="2000" b="1" dirty="0">
                <a:latin typeface="Courier New" pitchFamily="49" charset="0"/>
                <a:cs typeface="Courier New" pitchFamily="49" charset="0"/>
              </a:rPr>
              <a:t>&lt;&lt;pfib2-pfib1&lt;&lt;</a:t>
            </a:r>
            <a:r>
              <a:rPr kumimoji="1" lang="en-US" altLang="zh-CN" sz="2000" b="1" dirty="0" err="1">
                <a:latin typeface="Courier New" pitchFamily="49" charset="0"/>
                <a:cs typeface="Courier New" pitchFamily="49" charset="0"/>
              </a:rPr>
              <a:t>endl</a:t>
            </a:r>
            <a:r>
              <a:rPr kumimoji="1" lang="en-US" altLang="zh-CN" sz="2000" b="1" dirty="0">
                <a:latin typeface="Courier New" pitchFamily="49" charset="0"/>
                <a:cs typeface="Courier New" pitchFamily="49" charset="0"/>
              </a:rPr>
              <a:t>; </a:t>
            </a:r>
            <a:r>
              <a:rPr kumimoji="1" lang="en-US" altLang="zh-CN" sz="2000" b="1" dirty="0">
                <a:solidFill>
                  <a:srgbClr val="008000"/>
                </a:solidFill>
                <a:latin typeface="Courier New" pitchFamily="49" charset="0"/>
                <a:cs typeface="Courier New" pitchFamily="49" charset="0"/>
              </a:rPr>
              <a:t>//pfib2</a:t>
            </a:r>
            <a:r>
              <a:rPr kumimoji="1" lang="zh-CN" altLang="en-US" sz="2000" b="1" dirty="0">
                <a:solidFill>
                  <a:srgbClr val="008000"/>
                </a:solidFill>
                <a:latin typeface="Courier New" pitchFamily="49" charset="0"/>
                <a:cs typeface="Courier New" pitchFamily="49" charset="0"/>
              </a:rPr>
              <a:t>已指向数组末尾，</a:t>
            </a:r>
            <a:r>
              <a:rPr kumimoji="1" lang="en-US" altLang="zh-CN" sz="2000" b="1" dirty="0">
                <a:solidFill>
                  <a:srgbClr val="008000"/>
                </a:solidFill>
                <a:latin typeface="Courier New" pitchFamily="49" charset="0"/>
                <a:cs typeface="Courier New" pitchFamily="49" charset="0"/>
              </a:rPr>
              <a:t>10</a:t>
            </a:r>
          </a:p>
          <a:p>
            <a:pPr algn="just">
              <a:lnSpc>
                <a:spcPct val="110000"/>
              </a:lnSpc>
              <a:spcBef>
                <a:spcPts val="0"/>
              </a:spcBef>
              <a:buNone/>
            </a:pPr>
            <a:r>
              <a:rPr kumimoji="1" lang="zh-CN" altLang="en-US" sz="2000" b="1" dirty="0">
                <a:solidFill>
                  <a:srgbClr val="0000CC"/>
                </a:solidFill>
                <a:latin typeface="Courier New" pitchFamily="49" charset="0"/>
                <a:cs typeface="Courier New" pitchFamily="49" charset="0"/>
              </a:rPr>
              <a:t>  </a:t>
            </a:r>
            <a:r>
              <a:rPr kumimoji="1" lang="en-US" altLang="zh-CN" sz="2000" b="1" dirty="0">
                <a:solidFill>
                  <a:srgbClr val="0000FF"/>
                </a:solidFill>
                <a:latin typeface="Courier New" pitchFamily="49" charset="0"/>
                <a:cs typeface="Courier New" pitchFamily="49" charset="0"/>
              </a:rPr>
              <a:t>return</a:t>
            </a:r>
            <a:r>
              <a:rPr kumimoji="1" lang="en-US" altLang="zh-CN" sz="2000" b="1" dirty="0">
                <a:solidFill>
                  <a:srgbClr val="0000CC"/>
                </a:solidFill>
                <a:latin typeface="Courier New" pitchFamily="49" charset="0"/>
                <a:cs typeface="Courier New" pitchFamily="49" charset="0"/>
              </a:rPr>
              <a:t> </a:t>
            </a:r>
            <a:r>
              <a:rPr kumimoji="1" lang="en-US" altLang="zh-CN" sz="2000" b="1" dirty="0">
                <a:latin typeface="Courier New" pitchFamily="49" charset="0"/>
                <a:cs typeface="Courier New" pitchFamily="49" charset="0"/>
              </a:rPr>
              <a:t>0;</a:t>
            </a:r>
          </a:p>
          <a:p>
            <a:pPr algn="just">
              <a:lnSpc>
                <a:spcPct val="110000"/>
              </a:lnSpc>
              <a:spcBef>
                <a:spcPts val="0"/>
              </a:spcBef>
              <a:buNone/>
            </a:pPr>
            <a:r>
              <a:rPr kumimoji="1" lang="en-US" altLang="zh-CN" sz="2000" b="1" dirty="0">
                <a:latin typeface="Courier New" pitchFamily="49" charset="0"/>
                <a:cs typeface="Courier New" pitchFamily="49" charset="0"/>
              </a:rPr>
              <a:t>}</a:t>
            </a:r>
            <a:endParaRPr lang="en-US" altLang="zh-CN" b="1" dirty="0"/>
          </a:p>
        </p:txBody>
      </p:sp>
      <p:sp>
        <p:nvSpPr>
          <p:cNvPr id="12" name="矩形 11">
            <a:hlinkClick r:id="rId2" action="ppaction://hlinksldjump"/>
            <a:extLst>
              <a:ext uri="{FF2B5EF4-FFF2-40B4-BE49-F238E27FC236}">
                <a16:creationId xmlns:a16="http://schemas.microsoft.com/office/drawing/2014/main" id="{2BB5D876-8E9F-47AF-A2AE-E1EEAC69281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97AC7389-B475-47B4-8C94-3197098EECD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1599E388-DE80-4577-A3B0-1AF841A548A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90E1E56F-3EAA-48B7-8630-BAE7B70988D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6" name="矩形 15">
            <a:hlinkClick r:id="" action="ppaction://noaction"/>
            <a:extLst>
              <a:ext uri="{FF2B5EF4-FFF2-40B4-BE49-F238E27FC236}">
                <a16:creationId xmlns:a16="http://schemas.microsoft.com/office/drawing/2014/main" id="{07F2DFD5-060F-4863-BA46-6353E0D0249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7" name="矩形 16">
            <a:hlinkClick r:id="" action="ppaction://noaction"/>
            <a:extLst>
              <a:ext uri="{FF2B5EF4-FFF2-40B4-BE49-F238E27FC236}">
                <a16:creationId xmlns:a16="http://schemas.microsoft.com/office/drawing/2014/main" id="{6018D8BA-09AB-46FF-A7B0-10C681268D6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8" name="矩形 17">
            <a:hlinkClick r:id="" action="ppaction://noaction"/>
            <a:extLst>
              <a:ext uri="{FF2B5EF4-FFF2-40B4-BE49-F238E27FC236}">
                <a16:creationId xmlns:a16="http://schemas.microsoft.com/office/drawing/2014/main" id="{464B7BFC-4552-42CC-B956-F6147009E90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19" name="矩形 18">
            <a:hlinkClick r:id="" action="ppaction://noaction"/>
            <a:extLst>
              <a:ext uri="{FF2B5EF4-FFF2-40B4-BE49-F238E27FC236}">
                <a16:creationId xmlns:a16="http://schemas.microsoft.com/office/drawing/2014/main" id="{6386DA7B-7909-465D-BCE8-C4FF3E38432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11664030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指向二维数组元素的指针</a:t>
            </a:r>
          </a:p>
        </p:txBody>
      </p:sp>
      <p:sp>
        <p:nvSpPr>
          <p:cNvPr id="3" name="内容占位符 2"/>
          <p:cNvSpPr>
            <a:spLocks noGrp="1"/>
          </p:cNvSpPr>
          <p:nvPr>
            <p:ph idx="1"/>
          </p:nvPr>
        </p:nvSpPr>
        <p:spPr>
          <a:xfrm>
            <a:off x="457200" y="1839962"/>
            <a:ext cx="8229600" cy="2778872"/>
          </a:xfrm>
        </p:spPr>
        <p:txBody>
          <a:bodyPr/>
          <a:lstStyle/>
          <a:p>
            <a:r>
              <a:rPr lang="zh-CN" altLang="en-US" sz="2400" dirty="0"/>
              <a:t>将二维数组首地址赋予指针</a:t>
            </a:r>
            <a:endParaRPr lang="en-US" altLang="zh-CN" sz="2400" dirty="0"/>
          </a:p>
          <a:p>
            <a:r>
              <a:rPr lang="zh-CN" altLang="en-US" sz="2400" dirty="0"/>
              <a:t>按照一维数组的存储方式移动指针</a:t>
            </a:r>
            <a:endParaRPr lang="en-US" altLang="zh-CN" sz="2400" dirty="0"/>
          </a:p>
          <a:p>
            <a:pPr lvl="2">
              <a:buNone/>
            </a:pPr>
            <a:r>
              <a:rPr lang="en-US" altLang="zh-CN" sz="2800"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A[3][4]={……}</a:t>
            </a:r>
          </a:p>
          <a:p>
            <a:pPr lvl="2">
              <a:buNone/>
            </a:pPr>
            <a:r>
              <a:rPr lang="en-US" altLang="zh-CN" sz="2800"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*pa=A[0];</a:t>
            </a:r>
            <a:r>
              <a:rPr lang="en-US" altLang="zh-CN" sz="2800" b="1" dirty="0">
                <a:solidFill>
                  <a:srgbClr val="00B050"/>
                </a:solidFill>
                <a:latin typeface="Courier New" pitchFamily="49" charset="0"/>
                <a:cs typeface="Courier New" pitchFamily="49" charset="0"/>
              </a:rPr>
              <a:t>//</a:t>
            </a:r>
            <a:r>
              <a:rPr lang="en-US" altLang="zh-CN" sz="2800" b="1" dirty="0" err="1">
                <a:solidFill>
                  <a:srgbClr val="00B050"/>
                </a:solidFill>
                <a:latin typeface="Courier New" pitchFamily="49" charset="0"/>
                <a:cs typeface="Courier New" pitchFamily="49" charset="0"/>
              </a:rPr>
              <a:t>int</a:t>
            </a:r>
            <a:r>
              <a:rPr lang="en-US" altLang="zh-CN" sz="2800" b="1" dirty="0">
                <a:solidFill>
                  <a:srgbClr val="00B050"/>
                </a:solidFill>
                <a:latin typeface="Courier New" pitchFamily="49" charset="0"/>
                <a:cs typeface="Courier New" pitchFamily="49" charset="0"/>
              </a:rPr>
              <a:t> *pa = A,</a:t>
            </a:r>
            <a:r>
              <a:rPr lang="zh-CN" altLang="en-US" sz="2800" b="1" dirty="0">
                <a:solidFill>
                  <a:srgbClr val="00B050"/>
                </a:solidFill>
                <a:latin typeface="Courier New" pitchFamily="49" charset="0"/>
                <a:cs typeface="Courier New" pitchFamily="49" charset="0"/>
              </a:rPr>
              <a:t>错误！</a:t>
            </a:r>
            <a:endParaRPr lang="en-US" altLang="zh-CN" sz="2800" b="1" dirty="0">
              <a:solidFill>
                <a:srgbClr val="00B050"/>
              </a:solidFill>
              <a:latin typeface="Courier New" pitchFamily="49" charset="0"/>
              <a:cs typeface="Courier New" pitchFamily="49" charset="0"/>
            </a:endParaRPr>
          </a:p>
          <a:p>
            <a:pPr lvl="2">
              <a:buNone/>
            </a:pP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(;pa&lt;A[0]+12;pa++)</a:t>
            </a:r>
          </a:p>
          <a:p>
            <a:pPr lvl="2">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&lt;&lt;*pa&lt;&lt;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lvl="2">
              <a:buNone/>
            </a:pPr>
            <a:endParaRPr lang="en-US" altLang="zh-CN" sz="2400" b="1" dirty="0">
              <a:latin typeface="Courier New" pitchFamily="49" charset="0"/>
              <a:cs typeface="Courier New" pitchFamily="49" charset="0"/>
            </a:endParaRPr>
          </a:p>
          <a:p>
            <a:pPr lvl="2">
              <a:buNone/>
            </a:pPr>
            <a:endParaRPr lang="en-US" altLang="zh-CN" sz="2400" b="1" dirty="0">
              <a:latin typeface="Courier New" pitchFamily="49" charset="0"/>
              <a:cs typeface="Courier New" pitchFamily="49" charset="0"/>
            </a:endParaRPr>
          </a:p>
        </p:txBody>
      </p:sp>
      <p:graphicFrame>
        <p:nvGraphicFramePr>
          <p:cNvPr id="4" name="表格 3"/>
          <p:cNvGraphicFramePr>
            <a:graphicFrameLocks noGrp="1"/>
          </p:cNvGraphicFramePr>
          <p:nvPr>
            <p:extLst/>
          </p:nvPr>
        </p:nvGraphicFramePr>
        <p:xfrm>
          <a:off x="6304564" y="5023955"/>
          <a:ext cx="2129668" cy="1112520"/>
        </p:xfrm>
        <a:graphic>
          <a:graphicData uri="http://schemas.openxmlformats.org/drawingml/2006/table">
            <a:tbl>
              <a:tblPr firstRow="1" bandRow="1">
                <a:tableStyleId>{5940675A-B579-460E-94D1-54222C63F5DA}</a:tableStyleId>
              </a:tblPr>
              <a:tblGrid>
                <a:gridCol w="532417">
                  <a:extLst>
                    <a:ext uri="{9D8B030D-6E8A-4147-A177-3AD203B41FA5}">
                      <a16:colId xmlns:a16="http://schemas.microsoft.com/office/drawing/2014/main" val="270392583"/>
                    </a:ext>
                  </a:extLst>
                </a:gridCol>
                <a:gridCol w="532417">
                  <a:extLst>
                    <a:ext uri="{9D8B030D-6E8A-4147-A177-3AD203B41FA5}">
                      <a16:colId xmlns:a16="http://schemas.microsoft.com/office/drawing/2014/main" val="1434027444"/>
                    </a:ext>
                  </a:extLst>
                </a:gridCol>
                <a:gridCol w="532417">
                  <a:extLst>
                    <a:ext uri="{9D8B030D-6E8A-4147-A177-3AD203B41FA5}">
                      <a16:colId xmlns:a16="http://schemas.microsoft.com/office/drawing/2014/main" val="4116405787"/>
                    </a:ext>
                  </a:extLst>
                </a:gridCol>
                <a:gridCol w="532417">
                  <a:extLst>
                    <a:ext uri="{9D8B030D-6E8A-4147-A177-3AD203B41FA5}">
                      <a16:colId xmlns:a16="http://schemas.microsoft.com/office/drawing/2014/main" val="1514545731"/>
                    </a:ext>
                  </a:extLst>
                </a:gridCol>
              </a:tblGrid>
              <a:tr h="370840">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a:p>
                  </a:txBody>
                  <a:tcPr/>
                </a:tc>
                <a:extLst>
                  <a:ext uri="{0D108BD9-81ED-4DB2-BD59-A6C34878D82A}">
                    <a16:rowId xmlns:a16="http://schemas.microsoft.com/office/drawing/2014/main" val="3846665964"/>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877893860"/>
                  </a:ext>
                </a:extLst>
              </a:tr>
              <a:tr h="370840">
                <a:tc>
                  <a:txBody>
                    <a:bodyPr/>
                    <a:lstStyle/>
                    <a:p>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923878570"/>
                  </a:ext>
                </a:extLst>
              </a:tr>
            </a:tbl>
          </a:graphicData>
        </a:graphic>
      </p:graphicFrame>
      <p:sp>
        <p:nvSpPr>
          <p:cNvPr id="5" name="文本框 4"/>
          <p:cNvSpPr txBox="1"/>
          <p:nvPr/>
        </p:nvSpPr>
        <p:spPr>
          <a:xfrm>
            <a:off x="5490684" y="4872020"/>
            <a:ext cx="579749" cy="425373"/>
          </a:xfrm>
          <a:prstGeom prst="rect">
            <a:avLst/>
          </a:prstGeom>
          <a:noFill/>
        </p:spPr>
        <p:txBody>
          <a:bodyPr wrap="square" rtlCol="0">
            <a:spAutoFit/>
          </a:bodyPr>
          <a:lstStyle/>
          <a:p>
            <a:pPr>
              <a:lnSpc>
                <a:spcPct val="135000"/>
              </a:lnSpc>
            </a:pPr>
            <a:r>
              <a:rPr lang="en-US" altLang="zh-CN" dirty="0"/>
              <a:t>A[0]</a:t>
            </a:r>
          </a:p>
        </p:txBody>
      </p:sp>
      <p:sp>
        <p:nvSpPr>
          <p:cNvPr id="14" name="文本框 13"/>
          <p:cNvSpPr txBox="1"/>
          <p:nvPr/>
        </p:nvSpPr>
        <p:spPr>
          <a:xfrm>
            <a:off x="6139751" y="4351697"/>
            <a:ext cx="329625" cy="369332"/>
          </a:xfrm>
          <a:prstGeom prst="rect">
            <a:avLst/>
          </a:prstGeom>
          <a:noFill/>
        </p:spPr>
        <p:txBody>
          <a:bodyPr wrap="square" rtlCol="0">
            <a:spAutoFit/>
          </a:bodyPr>
          <a:lstStyle/>
          <a:p>
            <a:r>
              <a:rPr lang="en-US" altLang="zh-CN" dirty="0"/>
              <a:t>A</a:t>
            </a:r>
            <a:endParaRPr lang="zh-CN" altLang="en-US" dirty="0"/>
          </a:p>
        </p:txBody>
      </p:sp>
      <p:cxnSp>
        <p:nvCxnSpPr>
          <p:cNvPr id="16" name="直接箭头连接符 15"/>
          <p:cNvCxnSpPr/>
          <p:nvPr/>
        </p:nvCxnSpPr>
        <p:spPr>
          <a:xfrm>
            <a:off x="6304564" y="4731883"/>
            <a:ext cx="0" cy="292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6064535" y="5023955"/>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矩形 16">
            <a:hlinkClick r:id="rId4" action="ppaction://hlinksldjump"/>
            <a:extLst>
              <a:ext uri="{FF2B5EF4-FFF2-40B4-BE49-F238E27FC236}">
                <a16:creationId xmlns:a16="http://schemas.microsoft.com/office/drawing/2014/main" id="{5E30FF9B-C838-4658-9631-7E2CDAC7B65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9" name="矩形 18">
            <a:hlinkClick r:id="" action="ppaction://noaction"/>
            <a:extLst>
              <a:ext uri="{FF2B5EF4-FFF2-40B4-BE49-F238E27FC236}">
                <a16:creationId xmlns:a16="http://schemas.microsoft.com/office/drawing/2014/main" id="{AAB0066A-44A5-4464-A33D-632F715A788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0" name="矩形 19">
            <a:hlinkClick r:id="" action="ppaction://noaction"/>
            <a:extLst>
              <a:ext uri="{FF2B5EF4-FFF2-40B4-BE49-F238E27FC236}">
                <a16:creationId xmlns:a16="http://schemas.microsoft.com/office/drawing/2014/main" id="{58D75743-08BA-404B-A16A-C8DD067E84D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1" name="矩形 20">
            <a:hlinkClick r:id="" action="ppaction://noaction"/>
            <a:extLst>
              <a:ext uri="{FF2B5EF4-FFF2-40B4-BE49-F238E27FC236}">
                <a16:creationId xmlns:a16="http://schemas.microsoft.com/office/drawing/2014/main" id="{60140182-5C42-47CB-A657-F79123AA2E9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22" name="矩形 21">
            <a:hlinkClick r:id="" action="ppaction://noaction"/>
            <a:extLst>
              <a:ext uri="{FF2B5EF4-FFF2-40B4-BE49-F238E27FC236}">
                <a16:creationId xmlns:a16="http://schemas.microsoft.com/office/drawing/2014/main" id="{BC81F344-6F2A-42F8-970B-8F6152F83A7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23" name="矩形 22">
            <a:hlinkClick r:id="" action="ppaction://noaction"/>
            <a:extLst>
              <a:ext uri="{FF2B5EF4-FFF2-40B4-BE49-F238E27FC236}">
                <a16:creationId xmlns:a16="http://schemas.microsoft.com/office/drawing/2014/main" id="{ED101031-AB3B-4CC8-957E-6A027B69D85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4" name="矩形 23">
            <a:hlinkClick r:id="" action="ppaction://noaction"/>
            <a:extLst>
              <a:ext uri="{FF2B5EF4-FFF2-40B4-BE49-F238E27FC236}">
                <a16:creationId xmlns:a16="http://schemas.microsoft.com/office/drawing/2014/main" id="{295FAF4B-125D-404C-B664-AA11D259E6B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25" name="矩形 24">
            <a:hlinkClick r:id="" action="ppaction://noaction"/>
            <a:extLst>
              <a:ext uri="{FF2B5EF4-FFF2-40B4-BE49-F238E27FC236}">
                <a16:creationId xmlns:a16="http://schemas.microsoft.com/office/drawing/2014/main" id="{1B0511A3-30E0-4B4B-9FDE-30FBF5D5E41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custDataLst>
      <p:tags r:id="rId1"/>
    </p:custDataLst>
    <p:extLst>
      <p:ext uri="{BB962C8B-B14F-4D97-AF65-F5344CB8AC3E}">
        <p14:creationId xmlns:p14="http://schemas.microsoft.com/office/powerpoint/2010/main" val="3375918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指向二维数组元素的指针</a:t>
            </a:r>
          </a:p>
        </p:txBody>
      </p:sp>
      <p:graphicFrame>
        <p:nvGraphicFramePr>
          <p:cNvPr id="4" name="表格 3"/>
          <p:cNvGraphicFramePr>
            <a:graphicFrameLocks noGrp="1"/>
          </p:cNvGraphicFramePr>
          <p:nvPr>
            <p:extLst/>
          </p:nvPr>
        </p:nvGraphicFramePr>
        <p:xfrm>
          <a:off x="6499244" y="2935674"/>
          <a:ext cx="2129668" cy="1112520"/>
        </p:xfrm>
        <a:graphic>
          <a:graphicData uri="http://schemas.openxmlformats.org/drawingml/2006/table">
            <a:tbl>
              <a:tblPr firstRow="1" bandRow="1">
                <a:tableStyleId>{5940675A-B579-460E-94D1-54222C63F5DA}</a:tableStyleId>
              </a:tblPr>
              <a:tblGrid>
                <a:gridCol w="532417">
                  <a:extLst>
                    <a:ext uri="{9D8B030D-6E8A-4147-A177-3AD203B41FA5}">
                      <a16:colId xmlns:a16="http://schemas.microsoft.com/office/drawing/2014/main" val="270392583"/>
                    </a:ext>
                  </a:extLst>
                </a:gridCol>
                <a:gridCol w="532417">
                  <a:extLst>
                    <a:ext uri="{9D8B030D-6E8A-4147-A177-3AD203B41FA5}">
                      <a16:colId xmlns:a16="http://schemas.microsoft.com/office/drawing/2014/main" val="1434027444"/>
                    </a:ext>
                  </a:extLst>
                </a:gridCol>
                <a:gridCol w="532417">
                  <a:extLst>
                    <a:ext uri="{9D8B030D-6E8A-4147-A177-3AD203B41FA5}">
                      <a16:colId xmlns:a16="http://schemas.microsoft.com/office/drawing/2014/main" val="4116405787"/>
                    </a:ext>
                  </a:extLst>
                </a:gridCol>
                <a:gridCol w="532417">
                  <a:extLst>
                    <a:ext uri="{9D8B030D-6E8A-4147-A177-3AD203B41FA5}">
                      <a16:colId xmlns:a16="http://schemas.microsoft.com/office/drawing/2014/main" val="1514545731"/>
                    </a:ext>
                  </a:extLst>
                </a:gridCol>
              </a:tblGrid>
              <a:tr h="370840">
                <a:tc>
                  <a:txBody>
                    <a:bodyPr/>
                    <a:lstStyle/>
                    <a:p>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3846665964"/>
                  </a:ext>
                </a:extLst>
              </a:tr>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877893860"/>
                  </a:ext>
                </a:extLst>
              </a:tr>
              <a:tr h="370840">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923878570"/>
                  </a:ext>
                </a:extLst>
              </a:tr>
            </a:tbl>
          </a:graphicData>
        </a:graphic>
      </p:graphicFrame>
      <p:sp>
        <p:nvSpPr>
          <p:cNvPr id="5" name="文本框 4"/>
          <p:cNvSpPr txBox="1"/>
          <p:nvPr/>
        </p:nvSpPr>
        <p:spPr>
          <a:xfrm>
            <a:off x="5685364" y="2783739"/>
            <a:ext cx="579749" cy="1214179"/>
          </a:xfrm>
          <a:prstGeom prst="rect">
            <a:avLst/>
          </a:prstGeom>
          <a:noFill/>
        </p:spPr>
        <p:txBody>
          <a:bodyPr wrap="square" rtlCol="0">
            <a:spAutoFit/>
          </a:bodyPr>
          <a:lstStyle/>
          <a:p>
            <a:pPr>
              <a:lnSpc>
                <a:spcPct val="135000"/>
              </a:lnSpc>
            </a:pPr>
            <a:r>
              <a:rPr lang="en-US" altLang="zh-CN" dirty="0"/>
              <a:t>A[0]</a:t>
            </a:r>
          </a:p>
          <a:p>
            <a:pPr>
              <a:lnSpc>
                <a:spcPct val="135000"/>
              </a:lnSpc>
            </a:pPr>
            <a:r>
              <a:rPr lang="en-US" altLang="zh-CN" dirty="0"/>
              <a:t>A[1]</a:t>
            </a:r>
          </a:p>
          <a:p>
            <a:pPr>
              <a:lnSpc>
                <a:spcPct val="135000"/>
              </a:lnSpc>
            </a:pPr>
            <a:r>
              <a:rPr lang="en-US" altLang="zh-CN" dirty="0"/>
              <a:t>A[2]</a:t>
            </a:r>
          </a:p>
        </p:txBody>
      </p:sp>
      <p:sp>
        <p:nvSpPr>
          <p:cNvPr id="14" name="文本框 13"/>
          <p:cNvSpPr txBox="1"/>
          <p:nvPr/>
        </p:nvSpPr>
        <p:spPr>
          <a:xfrm>
            <a:off x="6334431" y="2263416"/>
            <a:ext cx="329625" cy="369332"/>
          </a:xfrm>
          <a:prstGeom prst="rect">
            <a:avLst/>
          </a:prstGeom>
          <a:noFill/>
        </p:spPr>
        <p:txBody>
          <a:bodyPr wrap="square" rtlCol="0">
            <a:spAutoFit/>
          </a:bodyPr>
          <a:lstStyle/>
          <a:p>
            <a:r>
              <a:rPr lang="en-US" altLang="zh-CN" dirty="0"/>
              <a:t>A</a:t>
            </a:r>
            <a:endParaRPr lang="zh-CN" altLang="en-US" dirty="0"/>
          </a:p>
        </p:txBody>
      </p:sp>
      <p:cxnSp>
        <p:nvCxnSpPr>
          <p:cNvPr id="16" name="直接箭头连接符 15"/>
          <p:cNvCxnSpPr/>
          <p:nvPr/>
        </p:nvCxnSpPr>
        <p:spPr>
          <a:xfrm>
            <a:off x="6499244" y="2643602"/>
            <a:ext cx="0" cy="292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6259215" y="2935674"/>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p:nvPr/>
        </p:nvCxnSpPr>
        <p:spPr>
          <a:xfrm>
            <a:off x="6259215" y="3306349"/>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p:nvPr/>
        </p:nvCxnSpPr>
        <p:spPr>
          <a:xfrm>
            <a:off x="6259215" y="3682925"/>
            <a:ext cx="2400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矩形 16"/>
          <p:cNvSpPr/>
          <p:nvPr/>
        </p:nvSpPr>
        <p:spPr>
          <a:xfrm>
            <a:off x="119819" y="1939925"/>
            <a:ext cx="5332487" cy="4216539"/>
          </a:xfrm>
          <a:prstGeom prst="rect">
            <a:avLst/>
          </a:prstGeom>
        </p:spPr>
        <p:txBody>
          <a:bodyPr wrap="square">
            <a:spAutoFit/>
          </a:bodyPr>
          <a:lstStyle/>
          <a:p>
            <a:pPr marL="742950" lvl="1" indent="-285750" eaLnBrk="0" fontAlgn="base" hangingPunct="0">
              <a:lnSpc>
                <a:spcPct val="130000"/>
              </a:lnSpc>
              <a:spcBef>
                <a:spcPct val="20000"/>
              </a:spcBef>
              <a:spcAft>
                <a:spcPct val="0"/>
              </a:spcAft>
              <a:buFont typeface="Arial" charset="0"/>
              <a:buChar char="•"/>
            </a:pPr>
            <a:r>
              <a:rPr lang="zh-CN" altLang="en-US" sz="2000" dirty="0">
                <a:ea typeface="黑体" pitchFamily="2" charset="-122"/>
              </a:rPr>
              <a:t>二维数组</a:t>
            </a:r>
            <a:r>
              <a:rPr lang="en-US" altLang="zh-CN" sz="2000" dirty="0">
                <a:ea typeface="黑体" pitchFamily="2" charset="-122"/>
              </a:rPr>
              <a:t>A</a:t>
            </a:r>
            <a:r>
              <a:rPr lang="zh-CN" altLang="en-US" sz="2000" dirty="0">
                <a:ea typeface="黑体" pitchFamily="2" charset="-122"/>
              </a:rPr>
              <a:t>由</a:t>
            </a:r>
            <a:r>
              <a:rPr lang="en-US" altLang="zh-CN" sz="2000" dirty="0">
                <a:ea typeface="黑体" pitchFamily="2" charset="-122"/>
              </a:rPr>
              <a:t>A[0]</a:t>
            </a:r>
            <a:r>
              <a:rPr lang="zh-CN" altLang="en-US" sz="2000" dirty="0">
                <a:ea typeface="黑体" pitchFamily="2" charset="-122"/>
              </a:rPr>
              <a:t>、</a:t>
            </a:r>
            <a:r>
              <a:rPr lang="en-US" altLang="zh-CN" sz="2000" dirty="0">
                <a:ea typeface="黑体" pitchFamily="2" charset="-122"/>
              </a:rPr>
              <a:t>A[1]</a:t>
            </a:r>
            <a:r>
              <a:rPr lang="zh-CN" altLang="en-US" sz="2000" dirty="0">
                <a:ea typeface="黑体" pitchFamily="2" charset="-122"/>
              </a:rPr>
              <a:t>、</a:t>
            </a:r>
            <a:r>
              <a:rPr lang="en-US" altLang="zh-CN" sz="2000" dirty="0">
                <a:ea typeface="黑体" pitchFamily="2" charset="-122"/>
              </a:rPr>
              <a:t>A[2]</a:t>
            </a:r>
            <a:r>
              <a:rPr lang="zh-CN" altLang="en-US" sz="2000" dirty="0">
                <a:ea typeface="黑体" pitchFamily="2" charset="-122"/>
              </a:rPr>
              <a:t>三个一维数组组成，一维数组具有</a:t>
            </a:r>
            <a:r>
              <a:rPr lang="en-US" altLang="zh-CN" sz="2000" dirty="0">
                <a:ea typeface="黑体" pitchFamily="2" charset="-122"/>
              </a:rPr>
              <a:t>4</a:t>
            </a:r>
            <a:r>
              <a:rPr lang="zh-CN" altLang="en-US" sz="2000" dirty="0">
                <a:ea typeface="黑体" pitchFamily="2" charset="-122"/>
              </a:rPr>
              <a:t>个整型元素</a:t>
            </a:r>
            <a:endParaRPr lang="en-US" altLang="zh-CN" sz="2000" dirty="0">
              <a:ea typeface="黑体" pitchFamily="2" charset="-122"/>
            </a:endParaRPr>
          </a:p>
          <a:p>
            <a:pPr marL="742950" lvl="1" indent="-285750" eaLnBrk="0" fontAlgn="base" hangingPunct="0">
              <a:lnSpc>
                <a:spcPct val="130000"/>
              </a:lnSpc>
              <a:spcBef>
                <a:spcPct val="20000"/>
              </a:spcBef>
              <a:spcAft>
                <a:spcPct val="0"/>
              </a:spcAft>
              <a:buFont typeface="Arial" charset="0"/>
              <a:buChar char="•"/>
            </a:pPr>
            <a:r>
              <a:rPr lang="en-US" altLang="zh-CN" sz="2000" dirty="0">
                <a:ea typeface="黑体" pitchFamily="2" charset="-122"/>
              </a:rPr>
              <a:t>A[0]</a:t>
            </a:r>
            <a:r>
              <a:rPr lang="zh-CN" altLang="en-US" sz="2000" dirty="0">
                <a:ea typeface="黑体" pitchFamily="2" charset="-122"/>
              </a:rPr>
              <a:t>、</a:t>
            </a:r>
            <a:r>
              <a:rPr lang="en-US" altLang="zh-CN" sz="2000" dirty="0">
                <a:ea typeface="黑体" pitchFamily="2" charset="-122"/>
              </a:rPr>
              <a:t>A[1]</a:t>
            </a:r>
            <a:r>
              <a:rPr lang="zh-CN" altLang="en-US" sz="2000" dirty="0">
                <a:ea typeface="黑体" pitchFamily="2" charset="-122"/>
              </a:rPr>
              <a:t>、</a:t>
            </a:r>
            <a:r>
              <a:rPr lang="en-US" altLang="zh-CN" sz="2000" dirty="0">
                <a:ea typeface="黑体" pitchFamily="2" charset="-122"/>
              </a:rPr>
              <a:t>A[2]</a:t>
            </a:r>
            <a:r>
              <a:rPr lang="zh-CN" altLang="en-US" sz="2000" dirty="0">
                <a:ea typeface="黑体" pitchFamily="2" charset="-122"/>
              </a:rPr>
              <a:t>是一维数组名，地址常量指针，其值依次为二维数组每行第一个元素的地址，其基类型是数组元素的类型</a:t>
            </a:r>
            <a:r>
              <a:rPr lang="en-US" altLang="zh-CN" sz="2000" dirty="0">
                <a:ea typeface="黑体" pitchFamily="2" charset="-122"/>
              </a:rPr>
              <a:t>(</a:t>
            </a:r>
            <a:r>
              <a:rPr lang="en-US" altLang="zh-CN" sz="2000" dirty="0" err="1">
                <a:ea typeface="黑体" pitchFamily="2" charset="-122"/>
              </a:rPr>
              <a:t>int</a:t>
            </a:r>
            <a:r>
              <a:rPr lang="zh-CN" altLang="en-US" sz="2000" dirty="0">
                <a:ea typeface="黑体" pitchFamily="2" charset="-122"/>
              </a:rPr>
              <a:t>整型</a:t>
            </a:r>
            <a:r>
              <a:rPr lang="en-US" altLang="zh-CN" sz="2000" dirty="0">
                <a:ea typeface="黑体" pitchFamily="2" charset="-122"/>
              </a:rPr>
              <a:t>)</a:t>
            </a:r>
          </a:p>
          <a:p>
            <a:pPr marL="742950" lvl="1" indent="-285750" eaLnBrk="0" fontAlgn="base" hangingPunct="0">
              <a:lnSpc>
                <a:spcPct val="130000"/>
              </a:lnSpc>
              <a:spcBef>
                <a:spcPct val="20000"/>
              </a:spcBef>
              <a:spcAft>
                <a:spcPct val="0"/>
              </a:spcAft>
              <a:buFont typeface="Arial" charset="0"/>
              <a:buChar char="•"/>
            </a:pPr>
            <a:r>
              <a:rPr lang="zh-CN" altLang="en-US" sz="2000" dirty="0">
                <a:ea typeface="黑体" pitchFamily="2" charset="-122"/>
              </a:rPr>
              <a:t>二维数组名也是一个地址常量，同样也是一个存放地址常量的指针，其值为二维数组中第一个元素的地址，其基类型为具有</a:t>
            </a:r>
            <a:r>
              <a:rPr lang="en-US" altLang="zh-CN" sz="2000" dirty="0">
                <a:ea typeface="黑体" pitchFamily="2" charset="-122"/>
              </a:rPr>
              <a:t>4</a:t>
            </a:r>
            <a:r>
              <a:rPr lang="zh-CN" altLang="en-US" sz="2000" dirty="0">
                <a:ea typeface="黑体" pitchFamily="2" charset="-122"/>
              </a:rPr>
              <a:t>个整型元素的数组类型</a:t>
            </a:r>
          </a:p>
        </p:txBody>
      </p:sp>
      <p:sp>
        <p:nvSpPr>
          <p:cNvPr id="19" name="矩形 18"/>
          <p:cNvSpPr/>
          <p:nvPr/>
        </p:nvSpPr>
        <p:spPr>
          <a:xfrm>
            <a:off x="4875817" y="4615842"/>
            <a:ext cx="4687037" cy="707886"/>
          </a:xfrm>
          <a:prstGeom prst="rect">
            <a:avLst/>
          </a:prstGeom>
        </p:spPr>
        <p:txBody>
          <a:bodyPr wrap="square">
            <a:spAutoFit/>
          </a:bodyPr>
          <a:lstStyle/>
          <a:p>
            <a:pPr lvl="2">
              <a:buNone/>
            </a:pP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*pa = A[0];</a:t>
            </a:r>
          </a:p>
          <a:p>
            <a:pPr lvl="2">
              <a:buNone/>
            </a:pPr>
            <a:r>
              <a:rPr lang="en-US" altLang="zh-CN" sz="2000" b="1" dirty="0">
                <a:solidFill>
                  <a:srgbClr val="00B050"/>
                </a:solidFill>
                <a:latin typeface="Courier New" pitchFamily="49" charset="0"/>
                <a:cs typeface="Courier New" pitchFamily="49" charset="0"/>
              </a:rPr>
              <a:t>//</a:t>
            </a:r>
            <a:r>
              <a:rPr lang="en-US" altLang="zh-CN" sz="2000" b="1" dirty="0" err="1">
                <a:solidFill>
                  <a:srgbClr val="00B050"/>
                </a:solidFill>
                <a:latin typeface="Courier New" pitchFamily="49" charset="0"/>
                <a:cs typeface="Courier New" pitchFamily="49" charset="0"/>
              </a:rPr>
              <a:t>int</a:t>
            </a:r>
            <a:r>
              <a:rPr lang="en-US" altLang="zh-CN" sz="2000" b="1" dirty="0">
                <a:solidFill>
                  <a:srgbClr val="00B050"/>
                </a:solidFill>
                <a:latin typeface="Courier New" pitchFamily="49" charset="0"/>
                <a:cs typeface="Courier New" pitchFamily="49" charset="0"/>
              </a:rPr>
              <a:t> *pa = A,</a:t>
            </a:r>
            <a:r>
              <a:rPr lang="zh-CN" altLang="en-US" sz="2000" b="1" dirty="0">
                <a:solidFill>
                  <a:srgbClr val="00B050"/>
                </a:solidFill>
                <a:latin typeface="Courier New" pitchFamily="49" charset="0"/>
                <a:cs typeface="Courier New" pitchFamily="49" charset="0"/>
              </a:rPr>
              <a:t>错误！</a:t>
            </a:r>
            <a:endParaRPr lang="en-US" altLang="zh-CN" sz="2000" b="1" dirty="0">
              <a:solidFill>
                <a:srgbClr val="00B050"/>
              </a:solidFill>
              <a:latin typeface="Courier New" pitchFamily="49" charset="0"/>
              <a:cs typeface="Courier New" pitchFamily="49" charset="0"/>
            </a:endParaRPr>
          </a:p>
        </p:txBody>
      </p:sp>
      <p:sp>
        <p:nvSpPr>
          <p:cNvPr id="22" name="矩形 21">
            <a:hlinkClick r:id="rId3" action="ppaction://hlinksldjump"/>
            <a:extLst>
              <a:ext uri="{FF2B5EF4-FFF2-40B4-BE49-F238E27FC236}">
                <a16:creationId xmlns:a16="http://schemas.microsoft.com/office/drawing/2014/main" id="{8C9BE071-69A5-477E-B9DD-268B1716720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23" name="矩形 22">
            <a:hlinkClick r:id="" action="ppaction://noaction"/>
            <a:extLst>
              <a:ext uri="{FF2B5EF4-FFF2-40B4-BE49-F238E27FC236}">
                <a16:creationId xmlns:a16="http://schemas.microsoft.com/office/drawing/2014/main" id="{B3FAECF3-3660-4EE8-92EF-1CD5F85D3D9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4" name="矩形 23">
            <a:hlinkClick r:id="" action="ppaction://noaction"/>
            <a:extLst>
              <a:ext uri="{FF2B5EF4-FFF2-40B4-BE49-F238E27FC236}">
                <a16:creationId xmlns:a16="http://schemas.microsoft.com/office/drawing/2014/main" id="{E4915EA3-480E-4B83-8BF8-AC7D9537B59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5" name="矩形 24">
            <a:hlinkClick r:id="" action="ppaction://noaction"/>
            <a:extLst>
              <a:ext uri="{FF2B5EF4-FFF2-40B4-BE49-F238E27FC236}">
                <a16:creationId xmlns:a16="http://schemas.microsoft.com/office/drawing/2014/main" id="{92755995-4C36-4FEC-85DB-7DB753D8A9E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26" name="矩形 25">
            <a:hlinkClick r:id="" action="ppaction://noaction"/>
            <a:extLst>
              <a:ext uri="{FF2B5EF4-FFF2-40B4-BE49-F238E27FC236}">
                <a16:creationId xmlns:a16="http://schemas.microsoft.com/office/drawing/2014/main" id="{1E9876F5-0256-42DC-B1BF-C26D2D46698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27" name="矩形 26">
            <a:hlinkClick r:id="" action="ppaction://noaction"/>
            <a:extLst>
              <a:ext uri="{FF2B5EF4-FFF2-40B4-BE49-F238E27FC236}">
                <a16:creationId xmlns:a16="http://schemas.microsoft.com/office/drawing/2014/main" id="{ACD5E864-37FE-4348-91BC-ABB723294C9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8" name="矩形 27">
            <a:hlinkClick r:id="" action="ppaction://noaction"/>
            <a:extLst>
              <a:ext uri="{FF2B5EF4-FFF2-40B4-BE49-F238E27FC236}">
                <a16:creationId xmlns:a16="http://schemas.microsoft.com/office/drawing/2014/main" id="{4CE5EC3C-AEE6-4A67-8EBF-54CDA642CAB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
        <p:nvSpPr>
          <p:cNvPr id="29" name="矩形 28">
            <a:hlinkClick r:id="" action="ppaction://noaction"/>
            <a:extLst>
              <a:ext uri="{FF2B5EF4-FFF2-40B4-BE49-F238E27FC236}">
                <a16:creationId xmlns:a16="http://schemas.microsoft.com/office/drawing/2014/main" id="{483A3C58-3793-4AC2-A34F-21D33E2EB70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Tree>
    <p:extLst>
      <p:ext uri="{BB962C8B-B14F-4D97-AF65-F5344CB8AC3E}">
        <p14:creationId xmlns:p14="http://schemas.microsoft.com/office/powerpoint/2010/main" val="28991934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ECC6EFC-B819-4B77-9B54-E390F1DA0D4A}"/>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有如下定义：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a[5]={1,3,5,7,9}, *p=a;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下列表达式中不能得到数值</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的是（        ）</a:t>
            </a:r>
          </a:p>
        </p:txBody>
      </p:sp>
      <p:sp>
        <p:nvSpPr>
          <p:cNvPr id="7" name="文本框 6">
            <a:extLst>
              <a:ext uri="{FF2B5EF4-FFF2-40B4-BE49-F238E27FC236}">
                <a16:creationId xmlns:a16="http://schemas.microsoft.com/office/drawing/2014/main" id="{3ECFD57F-3DA1-44C2-9957-01A895874B1C}"/>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a[2]</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1277D772-280C-4F71-ABD4-50915ED678C8}"/>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a[3]</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699139F1-D5D4-4665-A49A-D95FD4F41ED5}"/>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*(p+2)</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CE2A702D-920B-4288-BF97-E08C1371905E}"/>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*p+4</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D6F68DDC-C0CE-490E-8F99-1CCC65D2068C}"/>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5495AA3A-6C67-4B33-B0AD-A74672D94ACC}"/>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99731CFF-BC65-4DBE-BD5E-B212D16A43CB}"/>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37DF0D82-E725-487D-83D3-833C23AC1A07}"/>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7AD587F8-A524-4778-8325-E7144254377A}"/>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3774B14D-050E-4862-9D31-C3319AF6A533}"/>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590E1C35-8CBA-4BFC-B9D4-C629AB5A2C18}"/>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1260D209-A183-4A0B-8D4D-DD82B004EAA5}"/>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88EB32B4-686F-470B-9937-7A6DA8886C1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B66DB360-4BF0-40D4-B92D-AE5292E931B5}"/>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CEF3728E-25E8-4BC7-A2EB-806D53ECDD1D}"/>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7177243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105EA11-A3A4-4BCF-ACC3-2B646A389EE0}"/>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要使指针变量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指向一维数组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的第</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个元素（下标为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的元素），正确的赋值表达式是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7802AB18-24CC-45F0-A49A-89DF51608DB7}"/>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或</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FDA60E9F-9306-41A8-A223-4C30C83C796F}"/>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或</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p=&amp;a[0]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1F3E7261-A7F2-4827-B6E7-802C3B3FD08B}"/>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p=&amp;a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或</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24F5AF32-14DA-4267-82F5-60B426D8F5AC}"/>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p=&amp;a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或</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p=&amp;a[0]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2C9936D5-3B19-41A9-903C-9299E428DDD2}"/>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4A4F370F-D2A4-4D29-8AD4-CA231F5C915C}"/>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4E5B1CAF-6795-4418-AE81-ADE46FF6B76F}"/>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8CFCBED8-567B-4D53-994B-B19F22A88D6C}"/>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65483264-4EA3-402F-B831-ABEFE7D954F9}"/>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BDE05E48-92E3-4A0F-B9A1-6FA766DF6666}"/>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A3958BFD-387A-4F3F-A555-E94664D4F18F}"/>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D157A45A-A61A-44B7-B584-506FF0D9F020}"/>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C15A0773-0191-4156-8761-ACCBC061FFD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70C1EFCE-129D-479A-A9AE-B61E5843794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2E2599D7-AE4D-4525-9C0C-F2D39CBC614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5234414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FD4E099-F011-449C-97D8-DD3E7A5F8CFF}"/>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下列表达式中，与下标表达式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a[k]</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等效的是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52862994-6936-4733-A280-B8172B5EE8FE}"/>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F8A9039D-8CEB-4FA2-BCE8-A1E657AFB30D}"/>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06242C1C-4D16-4930-B6B1-F85ED881F221}"/>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a+k</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39231074-FA98-4BC2-8323-262594E7AD0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80EBF1C1-F5B4-490F-ADDC-C43B759C7CFC}"/>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C2FD0F27-99C7-4CF7-AE5B-926E3B035E61}"/>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47A5EBC4-AF8E-40F0-814D-7FB5FE0E9826}"/>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7CF4570-C6D1-4E39-896D-58D028EB301B}"/>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658DAADC-98D0-4F8C-94FF-1F0D0E0E211A}"/>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87C47F48-A2E9-46FB-A0C5-13EE4C80FD57}"/>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63556E99-0257-44CF-8D27-3D6577E53056}"/>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0192AB92-8059-4F13-89F8-C32508B93A26}"/>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AF6965AE-73E3-4E64-806C-54CB82877BB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58A8C717-861B-48F2-B737-62BC0074056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24DD1FD1-1478-4FC1-A1F9-10A4A12D876F}"/>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7117645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B861A4C-5630-4DAB-BF9D-03A26A675CF4}"/>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a[20], *p=x;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则下列表达式哪个与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不等价</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AAF07FAF-F8A4-4E36-BE06-211A536ACD55}"/>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436D94B5-FD2F-4DD6-A3C6-87A4FD75B4F9}"/>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D4EB5129-5873-4A58-B077-D4E9CAC205A5}"/>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6E4CE318-9B26-4273-B59E-08494D96EED3}"/>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97C21412-8285-42EA-9D97-1BE85491451A}"/>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902F2B94-A6FE-46EC-A2A7-C5966768AD00}"/>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F415F09D-3E03-4427-9C04-CB6EA8F367D4}"/>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793AECF-0169-4540-89AC-B7A58287EBE7}"/>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9795535D-4534-4B66-8DAD-12E0AA909CF6}"/>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6F739DE2-4EBB-4A4D-B45F-B324B6900213}"/>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E0E33A8D-07E2-4D22-AADE-E75011C46964}"/>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30F0D8F5-A609-4BBB-90BB-271C6997F206}"/>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568DE621-50B4-42D2-B930-8BA353D8A78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0F6992E9-EF11-4BA2-BA7A-E1F609B9902B}"/>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554E69A7-9470-455D-AAE8-5ABF10AA219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952998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40201B9-794F-4C79-BF3B-EE85ACAD8CEA}"/>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a[4]={10,11,12,13}, b, *p=a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；”，则执行语句“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的值是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。接着执行语句“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的值是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52F8871E-9283-4C70-81D9-96FA9F35ED08}"/>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28FC5CD8-4B69-4AAE-A834-FB4E84BBFF12}"/>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0" name="组合 9">
            <a:extLst>
              <a:ext uri="{FF2B5EF4-FFF2-40B4-BE49-F238E27FC236}">
                <a16:creationId xmlns:a16="http://schemas.microsoft.com/office/drawing/2014/main" id="{F9AFF9C8-75A6-4769-8E87-28562FC344BC}"/>
              </a:ext>
            </a:extLst>
          </p:cNvPr>
          <p:cNvGrpSpPr/>
          <p:nvPr>
            <p:custDataLst>
              <p:tags r:id="rId5"/>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847A63F4-2E17-4FE9-A31D-7ACA3B45B342}"/>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16132C6D-B958-4424-9F5D-02DB3AB7DF60}"/>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CD78316B-590A-46DF-A8C5-1DBE853F38BE}"/>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9" name="TipText">
              <a:extLst>
                <a:ext uri="{FF2B5EF4-FFF2-40B4-BE49-F238E27FC236}">
                  <a16:creationId xmlns:a16="http://schemas.microsoft.com/office/drawing/2014/main" id="{DCB0D132-71E5-44FA-8BAE-9EFB50DFE5DE}"/>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BF7D0D57-C3C4-4419-BAA7-C596EEC4F4A1}"/>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188437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a:t>指向数组的指针</a:t>
            </a:r>
            <a:endParaRPr lang="zh-CN" altLang="en-US" dirty="0"/>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343190817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p>
        </p:txBody>
      </p:sp>
      <p:sp>
        <p:nvSpPr>
          <p:cNvPr id="3" name="内容占位符 2"/>
          <p:cNvSpPr>
            <a:spLocks noGrp="1"/>
          </p:cNvSpPr>
          <p:nvPr>
            <p:ph idx="1"/>
          </p:nvPr>
        </p:nvSpPr>
        <p:spPr>
          <a:xfrm>
            <a:off x="457200" y="1844824"/>
            <a:ext cx="8153400" cy="4727448"/>
          </a:xfrm>
        </p:spPr>
        <p:txBody>
          <a:bodyPr/>
          <a:lstStyle/>
          <a:p>
            <a:r>
              <a:rPr lang="zh-CN" altLang="en-US" dirty="0"/>
              <a:t>指向数组的指针（</a:t>
            </a:r>
            <a:r>
              <a:rPr lang="zh-CN" altLang="en-US" dirty="0">
                <a:solidFill>
                  <a:srgbClr val="FF0000"/>
                </a:solidFill>
              </a:rPr>
              <a:t>数组指针</a:t>
            </a:r>
            <a:r>
              <a:rPr lang="zh-CN" altLang="en-US" dirty="0"/>
              <a:t>）</a:t>
            </a:r>
            <a:endParaRPr lang="en-US" altLang="zh-CN" dirty="0"/>
          </a:p>
          <a:p>
            <a:pPr lvl="1"/>
            <a:r>
              <a:rPr lang="zh-CN" altLang="en-US" dirty="0"/>
              <a:t>把数组作为整体，指向这样一个整体的指针，被称为指向数组的指针</a:t>
            </a:r>
            <a:endParaRPr lang="en-US" altLang="zh-CN" dirty="0"/>
          </a:p>
          <a:p>
            <a:pPr lvl="1"/>
            <a:endParaRPr lang="en-US" altLang="zh-CN" dirty="0"/>
          </a:p>
          <a:p>
            <a:r>
              <a:rPr lang="zh-CN" altLang="en-US" dirty="0"/>
              <a:t>指向一维数组的指针说明格式：</a:t>
            </a:r>
            <a:endParaRPr lang="en-US" altLang="zh-CN" dirty="0"/>
          </a:p>
          <a:p>
            <a:pPr lvl="1">
              <a:buNone/>
            </a:pPr>
            <a:r>
              <a:rPr lang="zh-CN" altLang="en-US" sz="2800" b="1" dirty="0">
                <a:latin typeface="Courier New" pitchFamily="49" charset="0"/>
                <a:cs typeface="Courier New" pitchFamily="49" charset="0"/>
              </a:rPr>
              <a:t>&lt;类型名&gt; (* &lt;指针变量名&gt;) [&lt;元素个数&gt;]</a:t>
            </a:r>
            <a:endParaRPr lang="en-US" altLang="zh-CN" b="1" dirty="0">
              <a:solidFill>
                <a:srgbClr val="0000FF"/>
              </a:solidFill>
              <a:latin typeface="Courier New" pitchFamily="49" charset="0"/>
              <a:cs typeface="Courier New" pitchFamily="49" charset="0"/>
            </a:endParaRPr>
          </a:p>
          <a:p>
            <a:pPr lvl="1">
              <a:spcBef>
                <a:spcPts val="1200"/>
              </a:spcBef>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(*pa)[4];</a:t>
            </a:r>
          </a:p>
          <a:p>
            <a:pPr lvl="2"/>
            <a:r>
              <a:rPr lang="en-US" altLang="zh-CN" sz="2200" dirty="0">
                <a:latin typeface="Courier New" pitchFamily="49" charset="0"/>
                <a:cs typeface="Courier New" pitchFamily="49" charset="0"/>
              </a:rPr>
              <a:t>pa</a:t>
            </a:r>
            <a:r>
              <a:rPr lang="zh-CN" altLang="en-US" sz="2200" dirty="0">
                <a:latin typeface="Courier New" pitchFamily="49" charset="0"/>
                <a:cs typeface="Courier New" pitchFamily="49" charset="0"/>
              </a:rPr>
              <a:t>指向一维整型数组，该数组包含</a:t>
            </a:r>
            <a:r>
              <a:rPr lang="en-US" altLang="zh-CN" sz="2200" dirty="0">
                <a:latin typeface="Courier New" pitchFamily="49" charset="0"/>
                <a:cs typeface="Courier New" pitchFamily="49" charset="0"/>
              </a:rPr>
              <a:t>4</a:t>
            </a:r>
            <a:r>
              <a:rPr lang="zh-CN" altLang="en-US" sz="2200" dirty="0">
                <a:latin typeface="Courier New" pitchFamily="49" charset="0"/>
                <a:cs typeface="Courier New" pitchFamily="49" charset="0"/>
              </a:rPr>
              <a:t>个整型元素</a:t>
            </a:r>
            <a:endParaRPr lang="en-US" altLang="zh-CN" sz="2200" dirty="0">
              <a:latin typeface="Courier New" pitchFamily="49" charset="0"/>
              <a:cs typeface="Courier New" pitchFamily="49" charset="0"/>
            </a:endParaRP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572883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p>
        </p:txBody>
      </p:sp>
      <p:pic>
        <p:nvPicPr>
          <p:cNvPr id="54274" name="Picture 2"/>
          <p:cNvPicPr>
            <a:picLocks noChangeAspect="1" noChangeArrowheads="1"/>
          </p:cNvPicPr>
          <p:nvPr/>
        </p:nvPicPr>
        <p:blipFill>
          <a:blip r:embed="rId4" cstate="print"/>
          <a:srcRect/>
          <a:stretch>
            <a:fillRect/>
          </a:stretch>
        </p:blipFill>
        <p:spPr bwMode="auto">
          <a:xfrm>
            <a:off x="1155532" y="2776567"/>
            <a:ext cx="7010400" cy="3543300"/>
          </a:xfrm>
          <a:prstGeom prst="rect">
            <a:avLst/>
          </a:prstGeom>
          <a:noFill/>
          <a:ln w="9525">
            <a:noFill/>
            <a:miter lim="800000"/>
            <a:headEnd/>
            <a:tailEnd/>
          </a:ln>
        </p:spPr>
      </p:pic>
      <p:sp>
        <p:nvSpPr>
          <p:cNvPr id="6" name="矩形 5"/>
          <p:cNvSpPr/>
          <p:nvPr/>
        </p:nvSpPr>
        <p:spPr>
          <a:xfrm>
            <a:off x="3459788" y="3496647"/>
            <a:ext cx="3816424" cy="936104"/>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459788" y="4432751"/>
            <a:ext cx="3816424" cy="936104"/>
          </a:xfrm>
          <a:prstGeom prst="rect">
            <a:avLst/>
          </a:prstGeom>
          <a:noFill/>
          <a:ln w="38100">
            <a:solidFill>
              <a:srgbClr val="007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459788" y="5368855"/>
            <a:ext cx="3816424" cy="9361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46651" y="1783868"/>
            <a:ext cx="8075545" cy="769441"/>
          </a:xfrm>
          <a:prstGeom prst="rect">
            <a:avLst/>
          </a:prstGeom>
        </p:spPr>
        <p:txBody>
          <a:bodyPr wrap="square">
            <a:spAutoFit/>
          </a:bodyPr>
          <a:lstStyle/>
          <a:p>
            <a:pPr lvl="1">
              <a:buNone/>
            </a:pP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A[3][4];</a:t>
            </a:r>
          </a:p>
          <a:p>
            <a:pPr lvl="1">
              <a:buNone/>
            </a:pP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(*pa)[4]= A; //</a:t>
            </a:r>
            <a:r>
              <a:rPr lang="en-US" altLang="zh-CN" sz="2200" dirty="0">
                <a:latin typeface="Courier New" pitchFamily="49" charset="0"/>
                <a:cs typeface="Courier New" pitchFamily="49" charset="0"/>
              </a:rPr>
              <a:t>pa</a:t>
            </a:r>
            <a:r>
              <a:rPr lang="zh-CN" altLang="en-US" sz="2200" dirty="0">
                <a:latin typeface="Courier New" pitchFamily="49" charset="0"/>
                <a:cs typeface="Courier New" pitchFamily="49" charset="0"/>
              </a:rPr>
              <a:t>指向二维数组的第一个元素</a:t>
            </a:r>
            <a:r>
              <a:rPr lang="en-US" altLang="zh-CN" sz="2200" dirty="0">
                <a:latin typeface="Courier New" pitchFamily="49" charset="0"/>
                <a:cs typeface="Courier New" pitchFamily="49" charset="0"/>
              </a:rPr>
              <a:t>A[0]</a:t>
            </a:r>
            <a:endParaRPr lang="zh-CN" altLang="en-US" sz="2200" dirty="0"/>
          </a:p>
        </p:txBody>
      </p:sp>
      <p:sp>
        <p:nvSpPr>
          <p:cNvPr id="17" name="矩形 16">
            <a:hlinkClick r:id="rId5" action="ppaction://hlinksldjump"/>
            <a:extLst>
              <a:ext uri="{FF2B5EF4-FFF2-40B4-BE49-F238E27FC236}">
                <a16:creationId xmlns:a16="http://schemas.microsoft.com/office/drawing/2014/main" id="{34BFC3B3-9194-4CE9-BBD6-ED224EE0AE7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8" name="矩形 17">
            <a:hlinkClick r:id="" action="ppaction://noaction"/>
            <a:extLst>
              <a:ext uri="{FF2B5EF4-FFF2-40B4-BE49-F238E27FC236}">
                <a16:creationId xmlns:a16="http://schemas.microsoft.com/office/drawing/2014/main" id="{46AF9AB5-E011-40F7-86FB-107A6630CC8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9" name="矩形 18">
            <a:hlinkClick r:id="" action="ppaction://noaction"/>
            <a:extLst>
              <a:ext uri="{FF2B5EF4-FFF2-40B4-BE49-F238E27FC236}">
                <a16:creationId xmlns:a16="http://schemas.microsoft.com/office/drawing/2014/main" id="{8CE43324-0C92-4B07-97E6-1F2E5E96E6D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1" name="矩形 20">
            <a:hlinkClick r:id="" action="ppaction://noaction"/>
            <a:extLst>
              <a:ext uri="{FF2B5EF4-FFF2-40B4-BE49-F238E27FC236}">
                <a16:creationId xmlns:a16="http://schemas.microsoft.com/office/drawing/2014/main" id="{8D5CCD11-46BF-4D4A-AC01-47E67F3F86B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22" name="矩形 21">
            <a:hlinkClick r:id="" action="ppaction://noaction"/>
            <a:extLst>
              <a:ext uri="{FF2B5EF4-FFF2-40B4-BE49-F238E27FC236}">
                <a16:creationId xmlns:a16="http://schemas.microsoft.com/office/drawing/2014/main" id="{8BB23A05-FB67-4EA3-A127-D22127AC7F7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23" name="矩形 22">
            <a:hlinkClick r:id="" action="ppaction://noaction"/>
            <a:extLst>
              <a:ext uri="{FF2B5EF4-FFF2-40B4-BE49-F238E27FC236}">
                <a16:creationId xmlns:a16="http://schemas.microsoft.com/office/drawing/2014/main" id="{1C9C8B78-1A3C-4E57-9406-1CBF474B098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24" name="矩形 23">
            <a:hlinkClick r:id="" action="ppaction://noaction"/>
            <a:extLst>
              <a:ext uri="{FF2B5EF4-FFF2-40B4-BE49-F238E27FC236}">
                <a16:creationId xmlns:a16="http://schemas.microsoft.com/office/drawing/2014/main" id="{44FA2851-09A6-408C-B1CF-CC4396160F4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5" name="矩形 24">
            <a:hlinkClick r:id="" action="ppaction://noaction"/>
            <a:extLst>
              <a:ext uri="{FF2B5EF4-FFF2-40B4-BE49-F238E27FC236}">
                <a16:creationId xmlns:a16="http://schemas.microsoft.com/office/drawing/2014/main" id="{05743736-4176-455A-B39B-E181940C07D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custDataLst>
      <p:tags r:id="rId1"/>
    </p:custDataLst>
    <p:extLst>
      <p:ext uri="{BB962C8B-B14F-4D97-AF65-F5344CB8AC3E}">
        <p14:creationId xmlns:p14="http://schemas.microsoft.com/office/powerpoint/2010/main" val="349484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p>
        </p:txBody>
      </p:sp>
      <p:pic>
        <p:nvPicPr>
          <p:cNvPr id="117762" name="Picture 2"/>
          <p:cNvPicPr>
            <a:picLocks noChangeAspect="1" noChangeArrowheads="1"/>
          </p:cNvPicPr>
          <p:nvPr/>
        </p:nvPicPr>
        <p:blipFill>
          <a:blip r:embed="rId4" cstate="print"/>
          <a:srcRect/>
          <a:stretch>
            <a:fillRect/>
          </a:stretch>
        </p:blipFill>
        <p:spPr bwMode="auto">
          <a:xfrm>
            <a:off x="1746344" y="2941531"/>
            <a:ext cx="5544616" cy="3487985"/>
          </a:xfrm>
          <a:prstGeom prst="rect">
            <a:avLst/>
          </a:prstGeom>
          <a:noFill/>
          <a:ln w="9525">
            <a:noFill/>
            <a:miter lim="800000"/>
            <a:headEnd/>
            <a:tailEnd/>
          </a:ln>
        </p:spPr>
      </p:pic>
      <p:cxnSp>
        <p:nvCxnSpPr>
          <p:cNvPr id="9" name="直接箭头连接符 8"/>
          <p:cNvCxnSpPr/>
          <p:nvPr/>
        </p:nvCxnSpPr>
        <p:spPr>
          <a:xfrm rot="5400000" flipH="1" flipV="1">
            <a:off x="4518652" y="3193559"/>
            <a:ext cx="1584176" cy="122413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11" name="Picture 4"/>
          <p:cNvPicPr>
            <a:picLocks noChangeAspect="1" noChangeArrowheads="1"/>
          </p:cNvPicPr>
          <p:nvPr/>
        </p:nvPicPr>
        <p:blipFill>
          <a:blip r:embed="rId5" cstate="print"/>
          <a:srcRect/>
          <a:stretch>
            <a:fillRect/>
          </a:stretch>
        </p:blipFill>
        <p:spPr bwMode="auto">
          <a:xfrm>
            <a:off x="6066527" y="2725681"/>
            <a:ext cx="219075" cy="542925"/>
          </a:xfrm>
          <a:prstGeom prst="rect">
            <a:avLst/>
          </a:prstGeom>
          <a:noFill/>
          <a:ln w="9525">
            <a:miter lim="800000"/>
            <a:headEnd/>
            <a:tailEnd/>
          </a:ln>
          <a:effectLst/>
        </p:spPr>
      </p:pic>
      <p:pic>
        <p:nvPicPr>
          <p:cNvPr id="10" name="Picture 5"/>
          <p:cNvPicPr>
            <a:picLocks noChangeAspect="1" noChangeArrowheads="1"/>
          </p:cNvPicPr>
          <p:nvPr/>
        </p:nvPicPr>
        <p:blipFill>
          <a:blip r:embed="rId6" cstate="print"/>
          <a:srcRect/>
          <a:stretch>
            <a:fillRect/>
          </a:stretch>
        </p:blipFill>
        <p:spPr bwMode="auto">
          <a:xfrm>
            <a:off x="6066527" y="2758224"/>
            <a:ext cx="1366837" cy="477838"/>
          </a:xfrm>
          <a:prstGeom prst="rect">
            <a:avLst/>
          </a:prstGeom>
          <a:noFill/>
          <a:ln w="9525">
            <a:miter lim="800000"/>
            <a:headEnd/>
            <a:tailEnd/>
          </a:ln>
          <a:effectLst/>
        </p:spPr>
      </p:pic>
      <p:sp>
        <p:nvSpPr>
          <p:cNvPr id="12" name="矩形 11"/>
          <p:cNvSpPr/>
          <p:nvPr/>
        </p:nvSpPr>
        <p:spPr>
          <a:xfrm>
            <a:off x="3545887" y="4178244"/>
            <a:ext cx="3024993" cy="779511"/>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230620" y="4099947"/>
            <a:ext cx="936104" cy="936104"/>
          </a:xfrm>
          <a:prstGeom prst="rect">
            <a:avLst/>
          </a:prstGeom>
          <a:noFill/>
          <a:ln w="38100">
            <a:solidFill>
              <a:srgbClr val="007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1734143"/>
            <a:ext cx="8686800" cy="1138773"/>
          </a:xfrm>
          <a:prstGeom prst="rect">
            <a:avLst/>
          </a:prstGeom>
        </p:spPr>
        <p:txBody>
          <a:bodyPr wrap="square">
            <a:spAutoFit/>
          </a:bodyPr>
          <a:lstStyle/>
          <a:p>
            <a:pPr lvl="2"/>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(*pa)[4]= A;</a:t>
            </a:r>
          </a:p>
          <a:p>
            <a:pPr lvl="2"/>
            <a:r>
              <a:rPr lang="en-US" altLang="zh-CN" sz="2200" dirty="0">
                <a:latin typeface="Courier New" pitchFamily="49" charset="0"/>
                <a:cs typeface="Courier New" pitchFamily="49" charset="0"/>
              </a:rPr>
              <a:t>*pa</a:t>
            </a:r>
            <a:r>
              <a:rPr lang="zh-CN" altLang="en-US" sz="2200" dirty="0">
                <a:latin typeface="Courier New" pitchFamily="49" charset="0"/>
                <a:cs typeface="Courier New" pitchFamily="49" charset="0"/>
              </a:rPr>
              <a:t>为一维整型数组</a:t>
            </a:r>
            <a:r>
              <a:rPr lang="en-US" altLang="zh-CN" sz="2200" dirty="0">
                <a:latin typeface="Courier New" pitchFamily="49" charset="0"/>
                <a:cs typeface="Courier New" pitchFamily="49" charset="0"/>
              </a:rPr>
              <a:t>A[0]</a:t>
            </a:r>
            <a:r>
              <a:rPr lang="zh-CN" altLang="en-US" sz="2200" dirty="0">
                <a:latin typeface="Courier New" pitchFamily="49" charset="0"/>
                <a:cs typeface="Courier New" pitchFamily="49" charset="0"/>
              </a:rPr>
              <a:t>第一个元素的</a:t>
            </a:r>
            <a:r>
              <a:rPr lang="zh-CN" altLang="en-US" sz="2200" dirty="0">
                <a:solidFill>
                  <a:srgbClr val="FF0000"/>
                </a:solidFill>
                <a:latin typeface="Courier New" pitchFamily="49" charset="0"/>
                <a:cs typeface="Courier New" pitchFamily="49" charset="0"/>
              </a:rPr>
              <a:t>首地址</a:t>
            </a:r>
            <a:endParaRPr lang="en-US" altLang="zh-CN" sz="2200" dirty="0">
              <a:latin typeface="Courier New" pitchFamily="49" charset="0"/>
              <a:cs typeface="Courier New" pitchFamily="49" charset="0"/>
            </a:endParaRPr>
          </a:p>
          <a:p>
            <a:pPr lvl="2"/>
            <a:r>
              <a:rPr lang="zh-CN" altLang="en-US" sz="2200" dirty="0">
                <a:latin typeface="Courier New" pitchFamily="49" charset="0"/>
                <a:cs typeface="Courier New" pitchFamily="49" charset="0"/>
              </a:rPr>
              <a:t>可理解为一维数组名</a:t>
            </a:r>
          </a:p>
        </p:txBody>
      </p:sp>
      <p:sp>
        <p:nvSpPr>
          <p:cNvPr id="23" name="矩形 22">
            <a:hlinkClick r:id="rId7" action="ppaction://hlinksldjump"/>
            <a:extLst>
              <a:ext uri="{FF2B5EF4-FFF2-40B4-BE49-F238E27FC236}">
                <a16:creationId xmlns:a16="http://schemas.microsoft.com/office/drawing/2014/main" id="{0CEA4160-FD25-4D10-8522-D22A9A2EC7E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24" name="矩形 23">
            <a:hlinkClick r:id="" action="ppaction://noaction"/>
            <a:extLst>
              <a:ext uri="{FF2B5EF4-FFF2-40B4-BE49-F238E27FC236}">
                <a16:creationId xmlns:a16="http://schemas.microsoft.com/office/drawing/2014/main" id="{9FB4F5B3-729E-491D-9679-1BDDE90C92F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25" name="矩形 24">
            <a:hlinkClick r:id="" action="ppaction://noaction"/>
            <a:extLst>
              <a:ext uri="{FF2B5EF4-FFF2-40B4-BE49-F238E27FC236}">
                <a16:creationId xmlns:a16="http://schemas.microsoft.com/office/drawing/2014/main" id="{31A53B3E-4A7B-4389-BD3A-777729BA663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26" name="矩形 25">
            <a:hlinkClick r:id="" action="ppaction://noaction"/>
            <a:extLst>
              <a:ext uri="{FF2B5EF4-FFF2-40B4-BE49-F238E27FC236}">
                <a16:creationId xmlns:a16="http://schemas.microsoft.com/office/drawing/2014/main" id="{692BF7B3-6BC0-4C82-9109-6096867B8B4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27" name="矩形 26">
            <a:hlinkClick r:id="" action="ppaction://noaction"/>
            <a:extLst>
              <a:ext uri="{FF2B5EF4-FFF2-40B4-BE49-F238E27FC236}">
                <a16:creationId xmlns:a16="http://schemas.microsoft.com/office/drawing/2014/main" id="{8C2A0850-4A80-4643-A0BA-D2D35B52D74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28" name="矩形 27">
            <a:hlinkClick r:id="" action="ppaction://noaction"/>
            <a:extLst>
              <a:ext uri="{FF2B5EF4-FFF2-40B4-BE49-F238E27FC236}">
                <a16:creationId xmlns:a16="http://schemas.microsoft.com/office/drawing/2014/main" id="{98F33C53-7816-4BD2-8D4E-4403A611182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29" name="矩形 28">
            <a:hlinkClick r:id="" action="ppaction://noaction"/>
            <a:extLst>
              <a:ext uri="{FF2B5EF4-FFF2-40B4-BE49-F238E27FC236}">
                <a16:creationId xmlns:a16="http://schemas.microsoft.com/office/drawing/2014/main" id="{E210189D-15A3-474D-B1F3-7F18232E7E1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30" name="矩形 29">
            <a:hlinkClick r:id="" action="ppaction://noaction"/>
            <a:extLst>
              <a:ext uri="{FF2B5EF4-FFF2-40B4-BE49-F238E27FC236}">
                <a16:creationId xmlns:a16="http://schemas.microsoft.com/office/drawing/2014/main" id="{A05E7B96-890B-451B-90CC-45A80B6A96F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custDataLst>
      <p:tags r:id="rId1"/>
    </p:custDataLst>
    <p:extLst>
      <p:ext uri="{BB962C8B-B14F-4D97-AF65-F5344CB8AC3E}">
        <p14:creationId xmlns:p14="http://schemas.microsoft.com/office/powerpoint/2010/main" val="367169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p>
        </p:txBody>
      </p:sp>
      <p:sp>
        <p:nvSpPr>
          <p:cNvPr id="3" name="内容占位符 2"/>
          <p:cNvSpPr>
            <a:spLocks noGrp="1"/>
          </p:cNvSpPr>
          <p:nvPr>
            <p:ph idx="1"/>
          </p:nvPr>
        </p:nvSpPr>
        <p:spPr>
          <a:xfrm>
            <a:off x="179512" y="1728834"/>
            <a:ext cx="8686800" cy="4614217"/>
          </a:xfrm>
        </p:spPr>
        <p:txBody>
          <a:bodyPr/>
          <a:lstStyle/>
          <a:p>
            <a:pPr>
              <a:spcBef>
                <a:spcPts val="0"/>
              </a:spcBef>
              <a:buNone/>
            </a:pPr>
            <a:r>
              <a:rPr lang="en-US" altLang="zh-CN" sz="2400" b="1" dirty="0">
                <a:solidFill>
                  <a:srgbClr val="0000FF"/>
                </a:solidFill>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(*pa)[4];</a:t>
            </a:r>
          </a:p>
          <a:p>
            <a:pPr>
              <a:spcBef>
                <a:spcPts val="0"/>
              </a:spcBef>
              <a:buNone/>
            </a:pPr>
            <a:r>
              <a:rPr lang="en-US" altLang="zh-CN" sz="2400" b="1" dirty="0">
                <a:solidFill>
                  <a:schemeClr val="tx2"/>
                </a:solidFill>
                <a:latin typeface="Courier New" pitchFamily="49" charset="0"/>
                <a:cs typeface="Courier New" pitchFamily="49" charset="0"/>
              </a:rPr>
              <a:t>	</a:t>
            </a:r>
            <a:r>
              <a:rPr lang="zh-CN" altLang="en-US" sz="2000" b="1" dirty="0">
                <a:solidFill>
                  <a:srgbClr val="007434"/>
                </a:solidFill>
                <a:latin typeface="Courier New" pitchFamily="49" charset="0"/>
                <a:cs typeface="Courier New" pitchFamily="49" charset="0"/>
              </a:rPr>
              <a:t>//*</a:t>
            </a:r>
            <a:r>
              <a:rPr lang="en-US" altLang="zh-CN" sz="2000" b="1" dirty="0">
                <a:solidFill>
                  <a:srgbClr val="007434"/>
                </a:solidFill>
                <a:latin typeface="Courier New" pitchFamily="49" charset="0"/>
                <a:cs typeface="Courier New" pitchFamily="49" charset="0"/>
              </a:rPr>
              <a:t>pa</a:t>
            </a:r>
            <a:r>
              <a:rPr lang="zh-CN" altLang="en-US" sz="2000" b="1" dirty="0">
                <a:solidFill>
                  <a:srgbClr val="007434"/>
                </a:solidFill>
                <a:latin typeface="Courier New" pitchFamily="49" charset="0"/>
                <a:cs typeface="Courier New" pitchFamily="49" charset="0"/>
              </a:rPr>
              <a:t>可理解为具有4个</a:t>
            </a:r>
            <a:r>
              <a:rPr lang="en-US" altLang="zh-CN" sz="2000" b="1" dirty="0" err="1">
                <a:solidFill>
                  <a:srgbClr val="007434"/>
                </a:solidFill>
                <a:latin typeface="Courier New" pitchFamily="49" charset="0"/>
                <a:cs typeface="Courier New" pitchFamily="49" charset="0"/>
              </a:rPr>
              <a:t>int</a:t>
            </a:r>
            <a:r>
              <a:rPr lang="zh-CN" altLang="en-US" sz="2000" b="1" dirty="0">
                <a:solidFill>
                  <a:srgbClr val="007434"/>
                </a:solidFill>
                <a:latin typeface="Courier New" pitchFamily="49" charset="0"/>
                <a:cs typeface="Courier New" pitchFamily="49" charset="0"/>
              </a:rPr>
              <a:t>型分量的一维数组名</a:t>
            </a:r>
            <a:endParaRPr lang="zh-CN" altLang="en-US" sz="2400" b="1" dirty="0">
              <a:solidFill>
                <a:srgbClr val="007434"/>
              </a:solidFill>
              <a:latin typeface="Courier New" pitchFamily="49" charset="0"/>
              <a:cs typeface="Courier New" pitchFamily="49" charset="0"/>
            </a:endParaRP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A[3][4]={{11,12,13,14}, {21,22,23,24},{31,32,33,34}};</a:t>
            </a:r>
          </a:p>
          <a:p>
            <a:pPr>
              <a:spcBef>
                <a:spcPts val="0"/>
              </a:spcBef>
              <a:buNone/>
            </a:pPr>
            <a:r>
              <a:rPr lang="en-US" altLang="zh-CN" sz="2400" b="1" dirty="0">
                <a:latin typeface="Courier New" pitchFamily="49" charset="0"/>
                <a:cs typeface="Courier New" pitchFamily="49" charset="0"/>
              </a:rPr>
              <a:t>  pa=A; </a:t>
            </a:r>
            <a:r>
              <a:rPr lang="en-US" altLang="zh-CN" sz="2400" b="1" dirty="0">
                <a:solidFill>
                  <a:schemeClr val="tx2"/>
                </a:solidFill>
                <a:latin typeface="Courier New" pitchFamily="49" charset="0"/>
                <a:cs typeface="Courier New" pitchFamily="49" charset="0"/>
              </a:rPr>
              <a:t> </a:t>
            </a:r>
            <a:r>
              <a:rPr lang="en-US" altLang="zh-CN" sz="2200" b="1" dirty="0">
                <a:solidFill>
                  <a:srgbClr val="007434"/>
                </a:solidFill>
                <a:latin typeface="Courier New" pitchFamily="49" charset="0"/>
                <a:cs typeface="Courier New" pitchFamily="49" charset="0"/>
              </a:rPr>
              <a:t>//pa</a:t>
            </a:r>
            <a:r>
              <a:rPr lang="zh-CN" altLang="en-US" sz="2200" b="1" dirty="0">
                <a:solidFill>
                  <a:srgbClr val="007434"/>
                </a:solidFill>
                <a:latin typeface="Courier New" pitchFamily="49" charset="0"/>
                <a:cs typeface="Courier New" pitchFamily="49" charset="0"/>
              </a:rPr>
              <a:t>指向</a:t>
            </a:r>
            <a:r>
              <a:rPr lang="en-US" altLang="zh-CN" sz="2200" b="1" dirty="0">
                <a:solidFill>
                  <a:srgbClr val="007434"/>
                </a:solidFill>
                <a:latin typeface="Courier New" pitchFamily="49" charset="0"/>
                <a:cs typeface="Courier New" pitchFamily="49" charset="0"/>
              </a:rPr>
              <a:t>A</a:t>
            </a:r>
            <a:r>
              <a:rPr lang="zh-CN" altLang="en-US" sz="2200" b="1" dirty="0">
                <a:solidFill>
                  <a:srgbClr val="007434"/>
                </a:solidFill>
                <a:latin typeface="Courier New" pitchFamily="49" charset="0"/>
                <a:cs typeface="Courier New" pitchFamily="49" charset="0"/>
              </a:rPr>
              <a:t>数组的第一行</a:t>
            </a:r>
            <a:endParaRPr lang="en-US" altLang="zh-CN" sz="2200" b="1" dirty="0">
              <a:solidFill>
                <a:srgbClr val="007434"/>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&lt;&lt;*(*(pa+2)+3)&lt;&lt;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200" b="1" dirty="0">
                <a:solidFill>
                  <a:srgbClr val="007434"/>
                </a:solidFill>
                <a:latin typeface="Courier New" pitchFamily="49" charset="0"/>
                <a:cs typeface="Courier New" pitchFamily="49" charset="0"/>
              </a:rPr>
              <a:t>//pa+2</a:t>
            </a:r>
            <a:r>
              <a:rPr lang="zh-CN" altLang="en-US" sz="2200" b="1" dirty="0">
                <a:solidFill>
                  <a:srgbClr val="007434"/>
                </a:solidFill>
                <a:latin typeface="Courier New" pitchFamily="49" charset="0"/>
                <a:cs typeface="Courier New" pitchFamily="49" charset="0"/>
              </a:rPr>
              <a:t>值为地址，</a:t>
            </a:r>
            <a:r>
              <a:rPr lang="en-US" altLang="zh-CN" sz="2200" b="1" dirty="0">
                <a:solidFill>
                  <a:srgbClr val="007434"/>
                </a:solidFill>
                <a:latin typeface="Courier New" pitchFamily="49" charset="0"/>
                <a:cs typeface="Courier New" pitchFamily="49" charset="0"/>
              </a:rPr>
              <a:t>A[2][3]</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&lt;&lt;(*pa)[0]&lt;&lt;" "&lt;&lt;(*pa)[1]&lt;&lt;" "&lt;&lt;(*pa)[2]</a:t>
            </a:r>
          </a:p>
          <a:p>
            <a:pPr>
              <a:spcBef>
                <a:spcPts val="0"/>
              </a:spcBef>
              <a:buNone/>
            </a:pPr>
            <a:r>
              <a:rPr lang="en-US" altLang="zh-CN" sz="2400" b="1" dirty="0">
                <a:latin typeface="Courier New" pitchFamily="49" charset="0"/>
                <a:cs typeface="Courier New" pitchFamily="49" charset="0"/>
              </a:rPr>
              <a:t>	&lt;&lt;" "&lt;&lt;(*pa)[3]&lt;&lt;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200" b="1" dirty="0">
                <a:solidFill>
                  <a:srgbClr val="007434"/>
                </a:solidFill>
                <a:latin typeface="Courier New" pitchFamily="49" charset="0"/>
                <a:cs typeface="Courier New" pitchFamily="49" charset="0"/>
              </a:rPr>
              <a:t>//</a:t>
            </a:r>
            <a:r>
              <a:rPr lang="zh-CN" altLang="en-US" sz="2200" b="1" dirty="0">
                <a:solidFill>
                  <a:srgbClr val="007434"/>
                </a:solidFill>
                <a:latin typeface="Courier New" pitchFamily="49" charset="0"/>
                <a:cs typeface="Courier New" pitchFamily="49" charset="0"/>
              </a:rPr>
              <a:t>输出第一行4元素</a:t>
            </a:r>
            <a:r>
              <a:rPr lang="zh-CN" altLang="en-US"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pa++; </a:t>
            </a:r>
            <a:r>
              <a:rPr lang="en-US" altLang="zh-CN" sz="2200" b="1" dirty="0">
                <a:solidFill>
                  <a:srgbClr val="007434"/>
                </a:solidFill>
                <a:latin typeface="Courier New" pitchFamily="49" charset="0"/>
                <a:cs typeface="Courier New" pitchFamily="49" charset="0"/>
              </a:rPr>
              <a:t>//</a:t>
            </a:r>
            <a:r>
              <a:rPr lang="zh-CN" altLang="en-US" sz="2200" b="1" dirty="0">
                <a:solidFill>
                  <a:srgbClr val="007434"/>
                </a:solidFill>
                <a:latin typeface="Courier New" pitchFamily="49" charset="0"/>
                <a:cs typeface="Courier New" pitchFamily="49" charset="0"/>
              </a:rPr>
              <a:t>一步向后“迈过”</a:t>
            </a:r>
            <a:r>
              <a:rPr lang="en-US" altLang="zh-CN" sz="2200" b="1" dirty="0">
                <a:solidFill>
                  <a:srgbClr val="007434"/>
                </a:solidFill>
                <a:latin typeface="Courier New" pitchFamily="49" charset="0"/>
                <a:cs typeface="Courier New" pitchFamily="49" charset="0"/>
              </a:rPr>
              <a:t>pa</a:t>
            </a:r>
            <a:r>
              <a:rPr lang="zh-CN" altLang="en-US" sz="2200" b="1" dirty="0">
                <a:solidFill>
                  <a:srgbClr val="007434"/>
                </a:solidFill>
                <a:latin typeface="Courier New" pitchFamily="49" charset="0"/>
                <a:cs typeface="Courier New" pitchFamily="49" charset="0"/>
              </a:rPr>
              <a:t>所指向的那一个一维数组</a:t>
            </a:r>
          </a:p>
          <a:p>
            <a:pPr>
              <a:spcBef>
                <a:spcPts val="0"/>
              </a:spcBef>
              <a:buNone/>
            </a:pPr>
            <a:r>
              <a:rPr lang="zh-CN" altLang="en-US" sz="2200" b="1" dirty="0">
                <a:solidFill>
                  <a:srgbClr val="007434"/>
                </a:solidFill>
                <a:latin typeface="Courier New" pitchFamily="49" charset="0"/>
                <a:cs typeface="Courier New" pitchFamily="49" charset="0"/>
              </a:rPr>
              <a:t>		</a:t>
            </a:r>
            <a:r>
              <a:rPr lang="en-US" altLang="zh-CN" sz="2200" b="1" dirty="0">
                <a:solidFill>
                  <a:srgbClr val="007434"/>
                </a:solidFill>
                <a:latin typeface="Courier New" pitchFamily="49" charset="0"/>
                <a:cs typeface="Courier New" pitchFamily="49" charset="0"/>
              </a:rPr>
              <a:t>   </a:t>
            </a:r>
            <a:r>
              <a:rPr lang="zh-CN" altLang="en-US" sz="2200" b="1" dirty="0">
                <a:solidFill>
                  <a:srgbClr val="007434"/>
                </a:solidFill>
                <a:latin typeface="Courier New" pitchFamily="49" charset="0"/>
                <a:cs typeface="Courier New" pitchFamily="49" charset="0"/>
              </a:rPr>
              <a:t>//的整体大小，使</a:t>
            </a:r>
            <a:r>
              <a:rPr lang="en-US" altLang="zh-CN" sz="2200" b="1" dirty="0">
                <a:solidFill>
                  <a:srgbClr val="007434"/>
                </a:solidFill>
                <a:latin typeface="Courier New" pitchFamily="49" charset="0"/>
                <a:cs typeface="Courier New" pitchFamily="49" charset="0"/>
              </a:rPr>
              <a:t>pa</a:t>
            </a:r>
            <a:r>
              <a:rPr lang="zh-CN" altLang="en-US" sz="2200" b="1" dirty="0">
                <a:solidFill>
                  <a:srgbClr val="007434"/>
                </a:solidFill>
                <a:latin typeface="Courier New" pitchFamily="49" charset="0"/>
                <a:cs typeface="Courier New" pitchFamily="49" charset="0"/>
              </a:rPr>
              <a:t>指向</a:t>
            </a:r>
            <a:r>
              <a:rPr lang="en-US" altLang="zh-CN" sz="2200" b="1" dirty="0">
                <a:solidFill>
                  <a:srgbClr val="007434"/>
                </a:solidFill>
                <a:latin typeface="Courier New" pitchFamily="49" charset="0"/>
                <a:cs typeface="Courier New" pitchFamily="49" charset="0"/>
              </a:rPr>
              <a:t>A</a:t>
            </a:r>
            <a:r>
              <a:rPr lang="zh-CN" altLang="en-US" sz="2200" b="1" dirty="0">
                <a:solidFill>
                  <a:srgbClr val="007434"/>
                </a:solidFill>
                <a:latin typeface="Courier New" pitchFamily="49" charset="0"/>
                <a:cs typeface="Courier New" pitchFamily="49" charset="0"/>
              </a:rPr>
              <a:t>数组的第二行</a:t>
            </a:r>
            <a:r>
              <a:rPr lang="zh-CN" altLang="en-US" sz="2400" b="1" dirty="0">
                <a:solidFill>
                  <a:srgbClr val="007434"/>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&lt;&lt;(*pa)[0]&lt;&lt;" "&lt;&lt;(*pa)[1]&lt;&lt;" "&lt;&lt;(*pa)[2]</a:t>
            </a:r>
          </a:p>
          <a:p>
            <a:pPr>
              <a:spcBef>
                <a:spcPts val="0"/>
              </a:spcBef>
              <a:buNone/>
            </a:pPr>
            <a:r>
              <a:rPr lang="en-US" altLang="zh-CN" sz="2400" b="1" dirty="0">
                <a:latin typeface="Courier New" pitchFamily="49" charset="0"/>
                <a:cs typeface="Courier New" pitchFamily="49" charset="0"/>
              </a:rPr>
              <a:t>	&lt;&lt;" "&lt;&lt;(*pa)[3]&lt;&lt;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200" b="1" dirty="0">
                <a:solidFill>
                  <a:srgbClr val="007434"/>
                </a:solidFill>
                <a:latin typeface="Courier New" pitchFamily="49" charset="0"/>
                <a:cs typeface="Courier New" pitchFamily="49" charset="0"/>
              </a:rPr>
              <a:t>//</a:t>
            </a:r>
            <a:r>
              <a:rPr lang="zh-CN" altLang="en-US" sz="2200" b="1" dirty="0">
                <a:solidFill>
                  <a:srgbClr val="007434"/>
                </a:solidFill>
                <a:latin typeface="Courier New" pitchFamily="49" charset="0"/>
                <a:cs typeface="Courier New" pitchFamily="49" charset="0"/>
              </a:rPr>
              <a:t>输出第二行4元素</a:t>
            </a:r>
            <a:endParaRPr lang="zh-CN" altLang="en-US" sz="2200" b="1" dirty="0">
              <a:solidFill>
                <a:srgbClr val="007434"/>
              </a:solidFill>
            </a:endParaRPr>
          </a:p>
        </p:txBody>
      </p:sp>
      <p:pic>
        <p:nvPicPr>
          <p:cNvPr id="12" name="Picture 2"/>
          <p:cNvPicPr>
            <a:picLocks noChangeAspect="1" noChangeArrowheads="1"/>
          </p:cNvPicPr>
          <p:nvPr/>
        </p:nvPicPr>
        <p:blipFill>
          <a:blip r:embed="rId2" cstate="print"/>
          <a:srcRect/>
          <a:stretch>
            <a:fillRect/>
          </a:stretch>
        </p:blipFill>
        <p:spPr bwMode="auto">
          <a:xfrm>
            <a:off x="6182782" y="1279566"/>
            <a:ext cx="2743165" cy="1905472"/>
          </a:xfrm>
          <a:prstGeom prst="rect">
            <a:avLst/>
          </a:prstGeom>
          <a:noFill/>
          <a:ln w="9525">
            <a:noFill/>
            <a:miter lim="800000"/>
            <a:headEnd/>
            <a:tailEnd/>
          </a:ln>
        </p:spPr>
      </p:pic>
      <p:sp>
        <p:nvSpPr>
          <p:cNvPr id="13" name="矩形 12">
            <a:hlinkClick r:id="rId3" action="ppaction://hlinksldjump"/>
            <a:extLst>
              <a:ext uri="{FF2B5EF4-FFF2-40B4-BE49-F238E27FC236}">
                <a16:creationId xmlns:a16="http://schemas.microsoft.com/office/drawing/2014/main" id="{4C25A9B7-03F0-4B74-8A0C-428AB553D5C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4" name="矩形 13">
            <a:hlinkClick r:id="" action="ppaction://noaction"/>
            <a:extLst>
              <a:ext uri="{FF2B5EF4-FFF2-40B4-BE49-F238E27FC236}">
                <a16:creationId xmlns:a16="http://schemas.microsoft.com/office/drawing/2014/main" id="{A99F8D4E-49CF-4027-B3DA-22F702C7244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5" name="矩形 14">
            <a:hlinkClick r:id="" action="ppaction://noaction"/>
            <a:extLst>
              <a:ext uri="{FF2B5EF4-FFF2-40B4-BE49-F238E27FC236}">
                <a16:creationId xmlns:a16="http://schemas.microsoft.com/office/drawing/2014/main" id="{8A03DF39-98D8-411C-8ACA-AD1BFC8672F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6" name="矩形 15">
            <a:hlinkClick r:id="" action="ppaction://noaction"/>
            <a:extLst>
              <a:ext uri="{FF2B5EF4-FFF2-40B4-BE49-F238E27FC236}">
                <a16:creationId xmlns:a16="http://schemas.microsoft.com/office/drawing/2014/main" id="{9E80DCB2-43D3-4224-BE7B-DA8E550E630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7" name="矩形 16">
            <a:hlinkClick r:id="" action="ppaction://noaction"/>
            <a:extLst>
              <a:ext uri="{FF2B5EF4-FFF2-40B4-BE49-F238E27FC236}">
                <a16:creationId xmlns:a16="http://schemas.microsoft.com/office/drawing/2014/main" id="{C333A412-8D9D-464D-BBE5-799BB3BF01D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18" name="矩形 17">
            <a:hlinkClick r:id="" action="ppaction://noaction"/>
            <a:extLst>
              <a:ext uri="{FF2B5EF4-FFF2-40B4-BE49-F238E27FC236}">
                <a16:creationId xmlns:a16="http://schemas.microsoft.com/office/drawing/2014/main" id="{10024ACD-C2EB-41E4-808E-26733CDDEB3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9" name="矩形 18">
            <a:hlinkClick r:id="" action="ppaction://noaction"/>
            <a:extLst>
              <a:ext uri="{FF2B5EF4-FFF2-40B4-BE49-F238E27FC236}">
                <a16:creationId xmlns:a16="http://schemas.microsoft.com/office/drawing/2014/main" id="{0B305604-EBF3-458E-A17A-12A6AED2827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0" name="矩形 19">
            <a:hlinkClick r:id="" action="ppaction://noaction"/>
            <a:extLst>
              <a:ext uri="{FF2B5EF4-FFF2-40B4-BE49-F238E27FC236}">
                <a16:creationId xmlns:a16="http://schemas.microsoft.com/office/drawing/2014/main" id="{39CB2322-58D5-4E88-BB18-F4ED0773431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1402674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p>
        </p:txBody>
      </p:sp>
      <p:sp>
        <p:nvSpPr>
          <p:cNvPr id="3" name="内容占位符 2"/>
          <p:cNvSpPr>
            <a:spLocks noGrp="1"/>
          </p:cNvSpPr>
          <p:nvPr>
            <p:ph idx="1"/>
          </p:nvPr>
        </p:nvSpPr>
        <p:spPr/>
        <p:txBody>
          <a:bodyPr/>
          <a:lstStyle/>
          <a:p>
            <a:pPr>
              <a:buNone/>
            </a:pPr>
            <a:r>
              <a:rPr lang="zh-CN" altLang="en-US" dirty="0">
                <a:solidFill>
                  <a:schemeClr val="accent6">
                    <a:lumMod val="75000"/>
                  </a:schemeClr>
                </a:solidFill>
              </a:rPr>
              <a:t>输出结果为：</a:t>
            </a:r>
            <a:endParaRPr lang="en-US" altLang="zh-CN" dirty="0">
              <a:solidFill>
                <a:schemeClr val="accent6">
                  <a:lumMod val="75000"/>
                </a:schemeClr>
              </a:solidFill>
            </a:endParaRPr>
          </a:p>
          <a:p>
            <a:pPr>
              <a:buNone/>
            </a:pPr>
            <a:endParaRPr lang="en-US" altLang="zh-CN" dirty="0"/>
          </a:p>
          <a:p>
            <a:pPr>
              <a:buNone/>
            </a:pPr>
            <a:r>
              <a:rPr lang="en-US" altLang="zh-CN" b="1" dirty="0">
                <a:latin typeface="Courier New" pitchFamily="49" charset="0"/>
                <a:cs typeface="Courier New" pitchFamily="49" charset="0"/>
              </a:rPr>
              <a:t>34</a:t>
            </a:r>
          </a:p>
          <a:p>
            <a:pPr>
              <a:buNone/>
            </a:pPr>
            <a:r>
              <a:rPr lang="en-US" altLang="zh-CN" b="1" dirty="0">
                <a:latin typeface="Courier New" pitchFamily="49" charset="0"/>
                <a:cs typeface="Courier New" pitchFamily="49" charset="0"/>
              </a:rPr>
              <a:t>11 12 13 14</a:t>
            </a:r>
          </a:p>
          <a:p>
            <a:pPr>
              <a:buNone/>
            </a:pPr>
            <a:r>
              <a:rPr lang="en-US" altLang="zh-CN" b="1" dirty="0">
                <a:latin typeface="Courier New" pitchFamily="49" charset="0"/>
                <a:cs typeface="Courier New" pitchFamily="49" charset="0"/>
              </a:rPr>
              <a:t>21 22 23 24</a:t>
            </a:r>
            <a:endParaRPr lang="zh-CN" altLang="en-US" b="1" dirty="0"/>
          </a:p>
        </p:txBody>
      </p:sp>
    </p:spTree>
    <p:extLst>
      <p:ext uri="{BB962C8B-B14F-4D97-AF65-F5344CB8AC3E}">
        <p14:creationId xmlns:p14="http://schemas.microsoft.com/office/powerpoint/2010/main" val="34350477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p>
        </p:txBody>
      </p:sp>
      <p:sp>
        <p:nvSpPr>
          <p:cNvPr id="3" name="内容占位符 2"/>
          <p:cNvSpPr>
            <a:spLocks noGrp="1"/>
          </p:cNvSpPr>
          <p:nvPr>
            <p:ph idx="1"/>
          </p:nvPr>
        </p:nvSpPr>
        <p:spPr/>
        <p:txBody>
          <a:bodyPr/>
          <a:lstStyle/>
          <a:p>
            <a:r>
              <a:rPr lang="zh-CN" altLang="en-US" dirty="0"/>
              <a:t>赋值时，注意一致性</a:t>
            </a:r>
            <a:endParaRPr lang="en-US" altLang="zh-CN" dirty="0"/>
          </a:p>
          <a:p>
            <a:pPr lvl="1"/>
            <a:r>
              <a:rPr lang="zh-CN" altLang="en-US" dirty="0">
                <a:solidFill>
                  <a:srgbClr val="C00000"/>
                </a:solidFill>
              </a:rPr>
              <a:t>例如：指向一维数组的指针</a:t>
            </a:r>
            <a:endParaRPr lang="en-US" altLang="zh-CN" dirty="0">
              <a:solidFill>
                <a:srgbClr val="C00000"/>
              </a:solidFill>
            </a:endParaRPr>
          </a:p>
          <a:p>
            <a:pPr lvl="2">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A[x][</a:t>
            </a:r>
            <a:r>
              <a:rPr lang="en-US" altLang="zh-CN" sz="2400" b="1" dirty="0">
                <a:solidFill>
                  <a:srgbClr val="FF0000"/>
                </a:solidFill>
                <a:latin typeface="Courier New" pitchFamily="49" charset="0"/>
                <a:cs typeface="Courier New" pitchFamily="49" charset="0"/>
              </a:rPr>
              <a:t>4</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//x</a:t>
            </a:r>
            <a:r>
              <a:rPr lang="zh-CN" altLang="en-US" sz="2400" b="1" dirty="0">
                <a:solidFill>
                  <a:srgbClr val="00B050"/>
                </a:solidFill>
                <a:latin typeface="Courier New" pitchFamily="49" charset="0"/>
                <a:cs typeface="Courier New" pitchFamily="49" charset="0"/>
              </a:rPr>
              <a:t>为任意正整数</a:t>
            </a:r>
            <a:endParaRPr lang="en-US" altLang="zh-CN" sz="2400" b="1" dirty="0">
              <a:solidFill>
                <a:srgbClr val="00B050"/>
              </a:solidFill>
              <a:latin typeface="Courier New" pitchFamily="49" charset="0"/>
              <a:cs typeface="Courier New" pitchFamily="49" charset="0"/>
            </a:endParaRPr>
          </a:p>
          <a:p>
            <a:pPr lvl="2">
              <a:buNone/>
            </a:pPr>
            <a:r>
              <a:rPr lang="en-US" altLang="zh-CN" sz="2400" b="1" dirty="0">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(*pa)[</a:t>
            </a:r>
            <a:r>
              <a:rPr lang="en-US" altLang="zh-CN" sz="2400" b="1" dirty="0">
                <a:solidFill>
                  <a:srgbClr val="FF0000"/>
                </a:solidFill>
                <a:latin typeface="Courier New" pitchFamily="49" charset="0"/>
                <a:cs typeface="Courier New" pitchFamily="49" charset="0"/>
              </a:rPr>
              <a:t>4</a:t>
            </a:r>
            <a:r>
              <a:rPr lang="en-US" altLang="zh-CN" sz="2400" b="1" dirty="0">
                <a:latin typeface="Courier New" pitchFamily="49" charset="0"/>
                <a:cs typeface="Courier New" pitchFamily="49" charset="0"/>
              </a:rPr>
              <a:t>];</a:t>
            </a:r>
          </a:p>
          <a:p>
            <a:pPr lvl="2">
              <a:buNone/>
            </a:pPr>
            <a:r>
              <a:rPr lang="en-US" altLang="zh-CN" sz="2400" b="1" dirty="0">
                <a:latin typeface="Courier New" pitchFamily="49" charset="0"/>
                <a:cs typeface="Courier New" pitchFamily="49" charset="0"/>
              </a:rPr>
              <a:t>pa = A;</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保持维度一致性</a:t>
            </a:r>
            <a:endParaRPr lang="en-US" altLang="zh-CN" sz="2400" b="1" dirty="0">
              <a:solidFill>
                <a:srgbClr val="00B050"/>
              </a:solidFill>
              <a:latin typeface="Courier New" pitchFamily="49" charset="0"/>
              <a:cs typeface="Courier New" pitchFamily="49" charset="0"/>
            </a:endParaRPr>
          </a:p>
          <a:p>
            <a:pPr lvl="2"/>
            <a:r>
              <a:rPr lang="zh-CN" altLang="en-US" sz="2400" dirty="0">
                <a:solidFill>
                  <a:srgbClr val="C00000"/>
                </a:solidFill>
              </a:rPr>
              <a:t>指向多维数组的指针</a:t>
            </a:r>
          </a:p>
          <a:p>
            <a:pPr lvl="2">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A[x][</a:t>
            </a:r>
            <a:r>
              <a:rPr lang="en-US" altLang="zh-CN" sz="2400" b="1" dirty="0">
                <a:solidFill>
                  <a:srgbClr val="FF0000"/>
                </a:solidFill>
                <a:latin typeface="Courier New" pitchFamily="49" charset="0"/>
                <a:cs typeface="Courier New" pitchFamily="49" charset="0"/>
              </a:rPr>
              <a:t>3</a:t>
            </a:r>
            <a:r>
              <a:rPr lang="en-US" altLang="zh-CN" sz="2400" b="1" dirty="0">
                <a:latin typeface="Courier New" pitchFamily="49" charset="0"/>
                <a:cs typeface="Courier New" pitchFamily="49" charset="0"/>
              </a:rPr>
              <a:t>][</a:t>
            </a:r>
            <a:r>
              <a:rPr lang="en-US" altLang="zh-CN" sz="2400" b="1" dirty="0">
                <a:solidFill>
                  <a:srgbClr val="FF0000"/>
                </a:solidFill>
                <a:latin typeface="Courier New" pitchFamily="49" charset="0"/>
                <a:cs typeface="Courier New" pitchFamily="49" charset="0"/>
              </a:rPr>
              <a:t>4</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//x</a:t>
            </a:r>
            <a:r>
              <a:rPr lang="zh-CN" altLang="en-US" sz="2400" b="1" dirty="0">
                <a:solidFill>
                  <a:srgbClr val="00B050"/>
                </a:solidFill>
                <a:latin typeface="Courier New" pitchFamily="49" charset="0"/>
                <a:cs typeface="Courier New" pitchFamily="49" charset="0"/>
              </a:rPr>
              <a:t>为任意正整数</a:t>
            </a:r>
            <a:endParaRPr lang="en-US" altLang="zh-CN" sz="2400" b="1" dirty="0">
              <a:solidFill>
                <a:srgbClr val="00B050"/>
              </a:solidFill>
              <a:latin typeface="Courier New" pitchFamily="49" charset="0"/>
              <a:cs typeface="Courier New" pitchFamily="49" charset="0"/>
            </a:endParaRPr>
          </a:p>
          <a:p>
            <a:pPr lvl="2">
              <a:buNone/>
            </a:pPr>
            <a:r>
              <a:rPr lang="en-US" altLang="zh-CN" sz="2400" b="1" dirty="0">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(*pa)[</a:t>
            </a:r>
            <a:r>
              <a:rPr lang="en-US" altLang="zh-CN" sz="2400" b="1" dirty="0">
                <a:solidFill>
                  <a:srgbClr val="FF0000"/>
                </a:solidFill>
                <a:latin typeface="Courier New" pitchFamily="49" charset="0"/>
                <a:cs typeface="Courier New" pitchFamily="49" charset="0"/>
              </a:rPr>
              <a:t>3</a:t>
            </a:r>
            <a:r>
              <a:rPr lang="en-US" altLang="zh-CN" sz="2400" b="1" dirty="0">
                <a:latin typeface="Courier New" pitchFamily="49" charset="0"/>
                <a:cs typeface="Courier New" pitchFamily="49" charset="0"/>
              </a:rPr>
              <a:t>][</a:t>
            </a:r>
            <a:r>
              <a:rPr lang="en-US" altLang="zh-CN" sz="2400" b="1" dirty="0">
                <a:solidFill>
                  <a:srgbClr val="FF0000"/>
                </a:solidFill>
                <a:latin typeface="Courier New" pitchFamily="49" charset="0"/>
                <a:cs typeface="Courier New" pitchFamily="49" charset="0"/>
              </a:rPr>
              <a:t>4</a:t>
            </a:r>
            <a:r>
              <a:rPr lang="en-US" altLang="zh-CN" sz="2400" b="1" dirty="0">
                <a:latin typeface="Courier New" pitchFamily="49" charset="0"/>
                <a:cs typeface="Courier New" pitchFamily="49" charset="0"/>
              </a:rPr>
              <a:t>];</a:t>
            </a:r>
          </a:p>
          <a:p>
            <a:pPr lvl="2">
              <a:buNone/>
            </a:pPr>
            <a:r>
              <a:rPr lang="en-US" altLang="zh-CN" sz="2400" b="1" dirty="0">
                <a:latin typeface="Courier New" pitchFamily="49" charset="0"/>
                <a:cs typeface="Courier New" pitchFamily="49" charset="0"/>
              </a:rPr>
              <a:t>pa = A;</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保持维度一致性</a:t>
            </a:r>
            <a:endParaRPr lang="zh-CN" altLang="en-US" b="1" dirty="0"/>
          </a:p>
        </p:txBody>
      </p:sp>
      <p:sp>
        <p:nvSpPr>
          <p:cNvPr id="12" name="矩形 11">
            <a:hlinkClick r:id="rId3" action="ppaction://hlinksldjump"/>
            <a:extLst>
              <a:ext uri="{FF2B5EF4-FFF2-40B4-BE49-F238E27FC236}">
                <a16:creationId xmlns:a16="http://schemas.microsoft.com/office/drawing/2014/main" id="{BBB2CD7C-9A15-496D-B201-C6EF8A2060D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0814A37F-2509-4EE5-B99B-87B7B825209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ED0037E6-5112-4349-B14E-95C1F6A9D94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A62F6B69-155B-4684-833C-FDDC19DFA72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A6DE1238-D6C9-4E2B-B020-1D01926E7EF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17" name="矩形 16">
            <a:hlinkClick r:id="" action="ppaction://noaction"/>
            <a:extLst>
              <a:ext uri="{FF2B5EF4-FFF2-40B4-BE49-F238E27FC236}">
                <a16:creationId xmlns:a16="http://schemas.microsoft.com/office/drawing/2014/main" id="{916A4DF5-94D8-4433-8D79-5F54AF72486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CCFFF2CF-CA53-4238-BA86-F543C3B7AEB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F1497E8F-ED52-4B83-9969-159466DB715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29186035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指向数组的指针</a:t>
            </a:r>
          </a:p>
        </p:txBody>
      </p:sp>
      <p:sp>
        <p:nvSpPr>
          <p:cNvPr id="3" name="内容占位符 2"/>
          <p:cNvSpPr>
            <a:spLocks noGrp="1"/>
          </p:cNvSpPr>
          <p:nvPr>
            <p:ph idx="1"/>
          </p:nvPr>
        </p:nvSpPr>
        <p:spPr/>
        <p:txBody>
          <a:bodyPr/>
          <a:lstStyle/>
          <a:p>
            <a:r>
              <a:rPr lang="zh-CN" altLang="en-US" dirty="0"/>
              <a:t>用指针访问多维数组的一种方式</a:t>
            </a:r>
            <a:endParaRPr lang="en-US" altLang="zh-CN" dirty="0"/>
          </a:p>
          <a:p>
            <a:pPr lvl="1"/>
            <a:r>
              <a:rPr lang="zh-CN" altLang="en-US" dirty="0"/>
              <a:t>如果访问</a:t>
            </a:r>
            <a:r>
              <a:rPr lang="en-US" altLang="zh-CN" dirty="0"/>
              <a:t>n</a:t>
            </a:r>
            <a:r>
              <a:rPr lang="zh-CN" altLang="en-US" dirty="0"/>
              <a:t>维数组，那么数组指针的维度为</a:t>
            </a:r>
            <a:r>
              <a:rPr lang="en-US" altLang="zh-CN" dirty="0"/>
              <a:t>n-1</a:t>
            </a:r>
          </a:p>
          <a:p>
            <a:pPr lvl="1"/>
            <a:r>
              <a:rPr lang="zh-CN" altLang="en-US" dirty="0"/>
              <a:t>指针</a:t>
            </a:r>
            <a:r>
              <a:rPr lang="en-US" altLang="zh-CN" dirty="0"/>
              <a:t>p</a:t>
            </a:r>
            <a:r>
              <a:rPr lang="zh-CN" altLang="en-US" dirty="0"/>
              <a:t>指向的地址为构成该</a:t>
            </a:r>
            <a:r>
              <a:rPr lang="en-US" altLang="zh-CN" dirty="0"/>
              <a:t>n</a:t>
            </a:r>
            <a:r>
              <a:rPr lang="zh-CN" altLang="en-US" dirty="0"/>
              <a:t>维数组第一个</a:t>
            </a:r>
            <a:r>
              <a:rPr lang="en-US" altLang="zh-CN" dirty="0"/>
              <a:t>n-1</a:t>
            </a:r>
            <a:r>
              <a:rPr lang="zh-CN" altLang="en-US" dirty="0"/>
              <a:t>维数组的首地址</a:t>
            </a:r>
            <a:endParaRPr lang="en-US" altLang="zh-CN" dirty="0"/>
          </a:p>
          <a:p>
            <a:pPr lvl="2"/>
            <a:r>
              <a:rPr lang="en-US" altLang="zh-CN" dirty="0" err="1"/>
              <a:t>p+i</a:t>
            </a:r>
            <a:r>
              <a:rPr lang="en-US" altLang="zh-CN" dirty="0"/>
              <a:t>=A[</a:t>
            </a:r>
            <a:r>
              <a:rPr lang="en-US" altLang="zh-CN" dirty="0" err="1"/>
              <a:t>i</a:t>
            </a:r>
            <a:r>
              <a:rPr lang="en-US" altLang="zh-CN" dirty="0"/>
              <a:t>]</a:t>
            </a:r>
            <a:r>
              <a:rPr lang="zh-CN" altLang="en-US" dirty="0"/>
              <a:t>，</a:t>
            </a:r>
            <a:r>
              <a:rPr lang="en-US" altLang="zh-CN" dirty="0"/>
              <a:t>A[</a:t>
            </a:r>
            <a:r>
              <a:rPr lang="en-US" altLang="zh-CN" dirty="0" err="1"/>
              <a:t>i</a:t>
            </a:r>
            <a:r>
              <a:rPr lang="en-US" altLang="zh-CN" dirty="0"/>
              <a:t>]</a:t>
            </a:r>
            <a:r>
              <a:rPr lang="zh-CN" altLang="en-US" dirty="0"/>
              <a:t>为第</a:t>
            </a:r>
            <a:r>
              <a:rPr lang="en-US" altLang="zh-CN" dirty="0" err="1"/>
              <a:t>i</a:t>
            </a:r>
            <a:r>
              <a:rPr lang="zh-CN" altLang="en-US" dirty="0"/>
              <a:t>个</a:t>
            </a:r>
            <a:r>
              <a:rPr lang="en-US" altLang="zh-CN" dirty="0"/>
              <a:t>n-1</a:t>
            </a:r>
            <a:r>
              <a:rPr lang="zh-CN" altLang="en-US" dirty="0"/>
              <a:t>的数组名，即该数组的首地址</a:t>
            </a:r>
            <a:endParaRPr lang="en-US" altLang="zh-CN" dirty="0"/>
          </a:p>
          <a:p>
            <a:pPr lvl="2"/>
            <a:r>
              <a:rPr lang="en-US" altLang="zh-CN" dirty="0"/>
              <a:t>*(</a:t>
            </a:r>
            <a:r>
              <a:rPr lang="en-US" altLang="zh-CN" dirty="0" err="1"/>
              <a:t>p+i</a:t>
            </a:r>
            <a:r>
              <a:rPr lang="en-US" altLang="zh-CN" dirty="0"/>
              <a:t>)</a:t>
            </a:r>
            <a:r>
              <a:rPr lang="zh-CN" altLang="en-US" dirty="0"/>
              <a:t>为第</a:t>
            </a:r>
            <a:r>
              <a:rPr lang="en-US" altLang="zh-CN" dirty="0" err="1"/>
              <a:t>i</a:t>
            </a:r>
            <a:r>
              <a:rPr lang="zh-CN" altLang="en-US" dirty="0"/>
              <a:t>个</a:t>
            </a:r>
            <a:r>
              <a:rPr lang="en-US" altLang="zh-CN" dirty="0"/>
              <a:t>n-1</a:t>
            </a:r>
            <a:r>
              <a:rPr lang="zh-CN" altLang="en-US" dirty="0"/>
              <a:t>维数组</a:t>
            </a:r>
            <a:r>
              <a:rPr lang="en-US" altLang="zh-CN" dirty="0"/>
              <a:t>A[</a:t>
            </a:r>
            <a:r>
              <a:rPr lang="en-US" altLang="zh-CN" dirty="0" err="1"/>
              <a:t>i</a:t>
            </a:r>
            <a:r>
              <a:rPr lang="en-US" altLang="zh-CN" dirty="0"/>
              <a:t>]</a:t>
            </a:r>
            <a:r>
              <a:rPr lang="zh-CN" altLang="en-US" dirty="0"/>
              <a:t>的首元素的地址，即组成第</a:t>
            </a:r>
            <a:r>
              <a:rPr lang="en-US" altLang="zh-CN" dirty="0" err="1"/>
              <a:t>i</a:t>
            </a:r>
            <a:r>
              <a:rPr lang="zh-CN" altLang="en-US" dirty="0"/>
              <a:t>个</a:t>
            </a:r>
            <a:r>
              <a:rPr lang="en-US" altLang="zh-CN" dirty="0"/>
              <a:t>n-1</a:t>
            </a:r>
            <a:r>
              <a:rPr lang="zh-CN" altLang="en-US" dirty="0"/>
              <a:t>维数组的第一个</a:t>
            </a:r>
            <a:r>
              <a:rPr lang="en-US" altLang="zh-CN" dirty="0"/>
              <a:t>n-2</a:t>
            </a:r>
            <a:r>
              <a:rPr lang="zh-CN" altLang="en-US" dirty="0"/>
              <a:t>维数组的首地址</a:t>
            </a:r>
            <a:endParaRPr lang="en-US" altLang="zh-CN" dirty="0"/>
          </a:p>
          <a:p>
            <a:pPr lvl="2"/>
            <a:r>
              <a:rPr lang="en-US" altLang="zh-CN" dirty="0"/>
              <a:t>*(</a:t>
            </a:r>
            <a:r>
              <a:rPr lang="en-US" altLang="zh-CN" dirty="0" err="1"/>
              <a:t>p+i</a:t>
            </a:r>
            <a:r>
              <a:rPr lang="en-US" altLang="zh-CN" dirty="0"/>
              <a:t>)+j</a:t>
            </a:r>
            <a:r>
              <a:rPr lang="zh-CN" altLang="en-US" dirty="0"/>
              <a:t>为组成第</a:t>
            </a:r>
            <a:r>
              <a:rPr lang="en-US" altLang="zh-CN" dirty="0" err="1"/>
              <a:t>i</a:t>
            </a:r>
            <a:r>
              <a:rPr lang="zh-CN" altLang="en-US" dirty="0"/>
              <a:t>个</a:t>
            </a:r>
            <a:r>
              <a:rPr lang="en-US" altLang="zh-CN" dirty="0"/>
              <a:t>n-1</a:t>
            </a:r>
            <a:r>
              <a:rPr lang="zh-CN" altLang="en-US" dirty="0"/>
              <a:t>维数组的第</a:t>
            </a:r>
            <a:r>
              <a:rPr lang="en-US" altLang="zh-CN" dirty="0"/>
              <a:t>j</a:t>
            </a:r>
            <a:r>
              <a:rPr lang="zh-CN" altLang="en-US" dirty="0"/>
              <a:t>个</a:t>
            </a:r>
            <a:r>
              <a:rPr lang="en-US" altLang="zh-CN" dirty="0"/>
              <a:t>n-2</a:t>
            </a:r>
            <a:r>
              <a:rPr lang="zh-CN" altLang="en-US" dirty="0"/>
              <a:t>维数组</a:t>
            </a:r>
            <a:r>
              <a:rPr lang="en-US" altLang="zh-CN" dirty="0"/>
              <a:t>A[</a:t>
            </a:r>
            <a:r>
              <a:rPr lang="en-US" altLang="zh-CN" dirty="0" err="1"/>
              <a:t>i</a:t>
            </a:r>
            <a:r>
              <a:rPr lang="en-US" altLang="zh-CN" dirty="0"/>
              <a:t>][j]</a:t>
            </a:r>
            <a:r>
              <a:rPr lang="zh-CN" altLang="en-US" dirty="0"/>
              <a:t>的首地址</a:t>
            </a:r>
            <a:endParaRPr lang="en-US" altLang="zh-CN" dirty="0"/>
          </a:p>
          <a:p>
            <a:pPr lvl="2"/>
            <a:r>
              <a:rPr lang="en-US" altLang="zh-CN" dirty="0"/>
              <a:t>*(*(</a:t>
            </a:r>
            <a:r>
              <a:rPr lang="en-US" altLang="zh-CN" dirty="0" err="1"/>
              <a:t>p+i</a:t>
            </a:r>
            <a:r>
              <a:rPr lang="en-US" altLang="zh-CN" dirty="0"/>
              <a:t>)+j)+k</a:t>
            </a:r>
            <a:r>
              <a:rPr lang="zh-CN" altLang="en-US" dirty="0"/>
              <a:t>为上一个</a:t>
            </a:r>
            <a:r>
              <a:rPr lang="en-US" altLang="zh-CN" dirty="0"/>
              <a:t>n-2</a:t>
            </a:r>
            <a:r>
              <a:rPr lang="zh-CN" altLang="en-US" dirty="0"/>
              <a:t>维数组的第</a:t>
            </a:r>
            <a:r>
              <a:rPr lang="en-US" altLang="zh-CN" dirty="0"/>
              <a:t>k</a:t>
            </a:r>
            <a:r>
              <a:rPr lang="zh-CN" altLang="en-US" dirty="0"/>
              <a:t>个</a:t>
            </a:r>
            <a:r>
              <a:rPr lang="en-US" altLang="zh-CN" dirty="0"/>
              <a:t>n-3</a:t>
            </a:r>
            <a:r>
              <a:rPr lang="zh-CN" altLang="en-US" dirty="0"/>
              <a:t>维数组</a:t>
            </a:r>
            <a:r>
              <a:rPr lang="en-US" altLang="zh-CN" dirty="0"/>
              <a:t>A[</a:t>
            </a:r>
            <a:r>
              <a:rPr lang="en-US" altLang="zh-CN" dirty="0" err="1"/>
              <a:t>i</a:t>
            </a:r>
            <a:r>
              <a:rPr lang="en-US" altLang="zh-CN" dirty="0"/>
              <a:t>][j][k]</a:t>
            </a:r>
            <a:r>
              <a:rPr lang="zh-CN" altLang="en-US" dirty="0"/>
              <a:t>的首地址</a:t>
            </a:r>
            <a:endParaRPr lang="en-US" altLang="zh-CN" dirty="0"/>
          </a:p>
          <a:p>
            <a:pPr lvl="2"/>
            <a:r>
              <a:rPr lang="en-US" altLang="zh-CN" dirty="0"/>
              <a:t>……</a:t>
            </a:r>
            <a:endParaRPr lang="zh-CN" altLang="en-US" dirty="0"/>
          </a:p>
        </p:txBody>
      </p:sp>
      <p:sp>
        <p:nvSpPr>
          <p:cNvPr id="12" name="矩形 11">
            <a:hlinkClick r:id="rId2" action="ppaction://hlinksldjump"/>
            <a:extLst>
              <a:ext uri="{FF2B5EF4-FFF2-40B4-BE49-F238E27FC236}">
                <a16:creationId xmlns:a16="http://schemas.microsoft.com/office/drawing/2014/main" id="{084C529D-17C8-44F6-B519-5C2E27C0686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914A21F7-31FC-435D-BC3C-28413A5A2B9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3F97F52D-5C15-4DB5-825A-51B9B3BC1F9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F1D72318-4B3C-4EA4-907F-E085DB2F494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797C79FE-8C1C-48F7-A5BF-63EBE0E1A17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17" name="矩形 16">
            <a:hlinkClick r:id="" action="ppaction://noaction"/>
            <a:extLst>
              <a:ext uri="{FF2B5EF4-FFF2-40B4-BE49-F238E27FC236}">
                <a16:creationId xmlns:a16="http://schemas.microsoft.com/office/drawing/2014/main" id="{5390EFF3-EA1B-43AF-A99C-D7F3C5BA27C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EDC3B79C-3A22-448F-8375-3322C24493A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A2F22A9F-D3E1-4BFE-BD4F-F6AF72AA7E5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26937370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7C556D-D13B-4AA3-AFD8-0EF8CFA0B6CB}"/>
              </a:ext>
            </a:extLst>
          </p:cNvPr>
          <p:cNvSpPr>
            <a:spLocks noGrp="1"/>
          </p:cNvSpPr>
          <p:nvPr>
            <p:ph type="title"/>
          </p:nvPr>
        </p:nvSpPr>
        <p:spPr/>
        <p:txBody>
          <a:bodyPr/>
          <a:lstStyle/>
          <a:p>
            <a:r>
              <a:rPr lang="zh-CN" altLang="en-US" dirty="0"/>
              <a:t>指向数组的指针</a:t>
            </a:r>
          </a:p>
        </p:txBody>
      </p:sp>
      <p:sp>
        <p:nvSpPr>
          <p:cNvPr id="6" name="内容占位符 5">
            <a:extLst>
              <a:ext uri="{FF2B5EF4-FFF2-40B4-BE49-F238E27FC236}">
                <a16:creationId xmlns:a16="http://schemas.microsoft.com/office/drawing/2014/main" id="{ABB047EA-5072-4F30-9F18-7579FFABCC32}"/>
              </a:ext>
            </a:extLst>
          </p:cNvPr>
          <p:cNvSpPr>
            <a:spLocks noGrp="1"/>
          </p:cNvSpPr>
          <p:nvPr>
            <p:ph idx="1"/>
          </p:nvPr>
        </p:nvSpPr>
        <p:spPr/>
        <p:txBody>
          <a:bodyPr/>
          <a:lstStyle/>
          <a:p>
            <a:r>
              <a:rPr lang="zh-CN" altLang="en-US" dirty="0"/>
              <a:t>下标运算</a:t>
            </a:r>
            <a:r>
              <a:rPr lang="en-US" altLang="zh-CN" dirty="0"/>
              <a:t>[]</a:t>
            </a:r>
            <a:r>
              <a:rPr lang="zh-CN" altLang="en-US" dirty="0"/>
              <a:t>与指针取内容运算</a:t>
            </a:r>
            <a:r>
              <a:rPr lang="en-US" altLang="zh-CN" dirty="0"/>
              <a:t>*</a:t>
            </a:r>
          </a:p>
          <a:p>
            <a:pPr lvl="1"/>
            <a:r>
              <a:rPr lang="zh-CN" altLang="en-US" dirty="0"/>
              <a:t>优先级</a:t>
            </a:r>
            <a:endParaRPr lang="en-US" altLang="zh-CN" dirty="0"/>
          </a:p>
          <a:p>
            <a:pPr lvl="2"/>
            <a:r>
              <a:rPr lang="en-US" altLang="zh-CN" dirty="0"/>
              <a:t>[ ]</a:t>
            </a:r>
            <a:r>
              <a:rPr lang="zh-CN" altLang="en-US" dirty="0"/>
              <a:t>优先级高于*</a:t>
            </a:r>
            <a:endParaRPr lang="en-US" altLang="zh-CN" dirty="0"/>
          </a:p>
          <a:p>
            <a:pPr lvl="1"/>
            <a:r>
              <a:rPr lang="zh-CN" altLang="en-US" dirty="0"/>
              <a:t>等价关系</a:t>
            </a:r>
            <a:endParaRPr lang="en-US" altLang="zh-CN" dirty="0"/>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A[3][4] = {1,2,3,4, 5,6,7,8, 9,10};</a:t>
            </a:r>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(*pa)[4] = A;</a:t>
            </a:r>
          </a:p>
          <a:p>
            <a:pPr marL="914400" lvl="2" indent="0">
              <a:buNone/>
            </a:pP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&lt;&lt;*pa[1]&lt;&lt;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p>
          <a:p>
            <a:pPr marL="914400" lvl="2" indent="0">
              <a:buNone/>
            </a:pPr>
            <a:r>
              <a:rPr lang="en-US" altLang="zh-CN" b="1" dirty="0" err="1">
                <a:latin typeface="Courier New" panose="02070309020205020404" pitchFamily="49" charset="0"/>
                <a:cs typeface="Courier New" panose="02070309020205020404" pitchFamily="49" charset="0"/>
              </a:rPr>
              <a:t>cout</a:t>
            </a:r>
            <a:r>
              <a:rPr lang="en-US" altLang="zh-CN" b="1" dirty="0">
                <a:latin typeface="Courier New" panose="02070309020205020404" pitchFamily="49" charset="0"/>
                <a:cs typeface="Courier New" panose="02070309020205020404" pitchFamily="49" charset="0"/>
              </a:rPr>
              <a:t>&lt;&lt;(*pa)[1]&lt;&lt;</a:t>
            </a:r>
            <a:r>
              <a:rPr lang="en-US" altLang="zh-CN" b="1" dirty="0" err="1">
                <a:latin typeface="Courier New" panose="02070309020205020404" pitchFamily="49" charset="0"/>
                <a:cs typeface="Courier New" panose="02070309020205020404" pitchFamily="49" charset="0"/>
              </a:rPr>
              <a:t>endl</a:t>
            </a:r>
            <a:r>
              <a:rPr lang="en-US" altLang="zh-CN" b="1" dirty="0">
                <a:latin typeface="Courier New" panose="02070309020205020404" pitchFamily="49" charset="0"/>
                <a:cs typeface="Courier New" panose="02070309020205020404" pitchFamily="49" charset="0"/>
              </a:rPr>
              <a:t>;</a:t>
            </a:r>
          </a:p>
          <a:p>
            <a:pPr lvl="2"/>
            <a:endParaRPr lang="en-US" altLang="zh-CN" sz="1600" dirty="0"/>
          </a:p>
          <a:p>
            <a:pPr lvl="2"/>
            <a:r>
              <a:rPr lang="en-US" altLang="zh-CN" dirty="0"/>
              <a:t>pa[1] = *(pa+1)</a:t>
            </a:r>
          </a:p>
          <a:p>
            <a:pPr lvl="2"/>
            <a:r>
              <a:rPr lang="en-US" altLang="zh-CN" dirty="0" err="1">
                <a:solidFill>
                  <a:schemeClr val="tx2"/>
                </a:solidFill>
                <a:latin typeface="Courier New" panose="02070309020205020404" pitchFamily="49" charset="0"/>
                <a:cs typeface="Courier New" panose="02070309020205020404" pitchFamily="49" charset="0"/>
              </a:rPr>
              <a:t>cout</a:t>
            </a:r>
            <a:r>
              <a:rPr lang="en-US" altLang="zh-CN" dirty="0">
                <a:solidFill>
                  <a:schemeClr val="tx2"/>
                </a:solidFill>
                <a:latin typeface="Courier New" panose="02070309020205020404" pitchFamily="49" charset="0"/>
                <a:cs typeface="Courier New" panose="02070309020205020404" pitchFamily="49" charset="0"/>
              </a:rPr>
              <a:t>&lt;&lt;</a:t>
            </a:r>
            <a:r>
              <a:rPr lang="zh-CN" altLang="en-US" dirty="0">
                <a:solidFill>
                  <a:schemeClr val="tx2"/>
                </a:solidFill>
                <a:latin typeface="Courier New" panose="02070309020205020404" pitchFamily="49" charset="0"/>
                <a:cs typeface="Courier New" panose="02070309020205020404" pitchFamily="49" charset="0"/>
              </a:rPr>
              <a:t>*</a:t>
            </a:r>
            <a:r>
              <a:rPr lang="en-US" altLang="zh-CN" dirty="0">
                <a:solidFill>
                  <a:schemeClr val="tx2"/>
                </a:solidFill>
                <a:latin typeface="Courier New" panose="02070309020205020404" pitchFamily="49" charset="0"/>
                <a:cs typeface="Courier New" panose="02070309020205020404" pitchFamily="49" charset="0"/>
              </a:rPr>
              <a:t>(pa+1)[1]&lt;&lt;</a:t>
            </a:r>
            <a:r>
              <a:rPr lang="en-US" altLang="zh-CN" dirty="0" err="1">
                <a:solidFill>
                  <a:schemeClr val="tx2"/>
                </a:solidFill>
                <a:latin typeface="Courier New" panose="02070309020205020404" pitchFamily="49" charset="0"/>
                <a:cs typeface="Courier New" panose="02070309020205020404" pitchFamily="49" charset="0"/>
              </a:rPr>
              <a:t>endl</a:t>
            </a:r>
            <a:r>
              <a:rPr lang="en-US" altLang="zh-CN" dirty="0">
                <a:solidFill>
                  <a:schemeClr val="tx2"/>
                </a:solidFill>
                <a:latin typeface="Courier New" panose="02070309020205020404" pitchFamily="49" charset="0"/>
                <a:cs typeface="Courier New" panose="02070309020205020404" pitchFamily="49" charset="0"/>
              </a:rPr>
              <a:t>;    </a:t>
            </a:r>
          </a:p>
          <a:p>
            <a:pPr lvl="2"/>
            <a:r>
              <a:rPr lang="en-US" altLang="zh-CN" dirty="0">
                <a:solidFill>
                  <a:srgbClr val="007434"/>
                </a:solidFill>
                <a:latin typeface="Courier New" panose="02070309020205020404" pitchFamily="49" charset="0"/>
                <a:cs typeface="Courier New" panose="02070309020205020404" pitchFamily="49" charset="0"/>
              </a:rPr>
              <a:t>//</a:t>
            </a:r>
            <a:r>
              <a:rPr lang="zh-CN" altLang="en-US" dirty="0">
                <a:solidFill>
                  <a:srgbClr val="007434"/>
                </a:solidFill>
                <a:latin typeface="Courier New" panose="02070309020205020404" pitchFamily="49" charset="0"/>
                <a:cs typeface="Courier New" panose="02070309020205020404" pitchFamily="49" charset="0"/>
              </a:rPr>
              <a:t>输出</a:t>
            </a:r>
            <a:r>
              <a:rPr lang="en-US" altLang="zh-CN" dirty="0">
                <a:solidFill>
                  <a:srgbClr val="007434"/>
                </a:solidFill>
                <a:latin typeface="Courier New" panose="02070309020205020404" pitchFamily="49" charset="0"/>
                <a:cs typeface="Courier New" panose="02070309020205020404" pitchFamily="49" charset="0"/>
              </a:rPr>
              <a:t>9</a:t>
            </a:r>
            <a:r>
              <a:rPr lang="zh-CN" altLang="en-US" dirty="0">
                <a:solidFill>
                  <a:srgbClr val="007434"/>
                </a:solidFill>
                <a:latin typeface="Courier New" panose="02070309020205020404" pitchFamily="49" charset="0"/>
                <a:cs typeface="Courier New" panose="02070309020205020404" pitchFamily="49" charset="0"/>
              </a:rPr>
              <a:t>， **</a:t>
            </a:r>
            <a:r>
              <a:rPr lang="en-US" altLang="zh-CN" dirty="0">
                <a:solidFill>
                  <a:srgbClr val="007434"/>
                </a:solidFill>
                <a:latin typeface="Courier New" panose="02070309020205020404" pitchFamily="49" charset="0"/>
                <a:cs typeface="Courier New" panose="02070309020205020404" pitchFamily="49" charset="0"/>
              </a:rPr>
              <a:t>(pa+1+1)</a:t>
            </a:r>
          </a:p>
          <a:p>
            <a:pPr lvl="2"/>
            <a:endParaRPr lang="zh-CN" altLang="en-US" dirty="0"/>
          </a:p>
        </p:txBody>
      </p:sp>
      <p:sp>
        <p:nvSpPr>
          <p:cNvPr id="3" name="文本框 2">
            <a:extLst>
              <a:ext uri="{FF2B5EF4-FFF2-40B4-BE49-F238E27FC236}">
                <a16:creationId xmlns:a16="http://schemas.microsoft.com/office/drawing/2014/main" id="{2F89BCCD-E713-4325-9B75-2A013C33B177}"/>
              </a:ext>
            </a:extLst>
          </p:cNvPr>
          <p:cNvSpPr txBox="1"/>
          <p:nvPr/>
        </p:nvSpPr>
        <p:spPr>
          <a:xfrm>
            <a:off x="5940152" y="4069821"/>
            <a:ext cx="2411760" cy="1200329"/>
          </a:xfrm>
          <a:prstGeom prst="rect">
            <a:avLst/>
          </a:prstGeom>
          <a:noFill/>
        </p:spPr>
        <p:txBody>
          <a:bodyPr wrap="square" rtlCol="0">
            <a:spAutoFit/>
          </a:bodyPr>
          <a:lstStyle/>
          <a:p>
            <a:r>
              <a:rPr lang="zh-CN" altLang="en-US" sz="2400" b="1" dirty="0">
                <a:solidFill>
                  <a:schemeClr val="accent6">
                    <a:lumMod val="75000"/>
                  </a:schemeClr>
                </a:solidFill>
                <a:latin typeface="楷体" panose="02010609060101010101" pitchFamily="49" charset="-122"/>
                <a:ea typeface="楷体" panose="02010609060101010101" pitchFamily="49" charset="-122"/>
              </a:rPr>
              <a:t>输出结果：</a:t>
            </a:r>
            <a:endParaRPr lang="en-US" altLang="zh-CN" sz="2400" b="1" dirty="0">
              <a:solidFill>
                <a:schemeClr val="accent6">
                  <a:lumMod val="75000"/>
                </a:schemeClr>
              </a:solidFill>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5</a:t>
            </a:r>
          </a:p>
          <a:p>
            <a:r>
              <a:rPr lang="en-US" altLang="zh-CN" sz="2400" dirty="0">
                <a:latin typeface="楷体" panose="02010609060101010101" pitchFamily="49" charset="-122"/>
                <a:ea typeface="楷体" panose="02010609060101010101" pitchFamily="49" charset="-122"/>
              </a:rPr>
              <a:t>2</a:t>
            </a:r>
            <a:endParaRPr lang="zh-CN" altLang="en-US" sz="2400" dirty="0">
              <a:latin typeface="楷体" panose="02010609060101010101" pitchFamily="49" charset="-122"/>
              <a:ea typeface="楷体" panose="02010609060101010101" pitchFamily="49" charset="-122"/>
            </a:endParaRPr>
          </a:p>
        </p:txBody>
      </p:sp>
      <p:pic>
        <p:nvPicPr>
          <p:cNvPr id="15" name="Picture 2"/>
          <p:cNvPicPr>
            <a:picLocks noChangeAspect="1" noChangeArrowheads="1"/>
          </p:cNvPicPr>
          <p:nvPr/>
        </p:nvPicPr>
        <p:blipFill>
          <a:blip r:embed="rId4" cstate="print"/>
          <a:srcRect/>
          <a:stretch>
            <a:fillRect/>
          </a:stretch>
        </p:blipFill>
        <p:spPr bwMode="auto">
          <a:xfrm>
            <a:off x="6182782" y="1279566"/>
            <a:ext cx="2743165" cy="1905472"/>
          </a:xfrm>
          <a:prstGeom prst="rect">
            <a:avLst/>
          </a:prstGeom>
          <a:noFill/>
          <a:ln w="9525">
            <a:noFill/>
            <a:miter lim="800000"/>
            <a:headEnd/>
            <a:tailEnd/>
          </a:ln>
        </p:spPr>
      </p:pic>
      <p:sp>
        <p:nvSpPr>
          <p:cNvPr id="14" name="矩形 13">
            <a:hlinkClick r:id="rId5" action="ppaction://hlinksldjump"/>
            <a:extLst>
              <a:ext uri="{FF2B5EF4-FFF2-40B4-BE49-F238E27FC236}">
                <a16:creationId xmlns:a16="http://schemas.microsoft.com/office/drawing/2014/main" id="{BB0F1E46-B934-498A-85B2-B77CE23C1BB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6" name="矩形 15">
            <a:hlinkClick r:id="" action="ppaction://noaction"/>
            <a:extLst>
              <a:ext uri="{FF2B5EF4-FFF2-40B4-BE49-F238E27FC236}">
                <a16:creationId xmlns:a16="http://schemas.microsoft.com/office/drawing/2014/main" id="{1FE125BE-A283-4F8B-BE99-59259490A48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7" name="矩形 16">
            <a:hlinkClick r:id="" action="ppaction://noaction"/>
            <a:extLst>
              <a:ext uri="{FF2B5EF4-FFF2-40B4-BE49-F238E27FC236}">
                <a16:creationId xmlns:a16="http://schemas.microsoft.com/office/drawing/2014/main" id="{F722FCFF-9EEF-4B0A-BD3C-F275D53877B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8" name="矩形 17">
            <a:hlinkClick r:id="" action="ppaction://noaction"/>
            <a:extLst>
              <a:ext uri="{FF2B5EF4-FFF2-40B4-BE49-F238E27FC236}">
                <a16:creationId xmlns:a16="http://schemas.microsoft.com/office/drawing/2014/main" id="{2F83E081-D69D-42BD-837E-40F0E4D9171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9" name="矩形 18">
            <a:hlinkClick r:id="" action="ppaction://noaction"/>
            <a:extLst>
              <a:ext uri="{FF2B5EF4-FFF2-40B4-BE49-F238E27FC236}">
                <a16:creationId xmlns:a16="http://schemas.microsoft.com/office/drawing/2014/main" id="{F82E4E40-3C63-459F-B724-9F18E9AB379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20" name="矩形 19">
            <a:hlinkClick r:id="" action="ppaction://noaction"/>
            <a:extLst>
              <a:ext uri="{FF2B5EF4-FFF2-40B4-BE49-F238E27FC236}">
                <a16:creationId xmlns:a16="http://schemas.microsoft.com/office/drawing/2014/main" id="{685EB503-BEAA-4A03-99FE-4B232B03D64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21" name="矩形 20">
            <a:hlinkClick r:id="" action="ppaction://noaction"/>
            <a:extLst>
              <a:ext uri="{FF2B5EF4-FFF2-40B4-BE49-F238E27FC236}">
                <a16:creationId xmlns:a16="http://schemas.microsoft.com/office/drawing/2014/main" id="{0E37CB5D-D244-45E0-BBD6-1576E35E172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2" name="矩形 21">
            <a:hlinkClick r:id="" action="ppaction://noaction"/>
            <a:extLst>
              <a:ext uri="{FF2B5EF4-FFF2-40B4-BE49-F238E27FC236}">
                <a16:creationId xmlns:a16="http://schemas.microsoft.com/office/drawing/2014/main" id="{CEE90715-3AF1-48E1-9DD4-820F758056C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custDataLst>
      <p:tags r:id="rId1"/>
    </p:custDataLst>
    <p:extLst>
      <p:ext uri="{BB962C8B-B14F-4D97-AF65-F5344CB8AC3E}">
        <p14:creationId xmlns:p14="http://schemas.microsoft.com/office/powerpoint/2010/main" val="218218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extLst/>
          </p:nvPr>
        </p:nvGraphicFramePr>
        <p:xfrm>
          <a:off x="203751" y="1556791"/>
          <a:ext cx="8676861" cy="4824172"/>
        </p:xfrm>
        <a:graphic>
          <a:graphicData uri="http://schemas.openxmlformats.org/drawingml/2006/table">
            <a:tbl>
              <a:tblPr firstRow="1" firstCol="1" bandRow="1">
                <a:tableStyleId>{5C22544A-7EE6-4342-B048-85BDC9FD1C3A}</a:tableStyleId>
              </a:tblPr>
              <a:tblGrid>
                <a:gridCol w="1002417">
                  <a:extLst>
                    <a:ext uri="{9D8B030D-6E8A-4147-A177-3AD203B41FA5}">
                      <a16:colId xmlns:a16="http://schemas.microsoft.com/office/drawing/2014/main" val="4093955868"/>
                    </a:ext>
                  </a:extLst>
                </a:gridCol>
                <a:gridCol w="1000319">
                  <a:extLst>
                    <a:ext uri="{9D8B030D-6E8A-4147-A177-3AD203B41FA5}">
                      <a16:colId xmlns:a16="http://schemas.microsoft.com/office/drawing/2014/main" val="2574272476"/>
                    </a:ext>
                  </a:extLst>
                </a:gridCol>
                <a:gridCol w="2484783">
                  <a:extLst>
                    <a:ext uri="{9D8B030D-6E8A-4147-A177-3AD203B41FA5}">
                      <a16:colId xmlns:a16="http://schemas.microsoft.com/office/drawing/2014/main" val="1792194263"/>
                    </a:ext>
                  </a:extLst>
                </a:gridCol>
                <a:gridCol w="1653179">
                  <a:extLst>
                    <a:ext uri="{9D8B030D-6E8A-4147-A177-3AD203B41FA5}">
                      <a16:colId xmlns:a16="http://schemas.microsoft.com/office/drawing/2014/main" val="4080122434"/>
                    </a:ext>
                  </a:extLst>
                </a:gridCol>
                <a:gridCol w="2536163">
                  <a:extLst>
                    <a:ext uri="{9D8B030D-6E8A-4147-A177-3AD203B41FA5}">
                      <a16:colId xmlns:a16="http://schemas.microsoft.com/office/drawing/2014/main" val="2761209815"/>
                    </a:ext>
                  </a:extLst>
                </a:gridCol>
              </a:tblGrid>
              <a:tr h="326674">
                <a:tc>
                  <a:txBody>
                    <a:bodyPr/>
                    <a:lstStyle/>
                    <a:p>
                      <a:pPr algn="l">
                        <a:spcAft>
                          <a:spcPts val="0"/>
                        </a:spcAft>
                      </a:pPr>
                      <a:r>
                        <a:rPr lang="zh-CN" sz="1600" kern="100" dirty="0">
                          <a:effectLst/>
                        </a:rPr>
                        <a:t>表达式</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a:effectLst/>
                        </a:rPr>
                        <a:t>值</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含义</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等价的</a:t>
                      </a:r>
                      <a:r>
                        <a:rPr lang="en-US" sz="1600" kern="100" dirty="0">
                          <a:effectLst/>
                        </a:rPr>
                        <a:t>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表达式</a:t>
                      </a:r>
                      <a:r>
                        <a:rPr lang="en-US" sz="1600" kern="100" dirty="0">
                          <a:effectLst/>
                        </a:rPr>
                        <a:t>+1</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76154135"/>
                  </a:ext>
                </a:extLst>
              </a:tr>
              <a:tr h="499722">
                <a:tc>
                  <a:txBody>
                    <a:bodyPr/>
                    <a:lstStyle/>
                    <a:p>
                      <a:pPr algn="l">
                        <a:spcAft>
                          <a:spcPts val="0"/>
                        </a:spcAft>
                      </a:pPr>
                      <a:r>
                        <a:rPr lang="en-US" sz="1600" kern="100" dirty="0">
                          <a:effectLst/>
                        </a:rPr>
                        <a:t>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&amp;A[0]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a:t>
                      </a:r>
                      <a:r>
                        <a:rPr lang="zh-CN" sz="1600" kern="100" dirty="0">
                          <a:effectLst/>
                        </a:rPr>
                        <a:t>的首元素地址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altLang="zh-CN" sz="1600" kern="100" dirty="0">
                          <a:effectLst/>
                        </a:rPr>
                        <a:t>A+1,</a:t>
                      </a:r>
                      <a:r>
                        <a:rPr lang="zh-CN" sz="1600" kern="100" dirty="0">
                          <a:effectLst/>
                        </a:rPr>
                        <a:t>下一个</a:t>
                      </a:r>
                      <a:r>
                        <a:rPr lang="zh-CN" altLang="en-US" sz="1600" kern="100" dirty="0">
                          <a:effectLst/>
                        </a:rPr>
                        <a:t>一维数组</a:t>
                      </a:r>
                      <a:r>
                        <a:rPr lang="zh-CN" sz="1600" kern="100" dirty="0">
                          <a:effectLst/>
                        </a:rPr>
                        <a:t>的地址，即</a:t>
                      </a:r>
                      <a:r>
                        <a:rPr lang="en-US" sz="1600" kern="100" dirty="0">
                          <a:effectLst/>
                        </a:rPr>
                        <a:t>&amp;A[1]</a:t>
                      </a:r>
                      <a:r>
                        <a:rPr lang="zh-CN" sz="1600" kern="100" dirty="0">
                          <a:effectLst/>
                        </a:rPr>
                        <a:t>，相差</a:t>
                      </a:r>
                      <a:r>
                        <a:rPr lang="en-US" sz="1600" kern="100" dirty="0">
                          <a:effectLst/>
                        </a:rPr>
                        <a:t>16B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75040453"/>
                  </a:ext>
                </a:extLst>
              </a:tr>
              <a:tr h="499722">
                <a:tc>
                  <a:txBody>
                    <a:bodyPr/>
                    <a:lstStyle/>
                    <a:p>
                      <a:pPr algn="l">
                        <a:spcAft>
                          <a:spcPts val="0"/>
                        </a:spcAft>
                      </a:pPr>
                      <a:r>
                        <a:rPr lang="en-US" sz="1600" kern="100" dirty="0">
                          <a:effectLst/>
                        </a:rPr>
                        <a:t>&amp;A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a:t>
                      </a:r>
                      <a:r>
                        <a:rPr lang="zh-CN"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指向数组</a:t>
                      </a:r>
                      <a:r>
                        <a:rPr lang="en-US" sz="1600" kern="100" dirty="0">
                          <a:effectLst/>
                        </a:rPr>
                        <a:t>A</a:t>
                      </a:r>
                      <a:r>
                        <a:rPr lang="zh-CN" sz="1600" kern="100" dirty="0">
                          <a:effectLst/>
                        </a:rPr>
                        <a:t>的指针</a:t>
                      </a:r>
                      <a:r>
                        <a:rPr lang="zh-CN" altLang="en-US" sz="1600" kern="100" dirty="0">
                          <a:effectLst/>
                        </a:rPr>
                        <a:t>，其值为数组</a:t>
                      </a:r>
                      <a:r>
                        <a:rPr lang="en-US" altLang="zh-CN" sz="1600" kern="100" dirty="0">
                          <a:effectLst/>
                        </a:rPr>
                        <a:t>A</a:t>
                      </a:r>
                      <a:r>
                        <a:rPr lang="zh-CN" altLang="en-US"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&amp;pa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altLang="zh-CN" sz="1600" kern="100" dirty="0">
                          <a:effectLst/>
                        </a:rPr>
                        <a:t>&amp;A+1</a:t>
                      </a:r>
                      <a:r>
                        <a:rPr lang="zh-CN" altLang="en-US" sz="1600" kern="100" dirty="0">
                          <a:effectLst/>
                        </a:rPr>
                        <a:t>，</a:t>
                      </a:r>
                      <a:r>
                        <a:rPr lang="zh-CN" sz="1600" kern="100" dirty="0">
                          <a:effectLst/>
                        </a:rPr>
                        <a:t>下一个存储单元，相差</a:t>
                      </a:r>
                      <a:r>
                        <a:rPr lang="en-US" sz="1600" kern="100" dirty="0">
                          <a:effectLst/>
                        </a:rPr>
                        <a:t>48B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95947620"/>
                  </a:ext>
                </a:extLst>
              </a:tr>
              <a:tr h="499722">
                <a:tc>
                  <a:txBody>
                    <a:bodyPr/>
                    <a:lstStyle/>
                    <a:p>
                      <a:pPr algn="l">
                        <a:spcAft>
                          <a:spcPts val="0"/>
                        </a:spcAft>
                      </a:pPr>
                      <a:r>
                        <a:rPr lang="en-US" sz="1600" kern="100" dirty="0">
                          <a:effectLst/>
                        </a:rPr>
                        <a:t>*A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a:effectLst/>
                        </a:rPr>
                        <a:t>A[0]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A[0]</a:t>
                      </a:r>
                      <a:r>
                        <a:rPr lang="zh-CN" sz="1600" kern="100" dirty="0">
                          <a:effectLst/>
                        </a:rPr>
                        <a:t>的首元素地址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*pa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altLang="zh-CN" sz="1600" kern="100" dirty="0">
                          <a:effectLst/>
                        </a:rPr>
                        <a:t>*A+1</a:t>
                      </a:r>
                      <a:r>
                        <a:rPr lang="zh-CN" altLang="en-US" sz="1600" kern="100" dirty="0">
                          <a:effectLst/>
                        </a:rPr>
                        <a:t>，</a:t>
                      </a:r>
                      <a:r>
                        <a:rPr lang="zh-CN" sz="1600" kern="100" dirty="0">
                          <a:effectLst/>
                        </a:rPr>
                        <a:t>下一个元素的地址，即</a:t>
                      </a:r>
                      <a:r>
                        <a:rPr lang="en-US" sz="1600" kern="100" dirty="0">
                          <a:effectLst/>
                        </a:rPr>
                        <a:t>&amp;A[0][1]</a:t>
                      </a:r>
                      <a:r>
                        <a:rPr lang="zh-CN" sz="1600" kern="100" dirty="0">
                          <a:effectLst/>
                        </a:rPr>
                        <a:t>，相差</a:t>
                      </a:r>
                      <a:r>
                        <a:rPr lang="en-US" sz="1600" kern="100" dirty="0">
                          <a:effectLst/>
                        </a:rPr>
                        <a:t>4B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37206084"/>
                  </a:ext>
                </a:extLst>
              </a:tr>
              <a:tr h="499722">
                <a:tc>
                  <a:txBody>
                    <a:bodyPr/>
                    <a:lstStyle/>
                    <a:p>
                      <a:pPr algn="l">
                        <a:spcAft>
                          <a:spcPts val="0"/>
                        </a:spcAft>
                      </a:pPr>
                      <a:r>
                        <a:rPr lang="en-US" sz="1600" kern="100" dirty="0">
                          <a:effectLst/>
                        </a:rPr>
                        <a:t>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同</a:t>
                      </a:r>
                      <a:r>
                        <a:rPr lang="en-US" sz="1600" kern="100" dirty="0">
                          <a:effectLst/>
                        </a:rPr>
                        <a:t>*A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100" dirty="0">
                          <a:effectLst/>
                        </a:rPr>
                        <a:t>是数组</a:t>
                      </a:r>
                      <a:r>
                        <a:rPr lang="en-US" altLang="zh-CN" sz="1600" kern="100" dirty="0">
                          <a:effectLst/>
                        </a:rPr>
                        <a:t>A[0]</a:t>
                      </a:r>
                      <a:r>
                        <a:rPr lang="zh-CN" altLang="en-US" sz="1600" kern="100" dirty="0">
                          <a:effectLst/>
                        </a:rPr>
                        <a:t>名字，也是</a:t>
                      </a:r>
                      <a:r>
                        <a:rPr lang="en-US" altLang="zh-CN" sz="1600" kern="100" dirty="0">
                          <a:effectLst/>
                        </a:rPr>
                        <a:t>A[0]</a:t>
                      </a:r>
                      <a:r>
                        <a:rPr lang="zh-CN" altLang="en-US" sz="1600" kern="100" dirty="0">
                          <a:effectLst/>
                        </a:rPr>
                        <a:t>的首元素地址，即</a:t>
                      </a:r>
                      <a:r>
                        <a:rPr lang="en-US" altLang="zh-CN" sz="1600" kern="100" dirty="0">
                          <a:effectLst/>
                        </a:rPr>
                        <a:t>&amp;A[0][0]</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 *(pa+0)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a:solidFill>
                            <a:schemeClr val="dk1"/>
                          </a:solidFill>
                          <a:effectLst/>
                          <a:latin typeface="+mn-lt"/>
                          <a:ea typeface="+mn-ea"/>
                          <a:cs typeface="+mn-cs"/>
                        </a:rPr>
                        <a:t>A[0]+1</a:t>
                      </a:r>
                      <a:r>
                        <a:rPr lang="zh-CN" altLang="en-US" sz="1600" kern="100" dirty="0">
                          <a:effectLst/>
                        </a:rPr>
                        <a:t>，</a:t>
                      </a:r>
                      <a:r>
                        <a:rPr lang="zh-CN" altLang="zh-CN" sz="1600" kern="100" dirty="0">
                          <a:effectLst/>
                        </a:rPr>
                        <a:t>下一个元素的地址，即</a:t>
                      </a:r>
                      <a:r>
                        <a:rPr lang="en-US" altLang="zh-CN" sz="1600" kern="100" dirty="0">
                          <a:effectLst/>
                        </a:rPr>
                        <a:t>&amp;A[0][1]</a:t>
                      </a:r>
                      <a:r>
                        <a:rPr lang="zh-CN" altLang="zh-CN" sz="1600" kern="100" dirty="0">
                          <a:effectLst/>
                        </a:rPr>
                        <a:t>，相差</a:t>
                      </a:r>
                      <a:r>
                        <a:rPr lang="en-US" altLang="zh-CN" sz="1600" kern="100" dirty="0">
                          <a:effectLst/>
                        </a:rPr>
                        <a:t>4B</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88324043"/>
                  </a:ext>
                </a:extLst>
              </a:tr>
              <a:tr h="499722">
                <a:tc>
                  <a:txBody>
                    <a:bodyPr/>
                    <a:lstStyle/>
                    <a:p>
                      <a:pPr algn="l">
                        <a:spcAft>
                          <a:spcPts val="0"/>
                        </a:spcAft>
                      </a:pPr>
                      <a:r>
                        <a:rPr lang="en-US" sz="1600" kern="100" dirty="0">
                          <a:effectLst/>
                        </a:rPr>
                        <a:t>&amp;A[0]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altLang="en-US" sz="1600" kern="100" dirty="0">
                          <a:solidFill>
                            <a:schemeClr val="dk1"/>
                          </a:solidFill>
                          <a:effectLst/>
                          <a:latin typeface="+mn-lt"/>
                          <a:ea typeface="+mn-ea"/>
                          <a:cs typeface="+mn-cs"/>
                        </a:rPr>
                        <a:t>同</a:t>
                      </a:r>
                      <a:r>
                        <a:rPr lang="en-US" altLang="zh-CN" sz="1600" kern="100" dirty="0">
                          <a:solidFill>
                            <a:schemeClr val="dk1"/>
                          </a:solidFill>
                          <a:effectLst/>
                          <a:latin typeface="+mn-lt"/>
                          <a:ea typeface="+mn-ea"/>
                          <a:cs typeface="+mn-cs"/>
                        </a:rPr>
                        <a:t>A</a:t>
                      </a:r>
                      <a:endParaRPr lang="zh-CN" sz="1600" kern="100" dirty="0">
                        <a:solidFill>
                          <a:schemeClr val="dk1"/>
                        </a:solidFill>
                        <a:effectLst/>
                        <a:latin typeface="+mn-lt"/>
                        <a:ea typeface="+mn-ea"/>
                        <a:cs typeface="+mn-cs"/>
                      </a:endParaRPr>
                    </a:p>
                  </a:txBody>
                  <a:tcPr marL="68580" marR="68580" marT="0" marB="0" anchor="ctr"/>
                </a:tc>
                <a:tc>
                  <a:txBody>
                    <a:bodyPr/>
                    <a:lstStyle/>
                    <a:p>
                      <a:pPr algn="l">
                        <a:spcAft>
                          <a:spcPts val="0"/>
                        </a:spcAft>
                      </a:pPr>
                      <a:r>
                        <a:rPr lang="zh-CN" sz="1600" kern="100" dirty="0">
                          <a:effectLst/>
                        </a:rPr>
                        <a:t>指向数组</a:t>
                      </a:r>
                      <a:r>
                        <a:rPr lang="en-US" sz="1600" kern="100" dirty="0">
                          <a:effectLst/>
                        </a:rPr>
                        <a:t>A[0]</a:t>
                      </a:r>
                      <a:r>
                        <a:rPr lang="zh-CN" sz="1600" kern="100" dirty="0">
                          <a:effectLst/>
                        </a:rPr>
                        <a:t>的指针</a:t>
                      </a:r>
                      <a:r>
                        <a:rPr lang="zh-CN" altLang="en-US" sz="1600" kern="100" dirty="0">
                          <a:effectLst/>
                        </a:rPr>
                        <a:t>，其值为数组</a:t>
                      </a:r>
                      <a:r>
                        <a:rPr lang="en-US" altLang="zh-CN" sz="1600" kern="100" dirty="0">
                          <a:effectLst/>
                        </a:rPr>
                        <a:t>A[0]</a:t>
                      </a:r>
                      <a:r>
                        <a:rPr lang="zh-CN" altLang="en-US"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&amp;(*(pa+0))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a:effectLst/>
                        </a:rPr>
                        <a:t>&amp;A[0]+1</a:t>
                      </a:r>
                      <a:r>
                        <a:rPr lang="zh-CN" altLang="en-US" sz="1600" kern="100" dirty="0">
                          <a:effectLst/>
                        </a:rPr>
                        <a:t>，一维数组</a:t>
                      </a:r>
                      <a:r>
                        <a:rPr lang="en-US" altLang="zh-CN" sz="1600" kern="100" dirty="0">
                          <a:effectLst/>
                        </a:rPr>
                        <a:t>A[1]</a:t>
                      </a:r>
                      <a:r>
                        <a:rPr lang="zh-CN" altLang="en-US" sz="1600" kern="100" dirty="0">
                          <a:effectLst/>
                        </a:rPr>
                        <a:t>的地址</a:t>
                      </a:r>
                      <a:r>
                        <a:rPr lang="zh-CN" sz="1600" kern="100" dirty="0">
                          <a:effectLst/>
                        </a:rPr>
                        <a:t>，即</a:t>
                      </a:r>
                      <a:r>
                        <a:rPr lang="en-US" sz="1600" kern="100" dirty="0">
                          <a:effectLst/>
                        </a:rPr>
                        <a:t>&amp;A[1]</a:t>
                      </a:r>
                      <a:r>
                        <a:rPr lang="zh-CN" sz="1600" kern="100" dirty="0">
                          <a:effectLst/>
                        </a:rPr>
                        <a:t>，相差</a:t>
                      </a:r>
                      <a:r>
                        <a:rPr lang="en-US" sz="1600" kern="100" dirty="0">
                          <a:effectLst/>
                        </a:rPr>
                        <a:t>16B </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49380776"/>
                  </a:ext>
                </a:extLst>
              </a:tr>
              <a:tr h="499722">
                <a:tc>
                  <a:txBody>
                    <a:bodyPr/>
                    <a:lstStyle/>
                    <a:p>
                      <a:pPr algn="l">
                        <a:spcAft>
                          <a:spcPts val="0"/>
                        </a:spcAft>
                      </a:pPr>
                      <a:r>
                        <a:rPr lang="en-US" sz="1600" kern="100" dirty="0">
                          <a:effectLst/>
                        </a:rPr>
                        <a:t>*A[0]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a:effectLst/>
                        </a:rPr>
                        <a:t>A[0][0]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a:t>
                      </a:r>
                      <a:r>
                        <a:rPr lang="en-US" sz="1600" kern="100" dirty="0">
                          <a:effectLst/>
                        </a:rPr>
                        <a:t>A[0]</a:t>
                      </a:r>
                      <a:r>
                        <a:rPr lang="zh-CN" sz="1600" kern="100" dirty="0">
                          <a:effectLst/>
                        </a:rPr>
                        <a:t>的首元素值</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altLang="en-US" sz="1600" kern="100" dirty="0">
                          <a:effectLst/>
                        </a:rPr>
                        <a:t>*</a:t>
                      </a:r>
                      <a:r>
                        <a:rPr lang="en-US" altLang="zh-CN" sz="1600" kern="100" dirty="0">
                          <a:effectLst/>
                        </a:rPr>
                        <a:t>(</a:t>
                      </a:r>
                      <a:r>
                        <a:rPr lang="en-US" sz="1600" kern="100" dirty="0">
                          <a:effectLst/>
                        </a:rPr>
                        <a:t>*(pa+0)+0)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a:effectLst/>
                        </a:rPr>
                        <a:t>*A[0]+1</a:t>
                      </a:r>
                      <a:r>
                        <a:rPr lang="zh-CN" altLang="en-US" sz="1600" kern="100" dirty="0">
                          <a:effectLst/>
                        </a:rPr>
                        <a:t>，</a:t>
                      </a:r>
                      <a:r>
                        <a:rPr lang="zh-CN" altLang="zh-CN" sz="1600" kern="100" dirty="0">
                          <a:effectLst/>
                        </a:rPr>
                        <a:t>数组</a:t>
                      </a:r>
                      <a:r>
                        <a:rPr lang="en-US" altLang="zh-CN" sz="1600" kern="100" dirty="0">
                          <a:effectLst/>
                        </a:rPr>
                        <a:t>A[0]</a:t>
                      </a:r>
                      <a:r>
                        <a:rPr lang="zh-CN" altLang="zh-CN" sz="1600" kern="100" dirty="0">
                          <a:effectLst/>
                        </a:rPr>
                        <a:t>的首元素值</a:t>
                      </a:r>
                      <a:r>
                        <a:rPr lang="zh-CN" altLang="en-US" sz="1600" kern="100" dirty="0">
                          <a:effectLst/>
                        </a:rPr>
                        <a:t>加</a:t>
                      </a:r>
                      <a:r>
                        <a:rPr lang="en-US" altLang="zh-CN" sz="1600" kern="100" dirty="0">
                          <a:effectLst/>
                        </a:rPr>
                        <a:t>1</a:t>
                      </a:r>
                      <a:r>
                        <a:rPr lang="zh-CN" altLang="en-US" sz="1600" kern="100" dirty="0">
                          <a:effectLst/>
                        </a:rPr>
                        <a:t>，即</a:t>
                      </a:r>
                      <a:r>
                        <a:rPr lang="en-US" sz="1600" kern="100" dirty="0">
                          <a:effectLst/>
                        </a:rPr>
                        <a:t>A[0][0]+1</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46264917"/>
                  </a:ext>
                </a:extLst>
              </a:tr>
              <a:tr h="499722">
                <a:tc>
                  <a:txBody>
                    <a:bodyPr/>
                    <a:lstStyle/>
                    <a:p>
                      <a:pPr algn="l">
                        <a:spcAft>
                          <a:spcPts val="0"/>
                        </a:spcAft>
                      </a:pPr>
                      <a:r>
                        <a:rPr lang="en-US" sz="1600" kern="100" dirty="0">
                          <a:effectLst/>
                        </a:rPr>
                        <a:t>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100" dirty="0">
                          <a:solidFill>
                            <a:schemeClr val="dk1"/>
                          </a:solidFill>
                          <a:effectLst/>
                          <a:latin typeface="+mn-lt"/>
                          <a:ea typeface="+mn-ea"/>
                          <a:cs typeface="+mn-cs"/>
                        </a:rPr>
                        <a:t>同</a:t>
                      </a:r>
                      <a:r>
                        <a:rPr lang="en-US" altLang="zh-CN" sz="1600" kern="100" dirty="0">
                          <a:effectLst/>
                        </a:rPr>
                        <a:t>*A[0]</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600" kern="100" dirty="0">
                          <a:solidFill>
                            <a:schemeClr val="dk1"/>
                          </a:solidFill>
                          <a:effectLst/>
                          <a:latin typeface="+mn-lt"/>
                          <a:ea typeface="+mn-ea"/>
                          <a:cs typeface="+mn-cs"/>
                        </a:rPr>
                        <a:t>数组</a:t>
                      </a:r>
                      <a:r>
                        <a:rPr lang="en-US" altLang="zh-CN" sz="1600" kern="100" dirty="0">
                          <a:solidFill>
                            <a:schemeClr val="dk1"/>
                          </a:solidFill>
                          <a:effectLst/>
                          <a:latin typeface="+mn-lt"/>
                          <a:ea typeface="+mn-ea"/>
                          <a:cs typeface="+mn-cs"/>
                        </a:rPr>
                        <a:t>A[0]</a:t>
                      </a:r>
                      <a:r>
                        <a:rPr lang="zh-CN" altLang="zh-CN" sz="1600" kern="100" dirty="0">
                          <a:solidFill>
                            <a:schemeClr val="dk1"/>
                          </a:solidFill>
                          <a:effectLst/>
                          <a:latin typeface="+mn-lt"/>
                          <a:ea typeface="+mn-ea"/>
                          <a:cs typeface="+mn-cs"/>
                        </a:rPr>
                        <a:t>的首元素值</a:t>
                      </a:r>
                    </a:p>
                  </a:txBody>
                  <a:tcPr marL="68580" marR="68580" marT="0" marB="0" anchor="ctr"/>
                </a:tc>
                <a:tc>
                  <a:txBody>
                    <a:bodyPr/>
                    <a:lstStyle/>
                    <a:p>
                      <a:pPr algn="l">
                        <a:spcAft>
                          <a:spcPts val="0"/>
                        </a:spcAft>
                      </a:pPr>
                      <a:r>
                        <a:rPr lang="en-US" sz="1600" kern="100" dirty="0">
                          <a:effectLst/>
                        </a:rPr>
                        <a:t>*(*(pa+0)+0)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a:solidFill>
                            <a:schemeClr val="dk1"/>
                          </a:solidFill>
                          <a:effectLst/>
                          <a:latin typeface="+mn-lt"/>
                          <a:ea typeface="+mn-ea"/>
                          <a:cs typeface="+mn-cs"/>
                        </a:rPr>
                        <a:t>A[0][0]+1</a:t>
                      </a:r>
                      <a:endParaRPr lang="zh-CN" altLang="zh-CN" sz="1600" kern="100" dirty="0">
                        <a:solidFill>
                          <a:schemeClr val="dk1"/>
                        </a:solidFill>
                        <a:effectLst/>
                        <a:latin typeface="+mn-lt"/>
                        <a:ea typeface="+mn-ea"/>
                        <a:cs typeface="+mn-cs"/>
                      </a:endParaRPr>
                    </a:p>
                  </a:txBody>
                  <a:tcPr marL="68580" marR="68580" marT="0" marB="0" anchor="ctr"/>
                </a:tc>
                <a:extLst>
                  <a:ext uri="{0D108BD9-81ED-4DB2-BD59-A6C34878D82A}">
                    <a16:rowId xmlns:a16="http://schemas.microsoft.com/office/drawing/2014/main" val="581928838"/>
                  </a:ext>
                </a:extLst>
              </a:tr>
              <a:tr h="499722">
                <a:tc>
                  <a:txBody>
                    <a:bodyPr/>
                    <a:lstStyle/>
                    <a:p>
                      <a:pPr algn="l">
                        <a:spcAft>
                          <a:spcPts val="0"/>
                        </a:spcAft>
                      </a:pPr>
                      <a:r>
                        <a:rPr lang="en-US" sz="1600" kern="100" dirty="0">
                          <a:effectLst/>
                        </a:rPr>
                        <a:t>&amp;A[0][0]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A[0][0]</a:t>
                      </a:r>
                      <a:r>
                        <a:rPr lang="zh-CN" sz="1600" kern="100" dirty="0">
                          <a:effectLst/>
                        </a:rPr>
                        <a:t>的地址</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数组元素</a:t>
                      </a:r>
                      <a:r>
                        <a:rPr lang="en-US" sz="1600" kern="100" dirty="0">
                          <a:effectLst/>
                        </a:rPr>
                        <a:t>A[0][0]</a:t>
                      </a:r>
                      <a:r>
                        <a:rPr lang="zh-CN" sz="1600" kern="100" dirty="0">
                          <a:effectLst/>
                        </a:rPr>
                        <a:t>的地址</a:t>
                      </a:r>
                      <a:r>
                        <a:rPr lang="zh-CN" altLang="en-US" sz="1600" kern="100" dirty="0">
                          <a:effectLst/>
                        </a:rPr>
                        <a:t>，同</a:t>
                      </a:r>
                      <a:r>
                        <a:rPr lang="en-US" altLang="zh-CN" sz="1600" kern="100" dirty="0">
                          <a:effectLst/>
                        </a:rPr>
                        <a:t>A[0]</a:t>
                      </a:r>
                    </a:p>
                  </a:txBody>
                  <a:tcPr marL="68580" marR="68580" marT="0" marB="0" anchor="ctr"/>
                </a:tc>
                <a:tc>
                  <a:txBody>
                    <a:bodyPr/>
                    <a:lstStyle/>
                    <a:p>
                      <a:pPr algn="l">
                        <a:spcAft>
                          <a:spcPts val="0"/>
                        </a:spcAft>
                      </a:pPr>
                      <a:r>
                        <a:rPr lang="en-US" sz="1600" kern="100" dirty="0">
                          <a:effectLst/>
                        </a:rPr>
                        <a:t>&amp;(*(*(pa+0)+0))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a:effectLst/>
                        </a:rPr>
                        <a:t>&amp;A[0][0]+1</a:t>
                      </a:r>
                      <a:r>
                        <a:rPr lang="zh-CN" altLang="en-US" sz="1600" kern="100" dirty="0">
                          <a:effectLst/>
                        </a:rPr>
                        <a:t>，</a:t>
                      </a:r>
                      <a:r>
                        <a:rPr lang="zh-CN" sz="1600" kern="100" dirty="0">
                          <a:effectLst/>
                        </a:rPr>
                        <a:t>下一个元素的地址，即</a:t>
                      </a:r>
                      <a:r>
                        <a:rPr lang="en-US" sz="1600" kern="100" dirty="0">
                          <a:effectLst/>
                        </a:rPr>
                        <a:t>&amp;A[0][1]</a:t>
                      </a:r>
                      <a:r>
                        <a:rPr lang="zh-CN" sz="1600" kern="100" dirty="0">
                          <a:effectLst/>
                        </a:rPr>
                        <a:t>，相差</a:t>
                      </a:r>
                      <a:r>
                        <a:rPr lang="en-US" sz="1600" kern="100" dirty="0">
                          <a:effectLst/>
                        </a:rPr>
                        <a:t>4B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03249311"/>
                  </a:ext>
                </a:extLst>
              </a:tr>
              <a:tr h="499722">
                <a:tc>
                  <a:txBody>
                    <a:bodyPr/>
                    <a:lstStyle/>
                    <a:p>
                      <a:pPr algn="l">
                        <a:spcAft>
                          <a:spcPts val="0"/>
                        </a:spcAft>
                      </a:pPr>
                      <a:r>
                        <a:rPr lang="en-US" sz="1600" kern="100" dirty="0">
                          <a:effectLst/>
                        </a:rPr>
                        <a:t>*A[0][0]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1600" kern="100" dirty="0">
                          <a:effectLst/>
                        </a:rPr>
                        <a:t>语法错误</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1600" kern="100" dirty="0">
                          <a:effectLst/>
                        </a:rPr>
                        <a:t>×</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36666427"/>
                  </a:ext>
                </a:extLst>
              </a:tr>
            </a:tbl>
          </a:graphicData>
        </a:graphic>
      </p:graphicFrame>
      <p:sp>
        <p:nvSpPr>
          <p:cNvPr id="14" name="标题 1"/>
          <p:cNvSpPr>
            <a:spLocks noGrp="1"/>
          </p:cNvSpPr>
          <p:nvPr>
            <p:ph type="title"/>
          </p:nvPr>
        </p:nvSpPr>
        <p:spPr>
          <a:xfrm>
            <a:off x="107503" y="986433"/>
            <a:ext cx="8773109" cy="498351"/>
          </a:xfrm>
        </p:spPr>
        <p:txBody>
          <a:bodyPr/>
          <a:lstStyle/>
          <a:p>
            <a:r>
              <a:rPr lang="zh-CN" altLang="en-US" sz="2800" dirty="0">
                <a:solidFill>
                  <a:schemeClr val="tx1"/>
                </a:solidFill>
              </a:rPr>
              <a:t>设</a:t>
            </a:r>
            <a:r>
              <a:rPr lang="en-US" altLang="zh-CN" sz="2800" dirty="0">
                <a:solidFill>
                  <a:schemeClr val="tx1"/>
                </a:solidFill>
              </a:rPr>
              <a:t>A[3][4]</a:t>
            </a:r>
            <a:r>
              <a:rPr lang="zh-CN" altLang="en-US" sz="2800" dirty="0">
                <a:solidFill>
                  <a:schemeClr val="tx1"/>
                </a:solidFill>
              </a:rPr>
              <a:t>为整型二维数组，将</a:t>
            </a:r>
            <a:r>
              <a:rPr lang="en-US" altLang="zh-CN" sz="2800" dirty="0">
                <a:solidFill>
                  <a:schemeClr val="tx1"/>
                </a:solidFill>
              </a:rPr>
              <a:t>A</a:t>
            </a:r>
            <a:r>
              <a:rPr lang="zh-CN" altLang="en-US" sz="2800" dirty="0">
                <a:solidFill>
                  <a:schemeClr val="tx1"/>
                </a:solidFill>
              </a:rPr>
              <a:t>赋值给一维数组指针</a:t>
            </a:r>
            <a:r>
              <a:rPr lang="en-US" altLang="zh-CN" sz="2800" dirty="0">
                <a:solidFill>
                  <a:schemeClr val="tx1"/>
                </a:solidFill>
              </a:rPr>
              <a:t>pa</a:t>
            </a:r>
            <a:endParaRPr lang="zh-CN" altLang="en-US" sz="2800" dirty="0">
              <a:solidFill>
                <a:schemeClr val="tx1"/>
              </a:solidFill>
            </a:endParaRPr>
          </a:p>
        </p:txBody>
      </p:sp>
      <p:sp>
        <p:nvSpPr>
          <p:cNvPr id="15" name="矩形 14">
            <a:hlinkClick r:id="rId2" action="ppaction://hlinksldjump"/>
            <a:extLst>
              <a:ext uri="{FF2B5EF4-FFF2-40B4-BE49-F238E27FC236}">
                <a16:creationId xmlns:a16="http://schemas.microsoft.com/office/drawing/2014/main" id="{AF66BF15-96BA-448D-87D5-FF591EC973A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6" name="矩形 15">
            <a:hlinkClick r:id="" action="ppaction://noaction"/>
            <a:extLst>
              <a:ext uri="{FF2B5EF4-FFF2-40B4-BE49-F238E27FC236}">
                <a16:creationId xmlns:a16="http://schemas.microsoft.com/office/drawing/2014/main" id="{3121F425-1312-4BF0-A3FD-6D9C192B4FE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7" name="矩形 16">
            <a:hlinkClick r:id="" action="ppaction://noaction"/>
            <a:extLst>
              <a:ext uri="{FF2B5EF4-FFF2-40B4-BE49-F238E27FC236}">
                <a16:creationId xmlns:a16="http://schemas.microsoft.com/office/drawing/2014/main" id="{CF7F0409-A271-4760-8CBF-6B1181B2BCB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8" name="矩形 17">
            <a:hlinkClick r:id="" action="ppaction://noaction"/>
            <a:extLst>
              <a:ext uri="{FF2B5EF4-FFF2-40B4-BE49-F238E27FC236}">
                <a16:creationId xmlns:a16="http://schemas.microsoft.com/office/drawing/2014/main" id="{5186F81E-601A-4244-858D-D970EEEF8C4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9" name="矩形 18">
            <a:hlinkClick r:id="" action="ppaction://noaction"/>
            <a:extLst>
              <a:ext uri="{FF2B5EF4-FFF2-40B4-BE49-F238E27FC236}">
                <a16:creationId xmlns:a16="http://schemas.microsoft.com/office/drawing/2014/main" id="{61A8B39C-67EA-4AE5-835C-B54CFC8A5D3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20" name="矩形 19">
            <a:hlinkClick r:id="" action="ppaction://noaction"/>
            <a:extLst>
              <a:ext uri="{FF2B5EF4-FFF2-40B4-BE49-F238E27FC236}">
                <a16:creationId xmlns:a16="http://schemas.microsoft.com/office/drawing/2014/main" id="{4366D108-C883-43ED-AEDE-9BF1D650455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21" name="矩形 20">
            <a:hlinkClick r:id="" action="ppaction://noaction"/>
            <a:extLst>
              <a:ext uri="{FF2B5EF4-FFF2-40B4-BE49-F238E27FC236}">
                <a16:creationId xmlns:a16="http://schemas.microsoft.com/office/drawing/2014/main" id="{C5070933-39DD-47A8-840C-09F251D2EE8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2" name="矩形 21">
            <a:hlinkClick r:id="" action="ppaction://noaction"/>
            <a:extLst>
              <a:ext uri="{FF2B5EF4-FFF2-40B4-BE49-F238E27FC236}">
                <a16:creationId xmlns:a16="http://schemas.microsoft.com/office/drawing/2014/main" id="{5F59F630-C6DA-4792-B81B-C7FEC866508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23826761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5516" y="1196752"/>
            <a:ext cx="8712968" cy="4628190"/>
          </a:xfrm>
          <a:prstGeom prst="rect">
            <a:avLst/>
          </a:prstGeom>
        </p:spPr>
        <p:txBody>
          <a:bodyPr wrap="square">
            <a:spAutoFit/>
          </a:bodyPr>
          <a:lstStyle/>
          <a:p>
            <a:pPr algn="just">
              <a:lnSpc>
                <a:spcPct val="150000"/>
              </a:lnSpc>
              <a:spcAft>
                <a:spcPts val="0"/>
              </a:spcAft>
            </a:pPr>
            <a:r>
              <a:rPr lang="en-US" altLang="zh-CN" b="1" kern="100" dirty="0" err="1">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 A[3][4]={0,2,4,6,8,10,12,14,16,18,20,22};</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a:solidFill>
                  <a:srgbClr val="0000FF"/>
                </a:solidFill>
                <a:latin typeface="Courier New" panose="02070309020205020404" pitchFamily="49" charset="0"/>
                <a:ea typeface="宋体" panose="02010600030101010101" pitchFamily="2" charset="-122"/>
                <a:cs typeface="Courier New" panose="02070309020205020404" pitchFamily="49" charset="0"/>
              </a:rPr>
              <a:t>int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 (*pa)[4];</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a:latin typeface="Courier New" panose="02070309020205020404" pitchFamily="49" charset="0"/>
                <a:ea typeface="宋体" panose="02010600030101010101" pitchFamily="2" charset="-122"/>
                <a:cs typeface="Courier New" panose="02070309020205020404" pitchFamily="49" charset="0"/>
              </a:rPr>
              <a:t>pa = A;</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&lt;&lt;"A="&lt;&lt;A&lt;&lt;",A+1="&lt;&lt;A+1&lt;&lt;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&lt;&lt;"&amp;A="&lt;&lt;&amp;A&lt;&lt;",&amp;A+1="&lt;&lt;&amp;A+1&lt;&lt;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&lt;&lt;"*A="&lt;&lt;*A&lt;&lt;",*A+1="&lt;&lt;*A+1&lt;&lt;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&lt;&lt;"A[0]="&lt;&lt;A[0]&lt;&lt;",A[0]+1="&lt;&lt;A[0]+1&lt;&lt;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&lt;&lt;"&amp;A[0]="&lt;&lt;&amp;A[0]&lt;&lt;",&amp;A[0]+1="&lt;&lt;&amp;A[0]+1&lt;&lt;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&lt;&lt;"*A[0]="&lt;&lt;*A[0]&lt;&lt;",*A[0]+1="&lt;&lt;*A[0]+1&lt;&lt;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&lt;&lt;"A[0][0]="&lt;&lt;A[0][0]&lt;&lt;",A[0][0]+1="&lt;&lt;A[0][0]+1&lt;&lt;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a:p>
            <a:pPr algn="just">
              <a:lnSpc>
                <a:spcPct val="150000"/>
              </a:lnSpc>
              <a:spcAft>
                <a:spcPts val="0"/>
              </a:spcAft>
            </a:pP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&lt;&lt;"&amp;A[0][0]="&lt;&lt;&amp;A[0][0]&lt;&lt;",&amp;A[0][0]+1="&lt;&lt;&amp;A[0][0]+1&lt;&lt;</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zh-CN" b="1" kern="100" dirty="0">
              <a:latin typeface="Courier New" panose="02070309020205020404" pitchFamily="49" charset="0"/>
              <a:ea typeface="宋体" panose="02010600030101010101" pitchFamily="2" charset="-122"/>
              <a:cs typeface="Courier New" panose="02070309020205020404" pitchFamily="49" charset="0"/>
            </a:endParaRPr>
          </a:p>
        </p:txBody>
      </p:sp>
      <p:sp>
        <p:nvSpPr>
          <p:cNvPr id="12" name="矩形 11">
            <a:hlinkClick r:id="rId2" action="ppaction://hlinksldjump"/>
            <a:extLst>
              <a:ext uri="{FF2B5EF4-FFF2-40B4-BE49-F238E27FC236}">
                <a16:creationId xmlns:a16="http://schemas.microsoft.com/office/drawing/2014/main" id="{F51F7A31-1B48-4402-B639-FC00BDC54EE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93F3F301-AEE4-4F5B-AD61-3C4C5811728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ABFAE2F0-87A3-4352-BCAE-68C1902A64A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0AE3DAA6-1A7C-4120-A24C-3F5B6DDA6F4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9A955C42-36F1-4811-8514-9D329CB45A3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p>
        </p:txBody>
      </p:sp>
      <p:sp>
        <p:nvSpPr>
          <p:cNvPr id="17" name="矩形 16">
            <a:hlinkClick r:id="" action="ppaction://noaction"/>
            <a:extLst>
              <a:ext uri="{FF2B5EF4-FFF2-40B4-BE49-F238E27FC236}">
                <a16:creationId xmlns:a16="http://schemas.microsoft.com/office/drawing/2014/main" id="{BACB3FBB-4346-4DD9-9324-E68052FDBDF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0C37A275-1FD5-4621-AF7E-02CB26F9C72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7D7784BA-D56F-40CC-AEA4-E790A10BDF1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29046148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5B2A36D-3A50-4D9A-A5C0-28D0A0DCE196}"/>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若有以下定义“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(*p)[4];”</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，则标识符</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的含义是（      ）</a:t>
            </a:r>
          </a:p>
        </p:txBody>
      </p:sp>
      <p:sp>
        <p:nvSpPr>
          <p:cNvPr id="7" name="文本框 6">
            <a:extLst>
              <a:ext uri="{FF2B5EF4-FFF2-40B4-BE49-F238E27FC236}">
                <a16:creationId xmlns:a16="http://schemas.microsoft.com/office/drawing/2014/main" id="{20450109-2E38-40B0-89EC-C118F0A1B187}"/>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一个指向整型变量的指针</a:t>
            </a:r>
          </a:p>
        </p:txBody>
      </p:sp>
      <p:sp>
        <p:nvSpPr>
          <p:cNvPr id="8" name="文本框 7">
            <a:extLst>
              <a:ext uri="{FF2B5EF4-FFF2-40B4-BE49-F238E27FC236}">
                <a16:creationId xmlns:a16="http://schemas.microsoft.com/office/drawing/2014/main" id="{8C4103AA-84EE-4C42-A47F-138E2F5E9EF7}"/>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一个指针数组名</a:t>
            </a:r>
          </a:p>
        </p:txBody>
      </p:sp>
      <p:sp>
        <p:nvSpPr>
          <p:cNvPr id="9" name="文本框 8">
            <a:extLst>
              <a:ext uri="{FF2B5EF4-FFF2-40B4-BE49-F238E27FC236}">
                <a16:creationId xmlns:a16="http://schemas.microsoft.com/office/drawing/2014/main" id="{262F95EE-7679-4268-9132-4154D207FBCF}"/>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一个指针，它指向一个含有４个整型元素的一维数组</a:t>
            </a:r>
          </a:p>
        </p:txBody>
      </p:sp>
      <p:sp>
        <p:nvSpPr>
          <p:cNvPr id="10" name="文本框 9">
            <a:extLst>
              <a:ext uri="{FF2B5EF4-FFF2-40B4-BE49-F238E27FC236}">
                <a16:creationId xmlns:a16="http://schemas.microsoft.com/office/drawing/2014/main" id="{1E496028-A2A5-4897-BA7B-86455343C10C}"/>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说明不合法</a:t>
            </a:r>
          </a:p>
        </p:txBody>
      </p:sp>
      <p:sp>
        <p:nvSpPr>
          <p:cNvPr id="11" name="椭圆 10">
            <a:extLst>
              <a:ext uri="{FF2B5EF4-FFF2-40B4-BE49-F238E27FC236}">
                <a16:creationId xmlns:a16="http://schemas.microsoft.com/office/drawing/2014/main" id="{01FF3956-ED6F-4081-B7E8-A704445397F2}"/>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4337E2B-56F2-45DA-ACA6-C69AB7BE9F7F}"/>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60A78703-37E8-4ED1-A8B9-FDEFF7AC99A5}"/>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FA5C00FC-36BF-4958-BF92-C7403E3CF177}"/>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54FA8A2C-61BB-464C-8293-AB2A95F9F8DB}"/>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31F7AA9F-1A2D-4F21-9C37-04A5147C4833}"/>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09AAD752-F72D-4BEE-8B42-67A7EF6ABCE4}"/>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3DD7C6CC-C112-4769-807C-BDCC95FDF3E1}"/>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D69A0E50-D8BF-4240-8490-A54FA3DF9A2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C7AB82B8-EF6F-45B9-B0E9-36CB4D9DA54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D0951EFE-718C-4A35-9389-E26D7A115991}"/>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997264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DD50693-A0BF-482E-B551-E88F1D9BE5B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若有以下定义和语句：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s[4][5],(*p)[5];    p=s;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则指针对</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数组中第三个元素的正确引用形式是（        ）</a:t>
            </a:r>
          </a:p>
        </p:txBody>
      </p:sp>
      <p:sp>
        <p:nvSpPr>
          <p:cNvPr id="7" name="文本框 6">
            <a:extLst>
              <a:ext uri="{FF2B5EF4-FFF2-40B4-BE49-F238E27FC236}">
                <a16:creationId xmlns:a16="http://schemas.microsoft.com/office/drawing/2014/main" id="{18B9D2E7-770A-44BE-BDE0-71BBFA0955B3}"/>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p[0][3]</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ACEC8D3E-B5E3-498F-99FD-6A6C7843348F}"/>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p[1][2]</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67713974-EEE4-45A9-9698-F6097E3BD187}"/>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p[0][2]</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59386089-A9B6-4E20-9AE2-BA1333046F2D}"/>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p[1][3]</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8BA3FF2B-D291-4AFE-92A6-D8560E2D3E61}"/>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B60A2959-4382-4893-B289-7B11827D8D01}"/>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72492E99-1D34-41C0-860A-E0CAF37C59AF}"/>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1C4F6B1A-6FDA-4185-A1C9-69300C0C16D6}"/>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874E3DF5-4AC9-446B-AA5C-86BF6CCA805C}"/>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CAAD98F5-A1DF-4D8B-8588-CB24E96DD5B1}"/>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2F212FDE-6D34-453E-92D3-E3D6F3D1243A}"/>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967E6A48-054A-43D3-9479-60FDC9FC18FC}"/>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F159817E-8A44-4B20-9CBF-2B117907955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D0AF1FFC-47C5-4A78-AA7A-2EB1F862866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B21BE5C7-50E5-4C9C-A594-224A3EC8682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9936056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8C4151-EBE6-482B-B16D-B9EEF325E385}"/>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a[3][2] ={1,2,3,4,5,6}, (*p)[2]=a1;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(*(p+2)+1)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的值是</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BDD5B11D-82F3-43B0-B42B-0144AA207DAA}"/>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6A904C46-B6AC-4236-A71C-593E8BB733CA}"/>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0" name="组合 9">
            <a:extLst>
              <a:ext uri="{FF2B5EF4-FFF2-40B4-BE49-F238E27FC236}">
                <a16:creationId xmlns:a16="http://schemas.microsoft.com/office/drawing/2014/main" id="{F35DC9B9-76C5-4AFD-BF96-463E4034246F}"/>
              </a:ext>
            </a:extLst>
          </p:cNvPr>
          <p:cNvGrpSpPr/>
          <p:nvPr>
            <p:custDataLst>
              <p:tags r:id="rId5"/>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D1CDE551-1CCA-4D1C-BA56-406A05D911A2}"/>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4690B118-FB92-421B-9381-D603C7343CFA}"/>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7E3D754E-4DF1-48A1-AF50-85BFAF2A2A8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9" name="TipText">
              <a:extLst>
                <a:ext uri="{FF2B5EF4-FFF2-40B4-BE49-F238E27FC236}">
                  <a16:creationId xmlns:a16="http://schemas.microsoft.com/office/drawing/2014/main" id="{7EFB1A25-1923-4B48-956F-99769970E609}"/>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8DD03425-F003-422A-AF19-7C9173CA7CAB}"/>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6619646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指针数组</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399899757"/>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指针数组</a:t>
            </a:r>
          </a:p>
        </p:txBody>
      </p:sp>
      <p:sp>
        <p:nvSpPr>
          <p:cNvPr id="3" name="内容占位符 2"/>
          <p:cNvSpPr>
            <a:spLocks noGrp="1"/>
          </p:cNvSpPr>
          <p:nvPr>
            <p:ph idx="1"/>
          </p:nvPr>
        </p:nvSpPr>
        <p:spPr>
          <a:xfrm>
            <a:off x="323528" y="1916832"/>
            <a:ext cx="8686800" cy="4407768"/>
          </a:xfrm>
        </p:spPr>
        <p:txBody>
          <a:bodyPr/>
          <a:lstStyle/>
          <a:p>
            <a:r>
              <a:rPr lang="zh-CN" altLang="en-US" dirty="0"/>
              <a:t>由指针变量（或指针表达式）构成的数组，数组中每个元素都是指针</a:t>
            </a:r>
            <a:endParaRPr lang="en-US" altLang="zh-CN" dirty="0"/>
          </a:p>
          <a:p>
            <a:pPr lvl="1"/>
            <a:r>
              <a:rPr lang="zh-CN" altLang="en-US" sz="2800" dirty="0">
                <a:solidFill>
                  <a:schemeClr val="tx1"/>
                </a:solidFill>
              </a:rPr>
              <a:t>其说明格式为(一维数组时)：</a:t>
            </a:r>
            <a:endParaRPr lang="en-US" altLang="zh-CN" sz="2800" dirty="0">
              <a:solidFill>
                <a:schemeClr val="tx1"/>
              </a:solidFill>
            </a:endParaRPr>
          </a:p>
          <a:p>
            <a:pPr lvl="2"/>
            <a:r>
              <a:rPr lang="zh-CN" altLang="en-US" sz="2400" dirty="0"/>
              <a:t>&lt;类型名&gt; * &lt;数组名&gt; [ &lt;元素个数&gt; ]</a:t>
            </a:r>
            <a:endParaRPr lang="en-US" altLang="zh-CN" sz="2400" dirty="0"/>
          </a:p>
          <a:p>
            <a:pPr lvl="1"/>
            <a:r>
              <a:rPr lang="zh-CN" altLang="en-US" sz="2800" dirty="0"/>
              <a:t>说明多维数组时, 将指定多个方括号括起的常量表达式，作为每一个维度</a:t>
            </a:r>
            <a:endParaRPr lang="en-US" altLang="zh-CN" sz="2800" dirty="0"/>
          </a:p>
          <a:p>
            <a:pPr lvl="2"/>
            <a:r>
              <a:rPr lang="zh-CN" altLang="en-US" sz="2400" dirty="0"/>
              <a:t>&lt;类型名&gt; * &lt;数组名&gt;[&lt;元素个数&gt;][&lt;元素个数&gt;]</a:t>
            </a:r>
            <a:r>
              <a:rPr lang="en-US" altLang="zh-CN" sz="2400" dirty="0"/>
              <a:t>…</a:t>
            </a:r>
            <a:endParaRPr lang="zh-CN" altLang="en-US" sz="2400"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41377147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指针数组</a:t>
            </a:r>
          </a:p>
        </p:txBody>
      </p:sp>
      <p:sp>
        <p:nvSpPr>
          <p:cNvPr id="3" name="内容占位符 2"/>
          <p:cNvSpPr>
            <a:spLocks noGrp="1"/>
          </p:cNvSpPr>
          <p:nvPr>
            <p:ph idx="1"/>
          </p:nvPr>
        </p:nvSpPr>
        <p:spPr/>
        <p:txBody>
          <a:bodyPr/>
          <a:lstStyle/>
          <a:p>
            <a:pPr>
              <a:lnSpc>
                <a:spcPct val="120000"/>
              </a:lnSpc>
              <a:buNone/>
            </a:pPr>
            <a:r>
              <a:rPr lang="zh-CN" altLang="en-US" sz="2400" b="1" dirty="0">
                <a:solidFill>
                  <a:srgbClr val="0000FF"/>
                </a:solidFill>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w,x,y,z,A</a:t>
            </a:r>
            <a:r>
              <a:rPr lang="en-US" altLang="zh-CN" sz="2400" b="1" dirty="0">
                <a:latin typeface="Courier New" pitchFamily="49" charset="0"/>
                <a:cs typeface="Courier New" pitchFamily="49" charset="0"/>
              </a:rPr>
              <a:t>[2][10];</a:t>
            </a:r>
          </a:p>
          <a:p>
            <a:pPr>
              <a:lnSpc>
                <a:spcPct val="120000"/>
              </a:lnSpc>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p1[4]={&amp;</a:t>
            </a:r>
            <a:r>
              <a:rPr lang="en-US" altLang="zh-CN" sz="2400" b="1" dirty="0" err="1">
                <a:latin typeface="Courier New" pitchFamily="49" charset="0"/>
                <a:cs typeface="Courier New" pitchFamily="49" charset="0"/>
              </a:rPr>
              <a:t>w,&amp;x,&amp;y,&amp;z</a:t>
            </a:r>
            <a:r>
              <a:rPr lang="en-US" altLang="zh-CN" sz="2400" b="1" dirty="0">
                <a:latin typeface="Courier New" pitchFamily="49" charset="0"/>
                <a:cs typeface="Courier New" pitchFamily="49" charset="0"/>
              </a:rPr>
              <a:t>};  </a:t>
            </a:r>
          </a:p>
          <a:p>
            <a:pPr>
              <a:lnSpc>
                <a:spcPct val="12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//p1</a:t>
            </a:r>
            <a:r>
              <a:rPr lang="zh-CN" altLang="en-US" sz="2400" b="1" dirty="0">
                <a:solidFill>
                  <a:srgbClr val="007434"/>
                </a:solidFill>
                <a:latin typeface="Courier New" pitchFamily="49" charset="0"/>
                <a:cs typeface="Courier New" pitchFamily="49" charset="0"/>
              </a:rPr>
              <a:t>数组的4个分量均为</a:t>
            </a:r>
            <a:r>
              <a:rPr lang="en-US" altLang="zh-CN" sz="2400" b="1" dirty="0" err="1">
                <a:solidFill>
                  <a:srgbClr val="007434"/>
                </a:solidFill>
                <a:latin typeface="Courier New" pitchFamily="49" charset="0"/>
                <a:cs typeface="Courier New" pitchFamily="49" charset="0"/>
              </a:rPr>
              <a:t>int</a:t>
            </a:r>
            <a:r>
              <a:rPr lang="zh-CN" altLang="en-US" sz="2400" b="1" dirty="0">
                <a:solidFill>
                  <a:srgbClr val="007434"/>
                </a:solidFill>
                <a:latin typeface="Courier New" pitchFamily="49" charset="0"/>
                <a:cs typeface="Courier New" pitchFamily="49" charset="0"/>
              </a:rPr>
              <a:t>型指针(变量)</a:t>
            </a:r>
          </a:p>
          <a:p>
            <a:pPr>
              <a:lnSpc>
                <a:spcPct val="120000"/>
              </a:lnSpc>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p2[2]={A[0],A[1]};     </a:t>
            </a:r>
          </a:p>
          <a:p>
            <a:pPr>
              <a:lnSpc>
                <a:spcPct val="12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/*A[0]</a:t>
            </a:r>
            <a:r>
              <a:rPr lang="zh-CN" altLang="en-US" sz="2400" b="1" dirty="0">
                <a:solidFill>
                  <a:srgbClr val="007434"/>
                </a:solidFill>
                <a:latin typeface="Courier New" pitchFamily="49" charset="0"/>
                <a:cs typeface="Courier New" pitchFamily="49" charset="0"/>
              </a:rPr>
              <a:t>表示</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数组的第一行，为含有10个元素的</a:t>
            </a:r>
          </a:p>
          <a:p>
            <a:pPr>
              <a:lnSpc>
                <a:spcPct val="120000"/>
              </a:lnSpc>
              <a:buNone/>
            </a:pPr>
            <a:r>
              <a:rPr lang="zh-CN" altLang="en-US" sz="2400" b="1" dirty="0">
                <a:solidFill>
                  <a:srgbClr val="007434"/>
                </a:solidFill>
                <a:latin typeface="Courier New" pitchFamily="49" charset="0"/>
                <a:cs typeface="Courier New" pitchFamily="49" charset="0"/>
              </a:rPr>
              <a:t>	  一维数组(的数组名)，表示一个常量地址，将数组</a:t>
            </a:r>
            <a:r>
              <a:rPr lang="en-US" altLang="zh-CN" sz="2400" b="1" dirty="0">
                <a:solidFill>
                  <a:srgbClr val="007434"/>
                </a:solidFill>
                <a:latin typeface="Courier New" pitchFamily="49" charset="0"/>
                <a:cs typeface="Courier New" pitchFamily="49" charset="0"/>
              </a:rPr>
              <a:t>A[0]</a:t>
            </a:r>
            <a:r>
              <a:rPr lang="zh-CN" altLang="en-US" sz="2400" b="1" dirty="0">
                <a:solidFill>
                  <a:srgbClr val="007434"/>
                </a:solidFill>
                <a:latin typeface="Courier New" pitchFamily="49" charset="0"/>
                <a:cs typeface="Courier New" pitchFamily="49" charset="0"/>
              </a:rPr>
              <a:t>的首地址赋予指针变量</a:t>
            </a:r>
            <a:r>
              <a:rPr lang="en-US" altLang="zh-CN" sz="2400" b="1" dirty="0">
                <a:solidFill>
                  <a:srgbClr val="007434"/>
                </a:solidFill>
                <a:latin typeface="Courier New" pitchFamily="49" charset="0"/>
                <a:cs typeface="Courier New" pitchFamily="49" charset="0"/>
              </a:rPr>
              <a:t>P2[0]*/</a:t>
            </a:r>
            <a:endParaRPr lang="zh-CN" altLang="en-US" b="1" dirty="0">
              <a:solidFill>
                <a:srgbClr val="007434"/>
              </a:solidFill>
              <a:latin typeface="Courier New" pitchFamily="49" charset="0"/>
              <a:cs typeface="Courier New" pitchFamily="49" charset="0"/>
            </a:endParaRPr>
          </a:p>
        </p:txBody>
      </p:sp>
      <p:sp>
        <p:nvSpPr>
          <p:cNvPr id="12" name="矩形 11">
            <a:hlinkClick r:id="rId2" action="ppaction://hlinksldjump"/>
            <a:extLst>
              <a:ext uri="{FF2B5EF4-FFF2-40B4-BE49-F238E27FC236}">
                <a16:creationId xmlns:a16="http://schemas.microsoft.com/office/drawing/2014/main" id="{F0D64011-E3D8-4EC2-892C-241A09E0B10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0E3B4B62-788E-4FF2-9BB8-682F64953BA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3099612E-DBA5-48DD-8037-2B10885AACE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FE8D46E7-FCB0-4ABD-8B72-E6B4C8CE328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438DDC14-28AB-4CA0-92EA-687BF83B207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A4F90439-6051-4CEF-BA5B-112679200B5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89C0FE6B-D577-4037-9D3D-1B1EC998D6A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C9BA2F53-1C64-4544-9D02-10F8FCB74C5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6834514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指针数组</a:t>
            </a:r>
          </a:p>
        </p:txBody>
      </p:sp>
      <p:sp>
        <p:nvSpPr>
          <p:cNvPr id="3" name="内容占位符 2"/>
          <p:cNvSpPr>
            <a:spLocks noGrp="1"/>
          </p:cNvSpPr>
          <p:nvPr>
            <p:ph idx="1"/>
          </p:nvPr>
        </p:nvSpPr>
        <p:spPr/>
        <p:txBody>
          <a:bodyPr/>
          <a:lstStyle/>
          <a:p>
            <a:pPr>
              <a:lnSpc>
                <a:spcPct val="120000"/>
              </a:lnSpc>
              <a:buNone/>
            </a:pPr>
            <a:r>
              <a:rPr lang="zh-CN" altLang="en-US" sz="2400" b="1" dirty="0">
                <a:solidFill>
                  <a:srgbClr val="0000FF"/>
                </a:solidFill>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w,x,y,z,A</a:t>
            </a:r>
            <a:r>
              <a:rPr lang="en-US" altLang="zh-CN" sz="2400" b="1" dirty="0">
                <a:latin typeface="Courier New" pitchFamily="49" charset="0"/>
                <a:cs typeface="Courier New" pitchFamily="49" charset="0"/>
              </a:rPr>
              <a:t>[2][10];</a:t>
            </a:r>
          </a:p>
          <a:p>
            <a:pPr>
              <a:lnSpc>
                <a:spcPct val="120000"/>
              </a:lnSpc>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p1[4]={&amp;</a:t>
            </a:r>
            <a:r>
              <a:rPr lang="en-US" altLang="zh-CN" sz="2400" b="1" dirty="0" err="1">
                <a:latin typeface="Courier New" pitchFamily="49" charset="0"/>
                <a:cs typeface="Courier New" pitchFamily="49" charset="0"/>
              </a:rPr>
              <a:t>w,&amp;x,&amp;y,&amp;z</a:t>
            </a:r>
            <a:r>
              <a:rPr lang="en-US" altLang="zh-CN" sz="2400" b="1" dirty="0">
                <a:latin typeface="Courier New" pitchFamily="49" charset="0"/>
                <a:cs typeface="Courier New" pitchFamily="49" charset="0"/>
              </a:rPr>
              <a:t>};  </a:t>
            </a:r>
          </a:p>
          <a:p>
            <a:pPr>
              <a:lnSpc>
                <a:spcPct val="12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//p1</a:t>
            </a:r>
            <a:r>
              <a:rPr lang="zh-CN" altLang="en-US" sz="2400" b="1" dirty="0">
                <a:solidFill>
                  <a:srgbClr val="007434"/>
                </a:solidFill>
                <a:latin typeface="Courier New" pitchFamily="49" charset="0"/>
                <a:cs typeface="Courier New" pitchFamily="49" charset="0"/>
              </a:rPr>
              <a:t>数组的4个分量均为</a:t>
            </a:r>
            <a:r>
              <a:rPr lang="en-US" altLang="zh-CN" sz="2400" b="1" dirty="0" err="1">
                <a:solidFill>
                  <a:srgbClr val="007434"/>
                </a:solidFill>
                <a:latin typeface="Courier New" pitchFamily="49" charset="0"/>
                <a:cs typeface="Courier New" pitchFamily="49" charset="0"/>
              </a:rPr>
              <a:t>int</a:t>
            </a:r>
            <a:r>
              <a:rPr lang="zh-CN" altLang="en-US" sz="2400" b="1" dirty="0">
                <a:solidFill>
                  <a:srgbClr val="007434"/>
                </a:solidFill>
                <a:latin typeface="Courier New" pitchFamily="49" charset="0"/>
                <a:cs typeface="Courier New" pitchFamily="49" charset="0"/>
              </a:rPr>
              <a:t>型指针(变量)</a:t>
            </a:r>
          </a:p>
          <a:p>
            <a:pPr>
              <a:lnSpc>
                <a:spcPct val="120000"/>
              </a:lnSpc>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p2[2]={A[0],A[1]};     </a:t>
            </a:r>
          </a:p>
          <a:p>
            <a:pPr>
              <a:lnSpc>
                <a:spcPct val="12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/*A[0]</a:t>
            </a:r>
            <a:r>
              <a:rPr lang="zh-CN" altLang="en-US" sz="2400" b="1" dirty="0">
                <a:solidFill>
                  <a:srgbClr val="007434"/>
                </a:solidFill>
                <a:latin typeface="Courier New" pitchFamily="49" charset="0"/>
                <a:cs typeface="Courier New" pitchFamily="49" charset="0"/>
              </a:rPr>
              <a:t>表示</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数组的第一行，为含有10个元素的</a:t>
            </a:r>
          </a:p>
          <a:p>
            <a:pPr>
              <a:lnSpc>
                <a:spcPct val="120000"/>
              </a:lnSpc>
              <a:buNone/>
            </a:pPr>
            <a:r>
              <a:rPr lang="zh-CN" altLang="en-US" sz="2400" b="1" dirty="0">
                <a:solidFill>
                  <a:srgbClr val="007434"/>
                </a:solidFill>
                <a:latin typeface="Courier New" pitchFamily="49" charset="0"/>
                <a:cs typeface="Courier New" pitchFamily="49" charset="0"/>
              </a:rPr>
              <a:t>	  一维数组(的数组名)，表示一个常量地址，将数组</a:t>
            </a:r>
            <a:r>
              <a:rPr lang="en-US" altLang="zh-CN" sz="2400" b="1" dirty="0">
                <a:solidFill>
                  <a:srgbClr val="007434"/>
                </a:solidFill>
                <a:latin typeface="Courier New" pitchFamily="49" charset="0"/>
                <a:cs typeface="Courier New" pitchFamily="49" charset="0"/>
              </a:rPr>
              <a:t>A[0]</a:t>
            </a:r>
            <a:r>
              <a:rPr lang="zh-CN" altLang="en-US" sz="2400" b="1" dirty="0">
                <a:solidFill>
                  <a:srgbClr val="007434"/>
                </a:solidFill>
                <a:latin typeface="Courier New" pitchFamily="49" charset="0"/>
                <a:cs typeface="Courier New" pitchFamily="49" charset="0"/>
              </a:rPr>
              <a:t>的首地址赋予指针变量</a:t>
            </a:r>
            <a:r>
              <a:rPr lang="en-US" altLang="zh-CN" sz="2400" b="1" dirty="0">
                <a:solidFill>
                  <a:srgbClr val="007434"/>
                </a:solidFill>
                <a:latin typeface="Courier New" pitchFamily="49" charset="0"/>
                <a:cs typeface="Courier New" pitchFamily="49" charset="0"/>
              </a:rPr>
              <a:t>P2[0]*/</a:t>
            </a:r>
            <a:endParaRPr lang="zh-CN" altLang="en-US" b="1" dirty="0">
              <a:solidFill>
                <a:srgbClr val="007434"/>
              </a:solidFill>
              <a:latin typeface="Courier New" pitchFamily="49" charset="0"/>
              <a:cs typeface="Courier New" pitchFamily="49" charset="0"/>
            </a:endParaRPr>
          </a:p>
        </p:txBody>
      </p:sp>
      <p:sp>
        <p:nvSpPr>
          <p:cNvPr id="12" name="矩形 11">
            <a:hlinkClick r:id="rId2" action="ppaction://hlinksldjump"/>
            <a:extLst>
              <a:ext uri="{FF2B5EF4-FFF2-40B4-BE49-F238E27FC236}">
                <a16:creationId xmlns:a16="http://schemas.microsoft.com/office/drawing/2014/main" id="{D0308CE7-8635-4FA5-8826-67A32E1F56A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B5014C59-3A17-4D86-90EB-8507C1D909B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53C3940C-C252-41E1-959B-432F29C5F2A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CC0D90FA-AB96-4002-8F32-EC3A7ED5BB7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EBA34B05-6D3E-45F6-ADA3-BF5E853B7B8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905FAFE3-251A-4D95-87DB-C8F9BA5F7BE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8804B79E-86AA-4966-B4E1-5D0EAF91DD8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38CF030B-1F48-469C-ACF6-F914BB163E2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39285141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二维数组与指针</a:t>
            </a:r>
          </a:p>
        </p:txBody>
      </p:sp>
      <p:sp>
        <p:nvSpPr>
          <p:cNvPr id="3" name="内容占位符 2"/>
          <p:cNvSpPr>
            <a:spLocks noGrp="1"/>
          </p:cNvSpPr>
          <p:nvPr>
            <p:ph idx="1"/>
          </p:nvPr>
        </p:nvSpPr>
        <p:spPr>
          <a:xfrm>
            <a:off x="236611" y="1714500"/>
            <a:ext cx="8568952" cy="5073924"/>
          </a:xfrm>
        </p:spPr>
        <p:txBody>
          <a:bodyPr/>
          <a:lstStyle/>
          <a:p>
            <a:pPr lvl="1"/>
            <a:r>
              <a:rPr lang="zh-CN" altLang="en-US" sz="2000" dirty="0"/>
              <a:t>二维数组元素的地址 </a:t>
            </a:r>
            <a:r>
              <a:rPr lang="en-US" altLang="zh-CN" sz="2000" dirty="0" err="1">
                <a:solidFill>
                  <a:srgbClr val="0000FF"/>
                </a:solidFill>
                <a:latin typeface="Courier New" panose="02070309020205020404" pitchFamily="49" charset="0"/>
                <a:cs typeface="Courier New" panose="02070309020205020404" pitchFamily="49" charset="0"/>
              </a:rPr>
              <a:t>int</a:t>
            </a:r>
            <a:r>
              <a:rPr lang="en-US" altLang="zh-CN" sz="2000" dirty="0">
                <a:latin typeface="Courier New" panose="02070309020205020404" pitchFamily="49" charset="0"/>
                <a:cs typeface="Courier New" panose="02070309020205020404" pitchFamily="49" charset="0"/>
              </a:rPr>
              <a:t> A</a:t>
            </a:r>
            <a:r>
              <a:rPr lang="en-US" altLang="zh-CN" sz="2000" dirty="0">
                <a:solidFill>
                  <a:schemeClr val="tx2"/>
                </a:solidFill>
                <a:latin typeface="Courier New" panose="02070309020205020404" pitchFamily="49" charset="0"/>
                <a:cs typeface="Courier New" panose="02070309020205020404" pitchFamily="49" charset="0"/>
              </a:rPr>
              <a:t>[3][4]</a:t>
            </a: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+j</a:t>
            </a: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&amp;A[0][0]+4*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5</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A[0]+ 4*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 </a:t>
            </a:r>
          </a:p>
          <a:p>
            <a:pPr lvl="1"/>
            <a:r>
              <a:rPr lang="zh-CN" altLang="en-US" sz="2000" dirty="0"/>
              <a:t>二维数组元素</a:t>
            </a:r>
            <a:endParaRPr lang="en-US" altLang="zh-CN" sz="2000" dirty="0">
              <a:latin typeface="Courier New" panose="02070309020205020404" pitchFamily="49" charset="0"/>
              <a:cs typeface="Courier New" panose="02070309020205020404" pitchFamily="49" charset="0"/>
            </a:endParaRP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en-US" altLang="zh-CN" sz="1800" dirty="0">
                <a:latin typeface="Courier New" panose="02070309020205020404" pitchFamily="49" charset="0"/>
                <a:cs typeface="Courier New" panose="02070309020205020404" pitchFamily="49" charset="0"/>
              </a:rPr>
              <a:t>)+j)</a:t>
            </a: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A+i</a:t>
            </a:r>
            <a:r>
              <a:rPr lang="en-US" altLang="zh-CN" sz="1800" dirty="0">
                <a:latin typeface="Courier New" panose="02070309020205020404" pitchFamily="49" charset="0"/>
                <a:cs typeface="Courier New" panose="02070309020205020404" pitchFamily="49" charset="0"/>
              </a:rPr>
              <a:t>))[j]</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5</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(&amp;A[0][0]+4*</a:t>
            </a:r>
            <a:r>
              <a:rPr lang="en-US" altLang="zh-CN" sz="1800" dirty="0" err="1">
                <a:latin typeface="Courier New" panose="02070309020205020404" pitchFamily="49" charset="0"/>
                <a:cs typeface="Courier New" panose="02070309020205020404" pitchFamily="49" charset="0"/>
              </a:rPr>
              <a:t>i+j</a:t>
            </a:r>
            <a:r>
              <a:rPr lang="en-US" altLang="zh-CN" sz="1800" dirty="0">
                <a:latin typeface="Courier New" panose="02070309020205020404" pitchFamily="49" charset="0"/>
                <a:cs typeface="Courier New" panose="02070309020205020404" pitchFamily="49" charset="0"/>
              </a:rPr>
              <a:t>)</a:t>
            </a:r>
          </a:p>
          <a:p>
            <a:pPr lvl="1"/>
            <a:r>
              <a:rPr lang="zh-CN" altLang="en-US" sz="2000" dirty="0">
                <a:latin typeface="Courier New" panose="02070309020205020404" pitchFamily="49" charset="0"/>
                <a:cs typeface="Courier New" panose="02070309020205020404" pitchFamily="49" charset="0"/>
              </a:rPr>
              <a:t>建立一个指针数组</a:t>
            </a:r>
            <a:r>
              <a:rPr lang="en-US" altLang="zh-CN" sz="2000" dirty="0">
                <a:latin typeface="Courier New" panose="02070309020205020404" pitchFamily="49" charset="0"/>
                <a:cs typeface="Courier New" panose="02070309020205020404" pitchFamily="49" charset="0"/>
              </a:rPr>
              <a:t>,</a:t>
            </a:r>
            <a:r>
              <a:rPr lang="zh-CN" altLang="en-US" sz="2000" dirty="0"/>
              <a:t>二维数组元素</a:t>
            </a:r>
            <a:r>
              <a:rPr lang="zh-CN" altLang="en-US" sz="2000" dirty="0">
                <a:latin typeface="Courier New" panose="02070309020205020404" pitchFamily="49" charset="0"/>
                <a:cs typeface="Courier New" panose="02070309020205020404" pitchFamily="49" charset="0"/>
              </a:rPr>
              <a:t> </a:t>
            </a:r>
            <a:endParaRPr lang="en-US" altLang="zh-CN" sz="2000" dirty="0">
              <a:latin typeface="Courier New" panose="02070309020205020404" pitchFamily="49" charset="0"/>
              <a:cs typeface="Courier New" panose="02070309020205020404" pitchFamily="49" charset="0"/>
            </a:endParaRPr>
          </a:p>
          <a:p>
            <a:pPr marL="457200" lvl="1" indent="0">
              <a:buNone/>
            </a:pPr>
            <a:r>
              <a:rPr lang="en-US" altLang="zh-CN" sz="1800" dirty="0">
                <a:latin typeface="Courier New" panose="02070309020205020404" pitchFamily="49" charset="0"/>
                <a:cs typeface="Courier New" panose="02070309020205020404" pitchFamily="49" charset="0"/>
              </a:rPr>
              <a:t> </a:t>
            </a:r>
            <a:r>
              <a:rPr lang="en-US" altLang="zh-CN" sz="1800" dirty="0" err="1">
                <a:solidFill>
                  <a:srgbClr val="0000FF"/>
                </a:solidFill>
                <a:latin typeface="Courier New" panose="02070309020205020404" pitchFamily="49" charset="0"/>
                <a:cs typeface="Courier New" panose="02070309020205020404" pitchFamily="49" charset="0"/>
              </a:rPr>
              <a:t>int</a:t>
            </a:r>
            <a:r>
              <a:rPr lang="en-US" altLang="zh-CN" sz="1800" dirty="0">
                <a:latin typeface="Courier New" panose="02070309020205020404" pitchFamily="49" charset="0"/>
                <a:cs typeface="Courier New" panose="02070309020205020404" pitchFamily="49" charset="0"/>
              </a:rPr>
              <a:t> </a:t>
            </a:r>
            <a:r>
              <a:rPr lang="en-US" altLang="zh-CN" sz="1800" dirty="0">
                <a:solidFill>
                  <a:schemeClr val="tx2"/>
                </a:solidFill>
                <a:latin typeface="Courier New" pitchFamily="49" charset="0"/>
                <a:cs typeface="Courier New" pitchFamily="49" charset="0"/>
              </a:rPr>
              <a:t>*p[3], A[3][4];</a:t>
            </a:r>
            <a:r>
              <a:rPr lang="nn-NO" altLang="zh-CN" sz="1800" dirty="0">
                <a:solidFill>
                  <a:schemeClr val="tx2"/>
                </a:solidFill>
                <a:latin typeface="Courier New" pitchFamily="49" charset="0"/>
                <a:cs typeface="Courier New" pitchFamily="49" charset="0"/>
              </a:rPr>
              <a:t> </a:t>
            </a:r>
            <a:r>
              <a:rPr lang="nn-NO" altLang="zh-CN" sz="1800" dirty="0">
                <a:solidFill>
                  <a:srgbClr val="0000FF"/>
                </a:solidFill>
                <a:latin typeface="Courier New" panose="02070309020205020404" pitchFamily="49" charset="0"/>
                <a:cs typeface="Courier New" panose="02070309020205020404" pitchFamily="49" charset="0"/>
              </a:rPr>
              <a:t>for</a:t>
            </a:r>
            <a:r>
              <a:rPr lang="nn-NO" altLang="zh-CN" sz="1800" dirty="0">
                <a:solidFill>
                  <a:schemeClr val="tx2"/>
                </a:solidFill>
                <a:latin typeface="Courier New" panose="02070309020205020404" pitchFamily="49" charset="0"/>
                <a:cs typeface="Courier New" panose="02070309020205020404" pitchFamily="49" charset="0"/>
              </a:rPr>
              <a:t>(i=0; i&lt;3; i++) p[i]= A[i];</a:t>
            </a: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1</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2</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p+i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3</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p+i</a:t>
            </a:r>
            <a:r>
              <a:rPr lang="en-US" altLang="zh-CN" sz="1800" dirty="0">
                <a:latin typeface="Courier New" panose="02070309020205020404" pitchFamily="49" charset="0"/>
                <a:cs typeface="Courier New" panose="02070309020205020404" pitchFamily="49" charset="0"/>
              </a:rPr>
              <a:t>))[j] </a:t>
            </a:r>
          </a:p>
          <a:p>
            <a:pPr marL="914400" lvl="2" indent="0">
              <a:buNone/>
            </a:pP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4</a:t>
            </a:r>
            <a:r>
              <a:rPr lang="zh-CN" altLang="en-US" sz="1800" dirty="0">
                <a:latin typeface="Courier New" panose="02070309020205020404" pitchFamily="49" charset="0"/>
                <a:cs typeface="Courier New" panose="02070309020205020404" pitchFamily="49" charset="0"/>
              </a:rPr>
              <a:t>）</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注：</a:t>
            </a:r>
            <a:r>
              <a:rPr lang="en-US" altLang="zh-CN" sz="1800" dirty="0">
                <a:latin typeface="Courier New" panose="02070309020205020404" pitchFamily="49" charset="0"/>
                <a:cs typeface="Courier New" panose="02070309020205020404" pitchFamily="49" charset="0"/>
              </a:rPr>
              <a:t>p[</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a:t>
            </a:r>
            <a:r>
              <a:rPr lang="zh-CN" altLang="en-US" sz="1800" dirty="0">
                <a:latin typeface="Courier New" panose="02070309020205020404" pitchFamily="49" charset="0"/>
                <a:cs typeface="Courier New" panose="02070309020205020404" pitchFamily="49" charset="0"/>
              </a:rPr>
              <a:t>中的值是可变的，而</a:t>
            </a:r>
            <a:r>
              <a:rPr lang="en-US" altLang="zh-CN" sz="1800" dirty="0">
                <a:latin typeface="Courier New" panose="02070309020205020404" pitchFamily="49" charset="0"/>
                <a:cs typeface="Courier New" panose="02070309020205020404" pitchFamily="49" charset="0"/>
              </a:rPr>
              <a:t>a[</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a:t>
            </a:r>
            <a:r>
              <a:rPr lang="zh-CN" altLang="en-US" sz="1800" dirty="0">
                <a:latin typeface="Courier New" panose="02070309020205020404" pitchFamily="49" charset="0"/>
                <a:cs typeface="Courier New" panose="02070309020205020404" pitchFamily="49" charset="0"/>
              </a:rPr>
              <a:t>中的值不可变</a:t>
            </a:r>
            <a:endParaRPr lang="en-US" altLang="zh-CN" sz="1800" dirty="0">
              <a:latin typeface="Courier New" panose="02070309020205020404" pitchFamily="49" charset="0"/>
              <a:cs typeface="Courier New" panose="02070309020205020404" pitchFamily="49" charset="0"/>
            </a:endParaRPr>
          </a:p>
          <a:p>
            <a:pPr lvl="1"/>
            <a:r>
              <a:rPr lang="zh-CN" altLang="en-US" sz="2000" dirty="0">
                <a:latin typeface="Courier New" panose="02070309020205020404" pitchFamily="49" charset="0"/>
                <a:cs typeface="Courier New" panose="02070309020205020404" pitchFamily="49" charset="0"/>
              </a:rPr>
              <a:t>建立一个指向数组的指针，可理解为行指针</a:t>
            </a:r>
            <a:r>
              <a:rPr lang="en-US" altLang="zh-CN" sz="2000" dirty="0">
                <a:latin typeface="Courier New" panose="02070309020205020404" pitchFamily="49" charset="0"/>
                <a:cs typeface="Courier New" panose="02070309020205020404" pitchFamily="49" charset="0"/>
              </a:rPr>
              <a:t>,</a:t>
            </a:r>
            <a:r>
              <a:rPr lang="zh-CN" altLang="en-US" sz="2000" dirty="0"/>
              <a:t>二维数组元素</a:t>
            </a:r>
            <a:r>
              <a:rPr lang="zh-CN" altLang="en-US" sz="2000" dirty="0">
                <a:latin typeface="Courier New" panose="02070309020205020404" pitchFamily="49" charset="0"/>
                <a:cs typeface="Courier New" panose="02070309020205020404" pitchFamily="49" charset="0"/>
              </a:rPr>
              <a:t> </a:t>
            </a:r>
            <a:endParaRPr lang="en-US" altLang="zh-CN" sz="2000" dirty="0">
              <a:latin typeface="Courier New" panose="02070309020205020404" pitchFamily="49" charset="0"/>
              <a:cs typeface="Courier New" panose="02070309020205020404" pitchFamily="49" charset="0"/>
            </a:endParaRPr>
          </a:p>
          <a:p>
            <a:pPr marL="457200" lvl="1" indent="0">
              <a:buNone/>
            </a:pPr>
            <a:r>
              <a:rPr lang="en-US" altLang="zh-CN" sz="1800" dirty="0">
                <a:latin typeface="Courier New" panose="02070309020205020404" pitchFamily="49" charset="0"/>
                <a:cs typeface="Courier New" panose="02070309020205020404" pitchFamily="49" charset="0"/>
              </a:rPr>
              <a:t> </a:t>
            </a:r>
            <a:r>
              <a:rPr lang="en-US" altLang="zh-CN" sz="1800" dirty="0" err="1">
                <a:solidFill>
                  <a:srgbClr val="0000FF"/>
                </a:solidFill>
                <a:latin typeface="Courier New" panose="02070309020205020404" pitchFamily="49" charset="0"/>
                <a:cs typeface="Courier New" panose="02070309020205020404" pitchFamily="49" charset="0"/>
              </a:rPr>
              <a:t>int</a:t>
            </a:r>
            <a:r>
              <a:rPr lang="en-US" altLang="zh-CN" sz="1800" dirty="0">
                <a:latin typeface="Courier New" panose="02070309020205020404" pitchFamily="49" charset="0"/>
                <a:cs typeface="Courier New" panose="02070309020205020404" pitchFamily="49" charset="0"/>
              </a:rPr>
              <a:t> </a:t>
            </a:r>
            <a:r>
              <a:rPr lang="en-US" altLang="zh-CN" sz="1800" dirty="0">
                <a:solidFill>
                  <a:schemeClr val="tx2"/>
                </a:solidFill>
                <a:latin typeface="Courier New" pitchFamily="49" charset="0"/>
                <a:cs typeface="Courier New" pitchFamily="49" charset="0"/>
              </a:rPr>
              <a:t>a[3][4]</a:t>
            </a:r>
            <a:r>
              <a:rPr lang="zh-CN" altLang="en-US" sz="1800" dirty="0">
                <a:solidFill>
                  <a:schemeClr val="tx2"/>
                </a:solidFill>
                <a:latin typeface="Courier New" pitchFamily="49" charset="0"/>
                <a:cs typeface="Courier New" pitchFamily="49" charset="0"/>
              </a:rPr>
              <a:t>，</a:t>
            </a:r>
            <a:r>
              <a:rPr lang="en-US" altLang="zh-CN" sz="1800" dirty="0">
                <a:solidFill>
                  <a:schemeClr val="tx2"/>
                </a:solidFill>
                <a:latin typeface="Courier New" pitchFamily="49" charset="0"/>
                <a:cs typeface="Courier New" pitchFamily="49" charset="0"/>
              </a:rPr>
              <a:t>(*</a:t>
            </a:r>
            <a:r>
              <a:rPr lang="en-US" altLang="zh-CN" sz="1800" dirty="0" err="1">
                <a:solidFill>
                  <a:schemeClr val="tx2"/>
                </a:solidFill>
                <a:latin typeface="Courier New" pitchFamily="49" charset="0"/>
                <a:cs typeface="Courier New" pitchFamily="49" charset="0"/>
              </a:rPr>
              <a:t>prt</a:t>
            </a:r>
            <a:r>
              <a:rPr lang="en-US" altLang="zh-CN" sz="1800" dirty="0">
                <a:solidFill>
                  <a:schemeClr val="tx2"/>
                </a:solidFill>
                <a:latin typeface="Courier New" pitchFamily="49" charset="0"/>
                <a:cs typeface="Courier New" pitchFamily="49" charset="0"/>
              </a:rPr>
              <a:t>)[4];</a:t>
            </a:r>
            <a:r>
              <a:rPr lang="nn-NO" altLang="zh-CN" sz="1800" dirty="0">
                <a:solidFill>
                  <a:schemeClr val="tx2"/>
                </a:solidFill>
                <a:latin typeface="Courier New" pitchFamily="49" charset="0"/>
                <a:cs typeface="Courier New" pitchFamily="49" charset="0"/>
              </a:rPr>
              <a:t> prt=</a:t>
            </a:r>
            <a:r>
              <a:rPr lang="en-US" altLang="zh-CN" sz="1800" dirty="0">
                <a:solidFill>
                  <a:schemeClr val="tx2"/>
                </a:solidFill>
                <a:latin typeface="Courier New" panose="02070309020205020404" pitchFamily="49" charset="0"/>
                <a:cs typeface="Courier New" panose="02070309020205020404" pitchFamily="49" charset="0"/>
              </a:rPr>
              <a:t>a</a:t>
            </a:r>
            <a:r>
              <a:rPr lang="nn-NO" altLang="zh-CN" sz="1800" dirty="0">
                <a:solidFill>
                  <a:schemeClr val="tx2"/>
                </a:solidFill>
                <a:latin typeface="Courier New" pitchFamily="49" charset="0"/>
                <a:cs typeface="Courier New" pitchFamily="49" charset="0"/>
              </a:rPr>
              <a:t>;</a:t>
            </a:r>
          </a:p>
          <a:p>
            <a:pPr marL="914400" lvl="2" indent="0">
              <a:buNone/>
            </a:pPr>
            <a:r>
              <a:rPr lang="en-US" altLang="zh-CN" sz="1800" dirty="0">
                <a:latin typeface="Courier New" panose="02070309020205020404" pitchFamily="49" charset="0"/>
                <a:cs typeface="Courier New" panose="02070309020205020404" pitchFamily="49" charset="0"/>
              </a:rPr>
              <a:t>(1) *(*(</a:t>
            </a:r>
            <a:r>
              <a:rPr lang="en-US" altLang="zh-CN" sz="1800" dirty="0" err="1">
                <a:latin typeface="Courier New" panose="02070309020205020404" pitchFamily="49" charset="0"/>
                <a:cs typeface="Courier New" panose="02070309020205020404" pitchFamily="49" charset="0"/>
              </a:rPr>
              <a:t>prt+i</a:t>
            </a:r>
            <a:r>
              <a:rPr lang="en-US" altLang="zh-CN" sz="1800" dirty="0">
                <a:latin typeface="Courier New" panose="02070309020205020404" pitchFamily="49" charset="0"/>
                <a:cs typeface="Courier New" panose="02070309020205020404" pitchFamily="49" charset="0"/>
              </a:rPr>
              <a:t>)+j) (2) *(</a:t>
            </a:r>
            <a:r>
              <a:rPr lang="en-US" altLang="zh-CN" sz="1800" dirty="0" err="1">
                <a:latin typeface="Courier New" panose="02070309020205020404" pitchFamily="49" charset="0"/>
                <a:cs typeface="Courier New" panose="02070309020205020404" pitchFamily="49" charset="0"/>
              </a:rPr>
              <a:t>prt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(3)(*(</a:t>
            </a:r>
            <a:r>
              <a:rPr lang="en-US" altLang="zh-CN" sz="1800" dirty="0" err="1">
                <a:latin typeface="Courier New" panose="02070309020205020404" pitchFamily="49" charset="0"/>
                <a:cs typeface="Courier New" panose="02070309020205020404" pitchFamily="49" charset="0"/>
              </a:rPr>
              <a:t>prt+i</a:t>
            </a:r>
            <a:r>
              <a:rPr lang="en-US" altLang="zh-CN" sz="1800" dirty="0">
                <a:latin typeface="Courier New" panose="02070309020205020404" pitchFamily="49" charset="0"/>
                <a:cs typeface="Courier New" panose="02070309020205020404" pitchFamily="49" charset="0"/>
              </a:rPr>
              <a:t>))[j] </a:t>
            </a:r>
          </a:p>
          <a:p>
            <a:pPr marL="914400" lvl="2" indent="0">
              <a:buNone/>
            </a:pPr>
            <a:r>
              <a:rPr lang="en-US" altLang="zh-CN" sz="1800" dirty="0">
                <a:latin typeface="Courier New" panose="02070309020205020404" pitchFamily="49" charset="0"/>
                <a:cs typeface="Courier New" panose="02070309020205020404" pitchFamily="49" charset="0"/>
              </a:rPr>
              <a:t>(4) </a:t>
            </a:r>
            <a:r>
              <a:rPr lang="en-US" altLang="zh-CN" sz="1800" dirty="0" err="1">
                <a:latin typeface="Courier New" panose="02070309020205020404" pitchFamily="49" charset="0"/>
                <a:cs typeface="Courier New" panose="02070309020205020404" pitchFamily="49" charset="0"/>
              </a:rPr>
              <a:t>prt</a:t>
            </a:r>
            <a:r>
              <a:rPr lang="en-US" altLang="zh-CN" sz="1800" dirty="0">
                <a:latin typeface="Courier New" panose="02070309020205020404" pitchFamily="49" charset="0"/>
                <a:cs typeface="Courier New" panose="02070309020205020404" pitchFamily="49" charset="0"/>
              </a:rPr>
              <a:t>[</a:t>
            </a:r>
            <a:r>
              <a:rPr lang="en-US" altLang="zh-CN" sz="1800" dirty="0" err="1">
                <a:latin typeface="Courier New" panose="02070309020205020404" pitchFamily="49" charset="0"/>
                <a:cs typeface="Courier New" panose="02070309020205020404" pitchFamily="49" charset="0"/>
              </a:rPr>
              <a:t>i</a:t>
            </a:r>
            <a:r>
              <a:rPr lang="en-US" altLang="zh-CN" sz="1800" dirty="0">
                <a:latin typeface="Courier New" panose="02070309020205020404" pitchFamily="49" charset="0"/>
                <a:cs typeface="Courier New" panose="02070309020205020404" pitchFamily="49" charset="0"/>
              </a:rPr>
              <a:t>][j] </a:t>
            </a:r>
            <a:r>
              <a:rPr lang="zh-CN" altLang="en-US" sz="1800" dirty="0">
                <a:latin typeface="Courier New" panose="02070309020205020404" pitchFamily="49" charset="0"/>
                <a:cs typeface="Courier New" panose="02070309020205020404" pitchFamily="49" charset="0"/>
              </a:rPr>
              <a:t>注：</a:t>
            </a:r>
            <a:r>
              <a:rPr lang="en-US" altLang="zh-CN" sz="1800" dirty="0" err="1">
                <a:latin typeface="Courier New" panose="02070309020205020404" pitchFamily="49" charset="0"/>
                <a:cs typeface="Courier New" panose="02070309020205020404" pitchFamily="49" charset="0"/>
              </a:rPr>
              <a:t>prt</a:t>
            </a:r>
            <a:r>
              <a:rPr lang="zh-CN" altLang="en-US" sz="1800" dirty="0">
                <a:latin typeface="Courier New" panose="02070309020205020404" pitchFamily="49" charset="0"/>
                <a:cs typeface="Courier New" panose="02070309020205020404" pitchFamily="49" charset="0"/>
              </a:rPr>
              <a:t>是指针变量，它的值可变，而</a:t>
            </a:r>
            <a:r>
              <a:rPr lang="en-US" altLang="zh-CN" sz="1800" dirty="0">
                <a:latin typeface="Courier New" panose="02070309020205020404" pitchFamily="49" charset="0"/>
                <a:cs typeface="Courier New" panose="02070309020205020404" pitchFamily="49" charset="0"/>
              </a:rPr>
              <a:t>a</a:t>
            </a:r>
            <a:r>
              <a:rPr lang="zh-CN" altLang="en-US" sz="1800" dirty="0">
                <a:latin typeface="Courier New" panose="02070309020205020404" pitchFamily="49" charset="0"/>
                <a:cs typeface="Courier New" panose="02070309020205020404" pitchFamily="49" charset="0"/>
              </a:rPr>
              <a:t>是常量</a:t>
            </a:r>
          </a:p>
        </p:txBody>
      </p:sp>
      <p:sp>
        <p:nvSpPr>
          <p:cNvPr id="4" name="灯片编号占位符 3"/>
          <p:cNvSpPr>
            <a:spLocks noGrp="1"/>
          </p:cNvSpPr>
          <p:nvPr>
            <p:ph type="sldNum" sz="quarter" idx="12"/>
          </p:nvPr>
        </p:nvSpPr>
        <p:spPr/>
        <p:txBody>
          <a:bodyPr/>
          <a:lstStyle/>
          <a:p>
            <a:fld id="{81622E5D-7BC3-44E6-BA65-C8AAD10FCEE5}" type="slidenum">
              <a:rPr lang="en-US" altLang="zh-CN" smtClean="0"/>
              <a:pPr/>
              <a:t>79</a:t>
            </a:fld>
            <a:endParaRPr lang="en-US" altLang="zh-CN"/>
          </a:p>
        </p:txBody>
      </p:sp>
      <p:sp>
        <p:nvSpPr>
          <p:cNvPr id="13" name="矩形 12">
            <a:hlinkClick r:id="rId2" action="ppaction://hlinksldjump"/>
            <a:extLst>
              <a:ext uri="{FF2B5EF4-FFF2-40B4-BE49-F238E27FC236}">
                <a16:creationId xmlns:a16="http://schemas.microsoft.com/office/drawing/2014/main" id="{7169FAFF-E06A-4402-B8DD-55E52C1DA3F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4" name="矩形 13">
            <a:hlinkClick r:id="" action="ppaction://noaction"/>
            <a:extLst>
              <a:ext uri="{FF2B5EF4-FFF2-40B4-BE49-F238E27FC236}">
                <a16:creationId xmlns:a16="http://schemas.microsoft.com/office/drawing/2014/main" id="{C60198A7-5EB5-48C9-8C07-6C244D7F4A1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5" name="矩形 14">
            <a:hlinkClick r:id="" action="ppaction://noaction"/>
            <a:extLst>
              <a:ext uri="{FF2B5EF4-FFF2-40B4-BE49-F238E27FC236}">
                <a16:creationId xmlns:a16="http://schemas.microsoft.com/office/drawing/2014/main" id="{B8DDF2F2-3F6A-44EC-9900-C22F1FE2503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6" name="矩形 15">
            <a:hlinkClick r:id="" action="ppaction://noaction"/>
            <a:extLst>
              <a:ext uri="{FF2B5EF4-FFF2-40B4-BE49-F238E27FC236}">
                <a16:creationId xmlns:a16="http://schemas.microsoft.com/office/drawing/2014/main" id="{DF006729-0678-4E7C-B98A-76CFB35A4A8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7" name="矩形 16">
            <a:hlinkClick r:id="" action="ppaction://noaction"/>
            <a:extLst>
              <a:ext uri="{FF2B5EF4-FFF2-40B4-BE49-F238E27FC236}">
                <a16:creationId xmlns:a16="http://schemas.microsoft.com/office/drawing/2014/main" id="{0623B523-8207-4351-A9A6-A34C0E5E37D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8" name="矩形 17">
            <a:hlinkClick r:id="" action="ppaction://noaction"/>
            <a:extLst>
              <a:ext uri="{FF2B5EF4-FFF2-40B4-BE49-F238E27FC236}">
                <a16:creationId xmlns:a16="http://schemas.microsoft.com/office/drawing/2014/main" id="{843AF941-73A4-44AE-8C74-0EC8B59CAC5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9" name="矩形 18">
            <a:hlinkClick r:id="" action="ppaction://noaction"/>
            <a:extLst>
              <a:ext uri="{FF2B5EF4-FFF2-40B4-BE49-F238E27FC236}">
                <a16:creationId xmlns:a16="http://schemas.microsoft.com/office/drawing/2014/main" id="{28997118-2EAE-49BA-BD36-C3DFE58230D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0" name="矩形 19">
            <a:hlinkClick r:id="" action="ppaction://noaction"/>
            <a:extLst>
              <a:ext uri="{FF2B5EF4-FFF2-40B4-BE49-F238E27FC236}">
                <a16:creationId xmlns:a16="http://schemas.microsoft.com/office/drawing/2014/main" id="{8014663D-216A-47B0-8ACE-7504E39E7B1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19394054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1BA1DFE-9301-4479-ACCE-29D6841DF4C0}"/>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*pa[5]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的描述，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是正确的。</a:t>
            </a:r>
          </a:p>
        </p:txBody>
      </p:sp>
      <p:sp>
        <p:nvSpPr>
          <p:cNvPr id="7" name="文本框 6">
            <a:extLst>
              <a:ext uri="{FF2B5EF4-FFF2-40B4-BE49-F238E27FC236}">
                <a16:creationId xmlns:a16="http://schemas.microsoft.com/office/drawing/2014/main" id="{383536AD-E3B4-4EFA-A4AF-97596106777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是一个指向数组的指针，所指向的数组是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型元素</a:t>
            </a:r>
          </a:p>
        </p:txBody>
      </p:sp>
      <p:sp>
        <p:nvSpPr>
          <p:cNvPr id="8" name="文本框 7">
            <a:extLst>
              <a:ext uri="{FF2B5EF4-FFF2-40B4-BE49-F238E27FC236}">
                <a16:creationId xmlns:a16="http://schemas.microsoft.com/office/drawing/2014/main" id="{1B247924-B2D2-4E41-B552-A4BCC692A86C}"/>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是一个指向某数组中的第</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个元素的指针，该元素是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型变量</a:t>
            </a:r>
          </a:p>
        </p:txBody>
      </p:sp>
      <p:sp>
        <p:nvSpPr>
          <p:cNvPr id="9" name="文本框 8">
            <a:extLst>
              <a:ext uri="{FF2B5EF4-FFF2-40B4-BE49-F238E27FC236}">
                <a16:creationId xmlns:a16="http://schemas.microsoft.com/office/drawing/2014/main" id="{2A496C75-9A6F-4C2C-A8DB-6C8DB59CFBE1}"/>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表示某个数组的第</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个元素的值</a:t>
            </a:r>
          </a:p>
        </p:txBody>
      </p:sp>
      <p:sp>
        <p:nvSpPr>
          <p:cNvPr id="10" name="文本框 9">
            <a:extLst>
              <a:ext uri="{FF2B5EF4-FFF2-40B4-BE49-F238E27FC236}">
                <a16:creationId xmlns:a16="http://schemas.microsoft.com/office/drawing/2014/main" id="{AA76F4EB-2844-4B36-86E5-48E4874B1950}"/>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是一个具有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个元素的指针数组，每个元素是一个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型指针</a:t>
            </a:r>
          </a:p>
        </p:txBody>
      </p:sp>
      <p:sp>
        <p:nvSpPr>
          <p:cNvPr id="11" name="椭圆 10">
            <a:extLst>
              <a:ext uri="{FF2B5EF4-FFF2-40B4-BE49-F238E27FC236}">
                <a16:creationId xmlns:a16="http://schemas.microsoft.com/office/drawing/2014/main" id="{EDC00391-C475-43E7-844C-CBCDA6653357}"/>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AC6D8326-2B66-44C3-8078-B67117482401}"/>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7D937DA8-0617-4D56-A7E5-E944B9552D93}"/>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B202D199-871B-4311-A49A-FED9ECAE847A}"/>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C4471CEA-EB68-417D-B2C5-7DD534E1F93A}"/>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9EB11DBB-F61D-4888-8453-95EC0EA9972A}"/>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4BBFA975-A4B3-4A30-BB16-ADEE3D501781}"/>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AD50CE3F-F964-4550-85D5-0EEDEBD8E916}"/>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AB896EDF-5050-444D-A3BC-D04DCD550D95}"/>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D6856814-7ACF-4E1B-B12F-34D2AD20F7CA}"/>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3D98E77F-F2AD-4C64-996E-5A037469FD3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1695170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107EE27-6C53-4FC3-AC22-D54C71449A34}"/>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有以下定义和语句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a[3][2]={1,2,3,4,5,6,},*p[3];  p[0]=a[1];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则输出*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(p[0]+1)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的值为</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53162D15-19B5-406F-96D5-FE9658267060}"/>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281D76BF-5C1E-4DA3-AF0E-1976F2EDA211}"/>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0" name="组合 9">
            <a:extLst>
              <a:ext uri="{FF2B5EF4-FFF2-40B4-BE49-F238E27FC236}">
                <a16:creationId xmlns:a16="http://schemas.microsoft.com/office/drawing/2014/main" id="{8F41B29E-4C22-4A78-9F8B-B5011DB8A4EF}"/>
              </a:ext>
            </a:extLst>
          </p:cNvPr>
          <p:cNvGrpSpPr/>
          <p:nvPr>
            <p:custDataLst>
              <p:tags r:id="rId5"/>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C54D2B8A-1064-4E95-B7E6-A912BA0D5D0A}"/>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0B6BF763-2267-4D39-9BD9-9E3530575656}"/>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4965A900-01C2-4E24-B77E-BC847BAE0920}"/>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9" name="TipText">
              <a:extLst>
                <a:ext uri="{FF2B5EF4-FFF2-40B4-BE49-F238E27FC236}">
                  <a16:creationId xmlns:a16="http://schemas.microsoft.com/office/drawing/2014/main" id="{314A9ED2-3EB9-4139-AF8C-040953756932}"/>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BA635F69-3521-44AE-9955-CB3B3AEC2E33}"/>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939023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多重指针</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203814174"/>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多重指针</a:t>
            </a:r>
          </a:p>
        </p:txBody>
      </p:sp>
      <p:sp>
        <p:nvSpPr>
          <p:cNvPr id="3" name="内容占位符 2"/>
          <p:cNvSpPr>
            <a:spLocks noGrp="1"/>
          </p:cNvSpPr>
          <p:nvPr>
            <p:ph idx="1"/>
          </p:nvPr>
        </p:nvSpPr>
        <p:spPr>
          <a:xfrm>
            <a:off x="457200" y="1916832"/>
            <a:ext cx="8258204" cy="4407768"/>
          </a:xfrm>
        </p:spPr>
        <p:txBody>
          <a:bodyPr/>
          <a:lstStyle/>
          <a:p>
            <a:r>
              <a:rPr lang="zh-CN" altLang="en-US" dirty="0"/>
              <a:t>即指向指针的指针</a:t>
            </a:r>
            <a:endParaRPr lang="en-US" altLang="zh-CN" dirty="0"/>
          </a:p>
          <a:p>
            <a:pPr lvl="1">
              <a:spcBef>
                <a:spcPts val="0"/>
              </a:spcBef>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x, *p, **q; </a:t>
            </a:r>
            <a:r>
              <a:rPr lang="en-US" altLang="zh-CN" sz="2400" b="1" dirty="0">
                <a:solidFill>
                  <a:srgbClr val="007434"/>
                </a:solidFill>
                <a:latin typeface="Courier New" pitchFamily="49" charset="0"/>
                <a:cs typeface="Courier New" pitchFamily="49" charset="0"/>
              </a:rPr>
              <a:t>//q</a:t>
            </a:r>
            <a:r>
              <a:rPr lang="zh-CN" altLang="en-US" sz="2400" b="1" dirty="0">
                <a:solidFill>
                  <a:srgbClr val="007434"/>
                </a:solidFill>
                <a:latin typeface="Courier New" pitchFamily="49" charset="0"/>
                <a:cs typeface="Courier New" pitchFamily="49" charset="0"/>
              </a:rPr>
              <a:t>为指向指针的指针</a:t>
            </a:r>
          </a:p>
          <a:p>
            <a:pPr lvl="1">
              <a:spcBef>
                <a:spcPts val="0"/>
              </a:spcBef>
              <a:buNone/>
            </a:pPr>
            <a:r>
              <a:rPr lang="en-US" altLang="zh-CN" sz="2400" b="1" dirty="0">
                <a:latin typeface="Courier New" pitchFamily="49" charset="0"/>
                <a:cs typeface="Courier New" pitchFamily="49" charset="0"/>
              </a:rPr>
              <a:t>x=123;</a:t>
            </a:r>
          </a:p>
          <a:p>
            <a:pPr lvl="1">
              <a:spcBef>
                <a:spcPts val="0"/>
              </a:spcBef>
              <a:buNone/>
            </a:pPr>
            <a:r>
              <a:rPr lang="en-US" altLang="zh-CN" sz="2400" b="1" dirty="0">
                <a:latin typeface="Courier New" pitchFamily="49" charset="0"/>
                <a:cs typeface="Courier New" pitchFamily="49" charset="0"/>
              </a:rPr>
              <a:t>p=&amp;x;</a:t>
            </a:r>
          </a:p>
          <a:p>
            <a:pPr lvl="1">
              <a:spcBef>
                <a:spcPts val="0"/>
              </a:spcBef>
              <a:buNone/>
            </a:pPr>
            <a:r>
              <a:rPr lang="en-US" altLang="zh-CN" sz="2400" b="1" dirty="0">
                <a:latin typeface="Courier New" pitchFamily="49" charset="0"/>
                <a:cs typeface="Courier New" pitchFamily="49" charset="0"/>
              </a:rPr>
              <a:t>q=&amp;p;</a:t>
            </a:r>
            <a:r>
              <a:rPr lang="en-US" altLang="zh-CN" sz="2400" b="1" dirty="0">
                <a:solidFill>
                  <a:srgbClr val="007434"/>
                </a:solidFill>
                <a:latin typeface="Courier New" pitchFamily="49" charset="0"/>
                <a:cs typeface="Courier New" pitchFamily="49" charset="0"/>
              </a:rPr>
              <a:t>//q</a:t>
            </a:r>
            <a:r>
              <a:rPr lang="zh-CN" altLang="en-US" sz="2400" b="1" dirty="0">
                <a:solidFill>
                  <a:srgbClr val="007434"/>
                </a:solidFill>
                <a:latin typeface="Courier New" pitchFamily="49" charset="0"/>
                <a:cs typeface="Courier New" pitchFamily="49" charset="0"/>
              </a:rPr>
              <a:t>的值为</a:t>
            </a:r>
            <a:r>
              <a:rPr lang="en-US" altLang="zh-CN" sz="2400" b="1" dirty="0">
                <a:solidFill>
                  <a:srgbClr val="007434"/>
                </a:solidFill>
                <a:latin typeface="Courier New" pitchFamily="49" charset="0"/>
                <a:cs typeface="Courier New" pitchFamily="49" charset="0"/>
              </a:rPr>
              <a:t>p</a:t>
            </a:r>
            <a:r>
              <a:rPr lang="zh-CN" altLang="en-US" sz="2400" b="1" dirty="0">
                <a:solidFill>
                  <a:srgbClr val="007434"/>
                </a:solidFill>
                <a:latin typeface="Courier New" pitchFamily="49" charset="0"/>
                <a:cs typeface="Courier New" pitchFamily="49" charset="0"/>
              </a:rPr>
              <a:t>所在的地址，内容为</a:t>
            </a:r>
            <a:r>
              <a:rPr lang="en-US" altLang="zh-CN" sz="2400" b="1" dirty="0">
                <a:solidFill>
                  <a:srgbClr val="007434"/>
                </a:solidFill>
                <a:latin typeface="Courier New" pitchFamily="49" charset="0"/>
                <a:cs typeface="Courier New" pitchFamily="49" charset="0"/>
              </a:rPr>
              <a:t>p</a:t>
            </a:r>
            <a:r>
              <a:rPr lang="zh-CN" altLang="en-US" sz="2400" b="1" dirty="0">
                <a:solidFill>
                  <a:srgbClr val="007434"/>
                </a:solidFill>
                <a:latin typeface="Courier New" pitchFamily="49" charset="0"/>
                <a:cs typeface="Courier New" pitchFamily="49" charset="0"/>
              </a:rPr>
              <a:t>指向的地址</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&lt;&lt;"x="&lt;&lt;x&lt;&lt;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lvl="1">
              <a:spcBef>
                <a:spcPts val="0"/>
              </a:spcBef>
              <a:buNone/>
            </a:pPr>
            <a:r>
              <a:rPr lang="en-US" altLang="zh-CN" sz="2400" b="1" dirty="0" err="1">
                <a:latin typeface="Courier New" pitchFamily="49" charset="0"/>
                <a:cs typeface="Courier New" pitchFamily="49" charset="0"/>
              </a:rPr>
              <a:t>cout</a:t>
            </a:r>
            <a:r>
              <a:rPr lang="en-US" altLang="zh-CN" b="1" dirty="0">
                <a:latin typeface="Courier New" pitchFamily="49" charset="0"/>
                <a:cs typeface="Courier New" pitchFamily="49" charset="0"/>
              </a:rPr>
              <a:t>&lt;&lt;"*</a:t>
            </a:r>
            <a:r>
              <a:rPr lang="en-US" altLang="zh-CN" sz="2400" b="1" dirty="0">
                <a:latin typeface="Courier New" pitchFamily="49" charset="0"/>
                <a:cs typeface="Courier New" pitchFamily="49" charset="0"/>
              </a:rPr>
              <a:t>p</a:t>
            </a:r>
            <a:r>
              <a:rPr lang="en-US" altLang="zh-CN" b="1" dirty="0">
                <a:latin typeface="Courier New" pitchFamily="49" charset="0"/>
                <a:cs typeface="Courier New" pitchFamily="49" charset="0"/>
              </a:rPr>
              <a:t>="&lt;&lt;*</a:t>
            </a:r>
            <a:r>
              <a:rPr lang="en-US" altLang="zh-CN" sz="2400" b="1" dirty="0">
                <a:latin typeface="Courier New" pitchFamily="49" charset="0"/>
                <a:cs typeface="Courier New" pitchFamily="49" charset="0"/>
              </a:rPr>
              <a:t>p&lt;&lt;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lvl="1">
              <a:spcBef>
                <a:spcPts val="0"/>
              </a:spcBef>
              <a:buNone/>
            </a:pP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&lt;&lt;"**q="&lt;&lt;**q&lt;&lt;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lvl="1">
              <a:spcBef>
                <a:spcPts val="0"/>
              </a:spcBef>
              <a:buNone/>
            </a:pPr>
            <a:r>
              <a:rPr lang="en-US" altLang="zh-CN" sz="2400" b="1" dirty="0">
                <a:solidFill>
                  <a:srgbClr val="007434"/>
                </a:solidFill>
                <a:latin typeface="Courier New" pitchFamily="49" charset="0"/>
                <a:cs typeface="Courier New" pitchFamily="49" charset="0"/>
              </a:rPr>
              <a:t>//x, *p, **q</a:t>
            </a:r>
            <a:r>
              <a:rPr lang="zh-CN" altLang="en-US" sz="2400" b="1" dirty="0">
                <a:solidFill>
                  <a:srgbClr val="007434"/>
                </a:solidFill>
                <a:latin typeface="Courier New" pitchFamily="49" charset="0"/>
                <a:cs typeface="Courier New" pitchFamily="49" charset="0"/>
              </a:rPr>
              <a:t>值均为123</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&lt;&lt;"*q="&lt;&lt;*q&lt;&lt;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//*q</a:t>
            </a:r>
            <a:r>
              <a:rPr lang="zh-CN" altLang="en-US" sz="2400" b="1" dirty="0">
                <a:solidFill>
                  <a:srgbClr val="007434"/>
                </a:solidFill>
                <a:latin typeface="Courier New" pitchFamily="49" charset="0"/>
                <a:cs typeface="Courier New" pitchFamily="49" charset="0"/>
              </a:rPr>
              <a:t>为一重指针</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9835402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多重指针</a:t>
            </a:r>
          </a:p>
        </p:txBody>
      </p:sp>
      <p:sp>
        <p:nvSpPr>
          <p:cNvPr id="3" name="内容占位符 2"/>
          <p:cNvSpPr>
            <a:spLocks noGrp="1"/>
          </p:cNvSpPr>
          <p:nvPr>
            <p:ph idx="1"/>
          </p:nvPr>
        </p:nvSpPr>
        <p:spPr>
          <a:xfrm>
            <a:off x="457200" y="1844824"/>
            <a:ext cx="8258204" cy="4479776"/>
          </a:xfrm>
        </p:spPr>
        <p:txBody>
          <a:bodyPr/>
          <a:lstStyle/>
          <a:p>
            <a:r>
              <a:rPr lang="zh-CN" altLang="en-US" dirty="0"/>
              <a:t>二重指针</a:t>
            </a:r>
            <a:endParaRPr lang="en-US" altLang="zh-CN" dirty="0"/>
          </a:p>
          <a:p>
            <a:pPr lvl="1"/>
            <a:r>
              <a:rPr lang="zh-CN" altLang="en-US" dirty="0"/>
              <a:t>指向一重指针（普通的指针变量，或等价的地址表达式），赋值时必须将一重指针的地址赋给二重指针</a:t>
            </a:r>
            <a:endParaRPr lang="en-US" altLang="zh-CN" dirty="0"/>
          </a:p>
          <a:p>
            <a:pPr lvl="1"/>
            <a:r>
              <a:rPr lang="zh-CN" altLang="en-US" dirty="0"/>
              <a:t>二重指针指向一重指针的地址</a:t>
            </a:r>
            <a:endParaRPr lang="en-US" altLang="zh-CN" dirty="0"/>
          </a:p>
          <a:p>
            <a:pPr lvl="1"/>
            <a:r>
              <a:rPr lang="zh-CN" altLang="en-US" dirty="0"/>
              <a:t>二重指针的值为一重指针</a:t>
            </a:r>
            <a:r>
              <a:rPr lang="zh-CN" altLang="en-US" dirty="0">
                <a:solidFill>
                  <a:srgbClr val="FF0000"/>
                </a:solidFill>
              </a:rPr>
              <a:t>所在地址</a:t>
            </a:r>
            <a:r>
              <a:rPr lang="zh-CN" altLang="en-US" dirty="0"/>
              <a:t>的值，要区别指针的值与指针的地址</a:t>
            </a:r>
            <a:endParaRPr lang="en-US" altLang="zh-CN" dirty="0"/>
          </a:p>
          <a:p>
            <a:pPr lvl="2"/>
            <a:r>
              <a:rPr lang="zh-CN" altLang="en-US" dirty="0"/>
              <a:t>指针的值是地址，是其“指向”变量的地址</a:t>
            </a:r>
            <a:endParaRPr lang="en-US" altLang="zh-CN" dirty="0"/>
          </a:p>
          <a:p>
            <a:pPr lvl="2"/>
            <a:r>
              <a:rPr lang="zh-CN" altLang="en-US" dirty="0"/>
              <a:t>指针的地址，是指为指针变量开辟的存储空间，存储指针变量自身</a:t>
            </a:r>
            <a:endParaRPr lang="en-US" altLang="zh-CN" dirty="0"/>
          </a:p>
          <a:p>
            <a:pPr lvl="1"/>
            <a:endParaRPr lang="en-US" altLang="zh-CN" dirty="0"/>
          </a:p>
        </p:txBody>
      </p:sp>
      <p:sp>
        <p:nvSpPr>
          <p:cNvPr id="12" name="矩形 11">
            <a:hlinkClick r:id="rId2" action="ppaction://hlinksldjump"/>
            <a:extLst>
              <a:ext uri="{FF2B5EF4-FFF2-40B4-BE49-F238E27FC236}">
                <a16:creationId xmlns:a16="http://schemas.microsoft.com/office/drawing/2014/main" id="{0E2834A3-02C7-4339-A6FB-8B96E1EDE16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0DC34BE1-0C3E-4222-996D-916A099EDC1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3E1E59B7-F9B7-454D-BE55-BAF7C0EEE38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798AEADD-4F11-42C6-A054-3CC58E7C74D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60D6D31C-ABBC-4AFA-8EEE-8F4700A3235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2615B1B5-1C63-43D6-9B3E-CF6B3DB19D6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752A7AF5-28CE-45BA-8110-59055EF4AC5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AB35BD56-D1A7-4DFD-BDFF-3F6AD9DE425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17767072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多重指针</a:t>
            </a:r>
          </a:p>
        </p:txBody>
      </p:sp>
      <p:pic>
        <p:nvPicPr>
          <p:cNvPr id="175105" name="Picture 1"/>
          <p:cNvPicPr>
            <a:picLocks noChangeAspect="1" noChangeArrowheads="1"/>
          </p:cNvPicPr>
          <p:nvPr/>
        </p:nvPicPr>
        <p:blipFill>
          <a:blip r:embed="rId2" cstate="print"/>
          <a:srcRect/>
          <a:stretch>
            <a:fillRect/>
          </a:stretch>
        </p:blipFill>
        <p:spPr bwMode="auto">
          <a:xfrm>
            <a:off x="857250" y="2060848"/>
            <a:ext cx="7429500" cy="3381375"/>
          </a:xfrm>
          <a:prstGeom prst="rect">
            <a:avLst/>
          </a:prstGeom>
          <a:noFill/>
          <a:ln w="9525">
            <a:noFill/>
            <a:miter lim="800000"/>
            <a:headEnd/>
            <a:tailEnd/>
          </a:ln>
        </p:spPr>
      </p:pic>
      <p:sp>
        <p:nvSpPr>
          <p:cNvPr id="12" name="矩形 11">
            <a:hlinkClick r:id="rId3" action="ppaction://hlinksldjump"/>
            <a:extLst>
              <a:ext uri="{FF2B5EF4-FFF2-40B4-BE49-F238E27FC236}">
                <a16:creationId xmlns:a16="http://schemas.microsoft.com/office/drawing/2014/main" id="{6EA3F66B-3710-42A7-B265-9BB28DC27AD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7C4C5839-C83A-472E-B2FA-D565FAE9931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E8A2E3B6-7808-46FA-AA0E-3DED878390F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38F39F24-BA1E-4239-AD82-3BF4804F0D6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8DBF96A4-0CAB-43BB-806B-8083574E07C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7F82CC68-8246-40F3-B45C-ABE48B1DB66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9F9B3793-9813-4747-A10E-C6E888A4CF8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A9D20F16-2390-4D3C-B232-D5C3FA9C9E0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8182934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6.7】</a:t>
            </a:r>
            <a:r>
              <a:rPr lang="zh-CN" altLang="en-US" dirty="0">
                <a:solidFill>
                  <a:srgbClr val="C00000"/>
                </a:solidFill>
              </a:rPr>
              <a:t>分析程序的运行结果</a:t>
            </a:r>
            <a:endParaRPr lang="en-US" altLang="zh-CN" dirty="0">
              <a:solidFill>
                <a:srgbClr val="C00000"/>
              </a:solidFill>
            </a:endParaRPr>
          </a:p>
          <a:p>
            <a:pPr lvl="1">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lvl="1">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latin typeface="Courier New" pitchFamily="49" charset="0"/>
                <a:cs typeface="Courier New" pitchFamily="49" charset="0"/>
              </a:rPr>
              <a:t> std;</a:t>
            </a:r>
          </a:p>
          <a:p>
            <a:pPr lvl="1">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main()</a:t>
            </a:r>
          </a:p>
          <a:p>
            <a:pPr lvl="1">
              <a:spcBef>
                <a:spcPts val="0"/>
              </a:spcBef>
              <a:buNone/>
            </a:pP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a:t>
            </a:r>
          </a:p>
          <a:p>
            <a:pPr lvl="1">
              <a:spcBef>
                <a:spcPts val="0"/>
              </a:spcBef>
              <a:buNone/>
            </a:pP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a=2,b=3,c=4;</a:t>
            </a:r>
          </a:p>
          <a:p>
            <a:pPr lvl="1">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&lt;&lt;&amp;a&lt;&lt;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&lt;&lt;&amp;b&lt;&lt;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&lt;&lt;&amp;c&lt;&lt;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*name[] = {&amp;</a:t>
            </a:r>
            <a:r>
              <a:rPr lang="en-US" altLang="zh-CN" sz="2000" b="1" dirty="0" err="1">
                <a:latin typeface="Courier New" pitchFamily="49" charset="0"/>
                <a:cs typeface="Courier New" pitchFamily="49" charset="0"/>
              </a:rPr>
              <a:t>a,&amp;b,&amp;c</a:t>
            </a: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	p = name + 2;</a:t>
            </a:r>
          </a:p>
          <a:p>
            <a:pPr lvl="1">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&lt;&lt;p&lt;&lt;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&lt;&lt;*p&lt;&lt;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&lt;&lt;**p&lt;&lt;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lvl="1">
              <a:spcBef>
                <a:spcPts val="0"/>
              </a:spcBef>
              <a:buNone/>
            </a:pPr>
            <a:r>
              <a:rPr lang="en-US" altLang="zh-CN" sz="2000" b="1" dirty="0">
                <a:latin typeface="Courier New" pitchFamily="49" charset="0"/>
                <a:cs typeface="Courier New" pitchFamily="49" charset="0"/>
              </a:rPr>
              <a:t>}</a:t>
            </a:r>
          </a:p>
          <a:p>
            <a:pPr lvl="1">
              <a:spcBef>
                <a:spcPts val="0"/>
              </a:spcBef>
              <a:buNone/>
            </a:pPr>
            <a:endParaRPr lang="en-US" altLang="zh-CN" sz="1800" dirty="0">
              <a:solidFill>
                <a:schemeClr val="tx2"/>
              </a:solidFill>
              <a:latin typeface="Courier New" pitchFamily="49" charset="0"/>
              <a:cs typeface="Courier New" pitchFamily="49" charset="0"/>
            </a:endParaRPr>
          </a:p>
        </p:txBody>
      </p:sp>
      <p:sp>
        <p:nvSpPr>
          <p:cNvPr id="6" name="矩形 5"/>
          <p:cNvSpPr/>
          <p:nvPr/>
        </p:nvSpPr>
        <p:spPr>
          <a:xfrm>
            <a:off x="5716623" y="2790867"/>
            <a:ext cx="2890664" cy="2677656"/>
          </a:xfrm>
          <a:prstGeom prst="rect">
            <a:avLst/>
          </a:prstGeom>
        </p:spPr>
        <p:txBody>
          <a:bodyPr wrap="square">
            <a:spAutoFit/>
          </a:bodyPr>
          <a:lstStyle/>
          <a:p>
            <a:r>
              <a:rPr lang="zh-CN" altLang="en-US" sz="2400" b="1" dirty="0">
                <a:solidFill>
                  <a:schemeClr val="accent6">
                    <a:lumMod val="75000"/>
                  </a:schemeClr>
                </a:solidFill>
                <a:latin typeface="黑体" panose="02010609060101010101" pitchFamily="49" charset="-122"/>
                <a:ea typeface="黑体" panose="02010609060101010101" pitchFamily="49" charset="-122"/>
                <a:cs typeface="Courier New" pitchFamily="49" charset="0"/>
              </a:rPr>
              <a:t>运行结果：</a:t>
            </a:r>
            <a:endParaRPr lang="en-US" altLang="zh-CN" sz="2400" b="1" dirty="0">
              <a:solidFill>
                <a:schemeClr val="accent6">
                  <a:lumMod val="75000"/>
                </a:schemeClr>
              </a:solidFill>
              <a:latin typeface="黑体" panose="02010609060101010101" pitchFamily="49" charset="-122"/>
              <a:ea typeface="黑体" panose="02010609060101010101" pitchFamily="49" charset="-122"/>
              <a:cs typeface="Courier New" pitchFamily="49" charset="0"/>
            </a:endParaRPr>
          </a:p>
          <a:p>
            <a:r>
              <a:rPr lang="en-US" altLang="zh-CN" sz="2400" b="1" dirty="0">
                <a:latin typeface="Courier New" pitchFamily="49" charset="0"/>
                <a:cs typeface="Courier New" pitchFamily="49" charset="0"/>
              </a:rPr>
              <a:t>0x7ffec5db42b4</a:t>
            </a:r>
          </a:p>
          <a:p>
            <a:r>
              <a:rPr lang="en-US" altLang="zh-CN" sz="2400" b="1" dirty="0">
                <a:latin typeface="Courier New" pitchFamily="49" charset="0"/>
                <a:cs typeface="Courier New" pitchFamily="49" charset="0"/>
              </a:rPr>
              <a:t>0x7ffec5db42b0</a:t>
            </a:r>
          </a:p>
          <a:p>
            <a:r>
              <a:rPr lang="en-US" altLang="zh-CN" sz="2400" b="1" dirty="0">
                <a:latin typeface="Courier New" pitchFamily="49" charset="0"/>
                <a:cs typeface="Courier New" pitchFamily="49" charset="0"/>
              </a:rPr>
              <a:t>0x7ffec5db42ac</a:t>
            </a:r>
          </a:p>
          <a:p>
            <a:r>
              <a:rPr lang="en-US" altLang="zh-CN" sz="2400" b="1" dirty="0">
                <a:latin typeface="Courier New" pitchFamily="49" charset="0"/>
                <a:cs typeface="Courier New" pitchFamily="49" charset="0"/>
              </a:rPr>
              <a:t>0x7ffec5db42a0</a:t>
            </a:r>
          </a:p>
          <a:p>
            <a:r>
              <a:rPr lang="en-US" altLang="zh-CN" sz="2400" b="1" dirty="0">
                <a:latin typeface="Courier New" pitchFamily="49" charset="0"/>
                <a:cs typeface="Courier New" pitchFamily="49" charset="0"/>
              </a:rPr>
              <a:t>0x7ffec5db42ac4</a:t>
            </a:r>
          </a:p>
        </p:txBody>
      </p:sp>
      <p:sp>
        <p:nvSpPr>
          <p:cNvPr id="13" name="矩形 12">
            <a:hlinkClick r:id="rId3" action="ppaction://hlinksldjump"/>
            <a:extLst>
              <a:ext uri="{FF2B5EF4-FFF2-40B4-BE49-F238E27FC236}">
                <a16:creationId xmlns:a16="http://schemas.microsoft.com/office/drawing/2014/main" id="{CE8B652B-1859-4658-81C3-E43B1415912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4" name="矩形 13">
            <a:hlinkClick r:id="" action="ppaction://noaction"/>
            <a:extLst>
              <a:ext uri="{FF2B5EF4-FFF2-40B4-BE49-F238E27FC236}">
                <a16:creationId xmlns:a16="http://schemas.microsoft.com/office/drawing/2014/main" id="{6178A78F-DFEC-46B7-9B90-5ECC428EF50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5" name="矩形 14">
            <a:hlinkClick r:id="" action="ppaction://noaction"/>
            <a:extLst>
              <a:ext uri="{FF2B5EF4-FFF2-40B4-BE49-F238E27FC236}">
                <a16:creationId xmlns:a16="http://schemas.microsoft.com/office/drawing/2014/main" id="{3B5C516F-AE20-463F-85B0-4543B3738BD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6" name="矩形 15">
            <a:hlinkClick r:id="" action="ppaction://noaction"/>
            <a:extLst>
              <a:ext uri="{FF2B5EF4-FFF2-40B4-BE49-F238E27FC236}">
                <a16:creationId xmlns:a16="http://schemas.microsoft.com/office/drawing/2014/main" id="{6A286E2C-436D-4ECB-9EBA-2D44D205C11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7" name="矩形 16">
            <a:hlinkClick r:id="" action="ppaction://noaction"/>
            <a:extLst>
              <a:ext uri="{FF2B5EF4-FFF2-40B4-BE49-F238E27FC236}">
                <a16:creationId xmlns:a16="http://schemas.microsoft.com/office/drawing/2014/main" id="{6597E030-86F7-4C41-AC84-1A92523DE25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8" name="矩形 17">
            <a:hlinkClick r:id="" action="ppaction://noaction"/>
            <a:extLst>
              <a:ext uri="{FF2B5EF4-FFF2-40B4-BE49-F238E27FC236}">
                <a16:creationId xmlns:a16="http://schemas.microsoft.com/office/drawing/2014/main" id="{7DD25836-0009-4AC9-9184-3EBE93C1AC4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9" name="矩形 18">
            <a:hlinkClick r:id="" action="ppaction://noaction"/>
            <a:extLst>
              <a:ext uri="{FF2B5EF4-FFF2-40B4-BE49-F238E27FC236}">
                <a16:creationId xmlns:a16="http://schemas.microsoft.com/office/drawing/2014/main" id="{B73675F9-6850-496A-B9DB-05622D02D96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20" name="矩形 19">
            <a:hlinkClick r:id="" action="ppaction://noaction"/>
            <a:extLst>
              <a:ext uri="{FF2B5EF4-FFF2-40B4-BE49-F238E27FC236}">
                <a16:creationId xmlns:a16="http://schemas.microsoft.com/office/drawing/2014/main" id="{A5B65BAF-7F1C-4CBE-8EA5-E39E075B2FD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custDataLst>
      <p:tags r:id="rId1"/>
    </p:custDataLst>
    <p:extLst>
      <p:ext uri="{BB962C8B-B14F-4D97-AF65-F5344CB8AC3E}">
        <p14:creationId xmlns:p14="http://schemas.microsoft.com/office/powerpoint/2010/main" val="3400202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二重指针与数组的关系</a:t>
            </a:r>
          </a:p>
        </p:txBody>
      </p:sp>
      <p:sp>
        <p:nvSpPr>
          <p:cNvPr id="3" name="内容占位符 2"/>
          <p:cNvSpPr>
            <a:spLocks noGrp="1"/>
          </p:cNvSpPr>
          <p:nvPr>
            <p:ph idx="1"/>
          </p:nvPr>
        </p:nvSpPr>
        <p:spPr/>
        <p:txBody>
          <a:bodyPr/>
          <a:lstStyle/>
          <a:p>
            <a:r>
              <a:rPr lang="zh-CN" altLang="en-US" dirty="0"/>
              <a:t>与字符串指针数组关联</a:t>
            </a:r>
            <a:endParaRPr lang="en-US" altLang="zh-CN" dirty="0"/>
          </a:p>
          <a:p>
            <a:pPr lvl="1"/>
            <a:r>
              <a:rPr lang="zh-CN" altLang="en-US" dirty="0"/>
              <a:t>直接赋值，见</a:t>
            </a:r>
            <a:r>
              <a:rPr lang="en-US" altLang="zh-CN" dirty="0">
                <a:solidFill>
                  <a:srgbClr val="C00000"/>
                </a:solidFill>
              </a:rPr>
              <a:t>【</a:t>
            </a:r>
            <a:r>
              <a:rPr lang="zh-CN" altLang="en-US" dirty="0">
                <a:solidFill>
                  <a:srgbClr val="C00000"/>
                </a:solidFill>
              </a:rPr>
              <a:t>例</a:t>
            </a:r>
            <a:r>
              <a:rPr lang="en-US" altLang="zh-CN" dirty="0">
                <a:solidFill>
                  <a:srgbClr val="C00000"/>
                </a:solidFill>
              </a:rPr>
              <a:t>6.7】</a:t>
            </a:r>
          </a:p>
          <a:p>
            <a:r>
              <a:rPr lang="zh-CN" altLang="en-US" dirty="0"/>
              <a:t>与二维数组关联</a:t>
            </a:r>
            <a:endParaRPr lang="en-US" altLang="zh-CN" dirty="0"/>
          </a:p>
          <a:p>
            <a:pPr lvl="1"/>
            <a:r>
              <a:rPr lang="zh-CN" altLang="en-US" dirty="0"/>
              <a:t>指针的数组</a:t>
            </a:r>
            <a:r>
              <a:rPr lang="en-US" altLang="zh-CN" dirty="0">
                <a:sym typeface="Wingdings" panose="05000000000000000000" pitchFamily="2" charset="2"/>
              </a:rPr>
              <a:t></a:t>
            </a:r>
            <a:r>
              <a:rPr lang="zh-CN" altLang="en-US" dirty="0">
                <a:sym typeface="Wingdings" panose="05000000000000000000" pitchFamily="2" charset="2"/>
              </a:rPr>
              <a:t>指针的指针</a:t>
            </a:r>
            <a:endParaRPr lang="en-US" altLang="zh-CN" dirty="0"/>
          </a:p>
          <a:p>
            <a:pPr lvl="1"/>
            <a:r>
              <a:rPr lang="zh-CN" altLang="en-US" dirty="0"/>
              <a:t>通过动态内存分配的方式（见后面章节）</a:t>
            </a:r>
            <a:endParaRPr lang="en-US" altLang="zh-CN" dirty="0"/>
          </a:p>
          <a:p>
            <a:pPr lvl="2"/>
            <a:r>
              <a:rPr lang="zh-CN" altLang="en-US" dirty="0"/>
              <a:t>不允许直接用二维数组首地址赋值给指针变量</a:t>
            </a:r>
            <a:endParaRPr lang="en-US" altLang="zh-CN" dirty="0"/>
          </a:p>
          <a:p>
            <a:pPr lvl="2"/>
            <a:r>
              <a:rPr lang="zh-CN" altLang="en-US" dirty="0"/>
              <a:t>必须为二维数组的每一维动态分配内存</a:t>
            </a:r>
            <a:endParaRPr lang="en-US" altLang="zh-CN" dirty="0"/>
          </a:p>
          <a:p>
            <a:pPr lvl="1"/>
            <a:r>
              <a:rPr lang="zh-CN" altLang="en-US" dirty="0"/>
              <a:t>二维数组不能等价于二重指针</a:t>
            </a:r>
          </a:p>
          <a:p>
            <a:pPr marL="914400" lvl="2" indent="0">
              <a:buNone/>
            </a:pPr>
            <a:endParaRPr lang="en-US" altLang="zh-CN" dirty="0"/>
          </a:p>
        </p:txBody>
      </p:sp>
      <p:sp>
        <p:nvSpPr>
          <p:cNvPr id="12" name="矩形 11">
            <a:hlinkClick r:id="rId2" action="ppaction://hlinksldjump"/>
            <a:extLst>
              <a:ext uri="{FF2B5EF4-FFF2-40B4-BE49-F238E27FC236}">
                <a16:creationId xmlns:a16="http://schemas.microsoft.com/office/drawing/2014/main" id="{BC6341A6-3904-4623-B6AB-42B2EEB8CD3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指针类型与指针变量 □</a:t>
            </a:r>
          </a:p>
        </p:txBody>
      </p:sp>
      <p:sp>
        <p:nvSpPr>
          <p:cNvPr id="13" name="矩形 12">
            <a:hlinkClick r:id="" action="ppaction://noaction"/>
            <a:extLst>
              <a:ext uri="{FF2B5EF4-FFF2-40B4-BE49-F238E27FC236}">
                <a16:creationId xmlns:a16="http://schemas.microsoft.com/office/drawing/2014/main" id="{639A1AC0-DC80-45EE-8A46-197906B245C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指针与常量 □</a:t>
            </a:r>
          </a:p>
        </p:txBody>
      </p:sp>
      <p:sp>
        <p:nvSpPr>
          <p:cNvPr id="14" name="矩形 13">
            <a:hlinkClick r:id="" action="ppaction://noaction"/>
            <a:extLst>
              <a:ext uri="{FF2B5EF4-FFF2-40B4-BE49-F238E27FC236}">
                <a16:creationId xmlns:a16="http://schemas.microsoft.com/office/drawing/2014/main" id="{C9422FB3-1771-46B4-8244-0696A51ABB0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指针与数组 ■</a:t>
            </a:r>
          </a:p>
        </p:txBody>
      </p:sp>
      <p:sp>
        <p:nvSpPr>
          <p:cNvPr id="15" name="矩形 14">
            <a:hlinkClick r:id="" action="ppaction://noaction"/>
            <a:extLst>
              <a:ext uri="{FF2B5EF4-FFF2-40B4-BE49-F238E27FC236}">
                <a16:creationId xmlns:a16="http://schemas.microsoft.com/office/drawing/2014/main" id="{9890EADA-3751-4F3B-92B6-4BD4959C426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指针与字符串 □</a:t>
            </a:r>
          </a:p>
        </p:txBody>
      </p:sp>
      <p:sp>
        <p:nvSpPr>
          <p:cNvPr id="16" name="矩形 15">
            <a:hlinkClick r:id="" action="ppaction://noaction"/>
            <a:extLst>
              <a:ext uri="{FF2B5EF4-FFF2-40B4-BE49-F238E27FC236}">
                <a16:creationId xmlns:a16="http://schemas.microsoft.com/office/drawing/2014/main" id="{7990ACBB-E52A-4959-B50E-68C27064166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指向数组元素的指针</a:t>
            </a:r>
            <a:r>
              <a:rPr lang="en-US" altLang="zh-CN" sz="1200" b="1" dirty="0">
                <a:solidFill>
                  <a:srgbClr val="820064"/>
                </a:solidFill>
                <a:latin typeface="Courier New" pitchFamily="49" charset="0"/>
                <a:cs typeface="Courier New" pitchFamily="49" charset="0"/>
              </a:rPr>
              <a:t>	</a:t>
            </a: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99912365-BB72-47D8-9B8B-43F5BF9868A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指向数组的指针</a:t>
            </a:r>
          </a:p>
        </p:txBody>
      </p:sp>
      <p:sp>
        <p:nvSpPr>
          <p:cNvPr id="18" name="矩形 17">
            <a:hlinkClick r:id="" action="ppaction://noaction"/>
            <a:extLst>
              <a:ext uri="{FF2B5EF4-FFF2-40B4-BE49-F238E27FC236}">
                <a16:creationId xmlns:a16="http://schemas.microsoft.com/office/drawing/2014/main" id="{EB587779-3BAC-4118-8D82-352B054A083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指针数组</a:t>
            </a:r>
          </a:p>
        </p:txBody>
      </p:sp>
      <p:sp>
        <p:nvSpPr>
          <p:cNvPr id="19" name="矩形 18">
            <a:hlinkClick r:id="" action="ppaction://noaction"/>
            <a:extLst>
              <a:ext uri="{FF2B5EF4-FFF2-40B4-BE49-F238E27FC236}">
                <a16:creationId xmlns:a16="http://schemas.microsoft.com/office/drawing/2014/main" id="{3F57AF12-7F85-4704-A377-059B66FCB97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多重指针</a:t>
            </a:r>
          </a:p>
        </p:txBody>
      </p:sp>
    </p:spTree>
    <p:extLst>
      <p:ext uri="{BB962C8B-B14F-4D97-AF65-F5344CB8AC3E}">
        <p14:creationId xmlns:p14="http://schemas.microsoft.com/office/powerpoint/2010/main" val="30174850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7A09571-9729-46FD-896A-529DC3B30185}"/>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zh-CN" sz="2800" dirty="0"/>
              <a:t>有如下程序段</a:t>
            </a:r>
            <a:r>
              <a:rPr lang="zh-CN" altLang="en-US" sz="2800" dirty="0"/>
              <a:t>：</a:t>
            </a:r>
            <a:endParaRPr lang="en-US" altLang="zh-CN" sz="2800" dirty="0"/>
          </a:p>
          <a:p>
            <a:r>
              <a:rPr lang="en-US" altLang="zh-CN" sz="2800" dirty="0"/>
              <a:t>int **p,*</a:t>
            </a:r>
            <a:r>
              <a:rPr lang="en-US" altLang="zh-CN" sz="2800" dirty="0" err="1"/>
              <a:t>s,k</a:t>
            </a:r>
            <a:r>
              <a:rPr lang="en-US" altLang="zh-CN" sz="2800" dirty="0"/>
              <a:t>=20; s=&amp;k; p=&amp;s;</a:t>
            </a:r>
          </a:p>
          <a:p>
            <a:r>
              <a:rPr lang="zh-CN" altLang="en-US" sz="2800" dirty="0"/>
              <a:t>则</a:t>
            </a:r>
            <a:r>
              <a:rPr lang="en-US" altLang="zh-CN" sz="2800" dirty="0"/>
              <a:t>**p</a:t>
            </a:r>
            <a:r>
              <a:rPr lang="zh-CN" altLang="zh-CN" sz="2800" dirty="0"/>
              <a:t>所代表的是</a:t>
            </a:r>
            <a:r>
              <a:rPr lang="en-US" altLang="zh-CN" sz="2800" dirty="0"/>
              <a:t>(  )</a:t>
            </a:r>
            <a:r>
              <a:rPr lang="zh-CN" altLang="zh-CN" sz="2800" dirty="0"/>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B4A515AE-5439-44B2-840B-AF526C34457C}"/>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8800AD7C-83A2-4C39-B54C-50EFB478DB56}"/>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&amp;k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18AC764B-D0C5-422F-9090-64ACD4D09237}"/>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45AA5EF1-F2CC-4D76-98D4-816B17F3D7FE}"/>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k</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140084AA-8476-4C16-91B5-7CC80F7E73EB}"/>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64CC8189-A373-4063-BF9F-023045A208D0}"/>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F3583CBC-0093-4614-87BC-E07F25FE735C}"/>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CCAFA2F4-FDE5-4EE1-8CC8-DC04F94FF8C6}"/>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93FA86C5-259E-4A7B-B408-AC6D6A734BF9}"/>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2FFEBDFE-D31D-4472-8233-ACD0B52D3F2B}"/>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946C212D-F09A-4BEC-BB6A-01F7A6D027BA}"/>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1D22D3AC-EA43-4A42-8B3A-E223B596F1D8}"/>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ADA01A7E-AADF-4E28-8DBE-D52EA284F9E4}"/>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63B61ED3-1F7E-4151-BD04-D9D9E81BDC8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387F377B-AE63-4C0B-B8A2-323C4F8B6A4B}"/>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2651150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E4C57EB-92BE-4FAC-9C7B-9A98532C8318}"/>
              </a:ext>
            </a:extLst>
          </p:cNvPr>
          <p:cNvSpPr txBox="1"/>
          <p:nvPr>
            <p:custDataLst>
              <p:tags r:id="rId2"/>
            </p:custDataLst>
          </p:nvPr>
        </p:nvSpPr>
        <p:spPr>
          <a:xfrm>
            <a:off x="907931" y="1510893"/>
            <a:ext cx="7315200" cy="3828277"/>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以下程序的运行结果是</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 &lt;iostream&gt;</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using namespace std;</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main()</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int a=10,*b=&amp;a,**c=&amp;b;</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&lt;&lt;**c&lt;&lt;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endl</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return 0;</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5" name="矩形: 圆角 4">
            <a:extLst>
              <a:ext uri="{FF2B5EF4-FFF2-40B4-BE49-F238E27FC236}">
                <a16:creationId xmlns:a16="http://schemas.microsoft.com/office/drawing/2014/main" id="{8302F3AC-DAC3-4766-9F1D-50386D6ECCCD}"/>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a:extLst>
              <a:ext uri="{FF2B5EF4-FFF2-40B4-BE49-F238E27FC236}">
                <a16:creationId xmlns:a16="http://schemas.microsoft.com/office/drawing/2014/main" id="{2AB9C3C1-6973-4F77-9378-8B1160F625AF}"/>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0" name="组合 9">
            <a:extLst>
              <a:ext uri="{FF2B5EF4-FFF2-40B4-BE49-F238E27FC236}">
                <a16:creationId xmlns:a16="http://schemas.microsoft.com/office/drawing/2014/main" id="{B41CB997-D94B-4A21-B23D-881AF4D52904}"/>
              </a:ext>
            </a:extLst>
          </p:cNvPr>
          <p:cNvGrpSpPr/>
          <p:nvPr>
            <p:custDataLst>
              <p:tags r:id="rId5"/>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A3E607EA-7739-40EB-B15F-6B9410496F62}"/>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EB3CF713-055B-4AC4-BA8E-15CB643C6060}"/>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43323C4B-0AB1-4F37-BD8D-1AB11E5049FB}"/>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9" name="TipText">
              <a:extLst>
                <a:ext uri="{FF2B5EF4-FFF2-40B4-BE49-F238E27FC236}">
                  <a16:creationId xmlns:a16="http://schemas.microsoft.com/office/drawing/2014/main" id="{D22CE848-9102-42B7-BC8F-C8D872A339C3}"/>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1BC974B3-AE0F-41B4-8563-B2A261AE8A37}"/>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5937244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0062" y="4160591"/>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 name="组合 34"/>
          <p:cNvGrpSpPr>
            <a:grpSpLocks/>
          </p:cNvGrpSpPr>
          <p:nvPr/>
        </p:nvGrpSpPr>
        <p:grpSpPr bwMode="auto">
          <a:xfrm>
            <a:off x="1643063" y="1412177"/>
            <a:ext cx="5356225" cy="4465095"/>
            <a:chOff x="1643042" y="475193"/>
            <a:chExt cx="5356246" cy="4465116"/>
          </a:xfrm>
        </p:grpSpPr>
        <p:sp>
          <p:nvSpPr>
            <p:cNvPr id="14" name="五边形 13"/>
            <p:cNvSpPr/>
            <p:nvPr/>
          </p:nvSpPr>
          <p:spPr bwMode="auto">
            <a:xfrm flipH="1">
              <a:off x="2040043" y="47519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a:grpSpLocks/>
          </p:cNvGrpSpPr>
          <p:nvPr/>
        </p:nvGrpSpPr>
        <p:grpSpPr bwMode="auto">
          <a:xfrm>
            <a:off x="868546" y="1419527"/>
            <a:ext cx="6129279" cy="2642190"/>
            <a:chOff x="869985" y="3218860"/>
            <a:chExt cx="6129303" cy="264220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a:grpSpLocks/>
            </p:cNvGrpSpPr>
            <p:nvPr/>
          </p:nvGrpSpPr>
          <p:grpSpPr bwMode="auto">
            <a:xfrm>
              <a:off x="869985" y="5072072"/>
              <a:ext cx="1565222" cy="788990"/>
              <a:chOff x="80998" y="1643048"/>
              <a:chExt cx="1565222" cy="788990"/>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0998" y="1643048"/>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指针类型与指针变量</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指针与常量</a:t>
            </a: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指针与数组</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指针与字符串</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指针与函数</a:t>
            </a:r>
          </a:p>
        </p:txBody>
      </p:sp>
      <p:pic>
        <p:nvPicPr>
          <p:cNvPr id="56" name="图片 22" descr="NANKAI.png">
            <a:extLst>
              <a:ext uri="{FF2B5EF4-FFF2-40B4-BE49-F238E27FC236}">
                <a16:creationId xmlns:a16="http://schemas.microsoft.com/office/drawing/2014/main" id="{635CF39D-0381-4190-A4CB-9B6B54B338F0}"/>
              </a:ext>
            </a:extLst>
          </p:cNvPr>
          <p:cNvPicPr>
            <a:picLocks noChangeAspect="1"/>
          </p:cNvPicPr>
          <p:nvPr/>
        </p:nvPicPr>
        <p:blipFill>
          <a:blip r:embed="rId3" cstate="print"/>
          <a:srcRect/>
          <a:stretch>
            <a:fillRect/>
          </a:stretch>
        </p:blipFill>
        <p:spPr bwMode="auto">
          <a:xfrm>
            <a:off x="1641600" y="3274321"/>
            <a:ext cx="788984" cy="788984"/>
          </a:xfrm>
          <a:prstGeom prst="rect">
            <a:avLst/>
          </a:prstGeom>
          <a:noFill/>
          <a:ln w="9525">
            <a:noFill/>
            <a:miter lim="800000"/>
            <a:headEnd/>
            <a:tailEnd/>
          </a:ln>
        </p:spPr>
      </p:pic>
      <p:sp>
        <p:nvSpPr>
          <p:cNvPr id="53" name="矩形 52">
            <a:hlinkClick r:id="rId4" action="ppaction://hlinksldjump"/>
            <a:extLst>
              <a:ext uri="{FF2B5EF4-FFF2-40B4-BE49-F238E27FC236}">
                <a16:creationId xmlns:a16="http://schemas.microsoft.com/office/drawing/2014/main" id="{937BFB53-65BA-40B1-BF26-A8D0D28D7C4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54" name="矩形 53">
            <a:hlinkClick r:id="" action="ppaction://noaction"/>
            <a:extLst>
              <a:ext uri="{FF2B5EF4-FFF2-40B4-BE49-F238E27FC236}">
                <a16:creationId xmlns:a16="http://schemas.microsoft.com/office/drawing/2014/main" id="{05D58EA0-0995-40C8-8159-158B2518DC9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55" name="矩形 54">
            <a:hlinkClick r:id="" action="ppaction://noaction"/>
            <a:extLst>
              <a:ext uri="{FF2B5EF4-FFF2-40B4-BE49-F238E27FC236}">
                <a16:creationId xmlns:a16="http://schemas.microsoft.com/office/drawing/2014/main" id="{135175D5-E1EF-42F2-B72D-35F09C19AC6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57" name="矩形 56">
            <a:hlinkClick r:id="" action="ppaction://noaction"/>
            <a:extLst>
              <a:ext uri="{FF2B5EF4-FFF2-40B4-BE49-F238E27FC236}">
                <a16:creationId xmlns:a16="http://schemas.microsoft.com/office/drawing/2014/main" id="{164C0863-9AD7-4254-A2A9-F95944FBD17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58" name="矩形 57">
            <a:hlinkClick r:id="" action="ppaction://noaction"/>
            <a:extLst>
              <a:ext uri="{FF2B5EF4-FFF2-40B4-BE49-F238E27FC236}">
                <a16:creationId xmlns:a16="http://schemas.microsoft.com/office/drawing/2014/main" id="{C9FCDABE-183F-479F-95AF-940CE7EF5B0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字符指针</a:t>
            </a:r>
          </a:p>
        </p:txBody>
      </p:sp>
      <p:sp>
        <p:nvSpPr>
          <p:cNvPr id="59" name="矩形 58">
            <a:hlinkClick r:id="" action="ppaction://noaction"/>
            <a:extLst>
              <a:ext uri="{FF2B5EF4-FFF2-40B4-BE49-F238E27FC236}">
                <a16:creationId xmlns:a16="http://schemas.microsoft.com/office/drawing/2014/main" id="{DEB165A8-5081-45F6-9489-AF6215AB405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60" name="矩形 59">
            <a:hlinkClick r:id="" action="ppaction://noaction"/>
            <a:extLst>
              <a:ext uri="{FF2B5EF4-FFF2-40B4-BE49-F238E27FC236}">
                <a16:creationId xmlns:a16="http://schemas.microsoft.com/office/drawing/2014/main" id="{53817C57-6E89-4B3B-ACF1-A68CC65B987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字符指针与字符串</a:t>
            </a:r>
          </a:p>
        </p:txBody>
      </p:sp>
      <p:sp>
        <p:nvSpPr>
          <p:cNvPr id="61" name="矩形 60">
            <a:hlinkClick r:id="" action="ppaction://noaction"/>
            <a:extLst>
              <a:ext uri="{FF2B5EF4-FFF2-40B4-BE49-F238E27FC236}">
                <a16:creationId xmlns:a16="http://schemas.microsoft.com/office/drawing/2014/main" id="{CBE0B12F-4119-4C2C-8C34-DF2A8998C52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extLst>
      <p:ext uri="{BB962C8B-B14F-4D97-AF65-F5344CB8AC3E}">
        <p14:creationId xmlns:p14="http://schemas.microsoft.com/office/powerpoint/2010/main" val="588733117"/>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5" name="标题 4">
            <a:extLst>
              <a:ext uri="{FF2B5EF4-FFF2-40B4-BE49-F238E27FC236}">
                <a16:creationId xmlns:a16="http://schemas.microsoft.com/office/drawing/2014/main" id="{0E7532C9-55A5-4511-B3E5-4BCB82A958BF}"/>
              </a:ext>
            </a:extLst>
          </p:cNvPr>
          <p:cNvSpPr>
            <a:spLocks noGrp="1"/>
          </p:cNvSpPr>
          <p:nvPr>
            <p:ph type="ctrTitle"/>
          </p:nvPr>
        </p:nvSpPr>
        <p:spPr/>
        <p:txBody>
          <a:bodyPr/>
          <a:lstStyle/>
          <a:p>
            <a:r>
              <a:rPr lang="zh-CN" altLang="en-US" dirty="0"/>
              <a:t>字符指针与字符串</a:t>
            </a:r>
          </a:p>
        </p:txBody>
      </p:sp>
      <p:sp>
        <p:nvSpPr>
          <p:cNvPr id="10" name="TextBox 8">
            <a:extLst>
              <a:ext uri="{FF2B5EF4-FFF2-40B4-BE49-F238E27FC236}">
                <a16:creationId xmlns:a16="http://schemas.microsoft.com/office/drawing/2014/main" id="{3B2B22EF-7479-44B8-89AC-2FE17D6CF52D}"/>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4" name="图片 3">
            <a:extLst>
              <a:ext uri="{FF2B5EF4-FFF2-40B4-BE49-F238E27FC236}">
                <a16:creationId xmlns:a16="http://schemas.microsoft.com/office/drawing/2014/main" id="{9E9CFBB0-B77F-4C14-A66C-1F8CCCABC866}"/>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7" name="图片 6">
            <a:extLst>
              <a:ext uri="{FF2B5EF4-FFF2-40B4-BE49-F238E27FC236}">
                <a16:creationId xmlns:a16="http://schemas.microsoft.com/office/drawing/2014/main" id="{401DECDB-6A1D-4E58-97CB-618EA7E2CC30}"/>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1352437525"/>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366D07F-5C4D-4D13-AD8D-1AEA91DAF9A3}"/>
              </a:ext>
            </a:extLst>
          </p:cNvPr>
          <p:cNvSpPr>
            <a:spLocks noGrp="1"/>
          </p:cNvSpPr>
          <p:nvPr>
            <p:ph idx="1"/>
          </p:nvPr>
        </p:nvSpPr>
        <p:spPr/>
        <p:txBody>
          <a:bodyPr/>
          <a:lstStyle/>
          <a:p>
            <a:r>
              <a:rPr lang="zh-CN" altLang="en-US" dirty="0"/>
              <a:t>指向字符地址的指针</a:t>
            </a:r>
            <a:endParaRPr lang="en-US" altLang="zh-CN" dirty="0"/>
          </a:p>
          <a:p>
            <a:r>
              <a:rPr lang="en-US" altLang="zh-CN" b="1" dirty="0"/>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c='a';</a:t>
            </a:r>
          </a:p>
          <a:p>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*pc = &amp;c; </a:t>
            </a:r>
          </a:p>
          <a:p>
            <a:r>
              <a:rPr lang="zh-CN" altLang="en-US" dirty="0"/>
              <a:t>字符指针的初始化</a:t>
            </a:r>
            <a:endParaRPr lang="en-US" altLang="zh-CN" dirty="0"/>
          </a:p>
          <a:p>
            <a:pPr lvl="1"/>
            <a:r>
              <a:rPr lang="zh-CN" altLang="en-US" dirty="0"/>
              <a:t>字符变量地址</a:t>
            </a:r>
            <a:endParaRPr lang="en-US" altLang="zh-CN" dirty="0"/>
          </a:p>
          <a:p>
            <a:pPr lvl="1"/>
            <a:r>
              <a:rPr lang="zh-CN" altLang="en-US" dirty="0"/>
              <a:t>字符数组名</a:t>
            </a:r>
            <a:endParaRPr lang="en-US" altLang="zh-CN" dirty="0"/>
          </a:p>
          <a:p>
            <a:pPr lvl="1"/>
            <a:r>
              <a:rPr lang="zh-CN" altLang="en-US" dirty="0"/>
              <a:t>字符串字面值常量</a:t>
            </a:r>
            <a:r>
              <a:rPr lang="en-US" altLang="zh-CN" dirty="0"/>
              <a:t>※</a:t>
            </a:r>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str  = "china";</a:t>
            </a:r>
          </a:p>
          <a:p>
            <a:endParaRPr lang="zh-CN" altLang="en-US" dirty="0"/>
          </a:p>
        </p:txBody>
      </p:sp>
      <p:sp>
        <p:nvSpPr>
          <p:cNvPr id="3" name="标题 2">
            <a:extLst>
              <a:ext uri="{FF2B5EF4-FFF2-40B4-BE49-F238E27FC236}">
                <a16:creationId xmlns:a16="http://schemas.microsoft.com/office/drawing/2014/main" id="{5A7F18EC-3C36-4577-ACF4-CE828D4A4673}"/>
              </a:ext>
            </a:extLst>
          </p:cNvPr>
          <p:cNvSpPr>
            <a:spLocks noGrp="1"/>
          </p:cNvSpPr>
          <p:nvPr>
            <p:ph type="title"/>
          </p:nvPr>
        </p:nvSpPr>
        <p:spPr/>
        <p:txBody>
          <a:bodyPr/>
          <a:lstStyle/>
          <a:p>
            <a:r>
              <a:rPr lang="zh-CN" altLang="en-US" dirty="0"/>
              <a:t>字符指针</a:t>
            </a:r>
          </a:p>
        </p:txBody>
      </p:sp>
      <p:sp>
        <p:nvSpPr>
          <p:cNvPr id="6" name="矩形 5">
            <a:hlinkClick r:id="rId2" action="ppaction://hlinksldjump"/>
            <a:extLst>
              <a:ext uri="{FF2B5EF4-FFF2-40B4-BE49-F238E27FC236}">
                <a16:creationId xmlns:a16="http://schemas.microsoft.com/office/drawing/2014/main" id="{68CE521C-275E-432A-AAF6-C2E154720AE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7" name="矩形 6">
            <a:hlinkClick r:id="" action="ppaction://noaction"/>
            <a:extLst>
              <a:ext uri="{FF2B5EF4-FFF2-40B4-BE49-F238E27FC236}">
                <a16:creationId xmlns:a16="http://schemas.microsoft.com/office/drawing/2014/main" id="{3630CF88-67F3-4137-A72C-49941E30A52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8" name="矩形 7">
            <a:hlinkClick r:id="" action="ppaction://noaction"/>
            <a:extLst>
              <a:ext uri="{FF2B5EF4-FFF2-40B4-BE49-F238E27FC236}">
                <a16:creationId xmlns:a16="http://schemas.microsoft.com/office/drawing/2014/main" id="{31C6A720-F57A-4EF0-A068-9B7604DBDC3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 action="ppaction://noaction"/>
            <a:extLst>
              <a:ext uri="{FF2B5EF4-FFF2-40B4-BE49-F238E27FC236}">
                <a16:creationId xmlns:a16="http://schemas.microsoft.com/office/drawing/2014/main" id="{5DE35B0D-5101-4842-B915-1AECC1BBCCD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0AF2CB86-3C3B-4B78-89DB-C83CA9CBE0C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字符指针</a:t>
            </a:r>
          </a:p>
        </p:txBody>
      </p:sp>
      <p:sp>
        <p:nvSpPr>
          <p:cNvPr id="13" name="矩形 12">
            <a:hlinkClick r:id="" action="ppaction://noaction"/>
            <a:extLst>
              <a:ext uri="{FF2B5EF4-FFF2-40B4-BE49-F238E27FC236}">
                <a16:creationId xmlns:a16="http://schemas.microsoft.com/office/drawing/2014/main" id="{B04458F4-6077-48DA-AD69-545F2ACE05A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14" name="矩形 13">
            <a:hlinkClick r:id="" action="ppaction://noaction"/>
            <a:extLst>
              <a:ext uri="{FF2B5EF4-FFF2-40B4-BE49-F238E27FC236}">
                <a16:creationId xmlns:a16="http://schemas.microsoft.com/office/drawing/2014/main" id="{750F669C-F7EC-4F33-A423-6506155B3DE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字符指针与字符串</a:t>
            </a:r>
          </a:p>
        </p:txBody>
      </p:sp>
      <p:sp>
        <p:nvSpPr>
          <p:cNvPr id="15" name="矩形 14">
            <a:hlinkClick r:id="" action="ppaction://noaction"/>
            <a:extLst>
              <a:ext uri="{FF2B5EF4-FFF2-40B4-BE49-F238E27FC236}">
                <a16:creationId xmlns:a16="http://schemas.microsoft.com/office/drawing/2014/main" id="{6D07713C-B3C0-4F53-81AE-1DFB01B268C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extLst>
      <p:ext uri="{BB962C8B-B14F-4D97-AF65-F5344CB8AC3E}">
        <p14:creationId xmlns:p14="http://schemas.microsoft.com/office/powerpoint/2010/main" val="15823896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6D3967B-F8E7-4289-81A7-80FF5CAAC3DF}"/>
              </a:ext>
            </a:extLst>
          </p:cNvPr>
          <p:cNvSpPr>
            <a:spLocks noGrp="1"/>
          </p:cNvSpPr>
          <p:nvPr>
            <p:ph idx="1"/>
          </p:nvPr>
        </p:nvSpPr>
        <p:spPr>
          <a:xfrm>
            <a:off x="457200" y="1928813"/>
            <a:ext cx="8229600" cy="4500562"/>
          </a:xfrm>
        </p:spPr>
        <p:txBody>
          <a:bodyPr/>
          <a:lstStyle/>
          <a:p>
            <a:r>
              <a:rPr lang="zh-CN" altLang="en-US" dirty="0"/>
              <a:t>说明、初始化方式与指向数组元素指针相同</a:t>
            </a:r>
            <a:endParaRPr lang="en-US" altLang="zh-CN" dirty="0"/>
          </a:p>
          <a:p>
            <a:pPr lvl="1">
              <a:buNone/>
            </a:pPr>
            <a:r>
              <a:rPr lang="en-US" altLang="zh-CN" b="1" dirty="0">
                <a:solidFill>
                  <a:srgbClr val="0000FF"/>
                </a:solidFill>
                <a:latin typeface="Courier New" pitchFamily="49" charset="0"/>
                <a:cs typeface="Courier New" pitchFamily="49" charset="0"/>
              </a:rPr>
              <a:t>char</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s[10]="china";</a:t>
            </a:r>
          </a:p>
          <a:p>
            <a:pPr lvl="1">
              <a:buNone/>
            </a:pPr>
            <a:r>
              <a:rPr lang="en-US" altLang="zh-CN" b="1" dirty="0">
                <a:solidFill>
                  <a:srgbClr val="0000FF"/>
                </a:solidFill>
                <a:latin typeface="Courier New" pitchFamily="49" charset="0"/>
                <a:cs typeface="Courier New" pitchFamily="49" charset="0"/>
              </a:rPr>
              <a:t>char</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*str = s;</a:t>
            </a:r>
            <a:r>
              <a:rPr lang="en-US" altLang="zh-CN" b="1" dirty="0">
                <a:solidFill>
                  <a:srgbClr val="00B050"/>
                </a:solidFill>
                <a:latin typeface="Courier New" pitchFamily="49" charset="0"/>
                <a:cs typeface="Courier New" pitchFamily="49" charset="0"/>
              </a:rPr>
              <a:t>//char *str= &amp;s[0];</a:t>
            </a:r>
          </a:p>
          <a:p>
            <a:endParaRPr lang="zh-CN" altLang="en-US" dirty="0"/>
          </a:p>
        </p:txBody>
      </p:sp>
      <p:sp>
        <p:nvSpPr>
          <p:cNvPr id="3" name="标题 2">
            <a:extLst>
              <a:ext uri="{FF2B5EF4-FFF2-40B4-BE49-F238E27FC236}">
                <a16:creationId xmlns:a16="http://schemas.microsoft.com/office/drawing/2014/main" id="{DCF73F38-BF63-4661-B66D-7FFB66BD02BC}"/>
              </a:ext>
            </a:extLst>
          </p:cNvPr>
          <p:cNvSpPr>
            <a:spLocks noGrp="1"/>
          </p:cNvSpPr>
          <p:nvPr>
            <p:ph type="title"/>
          </p:nvPr>
        </p:nvSpPr>
        <p:spPr/>
        <p:txBody>
          <a:bodyPr/>
          <a:lstStyle/>
          <a:p>
            <a:r>
              <a:rPr lang="zh-CN" altLang="en-US" dirty="0"/>
              <a:t>指向字符数组元素的指针</a:t>
            </a:r>
          </a:p>
        </p:txBody>
      </p:sp>
      <p:cxnSp>
        <p:nvCxnSpPr>
          <p:cNvPr id="6" name="直接箭头连接符 5">
            <a:extLst>
              <a:ext uri="{FF2B5EF4-FFF2-40B4-BE49-F238E27FC236}">
                <a16:creationId xmlns:a16="http://schemas.microsoft.com/office/drawing/2014/main" id="{69278DDC-C3F6-4050-8645-9BA1A69DB764}"/>
              </a:ext>
            </a:extLst>
          </p:cNvPr>
          <p:cNvCxnSpPr>
            <a:cxnSpLocks/>
          </p:cNvCxnSpPr>
          <p:nvPr/>
        </p:nvCxnSpPr>
        <p:spPr>
          <a:xfrm flipV="1">
            <a:off x="524592" y="4315540"/>
            <a:ext cx="0" cy="8704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10F251F2-1485-49AC-8AC5-5D166ED304D1}"/>
              </a:ext>
            </a:extLst>
          </p:cNvPr>
          <p:cNvSpPr txBox="1"/>
          <p:nvPr/>
        </p:nvSpPr>
        <p:spPr>
          <a:xfrm>
            <a:off x="242248" y="5232958"/>
            <a:ext cx="796412"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str</a:t>
            </a:r>
            <a:endParaRPr lang="zh-CN" altLang="en-US" sz="2000" b="1" dirty="0">
              <a:latin typeface="Courier New" panose="02070309020205020404" pitchFamily="49" charset="0"/>
              <a:cs typeface="Courier New" panose="02070309020205020404" pitchFamily="49" charset="0"/>
            </a:endParaRPr>
          </a:p>
        </p:txBody>
      </p:sp>
      <p:cxnSp>
        <p:nvCxnSpPr>
          <p:cNvPr id="12" name="直接箭头连接符 11">
            <a:extLst>
              <a:ext uri="{FF2B5EF4-FFF2-40B4-BE49-F238E27FC236}">
                <a16:creationId xmlns:a16="http://schemas.microsoft.com/office/drawing/2014/main" id="{C12C2961-2EAF-4AC6-87EE-18A4981C27D3}"/>
              </a:ext>
            </a:extLst>
          </p:cNvPr>
          <p:cNvCxnSpPr/>
          <p:nvPr/>
        </p:nvCxnSpPr>
        <p:spPr>
          <a:xfrm flipV="1">
            <a:off x="2010640" y="4330755"/>
            <a:ext cx="0" cy="830826"/>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E40D018E-59DE-4BA3-814B-13AD5D49F123}"/>
              </a:ext>
            </a:extLst>
          </p:cNvPr>
          <p:cNvSpPr txBox="1"/>
          <p:nvPr/>
        </p:nvSpPr>
        <p:spPr>
          <a:xfrm>
            <a:off x="1555838" y="5232958"/>
            <a:ext cx="1064402"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str+2</a:t>
            </a:r>
            <a:endParaRPr lang="zh-CN" altLang="en-US" sz="2000" b="1" dirty="0">
              <a:latin typeface="Courier New" panose="02070309020205020404" pitchFamily="49" charset="0"/>
              <a:cs typeface="Courier New" panose="02070309020205020404" pitchFamily="49" charset="0"/>
            </a:endParaRPr>
          </a:p>
        </p:txBody>
      </p:sp>
      <p:pic>
        <p:nvPicPr>
          <p:cNvPr id="18" name="图片 17">
            <a:extLst>
              <a:ext uri="{FF2B5EF4-FFF2-40B4-BE49-F238E27FC236}">
                <a16:creationId xmlns:a16="http://schemas.microsoft.com/office/drawing/2014/main" id="{746945A4-98EF-4E4B-B53E-B8C2A5B55827}"/>
              </a:ext>
            </a:extLst>
          </p:cNvPr>
          <p:cNvPicPr>
            <a:picLocks noChangeAspect="1"/>
          </p:cNvPicPr>
          <p:nvPr/>
        </p:nvPicPr>
        <p:blipFill>
          <a:blip r:embed="rId4"/>
          <a:stretch>
            <a:fillRect/>
          </a:stretch>
        </p:blipFill>
        <p:spPr>
          <a:xfrm>
            <a:off x="506304" y="3544174"/>
            <a:ext cx="4511645" cy="785089"/>
          </a:xfrm>
          <a:prstGeom prst="rect">
            <a:avLst/>
          </a:prstGeom>
        </p:spPr>
      </p:pic>
      <p:pic>
        <p:nvPicPr>
          <p:cNvPr id="20" name="图片 19">
            <a:extLst>
              <a:ext uri="{FF2B5EF4-FFF2-40B4-BE49-F238E27FC236}">
                <a16:creationId xmlns:a16="http://schemas.microsoft.com/office/drawing/2014/main" id="{1A2E7F16-25D8-4DCD-B2EC-343EC3FE163C}"/>
              </a:ext>
            </a:extLst>
          </p:cNvPr>
          <p:cNvPicPr>
            <a:picLocks noChangeAspect="1"/>
          </p:cNvPicPr>
          <p:nvPr/>
        </p:nvPicPr>
        <p:blipFill>
          <a:blip r:embed="rId5"/>
          <a:stretch>
            <a:fillRect/>
          </a:stretch>
        </p:blipFill>
        <p:spPr>
          <a:xfrm>
            <a:off x="4970396" y="3544174"/>
            <a:ext cx="785089" cy="785089"/>
          </a:xfrm>
          <a:prstGeom prst="rect">
            <a:avLst/>
          </a:prstGeom>
        </p:spPr>
      </p:pic>
      <p:pic>
        <p:nvPicPr>
          <p:cNvPr id="21" name="图片 20">
            <a:extLst>
              <a:ext uri="{FF2B5EF4-FFF2-40B4-BE49-F238E27FC236}">
                <a16:creationId xmlns:a16="http://schemas.microsoft.com/office/drawing/2014/main" id="{733AC568-7ABD-4962-961D-F07EFC266549}"/>
              </a:ext>
            </a:extLst>
          </p:cNvPr>
          <p:cNvPicPr>
            <a:picLocks noChangeAspect="1"/>
          </p:cNvPicPr>
          <p:nvPr/>
        </p:nvPicPr>
        <p:blipFill>
          <a:blip r:embed="rId6"/>
          <a:stretch>
            <a:fillRect/>
          </a:stretch>
        </p:blipFill>
        <p:spPr>
          <a:xfrm>
            <a:off x="4961553" y="3544174"/>
            <a:ext cx="785089" cy="785089"/>
          </a:xfrm>
          <a:prstGeom prst="rect">
            <a:avLst/>
          </a:prstGeom>
        </p:spPr>
      </p:pic>
      <p:sp>
        <p:nvSpPr>
          <p:cNvPr id="23" name="矩形 22">
            <a:extLst>
              <a:ext uri="{FF2B5EF4-FFF2-40B4-BE49-F238E27FC236}">
                <a16:creationId xmlns:a16="http://schemas.microsoft.com/office/drawing/2014/main" id="{4BB96C83-7FF6-4D5D-80F8-A6BA04AAC3E4}"/>
              </a:ext>
            </a:extLst>
          </p:cNvPr>
          <p:cNvSpPr/>
          <p:nvPr/>
        </p:nvSpPr>
        <p:spPr>
          <a:xfrm>
            <a:off x="5987942" y="3495014"/>
            <a:ext cx="2927201" cy="646331"/>
          </a:xfrm>
          <a:prstGeom prst="rect">
            <a:avLst/>
          </a:prstGeom>
          <a:ln>
            <a:solidFill>
              <a:srgbClr val="002060"/>
            </a:solidFill>
          </a:ln>
        </p:spPr>
        <p:txBody>
          <a:bodyPr wrap="square">
            <a:spAutoFit/>
          </a:bodyPr>
          <a:lstStyle/>
          <a:p>
            <a:pPr marL="88900" lvl="2">
              <a:buNone/>
            </a:pP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(*str!='\0’)</a:t>
            </a:r>
          </a:p>
          <a:p>
            <a:pPr marL="88900" lvl="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&lt;&lt;*str++;</a:t>
            </a:r>
          </a:p>
        </p:txBody>
      </p:sp>
      <p:sp>
        <p:nvSpPr>
          <p:cNvPr id="24" name="箭头: 上下 23">
            <a:extLst>
              <a:ext uri="{FF2B5EF4-FFF2-40B4-BE49-F238E27FC236}">
                <a16:creationId xmlns:a16="http://schemas.microsoft.com/office/drawing/2014/main" id="{7BA6C649-6152-4816-BAAC-3A067C1C99AA}"/>
              </a:ext>
            </a:extLst>
          </p:cNvPr>
          <p:cNvSpPr/>
          <p:nvPr/>
        </p:nvSpPr>
        <p:spPr>
          <a:xfrm>
            <a:off x="7276170" y="4197801"/>
            <a:ext cx="214948" cy="540036"/>
          </a:xfrm>
          <a:prstGeom prst="upDown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59538AF4-4077-4592-A13C-C74B6906818F}"/>
              </a:ext>
            </a:extLst>
          </p:cNvPr>
          <p:cNvSpPr/>
          <p:nvPr/>
        </p:nvSpPr>
        <p:spPr>
          <a:xfrm>
            <a:off x="2504434" y="4644093"/>
            <a:ext cx="2927201" cy="1754326"/>
          </a:xfrm>
          <a:prstGeom prst="rect">
            <a:avLst/>
          </a:prstGeom>
          <a:ln>
            <a:solidFill>
              <a:srgbClr val="002060"/>
            </a:solidFill>
          </a:ln>
        </p:spPr>
        <p:txBody>
          <a:bodyPr wrap="square">
            <a:spAutoFit/>
          </a:bodyPr>
          <a:lstStyle/>
          <a:p>
            <a:pPr marL="88900" lvl="2">
              <a:buNone/>
            </a:pPr>
            <a:r>
              <a:rPr lang="en-US" altLang="zh-CN" b="1" dirty="0">
                <a:solidFill>
                  <a:srgbClr val="0000FF"/>
                </a:solidFill>
                <a:latin typeface="Courier New" pitchFamily="49" charset="0"/>
                <a:cs typeface="Courier New" pitchFamily="49" charset="0"/>
              </a:rPr>
              <a:t>int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=0;</a:t>
            </a:r>
          </a:p>
          <a:p>
            <a:pPr marL="88900" lvl="2">
              <a:buNone/>
            </a:pP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(str[</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]!='\0’)</a:t>
            </a:r>
          </a:p>
          <a:p>
            <a:pPr marL="88900" lvl="2">
              <a:buNone/>
            </a:pPr>
            <a:r>
              <a:rPr lang="en-US" altLang="zh-CN" b="1" dirty="0">
                <a:latin typeface="Courier New" pitchFamily="49" charset="0"/>
                <a:cs typeface="Courier New" pitchFamily="49" charset="0"/>
              </a:rPr>
              <a:t>{</a:t>
            </a:r>
          </a:p>
          <a:p>
            <a:pPr marL="88900" lvl="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&lt;&lt;str[</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a:t>
            </a:r>
          </a:p>
          <a:p>
            <a:pPr marL="88900" lvl="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a:t>
            </a:r>
          </a:p>
          <a:p>
            <a:pPr marL="88900" lvl="2">
              <a:buNone/>
            </a:pPr>
            <a:r>
              <a:rPr lang="en-US" altLang="zh-CN" b="1" dirty="0">
                <a:latin typeface="Courier New" pitchFamily="49" charset="0"/>
                <a:cs typeface="Courier New" pitchFamily="49" charset="0"/>
              </a:rPr>
              <a:t>}</a:t>
            </a:r>
          </a:p>
        </p:txBody>
      </p:sp>
      <p:sp>
        <p:nvSpPr>
          <p:cNvPr id="26" name="矩形 25">
            <a:extLst>
              <a:ext uri="{FF2B5EF4-FFF2-40B4-BE49-F238E27FC236}">
                <a16:creationId xmlns:a16="http://schemas.microsoft.com/office/drawing/2014/main" id="{C35D6CCB-539E-44FC-90AE-DF5F9974FCA3}"/>
              </a:ext>
            </a:extLst>
          </p:cNvPr>
          <p:cNvSpPr/>
          <p:nvPr/>
        </p:nvSpPr>
        <p:spPr>
          <a:xfrm>
            <a:off x="5987941" y="4782592"/>
            <a:ext cx="2927201" cy="1477328"/>
          </a:xfrm>
          <a:prstGeom prst="rect">
            <a:avLst/>
          </a:prstGeom>
          <a:ln>
            <a:solidFill>
              <a:srgbClr val="002060"/>
            </a:solidFill>
          </a:ln>
        </p:spPr>
        <p:txBody>
          <a:bodyPr wrap="square">
            <a:spAutoFit/>
          </a:bodyPr>
          <a:lstStyle/>
          <a:p>
            <a:pPr marL="88900" lvl="2">
              <a:buNone/>
            </a:pP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(*str!='\0’)</a:t>
            </a:r>
          </a:p>
          <a:p>
            <a:pPr marL="88900" lvl="2">
              <a:buNone/>
            </a:pPr>
            <a:r>
              <a:rPr lang="en-US" altLang="zh-CN" b="1" dirty="0">
                <a:latin typeface="Courier New" pitchFamily="49" charset="0"/>
                <a:cs typeface="Courier New" pitchFamily="49" charset="0"/>
              </a:rPr>
              <a:t>{</a:t>
            </a:r>
          </a:p>
          <a:p>
            <a:pPr marL="88900" lvl="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&lt;&lt;*str;</a:t>
            </a:r>
          </a:p>
          <a:p>
            <a:pPr marL="88900" lvl="2">
              <a:buNone/>
            </a:pPr>
            <a:r>
              <a:rPr lang="en-US" altLang="zh-CN" b="1" dirty="0">
                <a:latin typeface="Courier New" pitchFamily="49" charset="0"/>
                <a:cs typeface="Courier New" pitchFamily="49" charset="0"/>
              </a:rPr>
              <a:t>    str++;</a:t>
            </a:r>
          </a:p>
          <a:p>
            <a:pPr marL="88900" lvl="2">
              <a:buNone/>
            </a:pPr>
            <a:r>
              <a:rPr lang="en-US" altLang="zh-CN" b="1" dirty="0">
                <a:latin typeface="Courier New" pitchFamily="49" charset="0"/>
                <a:cs typeface="Courier New" pitchFamily="49" charset="0"/>
              </a:rPr>
              <a:t>}</a:t>
            </a:r>
          </a:p>
        </p:txBody>
      </p:sp>
      <p:sp>
        <p:nvSpPr>
          <p:cNvPr id="27" name="箭头: 左右 26">
            <a:extLst>
              <a:ext uri="{FF2B5EF4-FFF2-40B4-BE49-F238E27FC236}">
                <a16:creationId xmlns:a16="http://schemas.microsoft.com/office/drawing/2014/main" id="{0DB05B2F-708B-4A93-9C61-0CAFFBF0EAF6}"/>
              </a:ext>
            </a:extLst>
          </p:cNvPr>
          <p:cNvSpPr/>
          <p:nvPr/>
        </p:nvSpPr>
        <p:spPr>
          <a:xfrm>
            <a:off x="5459023" y="5433013"/>
            <a:ext cx="491685" cy="200055"/>
          </a:xfrm>
          <a:prstGeom prst="leftRight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hlinkClick r:id="rId7" action="ppaction://hlinksldjump"/>
            <a:extLst>
              <a:ext uri="{FF2B5EF4-FFF2-40B4-BE49-F238E27FC236}">
                <a16:creationId xmlns:a16="http://schemas.microsoft.com/office/drawing/2014/main" id="{92C6AA9D-ECB6-4043-B41A-1B3F25B1567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22" name="矩形 21">
            <a:hlinkClick r:id="" action="ppaction://noaction"/>
            <a:extLst>
              <a:ext uri="{FF2B5EF4-FFF2-40B4-BE49-F238E27FC236}">
                <a16:creationId xmlns:a16="http://schemas.microsoft.com/office/drawing/2014/main" id="{245F8897-7413-480D-A123-2CF80F8ACB1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28" name="矩形 27">
            <a:hlinkClick r:id="" action="ppaction://noaction"/>
            <a:extLst>
              <a:ext uri="{FF2B5EF4-FFF2-40B4-BE49-F238E27FC236}">
                <a16:creationId xmlns:a16="http://schemas.microsoft.com/office/drawing/2014/main" id="{5D61D06F-A245-48DF-B114-7C6CA64242A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9" name="矩形 28">
            <a:hlinkClick r:id="" action="ppaction://noaction"/>
            <a:extLst>
              <a:ext uri="{FF2B5EF4-FFF2-40B4-BE49-F238E27FC236}">
                <a16:creationId xmlns:a16="http://schemas.microsoft.com/office/drawing/2014/main" id="{5CDBA59F-D34D-483A-8A3D-0C9FF314AC4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0" name="矩形 29">
            <a:hlinkClick r:id="" action="ppaction://noaction"/>
            <a:extLst>
              <a:ext uri="{FF2B5EF4-FFF2-40B4-BE49-F238E27FC236}">
                <a16:creationId xmlns:a16="http://schemas.microsoft.com/office/drawing/2014/main" id="{B1AAB5F5-54E4-4940-A831-08C107D57F6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31" name="矩形 30">
            <a:hlinkClick r:id="" action="ppaction://noaction"/>
            <a:extLst>
              <a:ext uri="{FF2B5EF4-FFF2-40B4-BE49-F238E27FC236}">
                <a16:creationId xmlns:a16="http://schemas.microsoft.com/office/drawing/2014/main" id="{1B32BD28-0B1D-48D8-9FF7-86EB5E8A970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指向字符数组元素的指针</a:t>
            </a:r>
          </a:p>
        </p:txBody>
      </p:sp>
      <p:sp>
        <p:nvSpPr>
          <p:cNvPr id="32" name="矩形 31">
            <a:hlinkClick r:id="" action="ppaction://noaction"/>
            <a:extLst>
              <a:ext uri="{FF2B5EF4-FFF2-40B4-BE49-F238E27FC236}">
                <a16:creationId xmlns:a16="http://schemas.microsoft.com/office/drawing/2014/main" id="{A1C29D2F-E239-4532-B673-6D31E3B7FC6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base">
              <a:spcBef>
                <a:spcPct val="0"/>
              </a:spcBef>
              <a:spcAft>
                <a:spcPct val="0"/>
              </a:spcAf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a:t>
            </a:r>
            <a:r>
              <a:rPr lang="zh-CN" altLang="en-US" sz="1200" b="1" dirty="0">
                <a:solidFill>
                  <a:srgbClr val="820064"/>
                </a:solidFill>
                <a:latin typeface="Courier New" pitchFamily="49" charset="0"/>
                <a:cs typeface="Courier New" pitchFamily="49" charset="0"/>
              </a:rPr>
              <a:t>字符指针与字符串</a:t>
            </a:r>
          </a:p>
        </p:txBody>
      </p:sp>
      <p:sp>
        <p:nvSpPr>
          <p:cNvPr id="33" name="矩形 32">
            <a:hlinkClick r:id="" action="ppaction://noaction"/>
            <a:extLst>
              <a:ext uri="{FF2B5EF4-FFF2-40B4-BE49-F238E27FC236}">
                <a16:creationId xmlns:a16="http://schemas.microsoft.com/office/drawing/2014/main" id="{B4054249-6296-4A50-82D4-39675CCF579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itchFamily="49" charset="0"/>
                <a:cs typeface="Courier New" pitchFamily="49" charset="0"/>
              </a:rPr>
              <a:t>□ 字符指针数组</a:t>
            </a:r>
            <a:endParaRPr lang="zh-CN" altLang="en-US" sz="1200" b="1" dirty="0">
              <a:solidFill>
                <a:srgbClr val="820064"/>
              </a:solidFill>
              <a:latin typeface="Courier New" pitchFamily="49" charset="0"/>
              <a:cs typeface="Courier New" pitchFamily="49" charset="0"/>
            </a:endParaRPr>
          </a:p>
        </p:txBody>
      </p:sp>
    </p:spTree>
    <p:custDataLst>
      <p:tags r:id="rId1"/>
    </p:custDataLst>
    <p:extLst>
      <p:ext uri="{BB962C8B-B14F-4D97-AF65-F5344CB8AC3E}">
        <p14:creationId xmlns:p14="http://schemas.microsoft.com/office/powerpoint/2010/main" val="161096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4"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up)">
                                      <p:cBhvr>
                                        <p:cTn id="38" dur="500"/>
                                        <p:tgtEl>
                                          <p:spTgt spid="24"/>
                                        </p:tgtEl>
                                      </p:cBhvr>
                                    </p:animEffect>
                                  </p:childTnLst>
                                </p:cTn>
                              </p:par>
                            </p:childTnLst>
                          </p:cTn>
                        </p:par>
                        <p:par>
                          <p:cTn id="39" fill="hold">
                            <p:stCondLst>
                              <p:cond delay="500"/>
                            </p:stCondLst>
                            <p:childTnLst>
                              <p:par>
                                <p:cTn id="40" presetID="22" presetClass="entr" presetSubtype="2"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right)">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right)">
                                      <p:cBhvr>
                                        <p:cTn id="47" dur="500"/>
                                        <p:tgtEl>
                                          <p:spTgt spid="27"/>
                                        </p:tgtEl>
                                      </p:cBhvr>
                                    </p:animEffect>
                                  </p:childTnLst>
                                </p:cTn>
                              </p:par>
                              <p:par>
                                <p:cTn id="48" presetID="22" presetClass="entr" presetSubtype="2"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right)">
                                      <p:cBhvr>
                                        <p:cTn id="5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23" grpId="0" animBg="1"/>
      <p:bldP spid="24" grpId="0" animBg="1"/>
      <p:bldP spid="25" grpId="0" animBg="1"/>
      <p:bldP spid="26" grpId="0" animBg="1"/>
      <p:bldP spid="2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字符指针与字符串</a:t>
            </a:r>
          </a:p>
        </p:txBody>
      </p:sp>
      <p:sp>
        <p:nvSpPr>
          <p:cNvPr id="3" name="内容占位符 2"/>
          <p:cNvSpPr>
            <a:spLocks noGrp="1"/>
          </p:cNvSpPr>
          <p:nvPr>
            <p:ph idx="1"/>
          </p:nvPr>
        </p:nvSpPr>
        <p:spPr/>
        <p:txBody>
          <a:bodyPr/>
          <a:lstStyle/>
          <a:p>
            <a:r>
              <a:rPr lang="zh-CN" altLang="en-US" dirty="0"/>
              <a:t>字符类型的数组可以表示字符串</a:t>
            </a:r>
            <a:endParaRPr lang="en-US" altLang="zh-CN" dirty="0"/>
          </a:p>
          <a:p>
            <a:r>
              <a:rPr lang="zh-CN" altLang="en-US" dirty="0"/>
              <a:t>与字符数组相关的指针变量都可和字符串关联</a:t>
            </a:r>
            <a:endParaRPr lang="en-US" altLang="zh-CN" dirty="0"/>
          </a:p>
          <a:p>
            <a:pPr lvl="1">
              <a:buNone/>
            </a:pPr>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en-US" altLang="zh-CN" dirty="0"/>
          </a:p>
          <a:p>
            <a:pPr lvl="1">
              <a:buNone/>
            </a:pPr>
            <a:r>
              <a:rPr lang="en-US" altLang="zh-CN" b="1" dirty="0">
                <a:solidFill>
                  <a:srgbClr val="0000FF"/>
                </a:solidFill>
                <a:latin typeface="Courier New" pitchFamily="49" charset="0"/>
                <a:cs typeface="Courier New" pitchFamily="49" charset="0"/>
              </a:rPr>
              <a:t>char</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s[] = "china";</a:t>
            </a:r>
          </a:p>
          <a:p>
            <a:pPr lvl="1">
              <a:buNone/>
            </a:pPr>
            <a:r>
              <a:rPr lang="en-US" altLang="zh-CN" b="1" dirty="0">
                <a:solidFill>
                  <a:srgbClr val="0000FF"/>
                </a:solidFill>
                <a:latin typeface="Courier New" pitchFamily="49" charset="0"/>
                <a:cs typeface="Courier New" pitchFamily="49" charset="0"/>
              </a:rPr>
              <a:t>char</a:t>
            </a:r>
            <a:r>
              <a:rPr lang="en-US" altLang="zh-CN" b="1" dirty="0">
                <a:latin typeface="Courier New" pitchFamily="49" charset="0"/>
                <a:cs typeface="Courier New" pitchFamily="49" charset="0"/>
              </a:rPr>
              <a:t> *str = s;</a:t>
            </a:r>
          </a:p>
          <a:p>
            <a:pPr lvl="2"/>
            <a:r>
              <a:rPr lang="zh-CN" altLang="en-US" dirty="0"/>
              <a:t>指针变量</a:t>
            </a:r>
            <a:r>
              <a:rPr lang="en-US" altLang="zh-CN" dirty="0" err="1"/>
              <a:t>str</a:t>
            </a:r>
            <a:r>
              <a:rPr lang="zh-CN" altLang="en-US" dirty="0"/>
              <a:t>指向字符串的首地址，即字符</a:t>
            </a:r>
            <a:r>
              <a:rPr lang="en-US" altLang="zh-CN" dirty="0"/>
              <a:t>’c’</a:t>
            </a:r>
            <a:r>
              <a:rPr lang="zh-CN" altLang="en-US" dirty="0"/>
              <a:t>的地址</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a:t>
            </a:r>
            <a:r>
              <a:rPr lang="zh-CN" altLang="en-US" sz="1200" b="1" dirty="0">
                <a:solidFill>
                  <a:srgbClr val="820064"/>
                </a:solidFill>
                <a:latin typeface="Courier New" pitchFamily="49" charset="0"/>
                <a:cs typeface="Courier New" pitchFamily="49" charset="0"/>
              </a:rPr>
              <a:t>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itchFamily="49" charset="0"/>
                <a:cs typeface="Courier New" pitchFamily="49" charset="0"/>
              </a:rPr>
              <a:t>□ 字符指针数组</a:t>
            </a: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542228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字符指针与字符串</a:t>
            </a:r>
          </a:p>
        </p:txBody>
      </p:sp>
      <p:sp>
        <p:nvSpPr>
          <p:cNvPr id="3" name="内容占位符 2"/>
          <p:cNvSpPr>
            <a:spLocks noGrp="1"/>
          </p:cNvSpPr>
          <p:nvPr>
            <p:ph idx="1"/>
          </p:nvPr>
        </p:nvSpPr>
        <p:spPr/>
        <p:txBody>
          <a:bodyPr/>
          <a:lstStyle/>
          <a:p>
            <a:r>
              <a:rPr lang="zh-CN" altLang="en-US" dirty="0"/>
              <a:t>用字符串字面值常量初始化字符指针</a:t>
            </a:r>
            <a:endParaRPr lang="en-US" altLang="zh-CN" dirty="0"/>
          </a:p>
          <a:p>
            <a:pPr lvl="1">
              <a:buNone/>
            </a:pPr>
            <a:r>
              <a:rPr lang="en-US" altLang="zh-CN" b="1" dirty="0">
                <a:solidFill>
                  <a:srgbClr val="0000FF"/>
                </a:solidFill>
                <a:latin typeface="Courier New" pitchFamily="49" charset="0"/>
                <a:cs typeface="Courier New" pitchFamily="49" charset="0"/>
              </a:rPr>
              <a:t>char </a:t>
            </a:r>
            <a:r>
              <a:rPr lang="en-US" altLang="zh-CN" b="1" dirty="0">
                <a:latin typeface="Courier New" pitchFamily="49" charset="0"/>
                <a:cs typeface="Courier New" pitchFamily="49" charset="0"/>
              </a:rPr>
              <a:t>*str="china";</a:t>
            </a:r>
          </a:p>
          <a:p>
            <a:pPr lvl="1">
              <a:buNone/>
            </a:pPr>
            <a:r>
              <a:rPr lang="en-US" altLang="zh-CN" b="1" dirty="0">
                <a:solidFill>
                  <a:srgbClr val="0000FF"/>
                </a:solidFill>
                <a:latin typeface="Courier New" pitchFamily="49" charset="0"/>
                <a:cs typeface="Courier New" pitchFamily="49" charset="0"/>
              </a:rPr>
              <a:t>char </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str</a:t>
            </a:r>
            <a:r>
              <a:rPr lang="en-US" altLang="zh-CN" b="1" dirty="0">
                <a:latin typeface="Courier New" pitchFamily="49" charset="0"/>
                <a:cs typeface="Courier New" pitchFamily="49" charset="0"/>
              </a:rPr>
              <a:t>{"china"};</a:t>
            </a:r>
          </a:p>
        </p:txBody>
      </p:sp>
      <p:cxnSp>
        <p:nvCxnSpPr>
          <p:cNvPr id="12" name="直接箭头连接符 11">
            <a:extLst>
              <a:ext uri="{FF2B5EF4-FFF2-40B4-BE49-F238E27FC236}">
                <a16:creationId xmlns:a16="http://schemas.microsoft.com/office/drawing/2014/main" id="{DD6AE9D2-6D8A-4718-AFC1-9D2AB2BE6A53}"/>
              </a:ext>
            </a:extLst>
          </p:cNvPr>
          <p:cNvCxnSpPr>
            <a:cxnSpLocks/>
          </p:cNvCxnSpPr>
          <p:nvPr/>
        </p:nvCxnSpPr>
        <p:spPr>
          <a:xfrm flipV="1">
            <a:off x="4650643" y="3252628"/>
            <a:ext cx="0" cy="8704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7316F40B-31DA-47D0-AD0F-A27241AFE2B8}"/>
              </a:ext>
            </a:extLst>
          </p:cNvPr>
          <p:cNvSpPr txBox="1"/>
          <p:nvPr/>
        </p:nvSpPr>
        <p:spPr>
          <a:xfrm>
            <a:off x="4368299" y="4170046"/>
            <a:ext cx="796412" cy="400110"/>
          </a:xfrm>
          <a:prstGeom prst="rect">
            <a:avLst/>
          </a:prstGeom>
          <a:noFill/>
        </p:spPr>
        <p:txBody>
          <a:bodyPr wrap="square" rtlCol="0">
            <a:spAutoFit/>
          </a:bodyPr>
          <a:lstStyle/>
          <a:p>
            <a:r>
              <a:rPr lang="en-US" altLang="zh-CN" sz="2000" b="1" dirty="0">
                <a:latin typeface="Courier New" panose="02070309020205020404" pitchFamily="49" charset="0"/>
                <a:cs typeface="Courier New" panose="02070309020205020404" pitchFamily="49" charset="0"/>
              </a:rPr>
              <a:t>str</a:t>
            </a:r>
            <a:endParaRPr lang="zh-CN" altLang="en-US" sz="2000" b="1" dirty="0">
              <a:latin typeface="Courier New" panose="02070309020205020404" pitchFamily="49" charset="0"/>
              <a:cs typeface="Courier New" panose="02070309020205020404" pitchFamily="49" charset="0"/>
            </a:endParaRPr>
          </a:p>
        </p:txBody>
      </p:sp>
      <p:pic>
        <p:nvPicPr>
          <p:cNvPr id="14" name="图片 13">
            <a:extLst>
              <a:ext uri="{FF2B5EF4-FFF2-40B4-BE49-F238E27FC236}">
                <a16:creationId xmlns:a16="http://schemas.microsoft.com/office/drawing/2014/main" id="{9F52A55B-B53C-4F00-955B-BDF102B801B3}"/>
              </a:ext>
            </a:extLst>
          </p:cNvPr>
          <p:cNvPicPr>
            <a:picLocks noChangeAspect="1"/>
          </p:cNvPicPr>
          <p:nvPr/>
        </p:nvPicPr>
        <p:blipFill>
          <a:blip r:embed="rId3"/>
          <a:stretch>
            <a:fillRect/>
          </a:stretch>
        </p:blipFill>
        <p:spPr>
          <a:xfrm>
            <a:off x="4632355" y="2481262"/>
            <a:ext cx="4511645" cy="785089"/>
          </a:xfrm>
          <a:prstGeom prst="rect">
            <a:avLst/>
          </a:prstGeom>
        </p:spPr>
      </p:pic>
      <p:sp>
        <p:nvSpPr>
          <p:cNvPr id="15" name="矩形 14">
            <a:extLst>
              <a:ext uri="{FF2B5EF4-FFF2-40B4-BE49-F238E27FC236}">
                <a16:creationId xmlns:a16="http://schemas.microsoft.com/office/drawing/2014/main" id="{FA3E56E7-80BE-4C19-BEA9-98CAC429E2A5}"/>
              </a:ext>
            </a:extLst>
          </p:cNvPr>
          <p:cNvSpPr/>
          <p:nvPr/>
        </p:nvSpPr>
        <p:spPr>
          <a:xfrm>
            <a:off x="614487" y="3429000"/>
            <a:ext cx="3609286" cy="2585323"/>
          </a:xfrm>
          <a:prstGeom prst="rect">
            <a:avLst/>
          </a:prstGeom>
          <a:ln>
            <a:solidFill>
              <a:srgbClr val="002060"/>
            </a:solidFill>
          </a:ln>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p>
          <a:p>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char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 =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"china"</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 = </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*str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latin typeface="Courier New" pitchFamily="49" charset="0"/>
              <a:cs typeface="Courier New" pitchFamily="49" charset="0"/>
            </a:endParaRPr>
          </a:p>
        </p:txBody>
      </p:sp>
      <p:pic>
        <p:nvPicPr>
          <p:cNvPr id="17" name="图片 16">
            <a:extLst>
              <a:ext uri="{FF2B5EF4-FFF2-40B4-BE49-F238E27FC236}">
                <a16:creationId xmlns:a16="http://schemas.microsoft.com/office/drawing/2014/main" id="{59D926C2-1708-4E23-99FF-BF4DCA6827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2002" y="4439946"/>
            <a:ext cx="3127507" cy="1627518"/>
          </a:xfrm>
          <a:prstGeom prst="rect">
            <a:avLst/>
          </a:prstGeom>
        </p:spPr>
      </p:pic>
      <p:sp>
        <p:nvSpPr>
          <p:cNvPr id="18" name="矩形 17">
            <a:extLst>
              <a:ext uri="{FF2B5EF4-FFF2-40B4-BE49-F238E27FC236}">
                <a16:creationId xmlns:a16="http://schemas.microsoft.com/office/drawing/2014/main" id="{61F8101E-1CE5-429F-A98B-2A396E25461A}"/>
              </a:ext>
            </a:extLst>
          </p:cNvPr>
          <p:cNvSpPr/>
          <p:nvPr/>
        </p:nvSpPr>
        <p:spPr>
          <a:xfrm>
            <a:off x="4141336" y="3533532"/>
            <a:ext cx="4886909" cy="369332"/>
          </a:xfrm>
          <a:prstGeom prst="rect">
            <a:avLst/>
          </a:prstGeom>
        </p:spPr>
        <p:txBody>
          <a:bodyPr wrap="square">
            <a:spAutoFit/>
          </a:bodyPr>
          <a:lstStyle/>
          <a:p>
            <a:pPr lvl="2"/>
            <a:r>
              <a:rPr lang="en-US" altLang="zh-CN" b="1" dirty="0">
                <a:solidFill>
                  <a:srgbClr val="0000FF"/>
                </a:solidFill>
                <a:latin typeface="Courier New" panose="02070309020205020404" pitchFamily="49" charset="0"/>
                <a:cs typeface="Courier New" panose="02070309020205020404" pitchFamily="49" charset="0"/>
              </a:rPr>
              <a:t>const</a:t>
            </a:r>
            <a:r>
              <a:rPr lang="zh-CN" altLang="en-US" b="1" dirty="0">
                <a:solidFill>
                  <a:srgbClr val="0000FF"/>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char</a:t>
            </a:r>
            <a:r>
              <a:rPr lang="en-US" altLang="zh-CN" b="1" dirty="0">
                <a:latin typeface="Courier New" panose="02070309020205020404" pitchFamily="49" charset="0"/>
                <a:cs typeface="Courier New" panose="02070309020205020404" pitchFamily="49" charset="0"/>
              </a:rPr>
              <a:t>* str  = "china";</a:t>
            </a:r>
          </a:p>
        </p:txBody>
      </p:sp>
      <p:sp>
        <p:nvSpPr>
          <p:cNvPr id="20" name="矩形 19">
            <a:hlinkClick r:id="rId5" action="ppaction://hlinksldjump"/>
            <a:extLst>
              <a:ext uri="{FF2B5EF4-FFF2-40B4-BE49-F238E27FC236}">
                <a16:creationId xmlns:a16="http://schemas.microsoft.com/office/drawing/2014/main" id="{BCA271AA-FEBF-40F0-AEDD-549706FC70F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21" name="矩形 20">
            <a:hlinkClick r:id="" action="ppaction://noaction"/>
            <a:extLst>
              <a:ext uri="{FF2B5EF4-FFF2-40B4-BE49-F238E27FC236}">
                <a16:creationId xmlns:a16="http://schemas.microsoft.com/office/drawing/2014/main" id="{597C0637-B1A0-431A-9A69-58CEB93F397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22" name="矩形 21">
            <a:hlinkClick r:id="" action="ppaction://noaction"/>
            <a:extLst>
              <a:ext uri="{FF2B5EF4-FFF2-40B4-BE49-F238E27FC236}">
                <a16:creationId xmlns:a16="http://schemas.microsoft.com/office/drawing/2014/main" id="{526523D8-3856-4B74-9B0C-E536D778C7A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3B41490A-F3E1-4168-96EA-F416BFC133F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5EA6768B-EF7A-4587-BF1C-60DFD29A17F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25" name="矩形 24">
            <a:hlinkClick r:id="" action="ppaction://noaction"/>
            <a:extLst>
              <a:ext uri="{FF2B5EF4-FFF2-40B4-BE49-F238E27FC236}">
                <a16:creationId xmlns:a16="http://schemas.microsoft.com/office/drawing/2014/main" id="{B63F74D3-2D98-45B0-B69F-85E6FE19709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6" name="矩形 25">
            <a:hlinkClick r:id="" action="ppaction://noaction"/>
            <a:extLst>
              <a:ext uri="{FF2B5EF4-FFF2-40B4-BE49-F238E27FC236}">
                <a16:creationId xmlns:a16="http://schemas.microsoft.com/office/drawing/2014/main" id="{CB1C56D4-86D7-4174-887A-86ECBD5B083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a:t>
            </a:r>
            <a:r>
              <a:rPr lang="zh-CN" altLang="en-US" sz="1200" b="1" dirty="0">
                <a:solidFill>
                  <a:srgbClr val="820064"/>
                </a:solidFill>
                <a:latin typeface="Courier New" pitchFamily="49" charset="0"/>
                <a:cs typeface="Courier New" pitchFamily="49" charset="0"/>
              </a:rPr>
              <a:t>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7" name="矩形 26">
            <a:hlinkClick r:id="" action="ppaction://noaction"/>
            <a:extLst>
              <a:ext uri="{FF2B5EF4-FFF2-40B4-BE49-F238E27FC236}">
                <a16:creationId xmlns:a16="http://schemas.microsoft.com/office/drawing/2014/main" id="{88DD689A-4114-4642-887E-EF69D97BD17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itchFamily="49" charset="0"/>
                <a:cs typeface="Courier New" pitchFamily="49" charset="0"/>
              </a:rPr>
              <a:t>□ 字符指针数组</a:t>
            </a:r>
            <a:endParaRPr lang="zh-CN" altLang="en-US" sz="1200" b="1" dirty="0">
              <a:solidFill>
                <a:srgbClr val="820064"/>
              </a:solidFill>
              <a:latin typeface="Courier New" pitchFamily="49" charset="0"/>
              <a:cs typeface="Courier New" pitchFamily="49" charset="0"/>
            </a:endParaRPr>
          </a:p>
        </p:txBody>
      </p:sp>
    </p:spTree>
    <p:custDataLst>
      <p:tags r:id="rId1"/>
    </p:custDataLst>
    <p:extLst>
      <p:ext uri="{BB962C8B-B14F-4D97-AF65-F5344CB8AC3E}">
        <p14:creationId xmlns:p14="http://schemas.microsoft.com/office/powerpoint/2010/main" val="104102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字符指针与字符串</a:t>
            </a:r>
          </a:p>
        </p:txBody>
      </p:sp>
      <p:sp>
        <p:nvSpPr>
          <p:cNvPr id="3" name="内容占位符 2"/>
          <p:cNvSpPr>
            <a:spLocks noGrp="1"/>
          </p:cNvSpPr>
          <p:nvPr>
            <p:ph idx="1"/>
          </p:nvPr>
        </p:nvSpPr>
        <p:spPr/>
        <p:txBody>
          <a:bodyPr/>
          <a:lstStyle/>
          <a:p>
            <a:r>
              <a:rPr lang="zh-CN" altLang="en-US" dirty="0"/>
              <a:t>字符串的整体输入输出</a:t>
            </a:r>
            <a:endParaRPr lang="en-US" altLang="zh-CN" dirty="0"/>
          </a:p>
          <a:p>
            <a:pPr marL="914400" lvl="2" indent="0">
              <a:buNone/>
            </a:pP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&gt;&gt;str;</a:t>
            </a:r>
          </a:p>
          <a:p>
            <a:pPr lvl="1"/>
            <a:r>
              <a:rPr lang="zh-CN" altLang="en-US" dirty="0"/>
              <a:t>相当于使用字符串字面值常量初始化字符指针</a:t>
            </a:r>
            <a:endParaRPr lang="en-US" altLang="zh-CN" dirty="0"/>
          </a:p>
          <a:p>
            <a:pPr marL="914400" lvl="2" indent="0">
              <a:buNone/>
            </a:pP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&lt;&lt;str;</a:t>
            </a:r>
          </a:p>
          <a:p>
            <a:pPr lvl="1"/>
            <a:r>
              <a:rPr lang="zh-CN" altLang="en-US" dirty="0"/>
              <a:t>相当于从</a:t>
            </a:r>
            <a:r>
              <a:rPr lang="en-US" altLang="zh-CN" dirty="0"/>
              <a:t>str</a:t>
            </a:r>
            <a:r>
              <a:rPr lang="zh-CN" altLang="en-US" dirty="0"/>
              <a:t>指向的地址开始，连续输出每个字节上存储的字符，直到串尾符</a:t>
            </a:r>
            <a:r>
              <a:rPr lang="en-US" altLang="zh-CN" dirty="0"/>
              <a:t>’\0’</a:t>
            </a:r>
            <a:r>
              <a:rPr lang="zh-CN" altLang="en-US" dirty="0"/>
              <a:t>为止</a:t>
            </a:r>
            <a:endParaRPr lang="en-US" altLang="zh-CN" dirty="0"/>
          </a:p>
          <a:p>
            <a:pPr marL="914400" lvl="2" indent="0">
              <a:buNone/>
            </a:pPr>
            <a:endParaRPr lang="en-US" altLang="zh-CN" sz="2800" b="1" dirty="0">
              <a:latin typeface="Courier New" pitchFamily="49" charset="0"/>
              <a:cs typeface="Courier New" pitchFamily="49" charset="0"/>
            </a:endParaRPr>
          </a:p>
        </p:txBody>
      </p:sp>
      <p:sp>
        <p:nvSpPr>
          <p:cNvPr id="12" name="矩形 11">
            <a:extLst>
              <a:ext uri="{FF2B5EF4-FFF2-40B4-BE49-F238E27FC236}">
                <a16:creationId xmlns:a16="http://schemas.microsoft.com/office/drawing/2014/main" id="{9AD23591-E718-4931-84E7-55E98D40DCA7}"/>
              </a:ext>
            </a:extLst>
          </p:cNvPr>
          <p:cNvSpPr/>
          <p:nvPr/>
        </p:nvSpPr>
        <p:spPr>
          <a:xfrm>
            <a:off x="1149725" y="4941850"/>
            <a:ext cx="2102762" cy="370930"/>
          </a:xfrm>
          <a:prstGeom prst="rect">
            <a:avLst/>
          </a:prstGeom>
          <a:ln>
            <a:solidFill>
              <a:srgbClr val="002060"/>
            </a:solidFill>
          </a:ln>
        </p:spPr>
        <p:txBody>
          <a:bodyPr wrap="square">
            <a:spAutoFit/>
          </a:bodyPr>
          <a:lstStyle/>
          <a:p>
            <a:pPr marL="88900" lvl="2">
              <a:buNone/>
            </a:pP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&lt;&lt;str+1;</a:t>
            </a:r>
          </a:p>
        </p:txBody>
      </p:sp>
      <p:sp>
        <p:nvSpPr>
          <p:cNvPr id="13" name="箭头: 右 12">
            <a:extLst>
              <a:ext uri="{FF2B5EF4-FFF2-40B4-BE49-F238E27FC236}">
                <a16:creationId xmlns:a16="http://schemas.microsoft.com/office/drawing/2014/main" id="{B68D4646-AE66-43BE-B476-9B2D777AB5B8}"/>
              </a:ext>
            </a:extLst>
          </p:cNvPr>
          <p:cNvSpPr/>
          <p:nvPr/>
        </p:nvSpPr>
        <p:spPr>
          <a:xfrm>
            <a:off x="3379808" y="5058137"/>
            <a:ext cx="740779" cy="138896"/>
          </a:xfrm>
          <a:prstGeom prst="right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7EE2096E-D238-4751-9DFA-7DCF2C4C672A}"/>
              </a:ext>
            </a:extLst>
          </p:cNvPr>
          <p:cNvSpPr/>
          <p:nvPr/>
        </p:nvSpPr>
        <p:spPr>
          <a:xfrm>
            <a:off x="4120587" y="4929187"/>
            <a:ext cx="825867" cy="369332"/>
          </a:xfrm>
          <a:prstGeom prst="rect">
            <a:avLst/>
          </a:prstGeom>
        </p:spPr>
        <p:txBody>
          <a:bodyPr wrap="none">
            <a:spAutoFit/>
          </a:bodyPr>
          <a:lstStyle/>
          <a:p>
            <a:pPr marL="88900" lvl="2">
              <a:buNone/>
            </a:pPr>
            <a:r>
              <a:rPr lang="en-US" altLang="zh-CN" b="1" dirty="0" err="1">
                <a:latin typeface="Courier New" pitchFamily="49" charset="0"/>
                <a:cs typeface="Courier New" pitchFamily="49" charset="0"/>
              </a:rPr>
              <a:t>hina</a:t>
            </a:r>
            <a:endParaRPr lang="en-US" altLang="zh-CN" b="1" dirty="0">
              <a:latin typeface="Courier New" pitchFamily="49" charset="0"/>
              <a:cs typeface="Courier New" pitchFamily="49" charset="0"/>
            </a:endParaRPr>
          </a:p>
        </p:txBody>
      </p:sp>
      <p:sp>
        <p:nvSpPr>
          <p:cNvPr id="16" name="矩形 15">
            <a:extLst>
              <a:ext uri="{FF2B5EF4-FFF2-40B4-BE49-F238E27FC236}">
                <a16:creationId xmlns:a16="http://schemas.microsoft.com/office/drawing/2014/main" id="{CDE05C4E-14A1-4694-ACB8-67DC385322F3}"/>
              </a:ext>
            </a:extLst>
          </p:cNvPr>
          <p:cNvSpPr/>
          <p:nvPr/>
        </p:nvSpPr>
        <p:spPr>
          <a:xfrm>
            <a:off x="1149725" y="5753100"/>
            <a:ext cx="2357404" cy="369332"/>
          </a:xfrm>
          <a:prstGeom prst="rect">
            <a:avLst/>
          </a:prstGeom>
          <a:ln>
            <a:solidFill>
              <a:srgbClr val="002060"/>
            </a:solidFill>
          </a:ln>
        </p:spPr>
        <p:txBody>
          <a:bodyPr wrap="square">
            <a:spAutoFit/>
          </a:bodyPr>
          <a:lstStyle/>
          <a:p>
            <a:pPr marL="88900" lvl="2">
              <a:buNone/>
            </a:pP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&lt;&lt;*(str+1);</a:t>
            </a:r>
          </a:p>
        </p:txBody>
      </p:sp>
      <p:sp>
        <p:nvSpPr>
          <p:cNvPr id="17" name="箭头: 右 16">
            <a:extLst>
              <a:ext uri="{FF2B5EF4-FFF2-40B4-BE49-F238E27FC236}">
                <a16:creationId xmlns:a16="http://schemas.microsoft.com/office/drawing/2014/main" id="{8F49E2E5-9BF3-4A28-AAED-7C746709B859}"/>
              </a:ext>
            </a:extLst>
          </p:cNvPr>
          <p:cNvSpPr/>
          <p:nvPr/>
        </p:nvSpPr>
        <p:spPr>
          <a:xfrm>
            <a:off x="4051139" y="5869387"/>
            <a:ext cx="740779" cy="138896"/>
          </a:xfrm>
          <a:prstGeom prst="rightArrow">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5F7FDDA-41F2-4F12-901F-AA40A1403D5B}"/>
              </a:ext>
            </a:extLst>
          </p:cNvPr>
          <p:cNvSpPr/>
          <p:nvPr/>
        </p:nvSpPr>
        <p:spPr>
          <a:xfrm>
            <a:off x="4791918" y="5740437"/>
            <a:ext cx="412292" cy="369332"/>
          </a:xfrm>
          <a:prstGeom prst="rect">
            <a:avLst/>
          </a:prstGeom>
        </p:spPr>
        <p:txBody>
          <a:bodyPr wrap="none">
            <a:spAutoFit/>
          </a:bodyPr>
          <a:lstStyle/>
          <a:p>
            <a:pPr marL="88900" lvl="2">
              <a:buNone/>
            </a:pPr>
            <a:r>
              <a:rPr lang="en-US" altLang="zh-CN" b="1" dirty="0">
                <a:latin typeface="Courier New" pitchFamily="49" charset="0"/>
                <a:cs typeface="Courier New" pitchFamily="49" charset="0"/>
              </a:rPr>
              <a:t>h</a:t>
            </a:r>
          </a:p>
        </p:txBody>
      </p:sp>
      <p:sp>
        <p:nvSpPr>
          <p:cNvPr id="21" name="矩形 20">
            <a:hlinkClick r:id="rId3" action="ppaction://hlinksldjump"/>
            <a:extLst>
              <a:ext uri="{FF2B5EF4-FFF2-40B4-BE49-F238E27FC236}">
                <a16:creationId xmlns:a16="http://schemas.microsoft.com/office/drawing/2014/main" id="{6D490A9C-F3CA-48A2-8409-F953DC86B85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22" name="矩形 21">
            <a:hlinkClick r:id="" action="ppaction://noaction"/>
            <a:extLst>
              <a:ext uri="{FF2B5EF4-FFF2-40B4-BE49-F238E27FC236}">
                <a16:creationId xmlns:a16="http://schemas.microsoft.com/office/drawing/2014/main" id="{EDC3BF10-1029-40BD-B304-E06DCF40CAC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23" name="矩形 22">
            <a:hlinkClick r:id="" action="ppaction://noaction"/>
            <a:extLst>
              <a:ext uri="{FF2B5EF4-FFF2-40B4-BE49-F238E27FC236}">
                <a16:creationId xmlns:a16="http://schemas.microsoft.com/office/drawing/2014/main" id="{2E1802BD-85AE-4443-9EAD-6AC5E55B300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59E3CACB-699D-403C-A6E1-BB871E6B14E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5" name="矩形 24">
            <a:hlinkClick r:id="" action="ppaction://noaction"/>
            <a:extLst>
              <a:ext uri="{FF2B5EF4-FFF2-40B4-BE49-F238E27FC236}">
                <a16:creationId xmlns:a16="http://schemas.microsoft.com/office/drawing/2014/main" id="{4AC43ED5-D877-4110-B2F0-A210018500B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26" name="矩形 25">
            <a:hlinkClick r:id="" action="ppaction://noaction"/>
            <a:extLst>
              <a:ext uri="{FF2B5EF4-FFF2-40B4-BE49-F238E27FC236}">
                <a16:creationId xmlns:a16="http://schemas.microsoft.com/office/drawing/2014/main" id="{F664FF2A-2AE5-4159-9F47-1B6FB082766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7" name="矩形 26">
            <a:hlinkClick r:id="" action="ppaction://noaction"/>
            <a:extLst>
              <a:ext uri="{FF2B5EF4-FFF2-40B4-BE49-F238E27FC236}">
                <a16:creationId xmlns:a16="http://schemas.microsoft.com/office/drawing/2014/main" id="{56CDDB05-EF95-4BB9-B77D-32DBA57BA91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a:t>
            </a:r>
            <a:r>
              <a:rPr lang="zh-CN" altLang="en-US" sz="1200" b="1" dirty="0">
                <a:solidFill>
                  <a:srgbClr val="820064"/>
                </a:solidFill>
                <a:latin typeface="Courier New" pitchFamily="49" charset="0"/>
                <a:cs typeface="Courier New" pitchFamily="49" charset="0"/>
              </a:rPr>
              <a:t>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8" name="矩形 27">
            <a:hlinkClick r:id="" action="ppaction://noaction"/>
            <a:extLst>
              <a:ext uri="{FF2B5EF4-FFF2-40B4-BE49-F238E27FC236}">
                <a16:creationId xmlns:a16="http://schemas.microsoft.com/office/drawing/2014/main" id="{DB4E93FD-4764-49C3-A43E-0A1C880AEE3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a:solidFill>
                  <a:srgbClr val="820064"/>
                </a:solidFill>
                <a:latin typeface="Courier New" pitchFamily="49" charset="0"/>
                <a:cs typeface="Courier New" pitchFamily="49" charset="0"/>
              </a:rPr>
              <a:t>□ 字符指针数组</a:t>
            </a:r>
            <a:endParaRPr lang="zh-CN" altLang="en-US" sz="1200" b="1" dirty="0">
              <a:solidFill>
                <a:srgbClr val="820064"/>
              </a:solidFill>
              <a:latin typeface="Courier New" pitchFamily="49" charset="0"/>
              <a:cs typeface="Courier New" pitchFamily="49" charset="0"/>
            </a:endParaRPr>
          </a:p>
        </p:txBody>
      </p:sp>
    </p:spTree>
    <p:custDataLst>
      <p:tags r:id="rId1"/>
    </p:custDataLst>
    <p:extLst>
      <p:ext uri="{BB962C8B-B14F-4D97-AF65-F5344CB8AC3E}">
        <p14:creationId xmlns:p14="http://schemas.microsoft.com/office/powerpoint/2010/main" val="153743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6" grpId="0" animBg="1"/>
      <p:bldP spid="17" grpId="0" animBg="1"/>
      <p:bldP spid="1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13D90C3-AC4E-49CB-B798-06F12686BB69}"/>
              </a:ext>
            </a:extLst>
          </p:cNvPr>
          <p:cNvSpPr txBox="1"/>
          <p:nvPr>
            <p:custDataLst>
              <p:tags r:id="rId2"/>
            </p:custDataLst>
          </p:nvPr>
        </p:nvSpPr>
        <p:spPr>
          <a:xfrm>
            <a:off x="914400" y="635000"/>
            <a:ext cx="8102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有二维字符数组</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s[4][6]={"</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zhang</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gao</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tang","wang</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执行程序</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&lt;&lt;*s[2],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屏幕上显示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D4C083C9-A910-416F-8A2A-5C510383165E}"/>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gao</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6E287B28-0F10-4989-A027-58CD2D7B7F9D}"/>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tang</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C6D42206-713C-4C73-9738-418F6C3F1272}"/>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2256E7E3-AF2B-4145-A7D8-84ED6EB2AFFA}"/>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C1DDB87E-5C39-48D7-913B-2E2721FF1B18}"/>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5B750F32-BF4D-45A3-B35C-8E17CA6638AC}"/>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210C0E0-1009-455D-A48A-FF6F90F40FAF}"/>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81BA3E8B-E20F-4179-BC0A-5A251841FE0C}"/>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E88283E1-2982-4E00-8EF2-CB9FCF5B896B}"/>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0A7E05F1-0FC4-45A5-8031-AFFB2B0BDF1B}"/>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C75F7857-ECB0-4264-8F85-A00F5D121F81}"/>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6376FBAC-5A73-444B-A1D7-EA6F09D6BFB9}"/>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6A91FADB-75D7-4B38-9357-BD8616F1F9D6}"/>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AFCE7FDB-ED96-44F2-BA32-534EAA7DE11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89FC87F9-41CB-4C25-B945-FEB31D9D53E8}"/>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0985834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B7D7243-AC80-4C72-8FFC-85E37DD0F4A6}"/>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已知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s[10]=”</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abcdefg</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下面不允许出现的语句是（     ）</a:t>
            </a:r>
          </a:p>
        </p:txBody>
      </p:sp>
      <p:sp>
        <p:nvSpPr>
          <p:cNvPr id="5" name="文本框 4">
            <a:extLst>
              <a:ext uri="{FF2B5EF4-FFF2-40B4-BE49-F238E27FC236}">
                <a16:creationId xmlns:a16="http://schemas.microsoft.com/office/drawing/2014/main" id="{624AFB0E-A810-4FB1-846C-CC5D53602A1D}"/>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p=s+5;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2DD00121-E96F-43F7-A39D-EA0A4118A7AE}"/>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s=p+1;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EB09D6AF-ABDA-4F57-93B6-B16B528960A0}"/>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s[2]=p[4];</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FF2B486E-E51B-49C4-A045-1EAAB70C2557}"/>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*p=s[3];</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ABE82EA4-E34E-44E4-AFEC-E3CA9E0890A5}"/>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84780739-CBF0-4F6E-BA5E-1CCE3695B079}"/>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20EA6B80-630F-4927-906D-B1A9BA4AE4C8}"/>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F6310691-1435-498F-A00D-F32149545C12}"/>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5997F151-0335-459E-8C0A-3A8CDB7613E9}"/>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289B80F6-C687-493D-8B45-053E90367D57}"/>
              </a:ext>
            </a:extLst>
          </p:cNvPr>
          <p:cNvGrpSpPr/>
          <p:nvPr>
            <p:custDataLst>
              <p:tags r:id="rId12"/>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C795353A-D130-4B12-ACAC-A5A14744B6FD}"/>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C7F5726D-1B3D-40A6-A4A5-7FA33A4C2FE8}"/>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B3C0D833-1D28-4346-B01F-7664D596A06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F877C776-B8C5-473A-935B-BD66666D3C6C}"/>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57FDD691-1518-4C81-A45B-4C550CBCFD3F}"/>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8616026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5B3603-8735-43E6-89C7-8ADEDC3CFFE5}"/>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下列语句正确的是（ ）</a:t>
            </a:r>
          </a:p>
        </p:txBody>
      </p:sp>
      <p:sp>
        <p:nvSpPr>
          <p:cNvPr id="7" name="文本框 6">
            <a:extLst>
              <a:ext uri="{FF2B5EF4-FFF2-40B4-BE49-F238E27FC236}">
                <a16:creationId xmlns:a16="http://schemas.microsoft.com/office/drawing/2014/main" id="{BA0CBE96-0F5F-436B-AE09-9B4681B2A909}"/>
              </a:ext>
            </a:extLst>
          </p:cNvPr>
          <p:cNvSpPr txBox="1"/>
          <p:nvPr>
            <p:custDataLst>
              <p:tags r:id="rId3"/>
            </p:custDataLst>
          </p:nvPr>
        </p:nvSpPr>
        <p:spPr>
          <a:xfrm>
            <a:off x="1371600" y="2567781"/>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*p=“John”; p[2]=''a'';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4FAF7717-D00C-40F8-983D-0820454FB494}"/>
              </a:ext>
            </a:extLst>
          </p:cNvPr>
          <p:cNvSpPr txBox="1"/>
          <p:nvPr>
            <p:custDataLst>
              <p:tags r:id="rId4"/>
            </p:custDataLst>
          </p:nvPr>
        </p:nvSpPr>
        <p:spPr>
          <a:xfrm>
            <a:off x="1371600" y="3425031"/>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*p;  p=“John”;</a:t>
            </a:r>
          </a:p>
        </p:txBody>
      </p:sp>
      <p:sp>
        <p:nvSpPr>
          <p:cNvPr id="9" name="文本框 8">
            <a:extLst>
              <a:ext uri="{FF2B5EF4-FFF2-40B4-BE49-F238E27FC236}">
                <a16:creationId xmlns:a16="http://schemas.microsoft.com/office/drawing/2014/main" id="{43E23FDC-DDBD-407C-BA12-94ACAF4C50DA}"/>
              </a:ext>
            </a:extLst>
          </p:cNvPr>
          <p:cNvSpPr txBox="1"/>
          <p:nvPr>
            <p:custDataLst>
              <p:tags r:id="rId5"/>
            </p:custDataLst>
          </p:nvPr>
        </p:nvSpPr>
        <p:spPr>
          <a:xfrm>
            <a:off x="1371600" y="4282281"/>
            <a:ext cx="71882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name[5]=“John”,*p=name;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E779A81F-07C3-4090-A99B-69AD31D686B3}"/>
              </a:ext>
            </a:extLst>
          </p:cNvPr>
          <p:cNvSpPr txBox="1"/>
          <p:nvPr>
            <p:custDataLst>
              <p:tags r:id="rId6"/>
            </p:custDataLst>
          </p:nvPr>
        </p:nvSpPr>
        <p:spPr>
          <a:xfrm>
            <a:off x="1371600" y="5139531"/>
            <a:ext cx="7645400" cy="642938"/>
          </a:xfrm>
          <a:prstGeom prst="rect">
            <a:avLst/>
          </a:prstGeom>
          <a:noFill/>
        </p:spPr>
        <p:txBody>
          <a:bodyPr vert="horz" rtlCol="0" anchor="ctr" anchorCtr="0">
            <a:noAutofit/>
          </a:bodyPr>
          <a:lstStyle/>
          <a:p>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const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p=“John”; *p='a';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1B5CF2C2-4B12-4CBE-ABED-2BF2E6FCEBC5}"/>
              </a:ext>
            </a:extLst>
          </p:cNvPr>
          <p:cNvSpPr>
            <a:spLocks noChangeAspect="1"/>
          </p:cNvSpPr>
          <p:nvPr>
            <p:custDataLst>
              <p:tags r:id="rId7"/>
            </p:custDataLst>
          </p:nvPr>
        </p:nvSpPr>
        <p:spPr>
          <a:xfrm>
            <a:off x="657225" y="263207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0C1BA7C7-4721-4B8D-81F5-CDFA887D0045}"/>
              </a:ext>
            </a:extLst>
          </p:cNvPr>
          <p:cNvSpPr>
            <a:spLocks noChangeAspect="1"/>
          </p:cNvSpPr>
          <p:nvPr>
            <p:custDataLst>
              <p:tags r:id="rId8"/>
            </p:custDataLst>
          </p:nvPr>
        </p:nvSpPr>
        <p:spPr>
          <a:xfrm>
            <a:off x="657225" y="348932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387BCB24-D3D0-4A4D-803A-8F57FF9433E5}"/>
              </a:ext>
            </a:extLst>
          </p:cNvPr>
          <p:cNvSpPr>
            <a:spLocks noChangeAspect="1"/>
          </p:cNvSpPr>
          <p:nvPr>
            <p:custDataLst>
              <p:tags r:id="rId9"/>
            </p:custDataLst>
          </p:nvPr>
        </p:nvSpPr>
        <p:spPr>
          <a:xfrm>
            <a:off x="657225" y="4346574"/>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0EF96221-F297-47F1-8CD9-80A006EC7905}"/>
              </a:ext>
            </a:extLst>
          </p:cNvPr>
          <p:cNvSpPr>
            <a:spLocks noChangeAspect="1"/>
          </p:cNvSpPr>
          <p:nvPr>
            <p:custDataLst>
              <p:tags r:id="rId10"/>
            </p:custDataLst>
          </p:nvPr>
        </p:nvSpPr>
        <p:spPr>
          <a:xfrm>
            <a:off x="657225" y="5203824"/>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02D5E9DE-06BE-4322-8BBA-11735BA0146C}"/>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42CE520C-8132-41D9-9F8A-808199511ABB}"/>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25D1EBC4-1C79-4B4F-87BA-D4DE6B929BEC}"/>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C59F6940-1813-46C7-9126-9D0353095587}"/>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E055AA5C-9AFB-440C-A4C3-7DA05CAEE25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51A5B919-3AE7-4148-BFEA-FB9E46B59739}"/>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3863EDBC-D50C-4347-A429-EFA0C89A3A43}"/>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2120232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pic>
        <p:nvPicPr>
          <p:cNvPr id="8" name="图片 7">
            <a:extLst>
              <a:ext uri="{FF2B5EF4-FFF2-40B4-BE49-F238E27FC236}">
                <a16:creationId xmlns:a16="http://schemas.microsoft.com/office/drawing/2014/main" id="{2179A15F-8F3C-4AD0-82F6-B2CEE5E47D8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0" name="图片 9">
            <a:extLst>
              <a:ext uri="{FF2B5EF4-FFF2-40B4-BE49-F238E27FC236}">
                <a16:creationId xmlns:a16="http://schemas.microsoft.com/office/drawing/2014/main" id="{1BDC662C-FED5-400C-8D49-31668F37B42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
        <p:nvSpPr>
          <p:cNvPr id="5" name="标题 4">
            <a:extLst>
              <a:ext uri="{FF2B5EF4-FFF2-40B4-BE49-F238E27FC236}">
                <a16:creationId xmlns:a16="http://schemas.microsoft.com/office/drawing/2014/main" id="{749A6388-4F02-4F74-B159-4A554B192C7C}"/>
              </a:ext>
            </a:extLst>
          </p:cNvPr>
          <p:cNvSpPr>
            <a:spLocks noGrp="1"/>
          </p:cNvSpPr>
          <p:nvPr>
            <p:ph type="ctrTitle"/>
          </p:nvPr>
        </p:nvSpPr>
        <p:spPr/>
        <p:txBody>
          <a:bodyPr/>
          <a:lstStyle/>
          <a:p>
            <a:r>
              <a:rPr lang="zh-CN" altLang="en-US" dirty="0"/>
              <a:t>字符指针数组</a:t>
            </a:r>
          </a:p>
        </p:txBody>
      </p:sp>
      <p:sp>
        <p:nvSpPr>
          <p:cNvPr id="12" name="TextBox 8">
            <a:extLst>
              <a:ext uri="{FF2B5EF4-FFF2-40B4-BE49-F238E27FC236}">
                <a16:creationId xmlns:a16="http://schemas.microsoft.com/office/drawing/2014/main" id="{5E8CA80B-248B-4596-96A9-C3FC092B3CFA}"/>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spTree>
    <p:extLst>
      <p:ext uri="{BB962C8B-B14F-4D97-AF65-F5344CB8AC3E}">
        <p14:creationId xmlns:p14="http://schemas.microsoft.com/office/powerpoint/2010/main" val="3199956571"/>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844824"/>
            <a:ext cx="8640960" cy="4479776"/>
          </a:xfrm>
        </p:spPr>
        <p:txBody>
          <a:bodyPr/>
          <a:lstStyle/>
          <a:p>
            <a:r>
              <a:rPr lang="zh-CN" altLang="en-US" dirty="0"/>
              <a:t>由字符指针组成的数组</a:t>
            </a:r>
            <a:endParaRPr lang="en-US" altLang="zh-CN" dirty="0"/>
          </a:p>
          <a:p>
            <a:pPr>
              <a:buNone/>
            </a:pPr>
            <a:r>
              <a:rPr lang="en-US" altLang="zh-CN" sz="2800" dirty="0">
                <a:solidFill>
                  <a:srgbClr val="C00000"/>
                </a:solidFill>
              </a:rPr>
              <a:t>【</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buNone/>
            </a:pPr>
            <a:r>
              <a:rPr lang="en-US" altLang="zh-CN" sz="2400" b="1" dirty="0">
                <a:solidFill>
                  <a:srgbClr val="0000FF"/>
                </a:solidFill>
                <a:latin typeface="Courier New" pitchFamily="49" charset="0"/>
                <a:cs typeface="Courier New" pitchFamily="49" charset="0"/>
              </a:rPr>
              <a:t>const char </a:t>
            </a:r>
            <a:r>
              <a:rPr lang="en-US" altLang="zh-CN" sz="2400" b="1" dirty="0">
                <a:latin typeface="Courier New" pitchFamily="49" charset="0"/>
                <a:cs typeface="Courier New" pitchFamily="49" charset="0"/>
              </a:rPr>
              <a:t>*menu[]</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File","Edit","Search","Help</a:t>
            </a: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a:p>
            <a:pPr>
              <a:buNone/>
            </a:pPr>
            <a:r>
              <a:rPr lang="en-US" altLang="zh-CN" sz="2800" dirty="0">
                <a:solidFill>
                  <a:srgbClr val="0000FF"/>
                </a:solidFill>
              </a:rPr>
              <a:t>	</a:t>
            </a:r>
            <a:r>
              <a:rPr lang="zh-CN" altLang="en-US" dirty="0"/>
              <a:t>是一个字符型指针数组，它的每个元素指向一个字符串字面值常量，因此每个元素是一个字符型的常量指针。</a:t>
            </a:r>
          </a:p>
          <a:p>
            <a:pPr>
              <a:buNone/>
            </a:pPr>
            <a:r>
              <a:rPr lang="en-US" altLang="zh-CN" dirty="0"/>
              <a:t>	menu[0]</a:t>
            </a:r>
            <a:r>
              <a:rPr lang="zh-CN" altLang="en-US" dirty="0"/>
              <a:t>，</a:t>
            </a:r>
            <a:r>
              <a:rPr lang="en-US" altLang="zh-CN" dirty="0"/>
              <a:t>menu[1]</a:t>
            </a:r>
            <a:r>
              <a:rPr lang="zh-CN" altLang="en-US" dirty="0"/>
              <a:t>，</a:t>
            </a:r>
            <a:r>
              <a:rPr lang="en-US" altLang="zh-CN" dirty="0"/>
              <a:t>menu[2]</a:t>
            </a:r>
            <a:r>
              <a:rPr lang="zh-CN" altLang="en-US" dirty="0"/>
              <a:t>，</a:t>
            </a:r>
            <a:r>
              <a:rPr lang="en-US" altLang="zh-CN" dirty="0"/>
              <a:t>menu[3]</a:t>
            </a:r>
            <a:r>
              <a:rPr lang="zh-CN" altLang="en-US" dirty="0"/>
              <a:t>将分别表示字符串字面值常量</a:t>
            </a:r>
            <a:r>
              <a:rPr lang="en-US" altLang="zh-CN" dirty="0"/>
              <a:t>”File”</a:t>
            </a:r>
            <a:r>
              <a:rPr lang="zh-CN" altLang="en-US" dirty="0"/>
              <a:t>，</a:t>
            </a:r>
            <a:r>
              <a:rPr lang="en-US" altLang="zh-CN" dirty="0"/>
              <a:t>”Edit”</a:t>
            </a:r>
            <a:r>
              <a:rPr lang="zh-CN" altLang="en-US" dirty="0"/>
              <a:t>，</a:t>
            </a:r>
            <a:r>
              <a:rPr lang="en-US" altLang="zh-CN" dirty="0"/>
              <a:t>”Search”</a:t>
            </a:r>
            <a:r>
              <a:rPr lang="zh-CN" altLang="en-US" dirty="0"/>
              <a:t>和</a:t>
            </a:r>
            <a:r>
              <a:rPr lang="en-US" altLang="zh-CN" dirty="0"/>
              <a:t>“Help”</a:t>
            </a:r>
            <a:endParaRPr lang="zh-CN" altLang="en-US" dirty="0"/>
          </a:p>
        </p:txBody>
      </p:sp>
      <p:sp>
        <p:nvSpPr>
          <p:cNvPr id="6" name="标题 5"/>
          <p:cNvSpPr>
            <a:spLocks noGrp="1"/>
          </p:cNvSpPr>
          <p:nvPr>
            <p:ph type="title"/>
          </p:nvPr>
        </p:nvSpPr>
        <p:spPr/>
        <p:txBody>
          <a:bodyPr/>
          <a:lstStyle/>
          <a:p>
            <a:r>
              <a:rPr lang="zh-CN" altLang="en-US" dirty="0"/>
              <a:t>字符指针数组</a:t>
            </a:r>
          </a:p>
        </p:txBody>
      </p:sp>
      <p:sp>
        <p:nvSpPr>
          <p:cNvPr id="14" name="矩形 13">
            <a:hlinkClick r:id="rId3" action="ppaction://hlinksldjump"/>
            <a:extLst>
              <a:ext uri="{FF2B5EF4-FFF2-40B4-BE49-F238E27FC236}">
                <a16:creationId xmlns:a16="http://schemas.microsoft.com/office/drawing/2014/main" id="{77659740-D1C4-4974-9B78-D66E37A2696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15" name="矩形 14">
            <a:hlinkClick r:id="" action="ppaction://noaction"/>
            <a:extLst>
              <a:ext uri="{FF2B5EF4-FFF2-40B4-BE49-F238E27FC236}">
                <a16:creationId xmlns:a16="http://schemas.microsoft.com/office/drawing/2014/main" id="{54E4DDCD-8129-4DC9-B245-1B5AD8719AF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16" name="矩形 15">
            <a:hlinkClick r:id="" action="ppaction://noaction"/>
            <a:extLst>
              <a:ext uri="{FF2B5EF4-FFF2-40B4-BE49-F238E27FC236}">
                <a16:creationId xmlns:a16="http://schemas.microsoft.com/office/drawing/2014/main" id="{808EA423-445E-490A-BA8B-75E41CD273A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BBA5C260-0996-4D2F-8350-5A3839985AD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8DE86EA4-F085-4AD2-8109-DAFB14848B6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19" name="矩形 18">
            <a:hlinkClick r:id="" action="ppaction://noaction"/>
            <a:extLst>
              <a:ext uri="{FF2B5EF4-FFF2-40B4-BE49-F238E27FC236}">
                <a16:creationId xmlns:a16="http://schemas.microsoft.com/office/drawing/2014/main" id="{C69FFE2C-C3FE-41F5-AF0B-464B784498D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0" name="矩形 19">
            <a:hlinkClick r:id="" action="ppaction://noaction"/>
            <a:extLst>
              <a:ext uri="{FF2B5EF4-FFF2-40B4-BE49-F238E27FC236}">
                <a16:creationId xmlns:a16="http://schemas.microsoft.com/office/drawing/2014/main" id="{F7AD65E8-CC28-4705-9664-BA13AD0061E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FD2D619D-88DA-493C-96BD-69F6F2D6D22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extLst>
      <p:ext uri="{BB962C8B-B14F-4D97-AF65-F5344CB8AC3E}">
        <p14:creationId xmlns:p14="http://schemas.microsoft.com/office/powerpoint/2010/main" val="20987357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490" y="1052736"/>
            <a:ext cx="9055510" cy="524522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6.8】</a:t>
            </a:r>
            <a:r>
              <a:rPr lang="zh-CN" altLang="en-US" dirty="0">
                <a:solidFill>
                  <a:srgbClr val="C00000"/>
                </a:solidFill>
              </a:rPr>
              <a:t>分析程序运行结果</a:t>
            </a:r>
            <a:endParaRPr lang="en-US" altLang="zh-CN" dirty="0">
              <a:solidFill>
                <a:srgbClr val="C00000"/>
              </a:solidFill>
            </a:endParaRPr>
          </a:p>
          <a:p>
            <a:pPr lvl="1">
              <a:spcBef>
                <a:spcPts val="0"/>
              </a:spcBef>
              <a:buNone/>
            </a:pPr>
            <a:endParaRPr lang="en-US" altLang="zh-CN" sz="2400" b="1" dirty="0">
              <a:latin typeface="Courier New" pitchFamily="49" charset="0"/>
              <a:cs typeface="Courier New" pitchFamily="49" charset="0"/>
            </a:endParaRP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 </a:t>
            </a:r>
          </a:p>
          <a:p>
            <a:pPr lvl="1">
              <a:spcBef>
                <a:spcPts val="0"/>
              </a:spcBef>
              <a:buNone/>
            </a:pP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main(){</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const</a:t>
            </a: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char</a:t>
            </a:r>
            <a:r>
              <a:rPr lang="en-US" altLang="zh-CN" b="1" dirty="0">
                <a:latin typeface="Courier New" pitchFamily="49" charset="0"/>
                <a:cs typeface="Courier New" pitchFamily="49" charset="0"/>
              </a:rPr>
              <a:t> *name[]={"BASIC","PASCAL","C++"};</a:t>
            </a:r>
          </a:p>
          <a:p>
            <a:pPr lvl="1">
              <a:spcBef>
                <a:spcPts val="0"/>
              </a:spcBef>
              <a:buNone/>
            </a:pPr>
            <a:r>
              <a:rPr lang="en-US" altLang="zh-CN" b="1" dirty="0">
                <a:solidFill>
                  <a:srgbClr val="0000FF"/>
                </a:solidFill>
                <a:latin typeface="Courier New" pitchFamily="49" charset="0"/>
                <a:cs typeface="Courier New" pitchFamily="49" charset="0"/>
              </a:rPr>
              <a:t>	const</a:t>
            </a:r>
            <a:r>
              <a:rPr lang="en-US" altLang="zh-CN" sz="2400" b="1" dirty="0">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 **p;</a:t>
            </a:r>
          </a:p>
          <a:p>
            <a:pPr lvl="1">
              <a:spcBef>
                <a:spcPts val="0"/>
              </a:spcBef>
              <a:buNone/>
            </a:pPr>
            <a:r>
              <a:rPr lang="en-US" altLang="zh-CN" sz="2400" b="1" dirty="0">
                <a:latin typeface="Courier New" pitchFamily="49" charset="0"/>
                <a:cs typeface="Courier New" pitchFamily="49" charset="0"/>
              </a:rPr>
              <a:t>	p = name + 2;</a:t>
            </a:r>
          </a:p>
          <a:p>
            <a:pPr lvl="1">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数组第</a:t>
            </a:r>
            <a:r>
              <a:rPr lang="en-US" altLang="zh-CN" sz="2400" b="1" dirty="0">
                <a:solidFill>
                  <a:srgbClr val="007434"/>
                </a:solidFill>
                <a:latin typeface="Courier New" pitchFamily="49" charset="0"/>
                <a:cs typeface="Courier New" pitchFamily="49" charset="0"/>
              </a:rPr>
              <a:t>3</a:t>
            </a:r>
            <a:r>
              <a:rPr lang="zh-CN" altLang="en-US" sz="2400" b="1" dirty="0">
                <a:solidFill>
                  <a:srgbClr val="007434"/>
                </a:solidFill>
                <a:latin typeface="Courier New" pitchFamily="49" charset="0"/>
                <a:cs typeface="Courier New" pitchFamily="49" charset="0"/>
              </a:rPr>
              <a:t>个元素的首地址</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数组的第</a:t>
            </a:r>
            <a:r>
              <a:rPr lang="en-US" altLang="zh-CN" sz="2400" b="1" dirty="0">
                <a:solidFill>
                  <a:srgbClr val="007434"/>
                </a:solidFill>
                <a:latin typeface="Courier New" pitchFamily="49" charset="0"/>
                <a:cs typeface="Courier New" pitchFamily="49" charset="0"/>
              </a:rPr>
              <a:t>3</a:t>
            </a:r>
            <a:r>
              <a:rPr lang="zh-CN" altLang="en-US" sz="2400" b="1" dirty="0">
                <a:solidFill>
                  <a:srgbClr val="007434"/>
                </a:solidFill>
                <a:latin typeface="Courier New" pitchFamily="49" charset="0"/>
                <a:cs typeface="Courier New" pitchFamily="49" charset="0"/>
              </a:rPr>
              <a:t>个元素的首值地址</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lvl="1">
              <a:spcBef>
                <a:spcPts val="0"/>
              </a:spcBef>
              <a:buNone/>
            </a:pPr>
            <a:r>
              <a:rPr lang="en-US" altLang="zh-CN" b="1" dirty="0">
                <a:solidFill>
                  <a:srgbClr val="007434"/>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数组的第</a:t>
            </a:r>
            <a:r>
              <a:rPr lang="en-US" altLang="zh-CN" sz="2400" b="1" dirty="0">
                <a:solidFill>
                  <a:srgbClr val="007434"/>
                </a:solidFill>
                <a:latin typeface="Courier New" pitchFamily="49" charset="0"/>
                <a:cs typeface="Courier New" pitchFamily="49" charset="0"/>
              </a:rPr>
              <a:t>3</a:t>
            </a:r>
            <a:r>
              <a:rPr lang="zh-CN" altLang="en-US" sz="2400" b="1" dirty="0">
                <a:solidFill>
                  <a:srgbClr val="007434"/>
                </a:solidFill>
                <a:latin typeface="Courier New" pitchFamily="49" charset="0"/>
                <a:cs typeface="Courier New" pitchFamily="49" charset="0"/>
              </a:rPr>
              <a:t>个元素的首地址上保存的值，即首值</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 0;</a:t>
            </a:r>
          </a:p>
          <a:p>
            <a:pPr lvl="1">
              <a:spcBef>
                <a:spcPts val="0"/>
              </a:spcBef>
              <a:buNone/>
            </a:pPr>
            <a:r>
              <a:rPr lang="en-US" altLang="zh-CN" sz="2400" b="1" dirty="0">
                <a:latin typeface="Courier New" pitchFamily="49" charset="0"/>
                <a:cs typeface="Courier New" pitchFamily="49" charset="0"/>
              </a:rPr>
              <a:t>}</a:t>
            </a:r>
          </a:p>
        </p:txBody>
      </p:sp>
      <p:sp>
        <p:nvSpPr>
          <p:cNvPr id="13" name="矩形 12">
            <a:hlinkClick r:id="rId2" action="ppaction://hlinksldjump"/>
            <a:extLst>
              <a:ext uri="{FF2B5EF4-FFF2-40B4-BE49-F238E27FC236}">
                <a16:creationId xmlns:a16="http://schemas.microsoft.com/office/drawing/2014/main" id="{130C51FB-2A44-4BDC-99C6-4462FA3D356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14" name="矩形 13">
            <a:hlinkClick r:id="" action="ppaction://noaction"/>
            <a:extLst>
              <a:ext uri="{FF2B5EF4-FFF2-40B4-BE49-F238E27FC236}">
                <a16:creationId xmlns:a16="http://schemas.microsoft.com/office/drawing/2014/main" id="{1A1FA251-998F-4897-9463-7D058A86439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15" name="矩形 14">
            <a:hlinkClick r:id="" action="ppaction://noaction"/>
            <a:extLst>
              <a:ext uri="{FF2B5EF4-FFF2-40B4-BE49-F238E27FC236}">
                <a16:creationId xmlns:a16="http://schemas.microsoft.com/office/drawing/2014/main" id="{BD4F1190-F48F-4B12-8378-C4950B622C5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A907BA42-CA42-431F-8320-3E8BB42583B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08A5178F-5EC9-4A38-A072-160A2AE50AF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20" name="矩形 19">
            <a:hlinkClick r:id="" action="ppaction://noaction"/>
            <a:extLst>
              <a:ext uri="{FF2B5EF4-FFF2-40B4-BE49-F238E27FC236}">
                <a16:creationId xmlns:a16="http://schemas.microsoft.com/office/drawing/2014/main" id="{09C7D51E-4DE4-4DBF-9FC9-170E5BB723B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1" name="矩形 20">
            <a:hlinkClick r:id="" action="ppaction://noaction"/>
            <a:extLst>
              <a:ext uri="{FF2B5EF4-FFF2-40B4-BE49-F238E27FC236}">
                <a16:creationId xmlns:a16="http://schemas.microsoft.com/office/drawing/2014/main" id="{9552CFD2-8186-4499-BF8D-C2397E300B6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7A3C24B1-891D-4CBF-B344-80573987659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extLst>
      <p:ext uri="{BB962C8B-B14F-4D97-AF65-F5344CB8AC3E}">
        <p14:creationId xmlns:p14="http://schemas.microsoft.com/office/powerpoint/2010/main" val="42386762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dirty="0">
                <a:solidFill>
                  <a:schemeClr val="accent6">
                    <a:lumMod val="75000"/>
                  </a:schemeClr>
                </a:solidFill>
              </a:rPr>
              <a:t>运行结果：</a:t>
            </a:r>
            <a:endParaRPr lang="en-US" altLang="zh-CN" dirty="0">
              <a:solidFill>
                <a:schemeClr val="accent6">
                  <a:lumMod val="75000"/>
                </a:schemeClr>
              </a:solidFill>
            </a:endParaRPr>
          </a:p>
          <a:p>
            <a:pPr>
              <a:buNone/>
            </a:pPr>
            <a:endParaRPr lang="en-US" altLang="zh-CN" dirty="0"/>
          </a:p>
          <a:p>
            <a:pPr>
              <a:buNone/>
            </a:pPr>
            <a:r>
              <a:rPr lang="en-US" altLang="zh-CN" b="1" dirty="0">
                <a:latin typeface="Courier New" pitchFamily="49" charset="0"/>
                <a:cs typeface="Courier New" pitchFamily="49" charset="0"/>
              </a:rPr>
              <a:t>0012FF78</a:t>
            </a:r>
          </a:p>
          <a:p>
            <a:pPr>
              <a:buNone/>
            </a:pPr>
            <a:r>
              <a:rPr lang="en-US" altLang="zh-CN" b="1" dirty="0">
                <a:latin typeface="Courier New" pitchFamily="49" charset="0"/>
                <a:cs typeface="Courier New" pitchFamily="49" charset="0"/>
              </a:rPr>
              <a:t>C++</a:t>
            </a:r>
          </a:p>
          <a:p>
            <a:pPr>
              <a:buNone/>
            </a:pPr>
            <a:r>
              <a:rPr lang="en-US" altLang="zh-CN" b="1" dirty="0">
                <a:latin typeface="Courier New" pitchFamily="49" charset="0"/>
                <a:cs typeface="Courier New" pitchFamily="49" charset="0"/>
              </a:rPr>
              <a:t>C</a:t>
            </a:r>
            <a:endParaRPr lang="zh-CN" altLang="en-US" b="1" dirty="0">
              <a:latin typeface="Courier New" pitchFamily="49" charset="0"/>
              <a:cs typeface="Courier New" pitchFamily="49" charset="0"/>
            </a:endParaRPr>
          </a:p>
        </p:txBody>
      </p:sp>
      <p:pic>
        <p:nvPicPr>
          <p:cNvPr id="2" name="图片 1">
            <a:extLst>
              <a:ext uri="{FF2B5EF4-FFF2-40B4-BE49-F238E27FC236}">
                <a16:creationId xmlns:a16="http://schemas.microsoft.com/office/drawing/2014/main" id="{C31B4534-0319-4CAA-8A24-64E96D1B2EAD}"/>
              </a:ext>
            </a:extLst>
          </p:cNvPr>
          <p:cNvPicPr>
            <a:picLocks noChangeAspect="1"/>
          </p:cNvPicPr>
          <p:nvPr/>
        </p:nvPicPr>
        <p:blipFill>
          <a:blip r:embed="rId3"/>
          <a:stretch>
            <a:fillRect/>
          </a:stretch>
        </p:blipFill>
        <p:spPr>
          <a:xfrm>
            <a:off x="3060949" y="1243495"/>
            <a:ext cx="5394357" cy="2336478"/>
          </a:xfrm>
          <a:prstGeom prst="rect">
            <a:avLst/>
          </a:prstGeom>
        </p:spPr>
      </p:pic>
      <p:sp>
        <p:nvSpPr>
          <p:cNvPr id="12" name="矩形 11">
            <a:extLst>
              <a:ext uri="{FF2B5EF4-FFF2-40B4-BE49-F238E27FC236}">
                <a16:creationId xmlns:a16="http://schemas.microsoft.com/office/drawing/2014/main" id="{D18A81F7-E86E-4AD7-A001-A47FFD1B0895}"/>
              </a:ext>
            </a:extLst>
          </p:cNvPr>
          <p:cNvSpPr/>
          <p:nvPr/>
        </p:nvSpPr>
        <p:spPr>
          <a:xfrm>
            <a:off x="2534856" y="3812047"/>
            <a:ext cx="6585994" cy="2800767"/>
          </a:xfrm>
          <a:prstGeom prst="rect">
            <a:avLst/>
          </a:prstGeom>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#include</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&lt;iostream&gt;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using namespace </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std;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int</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main(){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char</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**p;</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const</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char</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*name[]={"BASIC","PASCAL","C++"};</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p = name + 2;</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a:t>
            </a:r>
            <a:r>
              <a:rPr kumimoji="0" lang="en-US" altLang="zh-CN" sz="16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cout</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&lt;&lt;p&lt;&lt;</a:t>
            </a:r>
            <a:r>
              <a:rPr kumimoji="0" lang="en-US" altLang="zh-CN" sz="16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endl</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a:t>
            </a:r>
            <a:endParaRPr kumimoji="0" lang="en-US" altLang="zh-CN" sz="1600" b="1" i="0" u="none" strike="noStrike" kern="1200" cap="none" spc="0" normalizeH="0" baseline="0" noProof="0" dirty="0">
              <a:ln>
                <a:noFill/>
              </a:ln>
              <a:solidFill>
                <a:srgbClr val="007434"/>
              </a:solidFill>
              <a:effectLst/>
              <a:uLnTx/>
              <a:uFillTx/>
              <a:latin typeface="Courier New" pitchFamily="49" charset="0"/>
              <a:ea typeface="黑体" panose="02010609060101010101" pitchFamily="49" charset="-122"/>
              <a:cs typeface="Courier New" pitchFamily="49"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880068"/>
                </a:solidFill>
                <a:effectLst/>
                <a:uLnTx/>
                <a:uFillTx/>
                <a:latin typeface="Courier New" pitchFamily="49" charset="0"/>
                <a:ea typeface="黑体" panose="02010609060101010101" pitchFamily="49" charset="-122"/>
                <a:cs typeface="Courier New" pitchFamily="49" charset="0"/>
              </a:rPr>
              <a:t>	</a:t>
            </a:r>
            <a:r>
              <a:rPr kumimoji="0" lang="en-US" altLang="zh-CN" sz="16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cout</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&lt;&lt;*p&lt;&lt;</a:t>
            </a:r>
            <a:r>
              <a:rPr kumimoji="0" lang="en-US" altLang="zh-CN" sz="16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endl</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a:t>
            </a:r>
            <a:endParaRPr kumimoji="0" lang="en-US" altLang="zh-CN" sz="1600" b="1" i="0" u="none" strike="noStrike" kern="1200" cap="none" spc="0" normalizeH="0" baseline="0" noProof="0" dirty="0">
              <a:ln>
                <a:noFill/>
              </a:ln>
              <a:solidFill>
                <a:srgbClr val="007434"/>
              </a:solidFill>
              <a:effectLst/>
              <a:uLnTx/>
              <a:uFillTx/>
              <a:latin typeface="Courier New" pitchFamily="49" charset="0"/>
              <a:ea typeface="黑体" panose="02010609060101010101" pitchFamily="49" charset="-122"/>
              <a:cs typeface="Courier New" pitchFamily="49"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880068"/>
                </a:solidFill>
                <a:effectLst/>
                <a:uLnTx/>
                <a:uFillTx/>
                <a:latin typeface="Courier New" pitchFamily="49" charset="0"/>
                <a:ea typeface="黑体" panose="02010609060101010101" pitchFamily="49" charset="-122"/>
                <a:cs typeface="Courier New" pitchFamily="49" charset="0"/>
              </a:rPr>
              <a:t>	</a:t>
            </a:r>
            <a:r>
              <a:rPr kumimoji="0" lang="en-US" altLang="zh-CN" sz="16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cout</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&lt;&lt;**p&lt;&lt;</a:t>
            </a:r>
            <a:r>
              <a:rPr kumimoji="0" lang="en-US" altLang="zh-CN" sz="16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endl</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7434"/>
                </a:solidFill>
                <a:effectLst/>
                <a:uLnTx/>
                <a:uFillTx/>
                <a:latin typeface="Courier New" pitchFamily="49" charset="0"/>
                <a:ea typeface="黑体" panose="02010609060101010101" pitchFamily="49" charset="-122"/>
                <a:cs typeface="Courier New" pitchFamily="49" charset="0"/>
              </a:rPr>
              <a:t>	</a:t>
            </a:r>
            <a:r>
              <a:rPr kumimoji="0" lang="en-US" altLang="zh-CN" sz="16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return</a:t>
            </a: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0;</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a:t>
            </a:r>
          </a:p>
        </p:txBody>
      </p:sp>
      <p:sp>
        <p:nvSpPr>
          <p:cNvPr id="15" name="矩形 14">
            <a:hlinkClick r:id="rId4" action="ppaction://hlinksldjump"/>
            <a:extLst>
              <a:ext uri="{FF2B5EF4-FFF2-40B4-BE49-F238E27FC236}">
                <a16:creationId xmlns:a16="http://schemas.microsoft.com/office/drawing/2014/main" id="{EFF53698-724D-4C76-B9CE-AA373C0F245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16" name="矩形 15">
            <a:hlinkClick r:id="" action="ppaction://noaction"/>
            <a:extLst>
              <a:ext uri="{FF2B5EF4-FFF2-40B4-BE49-F238E27FC236}">
                <a16:creationId xmlns:a16="http://schemas.microsoft.com/office/drawing/2014/main" id="{43E444DB-F479-4791-A0D3-9FCAC3C1C28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17" name="矩形 16">
            <a:hlinkClick r:id="" action="ppaction://noaction"/>
            <a:extLst>
              <a:ext uri="{FF2B5EF4-FFF2-40B4-BE49-F238E27FC236}">
                <a16:creationId xmlns:a16="http://schemas.microsoft.com/office/drawing/2014/main" id="{B9DBFB93-EAB9-418E-8558-41B12B9636F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50168295-607E-42D6-9A4D-4297959287F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B42C7A38-94B2-41A3-86EC-3C664CBC287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22" name="矩形 21">
            <a:hlinkClick r:id="" action="ppaction://noaction"/>
            <a:extLst>
              <a:ext uri="{FF2B5EF4-FFF2-40B4-BE49-F238E27FC236}">
                <a16:creationId xmlns:a16="http://schemas.microsoft.com/office/drawing/2014/main" id="{C46B73EF-6198-469D-99BB-C52A007B27A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3" name="矩形 22">
            <a:hlinkClick r:id="" action="ppaction://noaction"/>
            <a:extLst>
              <a:ext uri="{FF2B5EF4-FFF2-40B4-BE49-F238E27FC236}">
                <a16:creationId xmlns:a16="http://schemas.microsoft.com/office/drawing/2014/main" id="{27F897B0-6E22-45F9-B943-5D25379CE7D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5FB04830-335B-4161-B330-F76DF682399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extLst>
      <p:ext uri="{BB962C8B-B14F-4D97-AF65-F5344CB8AC3E}">
        <p14:creationId xmlns:p14="http://schemas.microsoft.com/office/powerpoint/2010/main" val="720923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对象 16">
            <a:extLst>
              <a:ext uri="{FF2B5EF4-FFF2-40B4-BE49-F238E27FC236}">
                <a16:creationId xmlns:a16="http://schemas.microsoft.com/office/drawing/2014/main" id="{D4DA5CC7-E3BB-4D2F-A1A5-613082DCA350}"/>
              </a:ext>
            </a:extLst>
          </p:cNvPr>
          <p:cNvGraphicFramePr>
            <a:graphicFrameLocks noChangeAspect="1"/>
          </p:cNvGraphicFramePr>
          <p:nvPr>
            <p:extLst/>
          </p:nvPr>
        </p:nvGraphicFramePr>
        <p:xfrm>
          <a:off x="3423341" y="1270000"/>
          <a:ext cx="5339659" cy="4068677"/>
        </p:xfrm>
        <a:graphic>
          <a:graphicData uri="http://schemas.openxmlformats.org/presentationml/2006/ole">
            <mc:AlternateContent xmlns:mc="http://schemas.openxmlformats.org/markup-compatibility/2006">
              <mc:Choice xmlns:v="urn:schemas-microsoft-com:vml" Requires="v">
                <p:oleObj spid="_x0000_s1099" name="Visio" r:id="rId5" imgW="6629770" imgH="5051871" progId="Visio.Drawing.15">
                  <p:embed/>
                </p:oleObj>
              </mc:Choice>
              <mc:Fallback>
                <p:oleObj name="Visio" r:id="rId5" imgW="6629770" imgH="5051871" progId="Visio.Drawing.15">
                  <p:embed/>
                  <p:pic>
                    <p:nvPicPr>
                      <p:cNvPr id="17" name="对象 16">
                        <a:extLst>
                          <a:ext uri="{FF2B5EF4-FFF2-40B4-BE49-F238E27FC236}">
                            <a16:creationId xmlns:a16="http://schemas.microsoft.com/office/drawing/2014/main" id="{D4DA5CC7-E3BB-4D2F-A1A5-613082DCA350}"/>
                          </a:ext>
                        </a:extLst>
                      </p:cNvPr>
                      <p:cNvPicPr/>
                      <p:nvPr/>
                    </p:nvPicPr>
                    <p:blipFill>
                      <a:blip r:embed="rId6"/>
                      <a:stretch>
                        <a:fillRect/>
                      </a:stretch>
                    </p:blipFill>
                    <p:spPr>
                      <a:xfrm>
                        <a:off x="3423341" y="1270000"/>
                        <a:ext cx="5339659" cy="4068677"/>
                      </a:xfrm>
                      <a:prstGeom prst="rect">
                        <a:avLst/>
                      </a:prstGeom>
                    </p:spPr>
                  </p:pic>
                </p:oleObj>
              </mc:Fallback>
            </mc:AlternateContent>
          </a:graphicData>
        </a:graphic>
      </p:graphicFrame>
      <p:pic>
        <p:nvPicPr>
          <p:cNvPr id="20" name="图片 19">
            <a:extLst>
              <a:ext uri="{FF2B5EF4-FFF2-40B4-BE49-F238E27FC236}">
                <a16:creationId xmlns:a16="http://schemas.microsoft.com/office/drawing/2014/main" id="{DE0A54FB-302E-451B-BF99-7A0A83C1A6B5}"/>
              </a:ext>
            </a:extLst>
          </p:cNvPr>
          <p:cNvPicPr>
            <a:picLocks noChangeAspect="1"/>
          </p:cNvPicPr>
          <p:nvPr/>
        </p:nvPicPr>
        <p:blipFill>
          <a:blip r:embed="rId7"/>
          <a:stretch>
            <a:fillRect/>
          </a:stretch>
        </p:blipFill>
        <p:spPr>
          <a:xfrm>
            <a:off x="1947601" y="1267478"/>
            <a:ext cx="1497560" cy="4075326"/>
          </a:xfrm>
          <a:prstGeom prst="rect">
            <a:avLst/>
          </a:prstGeom>
        </p:spPr>
      </p:pic>
      <p:pic>
        <p:nvPicPr>
          <p:cNvPr id="22" name="图片 21">
            <a:extLst>
              <a:ext uri="{FF2B5EF4-FFF2-40B4-BE49-F238E27FC236}">
                <a16:creationId xmlns:a16="http://schemas.microsoft.com/office/drawing/2014/main" id="{C6752FF5-390A-4296-A610-24DFC3A3166D}"/>
              </a:ext>
            </a:extLst>
          </p:cNvPr>
          <p:cNvPicPr>
            <a:picLocks noChangeAspect="1"/>
          </p:cNvPicPr>
          <p:nvPr/>
        </p:nvPicPr>
        <p:blipFill>
          <a:blip r:embed="rId8"/>
          <a:stretch>
            <a:fillRect/>
          </a:stretch>
        </p:blipFill>
        <p:spPr>
          <a:xfrm>
            <a:off x="456621" y="1521553"/>
            <a:ext cx="1497559" cy="3829824"/>
          </a:xfrm>
          <a:prstGeom prst="rect">
            <a:avLst/>
          </a:prstGeom>
        </p:spPr>
      </p:pic>
      <p:sp>
        <p:nvSpPr>
          <p:cNvPr id="15" name="矩形 14">
            <a:hlinkClick r:id="rId9" action="ppaction://hlinksldjump"/>
            <a:extLst>
              <a:ext uri="{FF2B5EF4-FFF2-40B4-BE49-F238E27FC236}">
                <a16:creationId xmlns:a16="http://schemas.microsoft.com/office/drawing/2014/main" id="{F200C3E7-4E70-4136-BC94-AB73760222D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16" name="矩形 15">
            <a:hlinkClick r:id="" action="ppaction://noaction"/>
            <a:extLst>
              <a:ext uri="{FF2B5EF4-FFF2-40B4-BE49-F238E27FC236}">
                <a16:creationId xmlns:a16="http://schemas.microsoft.com/office/drawing/2014/main" id="{FDBF0BF1-68E2-44B3-9F60-7A6C7A29C3C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18" name="矩形 17">
            <a:hlinkClick r:id="" action="ppaction://noaction"/>
            <a:extLst>
              <a:ext uri="{FF2B5EF4-FFF2-40B4-BE49-F238E27FC236}">
                <a16:creationId xmlns:a16="http://schemas.microsoft.com/office/drawing/2014/main" id="{278AB05A-9136-449F-AEBE-B7FA369D535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BE24C603-E2CB-494F-84F8-8007D0DE969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1C81ECC6-3CC7-41DE-BBFB-14D1C3254BB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25" name="矩形 24">
            <a:hlinkClick r:id="" action="ppaction://noaction"/>
            <a:extLst>
              <a:ext uri="{FF2B5EF4-FFF2-40B4-BE49-F238E27FC236}">
                <a16:creationId xmlns:a16="http://schemas.microsoft.com/office/drawing/2014/main" id="{A5AEEF52-630B-4A4B-B3C4-D5AA241F5F6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6" name="矩形 25">
            <a:hlinkClick r:id="" action="ppaction://noaction"/>
            <a:extLst>
              <a:ext uri="{FF2B5EF4-FFF2-40B4-BE49-F238E27FC236}">
                <a16:creationId xmlns:a16="http://schemas.microsoft.com/office/drawing/2014/main" id="{0C85D730-F760-4A13-90A4-D46FB1972AF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7" name="矩形 26">
            <a:hlinkClick r:id="" action="ppaction://noaction"/>
            <a:extLst>
              <a:ext uri="{FF2B5EF4-FFF2-40B4-BE49-F238E27FC236}">
                <a16:creationId xmlns:a16="http://schemas.microsoft.com/office/drawing/2014/main" id="{6BCAD13B-65A9-4F3B-B5E1-A9EE6758564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custDataLst>
      <p:tags r:id="rId2"/>
    </p:custDataLst>
    <p:extLst>
      <p:ext uri="{BB962C8B-B14F-4D97-AF65-F5344CB8AC3E}">
        <p14:creationId xmlns:p14="http://schemas.microsoft.com/office/powerpoint/2010/main" val="145700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490" y="1052736"/>
            <a:ext cx="9055510" cy="524522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6.9】</a:t>
            </a:r>
            <a:r>
              <a:rPr lang="zh-CN" altLang="en-US" dirty="0">
                <a:solidFill>
                  <a:srgbClr val="C00000"/>
                </a:solidFill>
              </a:rPr>
              <a:t>分析程序运行结果</a:t>
            </a:r>
            <a:endParaRPr lang="en-US" altLang="zh-CN" dirty="0">
              <a:solidFill>
                <a:srgbClr val="C00000"/>
              </a:solidFill>
            </a:endParaRPr>
          </a:p>
          <a:p>
            <a:pPr lvl="1">
              <a:spcBef>
                <a:spcPts val="0"/>
              </a:spcBef>
              <a:buNone/>
            </a:pPr>
            <a:endParaRPr lang="en-US" altLang="zh-CN" sz="2400" b="1" dirty="0">
              <a:latin typeface="Courier New" pitchFamily="49" charset="0"/>
              <a:cs typeface="Courier New" pitchFamily="49" charset="0"/>
            </a:endParaRP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 </a:t>
            </a:r>
          </a:p>
          <a:p>
            <a:pPr lvl="1">
              <a:spcBef>
                <a:spcPts val="0"/>
              </a:spcBef>
              <a:buNone/>
            </a:pP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main(){</a:t>
            </a:r>
          </a:p>
          <a:p>
            <a:pPr lvl="1">
              <a:spcBef>
                <a:spcPts val="0"/>
              </a:spcBef>
              <a:buNone/>
            </a:pPr>
            <a:r>
              <a:rPr lang="en-US" altLang="zh-CN" sz="2400"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const</a:t>
            </a: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char</a:t>
            </a:r>
            <a:r>
              <a:rPr lang="en-US" altLang="zh-CN" b="1" dirty="0">
                <a:latin typeface="Courier New" pitchFamily="49" charset="0"/>
                <a:cs typeface="Courier New" pitchFamily="49" charset="0"/>
              </a:rPr>
              <a:t> *name[]={"BASIC","PASCAL","C++"};</a:t>
            </a:r>
          </a:p>
          <a:p>
            <a:pPr lvl="1">
              <a:spcBef>
                <a:spcPts val="0"/>
              </a:spcBef>
              <a:buNone/>
            </a:pPr>
            <a:r>
              <a:rPr lang="en-US" altLang="zh-CN" b="1" dirty="0">
                <a:solidFill>
                  <a:srgbClr val="0000FF"/>
                </a:solidFill>
                <a:latin typeface="Courier New" pitchFamily="49" charset="0"/>
                <a:cs typeface="Courier New" pitchFamily="49" charset="0"/>
              </a:rPr>
              <a:t>	const</a:t>
            </a:r>
            <a:r>
              <a:rPr lang="en-US" altLang="zh-CN" sz="2400" b="1" dirty="0">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 **p;</a:t>
            </a:r>
          </a:p>
          <a:p>
            <a:pPr lvl="1">
              <a:spcBef>
                <a:spcPts val="0"/>
              </a:spcBef>
              <a:buNone/>
            </a:pPr>
            <a:r>
              <a:rPr lang="en-US" altLang="zh-CN" sz="2400" b="1" dirty="0">
                <a:latin typeface="Courier New" pitchFamily="49" charset="0"/>
                <a:cs typeface="Courier New" pitchFamily="49" charset="0"/>
              </a:rPr>
              <a:t>	p = name + 2;</a:t>
            </a:r>
          </a:p>
          <a:p>
            <a:pPr lvl="1">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数组第</a:t>
            </a:r>
            <a:r>
              <a:rPr lang="en-US" altLang="zh-CN" sz="2400" b="1" dirty="0">
                <a:solidFill>
                  <a:srgbClr val="007434"/>
                </a:solidFill>
                <a:latin typeface="Courier New" pitchFamily="49" charset="0"/>
                <a:cs typeface="Courier New" pitchFamily="49" charset="0"/>
              </a:rPr>
              <a:t>3</a:t>
            </a:r>
            <a:r>
              <a:rPr lang="zh-CN" altLang="en-US" sz="2400" b="1" dirty="0">
                <a:solidFill>
                  <a:srgbClr val="007434"/>
                </a:solidFill>
                <a:latin typeface="Courier New" pitchFamily="49" charset="0"/>
                <a:cs typeface="Courier New" pitchFamily="49" charset="0"/>
              </a:rPr>
              <a:t>个元素的首地址</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数组的第</a:t>
            </a:r>
            <a:r>
              <a:rPr lang="en-US" altLang="zh-CN" sz="2400" b="1" dirty="0">
                <a:solidFill>
                  <a:srgbClr val="007434"/>
                </a:solidFill>
                <a:latin typeface="Courier New" pitchFamily="49" charset="0"/>
                <a:cs typeface="Courier New" pitchFamily="49" charset="0"/>
              </a:rPr>
              <a:t>3</a:t>
            </a:r>
            <a:r>
              <a:rPr lang="zh-CN" altLang="en-US" sz="2400" b="1" dirty="0">
                <a:solidFill>
                  <a:srgbClr val="007434"/>
                </a:solidFill>
                <a:latin typeface="Courier New" pitchFamily="49" charset="0"/>
                <a:cs typeface="Courier New" pitchFamily="49" charset="0"/>
              </a:rPr>
              <a:t>个元素的首值地址</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lvl="1">
              <a:spcBef>
                <a:spcPts val="0"/>
              </a:spcBef>
              <a:buNone/>
            </a:pPr>
            <a:r>
              <a:rPr lang="en-US" altLang="zh-CN" b="1" dirty="0">
                <a:solidFill>
                  <a:srgbClr val="007434"/>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数组的第</a:t>
            </a:r>
            <a:r>
              <a:rPr lang="en-US" altLang="zh-CN" sz="2400" b="1" dirty="0">
                <a:solidFill>
                  <a:srgbClr val="007434"/>
                </a:solidFill>
                <a:latin typeface="Courier New" pitchFamily="49" charset="0"/>
                <a:cs typeface="Courier New" pitchFamily="49" charset="0"/>
              </a:rPr>
              <a:t>3</a:t>
            </a:r>
            <a:r>
              <a:rPr lang="zh-CN" altLang="en-US" sz="2400" b="1" dirty="0">
                <a:solidFill>
                  <a:srgbClr val="007434"/>
                </a:solidFill>
                <a:latin typeface="Courier New" pitchFamily="49" charset="0"/>
                <a:cs typeface="Courier New" pitchFamily="49" charset="0"/>
              </a:rPr>
              <a:t>个元素的首地址上保存的值，即首值</a:t>
            </a:r>
            <a:endParaRPr lang="en-US" altLang="zh-CN" sz="2400" b="1" dirty="0">
              <a:solidFill>
                <a:srgbClr val="007434"/>
              </a:solidFill>
              <a:latin typeface="Courier New" pitchFamily="49" charset="0"/>
              <a:cs typeface="Courier New" pitchFamily="49" charset="0"/>
            </a:endParaRPr>
          </a:p>
          <a:p>
            <a:pPr lvl="1">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 0;</a:t>
            </a:r>
          </a:p>
          <a:p>
            <a:pPr lvl="1">
              <a:spcBef>
                <a:spcPts val="0"/>
              </a:spcBef>
              <a:buNone/>
            </a:pPr>
            <a:r>
              <a:rPr lang="en-US" altLang="zh-CN" sz="2400" b="1" dirty="0">
                <a:latin typeface="Courier New" pitchFamily="49" charset="0"/>
                <a:cs typeface="Courier New" pitchFamily="49" charset="0"/>
              </a:rPr>
              <a:t>}</a:t>
            </a:r>
          </a:p>
        </p:txBody>
      </p:sp>
      <p:sp>
        <p:nvSpPr>
          <p:cNvPr id="13" name="内容占位符 2">
            <a:extLst>
              <a:ext uri="{FF2B5EF4-FFF2-40B4-BE49-F238E27FC236}">
                <a16:creationId xmlns:a16="http://schemas.microsoft.com/office/drawing/2014/main" id="{39054E95-7575-42D4-85BA-6ED18D46CCE8}"/>
              </a:ext>
            </a:extLst>
          </p:cNvPr>
          <p:cNvSpPr txBox="1">
            <a:spLocks/>
          </p:cNvSpPr>
          <p:nvPr/>
        </p:nvSpPr>
        <p:spPr bwMode="auto">
          <a:xfrm>
            <a:off x="6601619" y="989785"/>
            <a:ext cx="2133600" cy="2047377"/>
          </a:xfrm>
          <a:prstGeom prst="rect">
            <a:avLst/>
          </a:prstGeom>
          <a:solidFill>
            <a:srgbClr val="FFFF00"/>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charset="0"/>
              <a:buNone/>
            </a:pPr>
            <a:r>
              <a:rPr lang="zh-CN" altLang="en-US" dirty="0">
                <a:solidFill>
                  <a:schemeClr val="accent6">
                    <a:lumMod val="75000"/>
                  </a:schemeClr>
                </a:solidFill>
              </a:rPr>
              <a:t>运行结果：</a:t>
            </a:r>
            <a:endParaRPr lang="en-US" altLang="zh-CN" dirty="0">
              <a:solidFill>
                <a:schemeClr val="accent6">
                  <a:lumMod val="75000"/>
                </a:schemeClr>
              </a:solidFill>
            </a:endParaRPr>
          </a:p>
          <a:p>
            <a:pPr>
              <a:buFont typeface="Arial" charset="0"/>
              <a:buNone/>
            </a:pPr>
            <a:r>
              <a:rPr lang="en-US" altLang="zh-CN" b="1" dirty="0">
                <a:latin typeface="Courier New" pitchFamily="49" charset="0"/>
                <a:cs typeface="Courier New" pitchFamily="49" charset="0"/>
              </a:rPr>
              <a:t>00E88BDC</a:t>
            </a:r>
          </a:p>
          <a:p>
            <a:pPr>
              <a:buFont typeface="Arial" charset="0"/>
              <a:buNone/>
            </a:pPr>
            <a:r>
              <a:rPr lang="en-US" altLang="zh-CN" b="1" dirty="0">
                <a:latin typeface="Courier New" pitchFamily="49" charset="0"/>
                <a:cs typeface="Courier New" pitchFamily="49" charset="0"/>
              </a:rPr>
              <a:t>C++</a:t>
            </a:r>
          </a:p>
          <a:p>
            <a:pPr>
              <a:buFont typeface="Arial" charset="0"/>
              <a:buNone/>
            </a:pPr>
            <a:r>
              <a:rPr lang="en-US" altLang="zh-CN" b="1" dirty="0">
                <a:latin typeface="Courier New" pitchFamily="49" charset="0"/>
                <a:cs typeface="Courier New" pitchFamily="49" charset="0"/>
              </a:rPr>
              <a:t>C</a:t>
            </a:r>
            <a:endParaRPr lang="zh-CN" altLang="en-US" b="1" dirty="0">
              <a:latin typeface="Courier New" pitchFamily="49" charset="0"/>
              <a:cs typeface="Courier New" pitchFamily="49" charset="0"/>
            </a:endParaRPr>
          </a:p>
        </p:txBody>
      </p:sp>
      <p:sp>
        <p:nvSpPr>
          <p:cNvPr id="16" name="矩形 15">
            <a:hlinkClick r:id="rId3" action="ppaction://hlinksldjump"/>
            <a:extLst>
              <a:ext uri="{FF2B5EF4-FFF2-40B4-BE49-F238E27FC236}">
                <a16:creationId xmlns:a16="http://schemas.microsoft.com/office/drawing/2014/main" id="{C5607A39-2140-4413-AC25-E49286AAAE8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17" name="矩形 16">
            <a:hlinkClick r:id="" action="ppaction://noaction"/>
            <a:extLst>
              <a:ext uri="{FF2B5EF4-FFF2-40B4-BE49-F238E27FC236}">
                <a16:creationId xmlns:a16="http://schemas.microsoft.com/office/drawing/2014/main" id="{16749122-F0D4-487D-87C4-5C464F5E8B4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18" name="矩形 17">
            <a:hlinkClick r:id="" action="ppaction://noaction"/>
            <a:extLst>
              <a:ext uri="{FF2B5EF4-FFF2-40B4-BE49-F238E27FC236}">
                <a16:creationId xmlns:a16="http://schemas.microsoft.com/office/drawing/2014/main" id="{52491A7C-C92E-4E12-97EB-D94E652CE67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F1E99FBA-A2EA-41AA-A543-478DB872EEE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8813C8C9-9B6D-4DBB-977C-84F0F6C6A18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21" name="矩形 20">
            <a:hlinkClick r:id="" action="ppaction://noaction"/>
            <a:extLst>
              <a:ext uri="{FF2B5EF4-FFF2-40B4-BE49-F238E27FC236}">
                <a16:creationId xmlns:a16="http://schemas.microsoft.com/office/drawing/2014/main" id="{DE996E1C-9B72-4B94-8AB3-EF883E0E75E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2" name="矩形 21">
            <a:hlinkClick r:id="" action="ppaction://noaction"/>
            <a:extLst>
              <a:ext uri="{FF2B5EF4-FFF2-40B4-BE49-F238E27FC236}">
                <a16:creationId xmlns:a16="http://schemas.microsoft.com/office/drawing/2014/main" id="{2FEAFAB2-4E39-42B0-BF57-2E505B18373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76E831D3-A682-42E3-B891-A59B2A9A74F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custDataLst>
      <p:tags r:id="rId1"/>
    </p:custDataLst>
    <p:extLst>
      <p:ext uri="{BB962C8B-B14F-4D97-AF65-F5344CB8AC3E}">
        <p14:creationId xmlns:p14="http://schemas.microsoft.com/office/powerpoint/2010/main" val="388377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6.9】</a:t>
            </a:r>
            <a:r>
              <a:rPr lang="zh-CN" altLang="en-US" dirty="0"/>
              <a:t>解析</a:t>
            </a:r>
            <a:endParaRPr lang="en-US" altLang="zh-CN" dirty="0"/>
          </a:p>
          <a:p>
            <a:pPr lvl="1"/>
            <a:r>
              <a:rPr lang="zh-CN" altLang="en-US" dirty="0"/>
              <a:t>字符串字面值常量的地址是其首字符的地址</a:t>
            </a:r>
            <a:endParaRPr lang="en-US" altLang="zh-CN" dirty="0"/>
          </a:p>
          <a:p>
            <a:pPr lvl="2"/>
            <a:r>
              <a:rPr lang="zh-CN" altLang="en-US" dirty="0"/>
              <a:t>指针数组</a:t>
            </a:r>
            <a:r>
              <a:rPr lang="en-US" altLang="zh-CN" dirty="0">
                <a:solidFill>
                  <a:srgbClr val="FF0000"/>
                </a:solidFill>
                <a:latin typeface="Courier New" pitchFamily="49" charset="0"/>
                <a:cs typeface="Courier New" pitchFamily="49" charset="0"/>
              </a:rPr>
              <a:t>name</a:t>
            </a:r>
            <a:r>
              <a:rPr lang="zh-CN" altLang="en-US" dirty="0"/>
              <a:t>由</a:t>
            </a:r>
            <a:r>
              <a:rPr lang="en-US" altLang="zh-CN" dirty="0"/>
              <a:t>3</a:t>
            </a:r>
            <a:r>
              <a:rPr lang="zh-CN" altLang="en-US" dirty="0"/>
              <a:t>个元素组成，分别是：字符</a:t>
            </a:r>
            <a:r>
              <a:rPr lang="en-US" altLang="zh-CN" dirty="0">
                <a:solidFill>
                  <a:srgbClr val="FF0000"/>
                </a:solidFill>
                <a:latin typeface="Courier New" pitchFamily="49" charset="0"/>
                <a:cs typeface="Courier New" pitchFamily="49" charset="0"/>
              </a:rPr>
              <a:t>’B’</a:t>
            </a:r>
            <a:r>
              <a:rPr lang="zh-CN" altLang="en-US" dirty="0"/>
              <a:t>的地址，字符</a:t>
            </a:r>
            <a:r>
              <a:rPr lang="en-US" altLang="zh-CN" dirty="0">
                <a:solidFill>
                  <a:srgbClr val="FF0000"/>
                </a:solidFill>
                <a:latin typeface="Courier New" pitchFamily="49" charset="0"/>
                <a:cs typeface="Courier New" pitchFamily="49" charset="0"/>
              </a:rPr>
              <a:t>’P’</a:t>
            </a:r>
            <a:r>
              <a:rPr lang="zh-CN" altLang="en-US" dirty="0"/>
              <a:t>的地址和字符</a:t>
            </a:r>
            <a:r>
              <a:rPr lang="en-US" altLang="zh-CN" dirty="0">
                <a:solidFill>
                  <a:srgbClr val="FF0000"/>
                </a:solidFill>
                <a:latin typeface="Courier New" pitchFamily="49" charset="0"/>
                <a:cs typeface="Courier New" pitchFamily="49" charset="0"/>
              </a:rPr>
              <a:t>’C’</a:t>
            </a:r>
            <a:r>
              <a:rPr lang="zh-CN" altLang="en-US" dirty="0"/>
              <a:t>的地址</a:t>
            </a:r>
            <a:endParaRPr lang="en-US" altLang="zh-CN" dirty="0"/>
          </a:p>
          <a:p>
            <a:pPr lvl="1"/>
            <a:r>
              <a:rPr lang="zh-CN" altLang="en-US" dirty="0"/>
              <a:t>访问指针数组（一维）中的元素，用二重指针</a:t>
            </a:r>
            <a:endParaRPr lang="en-US" altLang="zh-CN" dirty="0"/>
          </a:p>
        </p:txBody>
      </p:sp>
      <p:pic>
        <p:nvPicPr>
          <p:cNvPr id="38916" name="Picture 4"/>
          <p:cNvPicPr>
            <a:picLocks noChangeAspect="1" noChangeArrowheads="1"/>
          </p:cNvPicPr>
          <p:nvPr/>
        </p:nvPicPr>
        <p:blipFill>
          <a:blip r:embed="rId3" cstate="print"/>
          <a:srcRect/>
          <a:stretch>
            <a:fillRect/>
          </a:stretch>
        </p:blipFill>
        <p:spPr bwMode="auto">
          <a:xfrm>
            <a:off x="2123728" y="3287518"/>
            <a:ext cx="4896544" cy="2863236"/>
          </a:xfrm>
          <a:prstGeom prst="rect">
            <a:avLst/>
          </a:prstGeom>
          <a:noFill/>
          <a:ln w="9525">
            <a:noFill/>
            <a:miter lim="800000"/>
            <a:headEnd/>
            <a:tailEnd/>
          </a:ln>
          <a:effectLst/>
        </p:spPr>
      </p:pic>
      <p:sp>
        <p:nvSpPr>
          <p:cNvPr id="13" name="矩形 12">
            <a:hlinkClick r:id="rId4" action="ppaction://hlinksldjump"/>
            <a:extLst>
              <a:ext uri="{FF2B5EF4-FFF2-40B4-BE49-F238E27FC236}">
                <a16:creationId xmlns:a16="http://schemas.microsoft.com/office/drawing/2014/main" id="{5F2FE608-22B6-45CD-AE28-8B0D4C526C9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14" name="矩形 13">
            <a:hlinkClick r:id="" action="ppaction://noaction"/>
            <a:extLst>
              <a:ext uri="{FF2B5EF4-FFF2-40B4-BE49-F238E27FC236}">
                <a16:creationId xmlns:a16="http://schemas.microsoft.com/office/drawing/2014/main" id="{E7099903-4938-4C40-8802-6E463521216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15" name="矩形 14">
            <a:hlinkClick r:id="" action="ppaction://noaction"/>
            <a:extLst>
              <a:ext uri="{FF2B5EF4-FFF2-40B4-BE49-F238E27FC236}">
                <a16:creationId xmlns:a16="http://schemas.microsoft.com/office/drawing/2014/main" id="{A6C44ABE-E307-47C3-AE39-20687D80BF8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6B48A87F-D82E-4AB2-9F32-A2A8D2FE850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2F06DE28-A1DC-45B2-AAC5-93F33E2ECD5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18" name="矩形 17">
            <a:hlinkClick r:id="" action="ppaction://noaction"/>
            <a:extLst>
              <a:ext uri="{FF2B5EF4-FFF2-40B4-BE49-F238E27FC236}">
                <a16:creationId xmlns:a16="http://schemas.microsoft.com/office/drawing/2014/main" id="{BF11E095-AD9C-42D9-B678-4AC475B42BE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19" name="矩形 18">
            <a:hlinkClick r:id="" action="ppaction://noaction"/>
            <a:extLst>
              <a:ext uri="{FF2B5EF4-FFF2-40B4-BE49-F238E27FC236}">
                <a16:creationId xmlns:a16="http://schemas.microsoft.com/office/drawing/2014/main" id="{09E77578-0558-4FD9-BCC8-50D5515F820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E8AE6B6A-690A-450B-A6D4-5A5B5709F5F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custDataLst>
      <p:tags r:id="rId1"/>
    </p:custDataLst>
    <p:extLst>
      <p:ext uri="{BB962C8B-B14F-4D97-AF65-F5344CB8AC3E}">
        <p14:creationId xmlns:p14="http://schemas.microsoft.com/office/powerpoint/2010/main" val="309473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linds(horizontal)">
                                      <p:cBhvr>
                                        <p:cTn id="7" dur="5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91264" cy="5447528"/>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6.10】</a:t>
            </a:r>
            <a:r>
              <a:rPr lang="zh-CN" altLang="en-US" dirty="0">
                <a:solidFill>
                  <a:srgbClr val="C00000"/>
                </a:solidFill>
              </a:rPr>
              <a:t>输出字符串地址（首地址）</a:t>
            </a:r>
            <a:endParaRPr lang="en-US" altLang="zh-CN" dirty="0">
              <a:solidFill>
                <a:srgbClr val="C00000"/>
              </a:solidFill>
            </a:endParaRPr>
          </a:p>
          <a:p>
            <a:pPr>
              <a:spcBef>
                <a:spcPts val="0"/>
              </a:spcBef>
              <a:buNone/>
            </a:pPr>
            <a:endParaRPr lang="en-US" altLang="zh-CN" sz="2400" dirty="0">
              <a:solidFill>
                <a:srgbClr val="0000FF"/>
              </a:solidFill>
              <a:latin typeface="Courier New" pitchFamily="49" charset="0"/>
              <a:cs typeface="Courier New" pitchFamily="49" charset="0"/>
            </a:endParaRPr>
          </a:p>
          <a:p>
            <a:pPr>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spcBef>
                <a:spcPts val="0"/>
              </a:spcBef>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*string1="</a:t>
            </a:r>
            <a:r>
              <a:rPr lang="zh-CN" altLang="en-US" sz="2400" b="1" dirty="0">
                <a:latin typeface="Courier New" pitchFamily="49" charset="0"/>
                <a:cs typeface="Courier New" pitchFamily="49" charset="0"/>
              </a:rPr>
              <a:t>欢迎学习</a:t>
            </a:r>
            <a:r>
              <a:rPr lang="en-US" altLang="zh-CN" sz="2400" b="1" dirty="0">
                <a:latin typeface="Courier New" pitchFamily="49" charset="0"/>
                <a:cs typeface="Courier New" pitchFamily="49" charset="0"/>
              </a:rPr>
              <a:t>C++</a:t>
            </a:r>
            <a:r>
              <a:rPr lang="zh-CN" altLang="en-US" sz="2400" b="1" dirty="0">
                <a:latin typeface="Courier New" pitchFamily="49" charset="0"/>
                <a:cs typeface="Courier New" pitchFamily="49" charset="0"/>
              </a:rPr>
              <a:t>程序设计课程！</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zh-CN" altLang="en-US" sz="2400" b="1" dirty="0">
                <a:latin typeface="Courier New" pitchFamily="49" charset="0"/>
                <a:cs typeface="Courier New" pitchFamily="49" charset="0"/>
              </a:rPr>
              <a:t>串值是：</a:t>
            </a:r>
            <a:r>
              <a:rPr lang="en-US" altLang="zh-CN" sz="2400" b="1" dirty="0">
                <a:latin typeface="Courier New" pitchFamily="49" charset="0"/>
                <a:cs typeface="Courier New" pitchFamily="49" charset="0"/>
              </a:rPr>
              <a:t>"&lt;&lt;string1&lt;&lt;"\n</a:t>
            </a:r>
            <a:r>
              <a:rPr lang="zh-CN" altLang="en-US" sz="2400" b="1" dirty="0">
                <a:latin typeface="Courier New" pitchFamily="49" charset="0"/>
                <a:cs typeface="Courier New" pitchFamily="49" charset="0"/>
              </a:rPr>
              <a:t>串地址是：</a:t>
            </a:r>
            <a:r>
              <a:rPr lang="en-US" altLang="zh-CN" sz="2400" b="1" dirty="0">
                <a:latin typeface="Courier New" pitchFamily="49" charset="0"/>
                <a:cs typeface="Courier New" pitchFamily="49" charset="0"/>
              </a:rPr>
              <a:t>" &lt;&lt;(</a:t>
            </a:r>
            <a:r>
              <a:rPr lang="en-US" altLang="zh-CN" sz="2400" b="1" dirty="0">
                <a:solidFill>
                  <a:srgbClr val="0000FF"/>
                </a:solidFill>
                <a:latin typeface="Courier New" pitchFamily="49" charset="0"/>
                <a:cs typeface="Courier New" pitchFamily="49" charset="0"/>
              </a:rPr>
              <a:t>void</a:t>
            </a:r>
            <a:r>
              <a:rPr lang="en-US" altLang="zh-CN" sz="2400" b="1" dirty="0">
                <a:latin typeface="Courier New" pitchFamily="49" charset="0"/>
                <a:cs typeface="Courier New" pitchFamily="49" charset="0"/>
              </a:rPr>
              <a:t>*)string1&lt;&lt;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a:t>
            </a:r>
          </a:p>
          <a:p>
            <a:pPr>
              <a:spcBef>
                <a:spcPts val="0"/>
              </a:spcBef>
              <a:buNone/>
            </a:pPr>
            <a:r>
              <a:rPr lang="en-US" altLang="zh-CN" sz="2400" b="1" dirty="0">
                <a:latin typeface="Courier New" pitchFamily="49" charset="0"/>
                <a:cs typeface="Courier New" pitchFamily="49" charset="0"/>
              </a:rPr>
              <a:t>}</a:t>
            </a:r>
          </a:p>
          <a:p>
            <a:pPr lvl="1"/>
            <a:r>
              <a:rPr lang="zh-CN" altLang="en-US" dirty="0"/>
              <a:t>通常用输出数组名得到的是数组地址，但字符型数组（字符串）不同，输出的是数组内容。本例将字符指针强制转换为</a:t>
            </a:r>
            <a:r>
              <a:rPr lang="zh-CN" altLang="en-US" dirty="0">
                <a:solidFill>
                  <a:srgbClr val="FF0000"/>
                </a:solidFill>
              </a:rPr>
              <a:t>空指针</a:t>
            </a:r>
            <a:r>
              <a:rPr lang="zh-CN" altLang="en-US" dirty="0"/>
              <a:t>输出字符串中第一个字符的地址。</a:t>
            </a:r>
          </a:p>
        </p:txBody>
      </p:sp>
      <p:sp>
        <p:nvSpPr>
          <p:cNvPr id="15" name="矩形 14">
            <a:hlinkClick r:id="rId2" action="ppaction://hlinksldjump"/>
            <a:extLst>
              <a:ext uri="{FF2B5EF4-FFF2-40B4-BE49-F238E27FC236}">
                <a16:creationId xmlns:a16="http://schemas.microsoft.com/office/drawing/2014/main" id="{70E4EDB3-C9CA-4CE9-B325-2663327FE2D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指针类型与指针变量 □</a:t>
            </a:r>
          </a:p>
        </p:txBody>
      </p:sp>
      <p:sp>
        <p:nvSpPr>
          <p:cNvPr id="16" name="矩形 15">
            <a:hlinkClick r:id="" action="ppaction://noaction"/>
            <a:extLst>
              <a:ext uri="{FF2B5EF4-FFF2-40B4-BE49-F238E27FC236}">
                <a16:creationId xmlns:a16="http://schemas.microsoft.com/office/drawing/2014/main" id="{57CF53B4-A69B-4643-811B-589497309E0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指针与常量 □</a:t>
            </a:r>
          </a:p>
        </p:txBody>
      </p:sp>
      <p:sp>
        <p:nvSpPr>
          <p:cNvPr id="17" name="矩形 16">
            <a:hlinkClick r:id="" action="ppaction://noaction"/>
            <a:extLst>
              <a:ext uri="{FF2B5EF4-FFF2-40B4-BE49-F238E27FC236}">
                <a16:creationId xmlns:a16="http://schemas.microsoft.com/office/drawing/2014/main" id="{FAF3A2DA-8DE9-491A-940B-12535A5E26D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指针与数组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E5E58872-E2B9-4EB4-BBB1-6C1D22AD240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fontAlgn="base">
              <a:spcBef>
                <a:spcPct val="0"/>
              </a:spcBef>
              <a:spcAft>
                <a:spcPct val="0"/>
              </a:spcAf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字符串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1A329C67-53B9-4240-BD77-A9C0FAB8C1D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字符指针</a:t>
            </a:r>
          </a:p>
        </p:txBody>
      </p:sp>
      <p:sp>
        <p:nvSpPr>
          <p:cNvPr id="20" name="矩形 19">
            <a:hlinkClick r:id="" action="ppaction://noaction"/>
            <a:extLst>
              <a:ext uri="{FF2B5EF4-FFF2-40B4-BE49-F238E27FC236}">
                <a16:creationId xmlns:a16="http://schemas.microsoft.com/office/drawing/2014/main" id="{B70BAA4F-5745-4ED2-9EF0-23B33532B52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指向字符数组元素的指针</a:t>
            </a:r>
          </a:p>
        </p:txBody>
      </p:sp>
      <p:sp>
        <p:nvSpPr>
          <p:cNvPr id="21" name="矩形 20">
            <a:hlinkClick r:id="" action="ppaction://noaction"/>
            <a:extLst>
              <a:ext uri="{FF2B5EF4-FFF2-40B4-BE49-F238E27FC236}">
                <a16:creationId xmlns:a16="http://schemas.microsoft.com/office/drawing/2014/main" id="{DE9DAE4D-835B-4023-BBAB-88AB3B1B969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字符指针与字符串</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08369F8B-F289-49F1-B611-7F2A72140A8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fontAlgn="base">
              <a:spcBef>
                <a:spcPct val="0"/>
              </a:spcBef>
              <a:spcAft>
                <a:spcPct val="0"/>
              </a:spcAft>
              <a:defRPr/>
            </a:pPr>
            <a:r>
              <a:rPr lang="zh-CN" altLang="en-US" sz="1200" b="1" dirty="0">
                <a:solidFill>
                  <a:srgbClr val="820064"/>
                </a:solidFill>
                <a:latin typeface="Courier New" pitchFamily="49" charset="0"/>
                <a:cs typeface="Courier New" pitchFamily="49" charset="0"/>
              </a:rPr>
              <a:t>■ 字符指针数组</a:t>
            </a:r>
          </a:p>
        </p:txBody>
      </p:sp>
    </p:spTree>
    <p:extLst>
      <p:ext uri="{BB962C8B-B14F-4D97-AF65-F5344CB8AC3E}">
        <p14:creationId xmlns:p14="http://schemas.microsoft.com/office/powerpoint/2010/main" val="45909279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6.2</a:t>
            </a:r>
            <a:endParaRPr lang="zh-CN" altLang="en-US" dirty="0"/>
          </a:p>
        </p:txBody>
      </p:sp>
      <p:sp>
        <p:nvSpPr>
          <p:cNvPr id="3" name="内容占位符 2"/>
          <p:cNvSpPr>
            <a:spLocks noGrp="1"/>
          </p:cNvSpPr>
          <p:nvPr>
            <p:ph idx="1"/>
          </p:nvPr>
        </p:nvSpPr>
        <p:spPr/>
        <p:txBody>
          <a:bodyPr/>
          <a:lstStyle/>
          <a:p>
            <a:r>
              <a:rPr lang="zh-CN" altLang="en-US" dirty="0"/>
              <a:t>设计一个字符指针数组</a:t>
            </a:r>
            <a:r>
              <a:rPr lang="en-US" altLang="zh-CN" dirty="0"/>
              <a:t>name</a:t>
            </a:r>
            <a:r>
              <a:rPr lang="zh-CN" altLang="en-US" dirty="0"/>
              <a:t>，将该数组的元素按照第一个字母的</a:t>
            </a:r>
            <a:r>
              <a:rPr lang="en-US" altLang="zh-CN" dirty="0"/>
              <a:t>ASCII</a:t>
            </a:r>
            <a:r>
              <a:rPr lang="zh-CN" altLang="en-US" dirty="0"/>
              <a:t>码由小到大排序，如果第一个字母相同，则按第二个字母排序，以此类推。</a:t>
            </a:r>
          </a:p>
        </p:txBody>
      </p:sp>
    </p:spTree>
    <p:extLst>
      <p:ext uri="{BB962C8B-B14F-4D97-AF65-F5344CB8AC3E}">
        <p14:creationId xmlns:p14="http://schemas.microsoft.com/office/powerpoint/2010/main" val="18458988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36091" y="509332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 name="组合 34"/>
          <p:cNvGrpSpPr>
            <a:grpSpLocks/>
          </p:cNvGrpSpPr>
          <p:nvPr/>
        </p:nvGrpSpPr>
        <p:grpSpPr bwMode="auto">
          <a:xfrm>
            <a:off x="1643063" y="1412177"/>
            <a:ext cx="5354762" cy="4457154"/>
            <a:chOff x="1643042" y="475193"/>
            <a:chExt cx="5354783" cy="4457175"/>
          </a:xfrm>
        </p:grpSpPr>
        <p:sp>
          <p:nvSpPr>
            <p:cNvPr id="14" name="五边形 13"/>
            <p:cNvSpPr/>
            <p:nvPr/>
          </p:nvSpPr>
          <p:spPr bwMode="auto">
            <a:xfrm flipH="1">
              <a:off x="2040043" y="475193"/>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36073" y="3222521"/>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4"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6" name="组合 34"/>
          <p:cNvGrpSpPr>
            <a:grpSpLocks/>
          </p:cNvGrpSpPr>
          <p:nvPr/>
        </p:nvGrpSpPr>
        <p:grpSpPr bwMode="auto">
          <a:xfrm>
            <a:off x="868546" y="1419527"/>
            <a:ext cx="6129279" cy="2642190"/>
            <a:chOff x="869985" y="3218860"/>
            <a:chExt cx="6129303" cy="264220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9" name="组合 31"/>
            <p:cNvGrpSpPr>
              <a:grpSpLocks/>
            </p:cNvGrpSpPr>
            <p:nvPr/>
          </p:nvGrpSpPr>
          <p:grpSpPr bwMode="auto">
            <a:xfrm>
              <a:off x="869985" y="5072072"/>
              <a:ext cx="1565222" cy="788990"/>
              <a:chOff x="80998" y="1643048"/>
              <a:chExt cx="1565222" cy="788990"/>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0998" y="1643048"/>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指针类型与指针变量</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指针与常量</a:t>
            </a:r>
          </a:p>
        </p:txBody>
      </p:sp>
      <p:sp>
        <p:nvSpPr>
          <p:cNvPr id="45" name="TextBox 44"/>
          <p:cNvSpPr txBox="1"/>
          <p:nvPr/>
        </p:nvSpPr>
        <p:spPr>
          <a:xfrm>
            <a:off x="2627784" y="34049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指针与数组</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42690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指针与字符串</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520513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指针与函数</a:t>
            </a:r>
          </a:p>
        </p:txBody>
      </p:sp>
      <p:pic>
        <p:nvPicPr>
          <p:cNvPr id="56" name="图片 22" descr="NANKAI.png">
            <a:extLst>
              <a:ext uri="{FF2B5EF4-FFF2-40B4-BE49-F238E27FC236}">
                <a16:creationId xmlns:a16="http://schemas.microsoft.com/office/drawing/2014/main" id="{635CF39D-0381-4190-A4CB-9B6B54B338F0}"/>
              </a:ext>
            </a:extLst>
          </p:cNvPr>
          <p:cNvPicPr>
            <a:picLocks noChangeAspect="1"/>
          </p:cNvPicPr>
          <p:nvPr/>
        </p:nvPicPr>
        <p:blipFill>
          <a:blip r:embed="rId3" cstate="print"/>
          <a:srcRect/>
          <a:stretch>
            <a:fillRect/>
          </a:stretch>
        </p:blipFill>
        <p:spPr bwMode="auto">
          <a:xfrm>
            <a:off x="1641600" y="3274321"/>
            <a:ext cx="788984" cy="788984"/>
          </a:xfrm>
          <a:prstGeom prst="rect">
            <a:avLst/>
          </a:prstGeom>
          <a:noFill/>
          <a:ln w="9525">
            <a:noFill/>
            <a:miter lim="800000"/>
            <a:headEnd/>
            <a:tailEnd/>
          </a:ln>
        </p:spPr>
      </p:pic>
      <p:sp>
        <p:nvSpPr>
          <p:cNvPr id="40" name="矩形 39">
            <a:hlinkClick r:id="rId4" action="ppaction://hlinksldjump"/>
            <a:extLst>
              <a:ext uri="{FF2B5EF4-FFF2-40B4-BE49-F238E27FC236}">
                <a16:creationId xmlns:a16="http://schemas.microsoft.com/office/drawing/2014/main" id="{02F9EB78-0889-4791-96DA-44DF79F6F6C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48" name="矩形 47">
            <a:hlinkClick r:id="" action="ppaction://noaction"/>
            <a:extLst>
              <a:ext uri="{FF2B5EF4-FFF2-40B4-BE49-F238E27FC236}">
                <a16:creationId xmlns:a16="http://schemas.microsoft.com/office/drawing/2014/main" id="{B309A86D-8D04-4DEF-9064-09BE42867C6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49" name="矩形 48">
            <a:hlinkClick r:id="" action="ppaction://noaction"/>
            <a:extLst>
              <a:ext uri="{FF2B5EF4-FFF2-40B4-BE49-F238E27FC236}">
                <a16:creationId xmlns:a16="http://schemas.microsoft.com/office/drawing/2014/main" id="{A88823E7-4B41-47CB-8E91-F9DAA98C69C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50" name="矩形 49">
            <a:hlinkClick r:id="" action="ppaction://noaction"/>
            <a:extLst>
              <a:ext uri="{FF2B5EF4-FFF2-40B4-BE49-F238E27FC236}">
                <a16:creationId xmlns:a16="http://schemas.microsoft.com/office/drawing/2014/main" id="{3C21D7B9-91B8-4DFF-8447-B16D10DD712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
        <p:nvSpPr>
          <p:cNvPr id="51" name="矩形 50">
            <a:hlinkClick r:id="" action="ppaction://noaction"/>
            <a:extLst>
              <a:ext uri="{FF2B5EF4-FFF2-40B4-BE49-F238E27FC236}">
                <a16:creationId xmlns:a16="http://schemas.microsoft.com/office/drawing/2014/main" id="{F507657C-F11C-47C4-A1A7-876C16E6E76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52" name="矩形 51">
            <a:hlinkClick r:id="" action="ppaction://noaction"/>
            <a:extLst>
              <a:ext uri="{FF2B5EF4-FFF2-40B4-BE49-F238E27FC236}">
                <a16:creationId xmlns:a16="http://schemas.microsoft.com/office/drawing/2014/main" id="{E00A9740-1B51-4874-94F2-BCF868F4287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62" name="矩形 61">
            <a:hlinkClick r:id="" action="ppaction://noaction"/>
            <a:extLst>
              <a:ext uri="{FF2B5EF4-FFF2-40B4-BE49-F238E27FC236}">
                <a16:creationId xmlns:a16="http://schemas.microsoft.com/office/drawing/2014/main" id="{AE32227C-0DB4-4167-80BA-13D00366552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63" name="矩形 62">
            <a:hlinkClick r:id="" action="ppaction://noaction"/>
            <a:extLst>
              <a:ext uri="{FF2B5EF4-FFF2-40B4-BE49-F238E27FC236}">
                <a16:creationId xmlns:a16="http://schemas.microsoft.com/office/drawing/2014/main" id="{40014AC1-0E51-49F8-8EC9-30C5A0111FF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Tree>
    <p:extLst>
      <p:ext uri="{BB962C8B-B14F-4D97-AF65-F5344CB8AC3E}">
        <p14:creationId xmlns:p14="http://schemas.microsoft.com/office/powerpoint/2010/main" val="4165084839"/>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 name="标题 2">
            <a:extLst>
              <a:ext uri="{FF2B5EF4-FFF2-40B4-BE49-F238E27FC236}">
                <a16:creationId xmlns:a16="http://schemas.microsoft.com/office/drawing/2014/main" id="{22196E1D-8E8A-4B55-A428-C9B223E5E3DD}"/>
              </a:ext>
            </a:extLst>
          </p:cNvPr>
          <p:cNvSpPr>
            <a:spLocks noGrp="1"/>
          </p:cNvSpPr>
          <p:nvPr>
            <p:ph type="ctrTitle"/>
          </p:nvPr>
        </p:nvSpPr>
        <p:spPr/>
        <p:txBody>
          <a:bodyPr/>
          <a:lstStyle/>
          <a:p>
            <a:r>
              <a:rPr lang="zh-CN" altLang="en-US" dirty="0"/>
              <a:t>指针参数</a:t>
            </a:r>
          </a:p>
        </p:txBody>
      </p:sp>
      <p:sp>
        <p:nvSpPr>
          <p:cNvPr id="10" name="TextBox 8">
            <a:extLst>
              <a:ext uri="{FF2B5EF4-FFF2-40B4-BE49-F238E27FC236}">
                <a16:creationId xmlns:a16="http://schemas.microsoft.com/office/drawing/2014/main" id="{22123224-20C8-4AFB-97E5-77E545274A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9547C46E-C6EE-4BD3-AC0E-99346EDDE16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D7DD6BC-1223-4609-96B0-25A2B7F5FB4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2412429685"/>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指针做函数的参数</a:t>
            </a:r>
          </a:p>
        </p:txBody>
      </p:sp>
      <p:sp>
        <p:nvSpPr>
          <p:cNvPr id="3" name="内容占位符 2"/>
          <p:cNvSpPr>
            <a:spLocks noGrp="1"/>
          </p:cNvSpPr>
          <p:nvPr>
            <p:ph idx="1"/>
          </p:nvPr>
        </p:nvSpPr>
        <p:spPr>
          <a:xfrm>
            <a:off x="457200" y="1916832"/>
            <a:ext cx="8229600" cy="4500562"/>
          </a:xfrm>
        </p:spPr>
        <p:txBody>
          <a:bodyPr/>
          <a:lstStyle/>
          <a:p>
            <a:r>
              <a:rPr lang="zh-CN" altLang="en-US" dirty="0"/>
              <a:t>指针(如数组名，或其它指针变量)作为函数参数，可起到传递“地址”的功能</a:t>
            </a:r>
            <a:endParaRPr lang="en-US" altLang="zh-CN" dirty="0"/>
          </a:p>
          <a:p>
            <a:pPr lvl="1"/>
            <a:r>
              <a:rPr lang="zh-CN" altLang="en-US" dirty="0"/>
              <a:t>形参</a:t>
            </a:r>
            <a:endParaRPr lang="en-US" altLang="zh-CN" dirty="0"/>
          </a:p>
          <a:p>
            <a:pPr lvl="2"/>
            <a:r>
              <a:rPr lang="zh-CN" altLang="en-US" dirty="0"/>
              <a:t>指针变量、指针常量、常量指针</a:t>
            </a:r>
            <a:endParaRPr lang="en-US" altLang="zh-CN" dirty="0"/>
          </a:p>
          <a:p>
            <a:pPr lvl="1"/>
            <a:r>
              <a:rPr lang="zh-CN" altLang="en-US" dirty="0"/>
              <a:t>实参</a:t>
            </a:r>
            <a:endParaRPr lang="en-US" altLang="zh-CN" dirty="0"/>
          </a:p>
          <a:p>
            <a:pPr lvl="2"/>
            <a:r>
              <a:rPr lang="zh-CN" altLang="en-US" dirty="0"/>
              <a:t>地址表达式</a:t>
            </a:r>
            <a:endParaRPr lang="en-US" altLang="zh-CN" dirty="0"/>
          </a:p>
          <a:p>
            <a:pPr lvl="1"/>
            <a:r>
              <a:rPr lang="zh-CN" altLang="en-US" dirty="0"/>
              <a:t>对形参指针所指变量值的使用与改变，就是对实参指针所指变量值的直接使用与改变</a:t>
            </a:r>
            <a:endParaRPr lang="en-US" altLang="zh-CN" dirty="0"/>
          </a:p>
          <a:p>
            <a:pPr lvl="1"/>
            <a:r>
              <a:rPr lang="zh-CN" altLang="en-US" dirty="0"/>
              <a:t>注意形参和实参的</a:t>
            </a:r>
            <a:r>
              <a:rPr lang="zh-CN" altLang="en-US" dirty="0">
                <a:solidFill>
                  <a:srgbClr val="C00000"/>
                </a:solidFill>
              </a:rPr>
              <a:t>一致性</a:t>
            </a:r>
          </a:p>
        </p:txBody>
      </p:sp>
      <p:sp>
        <p:nvSpPr>
          <p:cNvPr id="14" name="矩形 13">
            <a:hlinkClick r:id="rId2" action="ppaction://hlinksldjump"/>
            <a:extLst>
              <a:ext uri="{FF2B5EF4-FFF2-40B4-BE49-F238E27FC236}">
                <a16:creationId xmlns:a16="http://schemas.microsoft.com/office/drawing/2014/main" id="{D57BEF7E-4296-402A-930F-58FCABCEA61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94D0CE24-C9C4-4277-9B57-CBD0836664B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5A56E1B8-D3CB-4748-865B-CA4CA785832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7" name="矩形 16">
            <a:hlinkClick r:id="" action="ppaction://noaction"/>
            <a:extLst>
              <a:ext uri="{FF2B5EF4-FFF2-40B4-BE49-F238E27FC236}">
                <a16:creationId xmlns:a16="http://schemas.microsoft.com/office/drawing/2014/main" id="{C273C778-36E9-4EA0-82A9-6084E41B257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
        <p:nvSpPr>
          <p:cNvPr id="18" name="矩形 17">
            <a:hlinkClick r:id="" action="ppaction://noaction"/>
            <a:extLst>
              <a:ext uri="{FF2B5EF4-FFF2-40B4-BE49-F238E27FC236}">
                <a16:creationId xmlns:a16="http://schemas.microsoft.com/office/drawing/2014/main" id="{EF991CF2-7BFB-4E48-9C10-746ED2168BF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9" name="矩形 18">
            <a:hlinkClick r:id="" action="ppaction://noaction"/>
            <a:extLst>
              <a:ext uri="{FF2B5EF4-FFF2-40B4-BE49-F238E27FC236}">
                <a16:creationId xmlns:a16="http://schemas.microsoft.com/office/drawing/2014/main" id="{2BBAAA61-1908-4983-B2DB-6C3EAC28F2B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1BF90965-4F07-4D45-B1F0-08A504690AE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1" name="矩形 20">
            <a:hlinkClick r:id="" action="ppaction://noaction"/>
            <a:extLst>
              <a:ext uri="{FF2B5EF4-FFF2-40B4-BE49-F238E27FC236}">
                <a16:creationId xmlns:a16="http://schemas.microsoft.com/office/drawing/2014/main" id="{2A55A074-F85B-4634-BDBA-60123D587ED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Tree>
    <p:extLst>
      <p:ext uri="{BB962C8B-B14F-4D97-AF65-F5344CB8AC3E}">
        <p14:creationId xmlns:p14="http://schemas.microsoft.com/office/powerpoint/2010/main" val="118906815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6.11】</a:t>
            </a:r>
            <a:r>
              <a:rPr lang="zh-CN" altLang="en-US" dirty="0">
                <a:solidFill>
                  <a:srgbClr val="C00000"/>
                </a:solidFill>
              </a:rPr>
              <a:t>分析程序的运行结果</a:t>
            </a:r>
            <a:endParaRPr lang="en-US" altLang="zh-CN" dirty="0">
              <a:solidFill>
                <a:srgbClr val="C00000"/>
              </a:solidFill>
            </a:endParaRPr>
          </a:p>
          <a:p>
            <a:endParaRPr lang="en-US" altLang="zh-CN" dirty="0">
              <a:solidFill>
                <a:srgbClr val="C00000"/>
              </a:solidFill>
            </a:endParaRPr>
          </a:p>
          <a:p>
            <a:pPr>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num); </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a[6]={1,2,3,4,5,6};</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*pa=a;</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calling '</a:t>
            </a:r>
            <a:r>
              <a:rPr lang="en-US" altLang="zh-CN" sz="2000" b="1" dirty="0" err="1">
                <a:latin typeface="Courier New" pitchFamily="49" charset="0"/>
                <a:cs typeface="Courier New" pitchFamily="49" charset="0"/>
              </a:rPr>
              <a:t>muFunc</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=0;i&lt;6;i++)</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(pa,6);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指针</a:t>
            </a:r>
            <a:r>
              <a:rPr lang="en-US" altLang="zh-CN" sz="2000" b="1" dirty="0">
                <a:solidFill>
                  <a:srgbClr val="00B050"/>
                </a:solidFill>
                <a:latin typeface="Courier New" pitchFamily="49" charset="0"/>
                <a:cs typeface="Courier New" pitchFamily="49" charset="0"/>
              </a:rPr>
              <a:t>pa</a:t>
            </a:r>
            <a:r>
              <a:rPr lang="zh-CN" altLang="en-US" sz="2000" b="1" dirty="0">
                <a:solidFill>
                  <a:srgbClr val="00B050"/>
                </a:solidFill>
                <a:latin typeface="Courier New" pitchFamily="49" charset="0"/>
                <a:cs typeface="Courier New" pitchFamily="49" charset="0"/>
              </a:rPr>
              <a:t>作为实参去调用自定义函数</a:t>
            </a:r>
            <a:r>
              <a:rPr lang="en-US" altLang="zh-CN" sz="2000" b="1" dirty="0" err="1">
                <a:solidFill>
                  <a:srgbClr val="00B050"/>
                </a:solidFill>
                <a:latin typeface="Courier New" pitchFamily="49" charset="0"/>
                <a:cs typeface="Courier New" pitchFamily="49" charset="0"/>
              </a:rPr>
              <a:t>muFunc</a:t>
            </a:r>
            <a:endParaRPr lang="en-US" altLang="zh-CN" sz="2000" b="1" dirty="0">
              <a:solidFill>
                <a:srgbClr val="00B050"/>
              </a:solidFill>
              <a:latin typeface="Courier New" pitchFamily="49" charset="0"/>
              <a:cs typeface="Courier New" pitchFamily="49" charset="0"/>
            </a:endParaRP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&lt;&lt;"after calling '</a:t>
            </a:r>
            <a:r>
              <a:rPr lang="en-US" altLang="zh-CN" sz="2000" b="1" dirty="0" err="1">
                <a:latin typeface="Courier New" pitchFamily="49" charset="0"/>
                <a:cs typeface="Courier New" pitchFamily="49" charset="0"/>
              </a:rPr>
              <a:t>muFunc</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15" name="矩形 14">
            <a:hlinkClick r:id="rId2" action="ppaction://hlinksldjump"/>
            <a:extLst>
              <a:ext uri="{FF2B5EF4-FFF2-40B4-BE49-F238E27FC236}">
                <a16:creationId xmlns:a16="http://schemas.microsoft.com/office/drawing/2014/main" id="{B050F168-5CA3-41EB-AA8B-68F32E440FA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C23FE610-A7EB-425F-97DE-DE2C4AEC26D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27370D81-9602-46EC-B9CD-F6C583D6086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8" name="矩形 17">
            <a:hlinkClick r:id="" action="ppaction://noaction"/>
            <a:extLst>
              <a:ext uri="{FF2B5EF4-FFF2-40B4-BE49-F238E27FC236}">
                <a16:creationId xmlns:a16="http://schemas.microsoft.com/office/drawing/2014/main" id="{F6894F23-6440-44A1-9063-8AB1DFCA443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
        <p:nvSpPr>
          <p:cNvPr id="19" name="矩形 18">
            <a:hlinkClick r:id="" action="ppaction://noaction"/>
            <a:extLst>
              <a:ext uri="{FF2B5EF4-FFF2-40B4-BE49-F238E27FC236}">
                <a16:creationId xmlns:a16="http://schemas.microsoft.com/office/drawing/2014/main" id="{93421D57-33B2-4CC5-9CE4-C8BBE305669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20" name="矩形 19">
            <a:hlinkClick r:id="" action="ppaction://noaction"/>
            <a:extLst>
              <a:ext uri="{FF2B5EF4-FFF2-40B4-BE49-F238E27FC236}">
                <a16:creationId xmlns:a16="http://schemas.microsoft.com/office/drawing/2014/main" id="{42EA4EDE-53C8-46C7-8DD1-5710EB6F10F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0676C8F9-3EBA-4CFD-8D52-02A9E3AA91B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2" name="矩形 21">
            <a:hlinkClick r:id="" action="ppaction://noaction"/>
            <a:extLst>
              <a:ext uri="{FF2B5EF4-FFF2-40B4-BE49-F238E27FC236}">
                <a16:creationId xmlns:a16="http://schemas.microsoft.com/office/drawing/2014/main" id="{E60CEF61-A9BE-4591-9A07-29531B7CF6E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Tree>
    <p:extLst>
      <p:ext uri="{BB962C8B-B14F-4D97-AF65-F5344CB8AC3E}">
        <p14:creationId xmlns:p14="http://schemas.microsoft.com/office/powerpoint/2010/main" val="282838600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472518" cy="5029200"/>
          </a:xfrm>
        </p:spPr>
        <p:txBody>
          <a:bodyPr/>
          <a:lstStyle/>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for(</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=0;i&lt;6;i++)</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  ";</a:t>
            </a:r>
          </a:p>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输出被</a:t>
            </a:r>
            <a:r>
              <a:rPr lang="en-US" altLang="zh-CN" sz="2000" b="1" dirty="0" err="1">
                <a:solidFill>
                  <a:srgbClr val="00B050"/>
                </a:solidFill>
                <a:latin typeface="Courier New" pitchFamily="49" charset="0"/>
                <a:cs typeface="Courier New" pitchFamily="49" charset="0"/>
              </a:rPr>
              <a:t>myFunc</a:t>
            </a:r>
            <a:r>
              <a:rPr lang="zh-CN" altLang="en-US" sz="2000" b="1" dirty="0">
                <a:solidFill>
                  <a:srgbClr val="00B050"/>
                </a:solidFill>
                <a:latin typeface="Courier New" pitchFamily="49" charset="0"/>
                <a:cs typeface="Courier New" pitchFamily="49" charset="0"/>
              </a:rPr>
              <a:t>改变后以</a:t>
            </a:r>
            <a:r>
              <a:rPr lang="en-US" altLang="zh-CN" sz="2000" b="1" dirty="0">
                <a:solidFill>
                  <a:srgbClr val="00B050"/>
                </a:solidFill>
                <a:latin typeface="Courier New" pitchFamily="49" charset="0"/>
                <a:cs typeface="Courier New" pitchFamily="49" charset="0"/>
              </a:rPr>
              <a:t>pa</a:t>
            </a:r>
            <a:r>
              <a:rPr lang="zh-CN" altLang="en-US" sz="2000" b="1" dirty="0">
                <a:solidFill>
                  <a:srgbClr val="00B050"/>
                </a:solidFill>
                <a:latin typeface="Courier New" pitchFamily="49" charset="0"/>
                <a:cs typeface="Courier New" pitchFamily="49" charset="0"/>
              </a:rPr>
              <a:t>为首地址的</a:t>
            </a:r>
          </a:p>
          <a:p>
            <a:pPr>
              <a:spcBef>
                <a:spcPts val="0"/>
              </a:spcBef>
              <a:buNone/>
            </a:pPr>
            <a:r>
              <a:rPr lang="zh-CN" altLang="en-US" sz="2000" b="1" dirty="0">
                <a:solidFill>
                  <a:srgbClr val="00B050"/>
                </a:solidFill>
                <a:latin typeface="Courier New" pitchFamily="49" charset="0"/>
                <a:cs typeface="Courier New" pitchFamily="49" charset="0"/>
              </a:rPr>
              <a:t>		//各元素值(每一数都加了100)</a:t>
            </a:r>
          </a:p>
          <a:p>
            <a:pPr>
              <a:spcBef>
                <a:spcPts val="0"/>
              </a:spcBef>
              <a:buNone/>
            </a:pPr>
            <a:r>
              <a:rPr lang="zh-CN" altLang="en-US"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num){</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sum=0;</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num;i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sum+=*(</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&lt;&lt;"in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 sum of *(</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)="&lt;&lt;sum&lt;&lt;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num;i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)+=100; </a:t>
            </a:r>
          </a:p>
          <a:p>
            <a:pPr>
              <a:spcBef>
                <a:spcPts val="0"/>
              </a:spcBef>
              <a:buNone/>
            </a:pPr>
            <a:r>
              <a:rPr lang="en-US" altLang="zh-CN" sz="2000" b="1" dirty="0">
                <a:latin typeface="Courier New" pitchFamily="49" charset="0"/>
                <a:cs typeface="Courier New" pitchFamily="49" charset="0"/>
              </a:rPr>
              <a:t>} </a:t>
            </a:r>
          </a:p>
          <a:p>
            <a:pPr>
              <a:spcBef>
                <a:spcPts val="0"/>
              </a:spcBef>
              <a:buNone/>
            </a:pPr>
            <a:endParaRPr lang="zh-CN" altLang="en-US" sz="2000" b="1" dirty="0">
              <a:solidFill>
                <a:schemeClr val="tx2"/>
              </a:solidFill>
              <a:latin typeface="Courier New" pitchFamily="49" charset="0"/>
              <a:cs typeface="Courier New" pitchFamily="49" charset="0"/>
            </a:endParaRPr>
          </a:p>
        </p:txBody>
      </p:sp>
      <p:sp>
        <p:nvSpPr>
          <p:cNvPr id="13" name="矩形 12">
            <a:hlinkClick r:id="rId2" action="ppaction://hlinksldjump"/>
            <a:extLst>
              <a:ext uri="{FF2B5EF4-FFF2-40B4-BE49-F238E27FC236}">
                <a16:creationId xmlns:a16="http://schemas.microsoft.com/office/drawing/2014/main" id="{FDE6BAE9-AD58-4466-8A34-DAB6EDEDD97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A25EB174-7625-4F6B-80F5-8A8638AF095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30EB0946-218B-4CEA-9CAD-9555371C877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6" name="矩形 15">
            <a:hlinkClick r:id="" action="ppaction://noaction"/>
            <a:extLst>
              <a:ext uri="{FF2B5EF4-FFF2-40B4-BE49-F238E27FC236}">
                <a16:creationId xmlns:a16="http://schemas.microsoft.com/office/drawing/2014/main" id="{C1025EC6-465D-418D-99E0-44FA52BF824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
        <p:nvSpPr>
          <p:cNvPr id="17" name="矩形 16">
            <a:hlinkClick r:id="" action="ppaction://noaction"/>
            <a:extLst>
              <a:ext uri="{FF2B5EF4-FFF2-40B4-BE49-F238E27FC236}">
                <a16:creationId xmlns:a16="http://schemas.microsoft.com/office/drawing/2014/main" id="{DD49B779-BB96-4B73-866C-7A7C6234DF4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8" name="矩形 17">
            <a:hlinkClick r:id="" action="ppaction://noaction"/>
            <a:extLst>
              <a:ext uri="{FF2B5EF4-FFF2-40B4-BE49-F238E27FC236}">
                <a16:creationId xmlns:a16="http://schemas.microsoft.com/office/drawing/2014/main" id="{A37B0C46-2542-49B1-8E35-532A7C9EE6C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968B0948-DD3E-4477-9234-6CB1B0E0BB7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0" name="矩形 19">
            <a:hlinkClick r:id="" action="ppaction://noaction"/>
            <a:extLst>
              <a:ext uri="{FF2B5EF4-FFF2-40B4-BE49-F238E27FC236}">
                <a16:creationId xmlns:a16="http://schemas.microsoft.com/office/drawing/2014/main" id="{A4DEFEBF-A2FB-4EDD-8F49-90F71E702D6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Tree>
    <p:extLst>
      <p:ext uri="{BB962C8B-B14F-4D97-AF65-F5344CB8AC3E}">
        <p14:creationId xmlns:p14="http://schemas.microsoft.com/office/powerpoint/2010/main" val="204264960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268760"/>
            <a:ext cx="8229600" cy="4500562"/>
          </a:xfrm>
        </p:spPr>
        <p:txBody>
          <a:bodyPr/>
          <a:lstStyle/>
          <a:p>
            <a:pPr marL="0" lvl="1" indent="0">
              <a:buNone/>
            </a:pPr>
            <a:r>
              <a:rPr lang="zh-CN" altLang="en-US" sz="2800" dirty="0">
                <a:solidFill>
                  <a:schemeClr val="accent6">
                    <a:lumMod val="75000"/>
                  </a:schemeClr>
                </a:solidFill>
              </a:rPr>
              <a:t>运行结果</a:t>
            </a:r>
            <a:endParaRPr lang="en-US" altLang="zh-CN" sz="2800" dirty="0">
              <a:solidFill>
                <a:schemeClr val="accent6">
                  <a:lumMod val="75000"/>
                </a:schemeClr>
              </a:solidFill>
            </a:endParaRPr>
          </a:p>
          <a:p>
            <a:pPr>
              <a:buSzPct val="75000"/>
              <a:buNone/>
            </a:pPr>
            <a:r>
              <a:rPr lang="en-US" altLang="zh-CN" sz="2800" b="1" dirty="0">
                <a:latin typeface="Courier New" pitchFamily="49" charset="0"/>
                <a:cs typeface="Courier New" pitchFamily="49" charset="0"/>
              </a:rPr>
              <a:t>before calling '</a:t>
            </a:r>
            <a:r>
              <a:rPr lang="en-US" altLang="zh-CN" sz="2800" b="1" dirty="0" err="1">
                <a:latin typeface="Courier New" pitchFamily="49" charset="0"/>
                <a:cs typeface="Courier New" pitchFamily="49" charset="0"/>
              </a:rPr>
              <a:t>muFunc</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pa+i</a:t>
            </a:r>
            <a:r>
              <a:rPr lang="en-US" altLang="zh-CN" sz="2800" b="1" dirty="0">
                <a:latin typeface="Courier New" pitchFamily="49" charset="0"/>
                <a:cs typeface="Courier New" pitchFamily="49" charset="0"/>
              </a:rPr>
              <a:t>)=</a:t>
            </a:r>
          </a:p>
          <a:p>
            <a:pPr>
              <a:buSzPct val="75000"/>
              <a:buNone/>
            </a:pPr>
            <a:r>
              <a:rPr lang="en-US" altLang="zh-CN" sz="2800" b="1" dirty="0">
                <a:latin typeface="Courier New" pitchFamily="49" charset="0"/>
                <a:cs typeface="Courier New" pitchFamily="49" charset="0"/>
              </a:rPr>
              <a:t>1  2  3  4  5  6</a:t>
            </a:r>
          </a:p>
          <a:p>
            <a:pPr>
              <a:buSzPct val="75000"/>
              <a:buNone/>
            </a:pPr>
            <a:r>
              <a:rPr lang="en-US" altLang="zh-CN" sz="2800" b="1" dirty="0">
                <a:latin typeface="Courier New" pitchFamily="49" charset="0"/>
                <a:cs typeface="Courier New" pitchFamily="49" charset="0"/>
              </a:rPr>
              <a:t> </a:t>
            </a:r>
          </a:p>
          <a:p>
            <a:pPr>
              <a:buSzPct val="75000"/>
              <a:buNone/>
            </a:pPr>
            <a:r>
              <a:rPr lang="en-US" altLang="zh-CN" sz="2800" b="1" dirty="0">
                <a:latin typeface="Courier New" pitchFamily="49" charset="0"/>
                <a:cs typeface="Courier New" pitchFamily="49" charset="0"/>
              </a:rPr>
              <a:t>in </a:t>
            </a:r>
            <a:r>
              <a:rPr lang="en-US" altLang="zh-CN" sz="2800" b="1" dirty="0" err="1">
                <a:latin typeface="Courier New" pitchFamily="49" charset="0"/>
                <a:cs typeface="Courier New" pitchFamily="49" charset="0"/>
              </a:rPr>
              <a:t>myFunc</a:t>
            </a:r>
            <a:r>
              <a:rPr lang="en-US" altLang="zh-CN" sz="2800" b="1" dirty="0">
                <a:latin typeface="Courier New" pitchFamily="49" charset="0"/>
                <a:cs typeface="Courier New" pitchFamily="49" charset="0"/>
              </a:rPr>
              <a:t>, sum of *(</a:t>
            </a:r>
            <a:r>
              <a:rPr lang="en-US" altLang="zh-CN" sz="2800" b="1" dirty="0" err="1">
                <a:latin typeface="Courier New" pitchFamily="49" charset="0"/>
                <a:cs typeface="Courier New" pitchFamily="49" charset="0"/>
              </a:rPr>
              <a:t>pa+i</a:t>
            </a:r>
            <a:r>
              <a:rPr lang="en-US" altLang="zh-CN" sz="2800" b="1" dirty="0">
                <a:latin typeface="Courier New" pitchFamily="49" charset="0"/>
                <a:cs typeface="Courier New" pitchFamily="49" charset="0"/>
              </a:rPr>
              <a:t>)=21</a:t>
            </a:r>
          </a:p>
          <a:p>
            <a:pPr>
              <a:buSzPct val="75000"/>
              <a:buNone/>
            </a:pPr>
            <a:r>
              <a:rPr lang="en-US" altLang="zh-CN" sz="2800" b="1" dirty="0">
                <a:latin typeface="Courier New" pitchFamily="49" charset="0"/>
                <a:cs typeface="Courier New" pitchFamily="49" charset="0"/>
              </a:rPr>
              <a:t> </a:t>
            </a:r>
          </a:p>
          <a:p>
            <a:pPr>
              <a:buSzPct val="75000"/>
              <a:buNone/>
            </a:pPr>
            <a:r>
              <a:rPr lang="en-US" altLang="zh-CN" sz="2800" b="1" dirty="0">
                <a:latin typeface="Courier New" pitchFamily="49" charset="0"/>
                <a:cs typeface="Courier New" pitchFamily="49" charset="0"/>
              </a:rPr>
              <a:t>after calling '</a:t>
            </a:r>
            <a:r>
              <a:rPr lang="en-US" altLang="zh-CN" sz="2800" b="1" dirty="0" err="1">
                <a:latin typeface="Courier New" pitchFamily="49" charset="0"/>
                <a:cs typeface="Courier New" pitchFamily="49" charset="0"/>
              </a:rPr>
              <a:t>muFunc</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p+i</a:t>
            </a:r>
            <a:r>
              <a:rPr lang="en-US" altLang="zh-CN" sz="2800" b="1" dirty="0">
                <a:latin typeface="Courier New" pitchFamily="49" charset="0"/>
                <a:cs typeface="Courier New" pitchFamily="49" charset="0"/>
              </a:rPr>
              <a:t>)=</a:t>
            </a:r>
          </a:p>
          <a:p>
            <a:pPr>
              <a:buSzPct val="75000"/>
              <a:buNone/>
            </a:pPr>
            <a:r>
              <a:rPr lang="en-US" altLang="zh-CN" sz="2800" b="1" dirty="0">
                <a:latin typeface="Courier New" pitchFamily="49" charset="0"/>
                <a:cs typeface="Courier New" pitchFamily="49" charset="0"/>
              </a:rPr>
              <a:t>101  102  103  104  105  106</a:t>
            </a:r>
            <a:endParaRPr lang="zh-CN" altLang="en-US" b="1" dirty="0">
              <a:latin typeface="Courier New" pitchFamily="49" charset="0"/>
              <a:cs typeface="Courier New" pitchFamily="49" charset="0"/>
            </a:endParaRPr>
          </a:p>
        </p:txBody>
      </p:sp>
      <p:sp>
        <p:nvSpPr>
          <p:cNvPr id="13" name="矩形 12">
            <a:hlinkClick r:id="rId2" action="ppaction://hlinksldjump"/>
            <a:extLst>
              <a:ext uri="{FF2B5EF4-FFF2-40B4-BE49-F238E27FC236}">
                <a16:creationId xmlns:a16="http://schemas.microsoft.com/office/drawing/2014/main" id="{3BE1F880-2119-41F1-8190-A505EBC6FA2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6D0E8F7E-227E-4CF3-8F4A-94F3ECF4F1E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AF6B7044-9950-4854-8FF1-02FE77A204F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6" name="矩形 15">
            <a:hlinkClick r:id="" action="ppaction://noaction"/>
            <a:extLst>
              <a:ext uri="{FF2B5EF4-FFF2-40B4-BE49-F238E27FC236}">
                <a16:creationId xmlns:a16="http://schemas.microsoft.com/office/drawing/2014/main" id="{31FE6B81-133B-46F3-B1F7-BDA784F70F1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
        <p:nvSpPr>
          <p:cNvPr id="17" name="矩形 16">
            <a:hlinkClick r:id="" action="ppaction://noaction"/>
            <a:extLst>
              <a:ext uri="{FF2B5EF4-FFF2-40B4-BE49-F238E27FC236}">
                <a16:creationId xmlns:a16="http://schemas.microsoft.com/office/drawing/2014/main" id="{AEE34A99-89EA-45F9-8D0E-82016C815CA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8" name="矩形 17">
            <a:hlinkClick r:id="" action="ppaction://noaction"/>
            <a:extLst>
              <a:ext uri="{FF2B5EF4-FFF2-40B4-BE49-F238E27FC236}">
                <a16:creationId xmlns:a16="http://schemas.microsoft.com/office/drawing/2014/main" id="{13D7FB6A-E6AB-4926-AE34-E0AC6B7D7E1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7DA1F16B-93A1-4B5E-AF09-F33E3290AD1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0" name="矩形 19">
            <a:hlinkClick r:id="" action="ppaction://noaction"/>
            <a:extLst>
              <a:ext uri="{FF2B5EF4-FFF2-40B4-BE49-F238E27FC236}">
                <a16:creationId xmlns:a16="http://schemas.microsoft.com/office/drawing/2014/main" id="{4D7C8C5D-BCFA-4BAC-9CB7-30021D2B094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Tree>
    <p:extLst>
      <p:ext uri="{BB962C8B-B14F-4D97-AF65-F5344CB8AC3E}">
        <p14:creationId xmlns:p14="http://schemas.microsoft.com/office/powerpoint/2010/main" val="9849469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507288" cy="4500562"/>
          </a:xfrm>
        </p:spPr>
        <p:txBody>
          <a:bodyPr/>
          <a:lstStyle/>
          <a:p>
            <a:r>
              <a:rPr lang="zh-CN" altLang="en-US" dirty="0"/>
              <a:t>在函数的参数表中将形参说明为指针变量</a:t>
            </a:r>
            <a:endParaRPr lang="en-US" altLang="zh-CN" dirty="0"/>
          </a:p>
          <a:p>
            <a:pPr lvl="1"/>
            <a:r>
              <a:rPr lang="zh-CN" altLang="en-US" dirty="0"/>
              <a:t>函数调用表达式的实参可以是地址表达式</a:t>
            </a:r>
            <a:endParaRPr lang="en-US" altLang="zh-CN" dirty="0"/>
          </a:p>
          <a:p>
            <a:pPr lvl="2"/>
            <a:r>
              <a:rPr lang="zh-CN" altLang="en-US" dirty="0"/>
              <a:t>数组名</a:t>
            </a:r>
            <a:endParaRPr lang="en-US" altLang="zh-CN" dirty="0"/>
          </a:p>
          <a:p>
            <a:pPr lvl="2"/>
            <a:r>
              <a:rPr lang="zh-CN" altLang="en-US" dirty="0"/>
              <a:t>指针变量</a:t>
            </a:r>
            <a:endParaRPr lang="en-US" altLang="zh-CN" dirty="0"/>
          </a:p>
          <a:p>
            <a:pPr lvl="2"/>
            <a:r>
              <a:rPr lang="zh-CN" altLang="en-US" dirty="0"/>
              <a:t>字符串字面值常量</a:t>
            </a:r>
            <a:endParaRPr lang="en-US" altLang="zh-CN" dirty="0"/>
          </a:p>
          <a:p>
            <a:pPr lvl="2"/>
            <a:r>
              <a:rPr lang="zh-CN" altLang="en-US" dirty="0"/>
              <a:t>取地址表达式（</a:t>
            </a:r>
            <a:r>
              <a:rPr lang="en-US" altLang="zh-CN" dirty="0"/>
              <a:t>&amp;</a:t>
            </a:r>
            <a:r>
              <a:rPr lang="zh-CN" altLang="en-US" dirty="0"/>
              <a:t>）</a:t>
            </a:r>
            <a:endParaRPr lang="en-US" altLang="zh-CN" dirty="0"/>
          </a:p>
          <a:p>
            <a:pPr lvl="1"/>
            <a:r>
              <a:rPr lang="zh-CN" altLang="en-US" dirty="0"/>
              <a:t>函数调用时，将作为实参的地址表达式的值，</a:t>
            </a:r>
            <a:r>
              <a:rPr lang="zh-CN" altLang="en-US" dirty="0">
                <a:solidFill>
                  <a:srgbClr val="FF0000"/>
                </a:solidFill>
              </a:rPr>
              <a:t>赋值</a:t>
            </a:r>
            <a:r>
              <a:rPr lang="zh-CN" altLang="en-US" dirty="0"/>
              <a:t>给指针形参，在被调函数中形参指向实参的地址进行相关的计算，从而将对实参的操作反映到主调函数中</a:t>
            </a:r>
            <a:endParaRPr lang="en-US" altLang="zh-CN" dirty="0"/>
          </a:p>
          <a:p>
            <a:pPr lvl="2"/>
            <a:r>
              <a:rPr lang="zh-CN" altLang="en-US" dirty="0"/>
              <a:t>指针作为函数的参数，实质是“赋值调用”，但是由于赋的值是“</a:t>
            </a:r>
            <a:r>
              <a:rPr lang="zh-CN" altLang="en-US" dirty="0">
                <a:solidFill>
                  <a:srgbClr val="FF0000"/>
                </a:solidFill>
              </a:rPr>
              <a:t>地址</a:t>
            </a:r>
            <a:r>
              <a:rPr lang="zh-CN" altLang="en-US" dirty="0"/>
              <a:t>”，因此，起到了传递地址的功能，属于“</a:t>
            </a:r>
            <a:r>
              <a:rPr lang="zh-CN" altLang="en-US" dirty="0">
                <a:solidFill>
                  <a:srgbClr val="FF0000"/>
                </a:solidFill>
              </a:rPr>
              <a:t>双向传值</a:t>
            </a:r>
            <a:r>
              <a:rPr lang="zh-CN" altLang="en-US" dirty="0"/>
              <a:t>”</a:t>
            </a:r>
          </a:p>
        </p:txBody>
      </p:sp>
      <p:sp>
        <p:nvSpPr>
          <p:cNvPr id="3" name="标题 2"/>
          <p:cNvSpPr>
            <a:spLocks noGrp="1"/>
          </p:cNvSpPr>
          <p:nvPr>
            <p:ph type="title"/>
          </p:nvPr>
        </p:nvSpPr>
        <p:spPr/>
        <p:txBody>
          <a:bodyPr/>
          <a:lstStyle/>
          <a:p>
            <a:r>
              <a:rPr lang="zh-CN" altLang="en-US" dirty="0"/>
              <a:t>指针做参数的传递过程</a:t>
            </a:r>
          </a:p>
        </p:txBody>
      </p:sp>
      <p:sp>
        <p:nvSpPr>
          <p:cNvPr id="18" name="矩形 17">
            <a:hlinkClick r:id="" action="ppaction://noaction"/>
            <a:extLst>
              <a:ext uri="{FF2B5EF4-FFF2-40B4-BE49-F238E27FC236}">
                <a16:creationId xmlns:a16="http://schemas.microsoft.com/office/drawing/2014/main" id="{287EF24A-BD26-4874-944D-5B71A9E2385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9" name="矩形 18">
            <a:hlinkClick r:id="" action="ppaction://noaction"/>
            <a:extLst>
              <a:ext uri="{FF2B5EF4-FFF2-40B4-BE49-F238E27FC236}">
                <a16:creationId xmlns:a16="http://schemas.microsoft.com/office/drawing/2014/main" id="{5745AFE7-51CA-4B9B-8161-A1A3CE7AD87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460BABA2-1C80-48D8-BA44-E0E11F7B5B1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1" name="矩形 20">
            <a:hlinkClick r:id="" action="ppaction://noaction"/>
            <a:extLst>
              <a:ext uri="{FF2B5EF4-FFF2-40B4-BE49-F238E27FC236}">
                <a16:creationId xmlns:a16="http://schemas.microsoft.com/office/drawing/2014/main" id="{04A8FBE7-CF87-4C63-9D1B-F5C6B2CABF5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rId2" action="ppaction://hlinksldjump"/>
            <a:extLst>
              <a:ext uri="{FF2B5EF4-FFF2-40B4-BE49-F238E27FC236}">
                <a16:creationId xmlns:a16="http://schemas.microsoft.com/office/drawing/2014/main" id="{FC7E0D10-261B-40BD-B11E-160CC49D17C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5A8165DA-F28E-4F84-9AB4-AB3FABC681F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69975FFB-C8AF-44D0-8774-C62E14DD2C0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3" name="矩形 22">
            <a:hlinkClick r:id="" action="ppaction://noaction"/>
            <a:extLst>
              <a:ext uri="{FF2B5EF4-FFF2-40B4-BE49-F238E27FC236}">
                <a16:creationId xmlns:a16="http://schemas.microsoft.com/office/drawing/2014/main" id="{ADD3078E-2679-43EE-9165-E1E0C747F2D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9994856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4998C13-C12B-4B7C-9CF6-1ED39427EAF3}"/>
              </a:ext>
            </a:extLst>
          </p:cNvPr>
          <p:cNvSpPr>
            <a:spLocks noGrp="1"/>
          </p:cNvSpPr>
          <p:nvPr>
            <p:ph type="title"/>
          </p:nvPr>
        </p:nvSpPr>
        <p:spPr/>
        <p:txBody>
          <a:bodyPr/>
          <a:lstStyle/>
          <a:p>
            <a:r>
              <a:rPr lang="zh-CN" altLang="en-US" dirty="0"/>
              <a:t>指针的引用做函数的参数</a:t>
            </a:r>
          </a:p>
        </p:txBody>
      </p:sp>
      <p:sp>
        <p:nvSpPr>
          <p:cNvPr id="4" name="矩形 3">
            <a:extLst>
              <a:ext uri="{FF2B5EF4-FFF2-40B4-BE49-F238E27FC236}">
                <a16:creationId xmlns:a16="http://schemas.microsoft.com/office/drawing/2014/main" id="{8BA0A5FD-9493-4AD7-AF04-FCCBEDB150E6}"/>
              </a:ext>
            </a:extLst>
          </p:cNvPr>
          <p:cNvSpPr/>
          <p:nvPr/>
        </p:nvSpPr>
        <p:spPr>
          <a:xfrm>
            <a:off x="457200" y="1859280"/>
            <a:ext cx="8229600" cy="4708981"/>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swap(</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*&amp;</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*&amp;</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*temp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   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   y</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temp;</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 5, b = 10;</a:t>
            </a: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 = &amp;a, *pb = &amp;b;</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swap(</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pa,pb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"*pa="</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*pa</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"*pb="</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*p</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11" name="矩形 10">
            <a:hlinkClick r:id="" action="ppaction://noaction"/>
            <a:extLst>
              <a:ext uri="{FF2B5EF4-FFF2-40B4-BE49-F238E27FC236}">
                <a16:creationId xmlns:a16="http://schemas.microsoft.com/office/drawing/2014/main" id="{827619FC-BCA2-4B79-B13A-739EEE62F2E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2" name="矩形 11">
            <a:hlinkClick r:id="" action="ppaction://noaction"/>
            <a:extLst>
              <a:ext uri="{FF2B5EF4-FFF2-40B4-BE49-F238E27FC236}">
                <a16:creationId xmlns:a16="http://schemas.microsoft.com/office/drawing/2014/main" id="{215806B2-0AA3-4ACC-8F00-63C05479727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260E92FC-AA07-40B4-8724-A24029E7587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14" name="矩形 13">
            <a:hlinkClick r:id="" action="ppaction://noaction"/>
            <a:extLst>
              <a:ext uri="{FF2B5EF4-FFF2-40B4-BE49-F238E27FC236}">
                <a16:creationId xmlns:a16="http://schemas.microsoft.com/office/drawing/2014/main" id="{A64E90A4-B66A-4AD1-90E4-3FED182E408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rId2" action="ppaction://hlinksldjump"/>
            <a:extLst>
              <a:ext uri="{FF2B5EF4-FFF2-40B4-BE49-F238E27FC236}">
                <a16:creationId xmlns:a16="http://schemas.microsoft.com/office/drawing/2014/main" id="{0E905567-8B3B-4486-8062-8086ABB06CF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F16D0F52-B466-4B3A-81FD-5F2821644E7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8B072395-0031-4006-9703-B951D1A0B3A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8" name="矩形 17">
            <a:hlinkClick r:id="" action="ppaction://noaction"/>
            <a:extLst>
              <a:ext uri="{FF2B5EF4-FFF2-40B4-BE49-F238E27FC236}">
                <a16:creationId xmlns:a16="http://schemas.microsoft.com/office/drawing/2014/main" id="{3B386356-4AAF-48C5-B9B7-A933855852D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40889713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C84C989-A893-4535-9F47-736449B600C3}"/>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若函数形参是指针变量，则对应的实参（      ）</a:t>
            </a:r>
          </a:p>
        </p:txBody>
      </p:sp>
      <p:sp>
        <p:nvSpPr>
          <p:cNvPr id="7" name="文本框 6">
            <a:extLst>
              <a:ext uri="{FF2B5EF4-FFF2-40B4-BE49-F238E27FC236}">
                <a16:creationId xmlns:a16="http://schemas.microsoft.com/office/drawing/2014/main" id="{CE8044FE-04FD-44CE-BC47-D053F99F6974}"/>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只能是指针</a:t>
            </a:r>
          </a:p>
        </p:txBody>
      </p:sp>
      <p:sp>
        <p:nvSpPr>
          <p:cNvPr id="8" name="文本框 7">
            <a:extLst>
              <a:ext uri="{FF2B5EF4-FFF2-40B4-BE49-F238E27FC236}">
                <a16:creationId xmlns:a16="http://schemas.microsoft.com/office/drawing/2014/main" id="{4AA3AADD-AEDE-4988-8D5D-912FB2063F19}"/>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只能是数组名</a:t>
            </a:r>
          </a:p>
        </p:txBody>
      </p:sp>
      <p:sp>
        <p:nvSpPr>
          <p:cNvPr id="9" name="文本框 8">
            <a:extLst>
              <a:ext uri="{FF2B5EF4-FFF2-40B4-BE49-F238E27FC236}">
                <a16:creationId xmlns:a16="http://schemas.microsoft.com/office/drawing/2014/main" id="{F460C1CB-4766-4E05-A16D-BF24BA479BCF}"/>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可以是指针或数组名</a:t>
            </a:r>
          </a:p>
        </p:txBody>
      </p:sp>
      <p:sp>
        <p:nvSpPr>
          <p:cNvPr id="10" name="文本框 9">
            <a:extLst>
              <a:ext uri="{FF2B5EF4-FFF2-40B4-BE49-F238E27FC236}">
                <a16:creationId xmlns:a16="http://schemas.microsoft.com/office/drawing/2014/main" id="{DBB78530-7818-42BC-9C09-A29C6D96693E}"/>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任何类型的数据</a:t>
            </a:r>
          </a:p>
        </p:txBody>
      </p:sp>
      <p:sp>
        <p:nvSpPr>
          <p:cNvPr id="11" name="椭圆 10">
            <a:extLst>
              <a:ext uri="{FF2B5EF4-FFF2-40B4-BE49-F238E27FC236}">
                <a16:creationId xmlns:a16="http://schemas.microsoft.com/office/drawing/2014/main" id="{5E019DAA-F42A-40AB-BBC6-88171A5FAAEF}"/>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4DFFACEF-CD3E-4AC7-8E23-2AA9D8CCD720}"/>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A280EDEE-8304-4EDA-907B-AEBC7DA603E6}"/>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C5AD8F5D-39CC-41AE-87C3-6667CE0190C4}"/>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9C2DA6B5-E61D-4811-B923-372D339E0532}"/>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BB7B158C-3BA1-4D79-B209-C66F5D188049}"/>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2EC1CD78-A08E-428F-9D69-EFB523B36D98}"/>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17F04D44-C287-4AC5-80B2-868D9A97AB54}"/>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1FF3C489-9374-4042-AF7B-BA9A2111F90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AD4BC2E0-B4F6-46FD-A726-2C195AD24FD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F1A9DEE8-E601-47FE-996E-6F32F1B3049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995634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8" name="标题 4">
            <a:extLst>
              <a:ext uri="{FF2B5EF4-FFF2-40B4-BE49-F238E27FC236}">
                <a16:creationId xmlns:a16="http://schemas.microsoft.com/office/drawing/2014/main" id="{8BEF0B19-5D43-4C96-9DF5-1CA4D049426C}"/>
              </a:ext>
            </a:extLst>
          </p:cNvPr>
          <p:cNvSpPr>
            <a:spLocks noGrp="1"/>
          </p:cNvSpPr>
          <p:nvPr>
            <p:ph type="ctrTitle"/>
          </p:nvPr>
        </p:nvSpPr>
        <p:spPr>
          <a:xfrm>
            <a:off x="714348" y="2000240"/>
            <a:ext cx="7715304" cy="1928826"/>
          </a:xfrm>
        </p:spPr>
        <p:txBody>
          <a:bodyPr/>
          <a:lstStyle/>
          <a:p>
            <a:r>
              <a:rPr lang="zh-CN" altLang="en-US" dirty="0"/>
              <a:t>函数返回指针</a:t>
            </a:r>
          </a:p>
        </p:txBody>
      </p:sp>
      <p:sp>
        <p:nvSpPr>
          <p:cNvPr id="10" name="TextBox 8">
            <a:extLst>
              <a:ext uri="{FF2B5EF4-FFF2-40B4-BE49-F238E27FC236}">
                <a16:creationId xmlns:a16="http://schemas.microsoft.com/office/drawing/2014/main" id="{B743DC20-20E4-46DA-82C4-7B73475F8AE2}"/>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7" name="图片 6">
            <a:extLst>
              <a:ext uri="{FF2B5EF4-FFF2-40B4-BE49-F238E27FC236}">
                <a16:creationId xmlns:a16="http://schemas.microsoft.com/office/drawing/2014/main" id="{B887A3B5-24CD-4D0E-AAC0-E245EB1A2769}"/>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9" name="图片 8">
            <a:extLst>
              <a:ext uri="{FF2B5EF4-FFF2-40B4-BE49-F238E27FC236}">
                <a16:creationId xmlns:a16="http://schemas.microsoft.com/office/drawing/2014/main" id="{157613E4-D28B-4C1D-9AFD-7F1AEF18E9F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307838835"/>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函数返回指针</a:t>
            </a:r>
          </a:p>
        </p:txBody>
      </p:sp>
      <p:sp>
        <p:nvSpPr>
          <p:cNvPr id="3" name="内容占位符 2"/>
          <p:cNvSpPr>
            <a:spLocks noGrp="1"/>
          </p:cNvSpPr>
          <p:nvPr>
            <p:ph idx="1"/>
          </p:nvPr>
        </p:nvSpPr>
        <p:spPr/>
        <p:txBody>
          <a:bodyPr/>
          <a:lstStyle/>
          <a:p>
            <a:r>
              <a:rPr lang="zh-CN" altLang="en-US" dirty="0"/>
              <a:t>返回值类型为指针类型</a:t>
            </a:r>
            <a:endParaRPr lang="en-US" altLang="zh-CN" dirty="0"/>
          </a:p>
          <a:p>
            <a:pPr lvl="1"/>
            <a:r>
              <a:rPr lang="zh-CN" altLang="en-US" dirty="0"/>
              <a:t>返回值为指针的函数称为指针型函数，其返回类型的说明应在类型名后加“*”符号</a:t>
            </a:r>
            <a:endParaRPr lang="en-US" altLang="zh-CN" dirty="0"/>
          </a:p>
          <a:p>
            <a:pPr lvl="1"/>
            <a:r>
              <a:rPr lang="zh-CN" altLang="en-US" dirty="0"/>
              <a:t>说明格式：</a:t>
            </a:r>
            <a:endParaRPr lang="en-US" altLang="zh-CN" dirty="0"/>
          </a:p>
          <a:p>
            <a:pPr lvl="1">
              <a:buNone/>
            </a:pPr>
            <a:r>
              <a:rPr lang="zh-CN" altLang="en-US" dirty="0">
                <a:solidFill>
                  <a:schemeClr val="tx2"/>
                </a:solidFill>
                <a:latin typeface="Courier New" pitchFamily="49" charset="0"/>
                <a:cs typeface="Courier New" pitchFamily="49" charset="0"/>
              </a:rPr>
              <a:t>&lt;类型名&gt; * &lt;函数名&gt;( &lt;形参表&gt; );</a:t>
            </a:r>
            <a:endParaRPr lang="en-US" altLang="zh-CN" dirty="0">
              <a:solidFill>
                <a:schemeClr val="tx2"/>
              </a:solidFill>
              <a:latin typeface="Courier New" pitchFamily="49" charset="0"/>
              <a:cs typeface="Courier New" pitchFamily="49" charset="0"/>
            </a:endParaRPr>
          </a:p>
          <a:p>
            <a:pPr algn="just">
              <a:lnSpc>
                <a:spcPct val="85000"/>
              </a:lnSpc>
              <a:buNone/>
            </a:pPr>
            <a:r>
              <a:rPr lang="en-US" altLang="zh-CN" sz="2800" dirty="0">
                <a:solidFill>
                  <a:srgbClr val="C00000"/>
                </a:solidFill>
              </a:rPr>
              <a:t>	【</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lgn="just">
              <a:lnSpc>
                <a:spcPct val="85000"/>
              </a:lnSpc>
              <a:buNone/>
            </a:pPr>
            <a:r>
              <a:rPr lang="zh-CN" altLang="en-US" sz="2800" dirty="0">
                <a:solidFill>
                  <a:srgbClr val="0000FF"/>
                </a:solidFill>
              </a:rPr>
              <a:t>    </a:t>
            </a:r>
            <a:r>
              <a:rPr lang="en-US" altLang="zh-CN" sz="2800" dirty="0">
                <a:solidFill>
                  <a:srgbClr val="0000FF"/>
                </a:solidFill>
              </a:rPr>
              <a:t>	</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 f();</a:t>
            </a:r>
          </a:p>
          <a:p>
            <a:pPr algn="just">
              <a:lnSpc>
                <a:spcPct val="85000"/>
              </a:lnSpc>
              <a:buNone/>
            </a:pPr>
            <a:r>
              <a:rPr lang="en-US" altLang="zh-CN" sz="2800" dirty="0">
                <a:solidFill>
                  <a:srgbClr val="0000FF"/>
                </a:solidFill>
              </a:rPr>
              <a:t>	 	</a:t>
            </a:r>
            <a:r>
              <a:rPr lang="en-US" altLang="zh-CN" sz="2800" dirty="0">
                <a:solidFill>
                  <a:srgbClr val="00B050"/>
                </a:solidFill>
                <a:latin typeface="Courier New" pitchFamily="49" charset="0"/>
                <a:cs typeface="Courier New" pitchFamily="49" charset="0"/>
              </a:rPr>
              <a:t>//f</a:t>
            </a:r>
            <a:r>
              <a:rPr lang="zh-CN" altLang="en-US" sz="2800" dirty="0">
                <a:solidFill>
                  <a:srgbClr val="00B050"/>
                </a:solidFill>
                <a:latin typeface="Courier New" pitchFamily="49" charset="0"/>
                <a:cs typeface="Courier New" pitchFamily="49" charset="0"/>
              </a:rPr>
              <a:t>为无参函数，其返回值类型</a:t>
            </a:r>
          </a:p>
          <a:p>
            <a:pPr algn="just">
              <a:lnSpc>
                <a:spcPct val="85000"/>
              </a:lnSpc>
              <a:buNone/>
            </a:pPr>
            <a:r>
              <a:rPr lang="zh-CN" altLang="en-US" sz="2800" dirty="0">
                <a:solidFill>
                  <a:srgbClr val="00B050"/>
                </a:solidFill>
                <a:latin typeface="Courier New" pitchFamily="49" charset="0"/>
                <a:cs typeface="Courier New" pitchFamily="49" charset="0"/>
              </a:rPr>
              <a:t>	</a:t>
            </a:r>
            <a:r>
              <a:rPr lang="en-US" altLang="zh-CN" sz="2800" dirty="0">
                <a:solidFill>
                  <a:srgbClr val="00B050"/>
                </a:solidFill>
                <a:latin typeface="Courier New" pitchFamily="49" charset="0"/>
                <a:cs typeface="Courier New" pitchFamily="49" charset="0"/>
              </a:rPr>
              <a:t>	</a:t>
            </a:r>
            <a:r>
              <a:rPr lang="zh-CN" altLang="en-US" sz="2800" dirty="0">
                <a:solidFill>
                  <a:srgbClr val="00B050"/>
                </a:solidFill>
                <a:latin typeface="Courier New" pitchFamily="49" charset="0"/>
                <a:cs typeface="Courier New" pitchFamily="49" charset="0"/>
              </a:rPr>
              <a:t>//为</a:t>
            </a:r>
            <a:r>
              <a:rPr lang="en-US" altLang="zh-CN" sz="2800" dirty="0" err="1">
                <a:solidFill>
                  <a:srgbClr val="00B050"/>
                </a:solidFill>
                <a:latin typeface="Courier New" pitchFamily="49" charset="0"/>
                <a:cs typeface="Courier New" pitchFamily="49" charset="0"/>
              </a:rPr>
              <a:t>int</a:t>
            </a:r>
            <a:r>
              <a:rPr lang="en-US" altLang="zh-CN" sz="2800" dirty="0">
                <a:solidFill>
                  <a:srgbClr val="00B050"/>
                </a:solidFill>
                <a:latin typeface="Courier New" pitchFamily="49" charset="0"/>
                <a:cs typeface="Courier New" pitchFamily="49" charset="0"/>
              </a:rPr>
              <a:t>*，</a:t>
            </a:r>
            <a:r>
              <a:rPr lang="zh-CN" altLang="en-US" sz="2800" dirty="0">
                <a:solidFill>
                  <a:srgbClr val="00B050"/>
                </a:solidFill>
                <a:latin typeface="Courier New" pitchFamily="49" charset="0"/>
                <a:cs typeface="Courier New" pitchFamily="49" charset="0"/>
              </a:rPr>
              <a:t>即指针类型。</a:t>
            </a:r>
            <a:endParaRPr lang="zh-CN" altLang="en-US" dirty="0">
              <a:solidFill>
                <a:srgbClr val="00B050"/>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rId2" action="ppaction://hlinksldjump"/>
            <a:extLst>
              <a:ext uri="{FF2B5EF4-FFF2-40B4-BE49-F238E27FC236}">
                <a16:creationId xmlns:a16="http://schemas.microsoft.com/office/drawing/2014/main" id="{9CF49F28-01A0-42EC-B967-280EDE4595A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5BC6CCA2-7D2E-4315-9E1E-61ECA4ECEBE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FA39FE5A-0A6D-4386-93AC-BD8422D78CE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7" name="矩形 16">
            <a:hlinkClick r:id="" action="ppaction://noaction"/>
            <a:extLst>
              <a:ext uri="{FF2B5EF4-FFF2-40B4-BE49-F238E27FC236}">
                <a16:creationId xmlns:a16="http://schemas.microsoft.com/office/drawing/2014/main" id="{E05C6BDD-C6DF-4E9C-A0F4-62144D1BAFD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393696726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4340" y="1052736"/>
            <a:ext cx="8795320" cy="532859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6.12】</a:t>
            </a:r>
            <a:r>
              <a:rPr lang="zh-CN" altLang="en-US" dirty="0">
                <a:solidFill>
                  <a:srgbClr val="C00000"/>
                </a:solidFill>
              </a:rPr>
              <a:t>函数返回指针示例</a:t>
            </a:r>
            <a:endParaRPr lang="en-US" altLang="zh-CN" dirty="0">
              <a:solidFill>
                <a:srgbClr val="C00000"/>
              </a:solidFill>
            </a:endParaRPr>
          </a:p>
          <a:p>
            <a:pPr>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spcBef>
                <a:spcPts val="0"/>
              </a:spcBef>
              <a:buNone/>
            </a:pPr>
            <a:r>
              <a:rPr lang="en-US" altLang="zh-CN" sz="2200" b="1" dirty="0">
                <a:solidFill>
                  <a:srgbClr val="0000FF"/>
                </a:solidFill>
                <a:latin typeface="Courier New" pitchFamily="49" charset="0"/>
                <a:cs typeface="Courier New" pitchFamily="49" charset="0"/>
              </a:rPr>
              <a:t>using namespace </a:t>
            </a:r>
            <a:r>
              <a:rPr lang="en-US" altLang="zh-CN" sz="2200" b="1" dirty="0">
                <a:latin typeface="Courier New" pitchFamily="49" charset="0"/>
                <a:cs typeface="Courier New" pitchFamily="49" charset="0"/>
              </a:rPr>
              <a:t>std;</a:t>
            </a:r>
          </a:p>
          <a:p>
            <a:pPr>
              <a:spcBef>
                <a:spcPts val="0"/>
              </a:spcBef>
              <a:buNone/>
            </a:pPr>
            <a:r>
              <a:rPr lang="en-US" altLang="zh-CN" sz="2200" b="1" dirty="0">
                <a:solidFill>
                  <a:srgbClr val="0000FF"/>
                </a:solidFill>
                <a:latin typeface="Courier New" pitchFamily="49" charset="0"/>
                <a:cs typeface="Courier New" pitchFamily="49" charset="0"/>
              </a:rPr>
              <a:t>const 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*menu[]={"</a:t>
            </a:r>
            <a:r>
              <a:rPr lang="en-US" altLang="zh-CN" sz="2200" b="1" dirty="0" err="1">
                <a:latin typeface="Courier New" pitchFamily="49" charset="0"/>
                <a:cs typeface="Courier New" pitchFamily="49" charset="0"/>
              </a:rPr>
              <a:t>Error!","File","Edit","Search","Help</a:t>
            </a:r>
            <a:r>
              <a:rPr lang="en-US" altLang="zh-CN" sz="2200" b="1" dirty="0">
                <a:latin typeface="Courier New" pitchFamily="49" charset="0"/>
                <a:cs typeface="Courier New" pitchFamily="49" charset="0"/>
              </a:rPr>
              <a:t>"};</a:t>
            </a:r>
            <a:r>
              <a:rPr lang="en-US" altLang="zh-CN" sz="2200" b="1" dirty="0">
                <a:solidFill>
                  <a:schemeClr val="tx2"/>
                </a:solidFill>
                <a:latin typeface="Courier New" pitchFamily="49" charset="0"/>
                <a:cs typeface="Courier New" pitchFamily="49" charset="0"/>
              </a:rPr>
              <a:t> </a:t>
            </a:r>
          </a:p>
          <a:p>
            <a:pPr>
              <a:spcBef>
                <a:spcPts val="0"/>
              </a:spcBef>
              <a:buNone/>
            </a:pPr>
            <a:r>
              <a:rPr lang="en-US" altLang="zh-CN" sz="2200" b="1" dirty="0">
                <a:solidFill>
                  <a:srgbClr val="0000FF"/>
                </a:solidFill>
                <a:latin typeface="Courier New" pitchFamily="49" charset="0"/>
                <a:cs typeface="Courier New" pitchFamily="49" charset="0"/>
              </a:rPr>
              <a:t>const 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menuitem</a:t>
            </a:r>
            <a:r>
              <a:rPr lang="en-US" altLang="zh-CN" sz="2200" b="1" dirty="0">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a:t>
            </a:r>
            <a:endParaRPr lang="zh-CN" altLang="en-US" sz="2200" b="1" dirty="0">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latin typeface="Courier New" pitchFamily="49" charset="0"/>
                <a:cs typeface="Courier New" pitchFamily="49" charset="0"/>
              </a:rPr>
              <a:t>(m&lt;1 || m&gt;4)?menu[0]:menu[m];</a:t>
            </a:r>
            <a:r>
              <a:rPr lang="zh-CN" altLang="en-US" sz="2200" b="1" dirty="0">
                <a:latin typeface="Courier New" pitchFamily="49" charset="0"/>
                <a:cs typeface="Courier New" pitchFamily="49" charset="0"/>
              </a:rPr>
              <a:t> </a:t>
            </a:r>
            <a:endParaRPr lang="en-US" altLang="zh-CN" sz="2200" b="1" dirty="0">
              <a:latin typeface="Courier New" pitchFamily="49" charset="0"/>
              <a:cs typeface="Courier New" pitchFamily="49" charset="0"/>
            </a:endParaRPr>
          </a:p>
          <a:p>
            <a:pPr>
              <a:spcBef>
                <a:spcPts val="0"/>
              </a:spcBef>
              <a:buNone/>
            </a:pPr>
            <a:r>
              <a:rPr lang="en-US" altLang="zh-CN" sz="2200" b="1" dirty="0">
                <a:latin typeface="Courier New" pitchFamily="49" charset="0"/>
                <a:cs typeface="Courier New" pitchFamily="49" charset="0"/>
              </a:rPr>
              <a:t>};</a:t>
            </a:r>
          </a:p>
          <a:p>
            <a:pPr>
              <a:spcBef>
                <a:spcPts val="0"/>
              </a:spcBef>
              <a:buNone/>
            </a:pP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main(){</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cin</a:t>
            </a:r>
            <a:r>
              <a:rPr lang="en-US" altLang="zh-CN" sz="2200" b="1" dirty="0">
                <a:latin typeface="Courier New" pitchFamily="49" charset="0"/>
                <a:cs typeface="Courier New" pitchFamily="49" charset="0"/>
              </a:rPr>
              <a:t>&gt;&gt;x;</a:t>
            </a:r>
          </a:p>
          <a:p>
            <a:pPr>
              <a:spcBef>
                <a:spcPts val="0"/>
              </a:spcBef>
              <a:buNone/>
            </a:pPr>
            <a:r>
              <a:rPr lang="en-US" altLang="zh-CN" sz="2200" b="1" dirty="0">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const 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*c = </a:t>
            </a:r>
            <a:r>
              <a:rPr lang="en-US" altLang="zh-CN" sz="2200" b="1" dirty="0" err="1">
                <a:latin typeface="Courier New" pitchFamily="49" charset="0"/>
                <a:cs typeface="Courier New" pitchFamily="49" charset="0"/>
              </a:rPr>
              <a:t>menuitem</a:t>
            </a:r>
            <a:r>
              <a:rPr lang="en-US" altLang="zh-CN" sz="2200" b="1" dirty="0">
                <a:latin typeface="Courier New" pitchFamily="49" charset="0"/>
                <a:cs typeface="Courier New" pitchFamily="49" charset="0"/>
              </a:rPr>
              <a:t>(x);</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&lt;&lt;c&lt;&lt;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0;</a:t>
            </a:r>
          </a:p>
          <a:p>
            <a:pPr>
              <a:spcBef>
                <a:spcPts val="0"/>
              </a:spcBef>
              <a:buNone/>
            </a:pPr>
            <a:r>
              <a:rPr lang="en-US" altLang="zh-CN" sz="2200" b="1" dirty="0">
                <a:latin typeface="Courier New" pitchFamily="49" charset="0"/>
                <a:cs typeface="Courier New" pitchFamily="49" charset="0"/>
              </a:rPr>
              <a:t>}</a:t>
            </a:r>
            <a:r>
              <a:rPr lang="zh-CN" altLang="en-US" sz="2200" b="1" dirty="0"/>
              <a:t> </a:t>
            </a:r>
          </a:p>
          <a:p>
            <a:pPr lvl="1">
              <a:buNone/>
            </a:pPr>
            <a:endParaRPr lang="zh-CN" altLang="en-US" dirty="0"/>
          </a:p>
        </p:txBody>
      </p:sp>
      <p:sp>
        <p:nvSpPr>
          <p:cNvPr id="19" name="矩形 18">
            <a:hlinkClick r:id="" action="ppaction://noaction"/>
            <a:extLst>
              <a:ext uri="{FF2B5EF4-FFF2-40B4-BE49-F238E27FC236}">
                <a16:creationId xmlns:a16="http://schemas.microsoft.com/office/drawing/2014/main" id="{FF709909-FDDA-4085-A7B6-E4A673FA4FF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20" name="矩形 19">
            <a:hlinkClick r:id="" action="ppaction://noaction"/>
            <a:extLst>
              <a:ext uri="{FF2B5EF4-FFF2-40B4-BE49-F238E27FC236}">
                <a16:creationId xmlns:a16="http://schemas.microsoft.com/office/drawing/2014/main" id="{0E3492BF-A045-415A-910E-29420F7FC03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BD4FFBB1-649D-4B50-B4E8-2BDE7103C82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2" name="矩形 21">
            <a:hlinkClick r:id="" action="ppaction://noaction"/>
            <a:extLst>
              <a:ext uri="{FF2B5EF4-FFF2-40B4-BE49-F238E27FC236}">
                <a16:creationId xmlns:a16="http://schemas.microsoft.com/office/drawing/2014/main" id="{AF02B234-8382-41F0-9BBD-EE323D06029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rId2" action="ppaction://hlinksldjump"/>
            <a:extLst>
              <a:ext uri="{FF2B5EF4-FFF2-40B4-BE49-F238E27FC236}">
                <a16:creationId xmlns:a16="http://schemas.microsoft.com/office/drawing/2014/main" id="{9541EB36-0AF6-4729-99ED-C53364C6DE7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C3D62FD0-F1BE-40D4-A8A0-35B546A621B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A3FC4B16-830D-47E6-842E-A50E3752E11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7" name="矩形 16">
            <a:hlinkClick r:id="" action="ppaction://noaction"/>
            <a:extLst>
              <a:ext uri="{FF2B5EF4-FFF2-40B4-BE49-F238E27FC236}">
                <a16:creationId xmlns:a16="http://schemas.microsoft.com/office/drawing/2014/main" id="{097C5398-F42C-4616-A521-3107B303392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351921362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02013BD-3B49-4747-99A3-6EF31B8AC7FD}"/>
              </a:ext>
            </a:extLst>
          </p:cNvPr>
          <p:cNvSpPr>
            <a:spLocks noGrp="1"/>
          </p:cNvSpPr>
          <p:nvPr>
            <p:ph idx="1"/>
          </p:nvPr>
        </p:nvSpPr>
        <p:spPr/>
        <p:txBody>
          <a:bodyPr/>
          <a:lstStyle/>
          <a:p>
            <a:r>
              <a:rPr lang="zh-CN" altLang="en-US" dirty="0"/>
              <a:t>函数返回值类型要保证一致性</a:t>
            </a:r>
            <a:endParaRPr lang="en-US" altLang="zh-CN" dirty="0"/>
          </a:p>
          <a:p>
            <a:pPr lvl="1"/>
            <a:r>
              <a:rPr lang="zh-CN" altLang="en-US" dirty="0"/>
              <a:t>函数返回值类型说明</a:t>
            </a:r>
            <a:endParaRPr lang="en-US" altLang="zh-CN" dirty="0"/>
          </a:p>
          <a:p>
            <a:pPr lvl="1"/>
            <a:r>
              <a:rPr lang="zh-CN" altLang="en-US" dirty="0"/>
              <a:t>函数中</a:t>
            </a:r>
            <a:r>
              <a:rPr lang="en-US" altLang="zh-CN" dirty="0"/>
              <a:t>return</a:t>
            </a:r>
            <a:r>
              <a:rPr lang="zh-CN" altLang="en-US" dirty="0"/>
              <a:t>后面的表达式</a:t>
            </a:r>
            <a:endParaRPr lang="en-US" altLang="zh-CN" dirty="0"/>
          </a:p>
          <a:p>
            <a:pPr lvl="1"/>
            <a:r>
              <a:rPr lang="zh-CN" altLang="en-US" dirty="0"/>
              <a:t>接收函数返回值的对象类型</a:t>
            </a:r>
            <a:endParaRPr lang="en-US" altLang="zh-CN" dirty="0"/>
          </a:p>
          <a:p>
            <a:r>
              <a:rPr lang="zh-CN" altLang="en-US" dirty="0"/>
              <a:t>返回的指针在该函数被调用的域内是</a:t>
            </a:r>
            <a:r>
              <a:rPr lang="zh-CN" altLang="en-US" dirty="0">
                <a:solidFill>
                  <a:srgbClr val="FF0000"/>
                </a:solidFill>
              </a:rPr>
              <a:t>有确切的地址</a:t>
            </a:r>
            <a:r>
              <a:rPr lang="zh-CN" altLang="en-US" dirty="0"/>
              <a:t>的。切不可返回指向函数体内说明的局部变量或参数变量的指针，或无指向的指针。</a:t>
            </a:r>
            <a:endParaRPr lang="en-US" altLang="zh-CN" dirty="0"/>
          </a:p>
          <a:p>
            <a:pPr lvl="1"/>
            <a:endParaRPr lang="zh-CN" altLang="en-US" dirty="0"/>
          </a:p>
        </p:txBody>
      </p:sp>
      <p:sp>
        <p:nvSpPr>
          <p:cNvPr id="3" name="标题 2">
            <a:extLst>
              <a:ext uri="{FF2B5EF4-FFF2-40B4-BE49-F238E27FC236}">
                <a16:creationId xmlns:a16="http://schemas.microsoft.com/office/drawing/2014/main" id="{93FE0F92-8D38-4545-8734-9C0A52139CEF}"/>
              </a:ext>
            </a:extLst>
          </p:cNvPr>
          <p:cNvSpPr>
            <a:spLocks noGrp="1"/>
          </p:cNvSpPr>
          <p:nvPr>
            <p:ph type="title"/>
          </p:nvPr>
        </p:nvSpPr>
        <p:spPr/>
        <p:txBody>
          <a:bodyPr/>
          <a:lstStyle/>
          <a:p>
            <a:r>
              <a:rPr lang="zh-CN" altLang="en-US" dirty="0"/>
              <a:t>函数返回指针</a:t>
            </a:r>
          </a:p>
        </p:txBody>
      </p:sp>
      <p:sp>
        <p:nvSpPr>
          <p:cNvPr id="18" name="矩形 17">
            <a:hlinkClick r:id="" action="ppaction://noaction"/>
            <a:extLst>
              <a:ext uri="{FF2B5EF4-FFF2-40B4-BE49-F238E27FC236}">
                <a16:creationId xmlns:a16="http://schemas.microsoft.com/office/drawing/2014/main" id="{D52E06A9-9376-4787-ABF7-D77130EB500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9" name="矩形 18">
            <a:hlinkClick r:id="" action="ppaction://noaction"/>
            <a:extLst>
              <a:ext uri="{FF2B5EF4-FFF2-40B4-BE49-F238E27FC236}">
                <a16:creationId xmlns:a16="http://schemas.microsoft.com/office/drawing/2014/main" id="{31BDC922-2C92-4514-8D05-A2813322D08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7422092D-3A45-47E3-AE85-2F4DF97B3C9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1" name="矩形 20">
            <a:hlinkClick r:id="" action="ppaction://noaction"/>
            <a:extLst>
              <a:ext uri="{FF2B5EF4-FFF2-40B4-BE49-F238E27FC236}">
                <a16:creationId xmlns:a16="http://schemas.microsoft.com/office/drawing/2014/main" id="{1960B4C4-7492-4C0C-AC70-85D521C726B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rId2" action="ppaction://hlinksldjump"/>
            <a:extLst>
              <a:ext uri="{FF2B5EF4-FFF2-40B4-BE49-F238E27FC236}">
                <a16:creationId xmlns:a16="http://schemas.microsoft.com/office/drawing/2014/main" id="{6D5816BA-96F4-4EF1-8889-B6F90EB35F1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3347FB1B-93E1-437C-A71F-693A11B2B60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40E959BD-AD52-4938-BE02-C537CE365AF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3" name="矩形 22">
            <a:hlinkClick r:id="" action="ppaction://noaction"/>
            <a:extLst>
              <a:ext uri="{FF2B5EF4-FFF2-40B4-BE49-F238E27FC236}">
                <a16:creationId xmlns:a16="http://schemas.microsoft.com/office/drawing/2014/main" id="{FEA182D3-E503-446F-93B2-B7AA6466959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7913114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C8D7D8A-0D0D-4CFF-8057-028818D5833D}"/>
              </a:ext>
            </a:extLst>
          </p:cNvPr>
          <p:cNvSpPr/>
          <p:nvPr/>
        </p:nvSpPr>
        <p:spPr>
          <a:xfrm>
            <a:off x="225316" y="966417"/>
            <a:ext cx="6071419" cy="5416868"/>
          </a:xfrm>
          <a:prstGeom prst="rect">
            <a:avLst/>
          </a:prstGeom>
        </p:spPr>
        <p:txBody>
          <a:bodyPr wrap="square">
            <a:spAutoFit/>
          </a:bodyPr>
          <a:lstStyle/>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16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num = 3;</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Func</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c[2 * num];</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j = 0;</a:t>
            </a:r>
          </a:p>
          <a:p>
            <a:r>
              <a:rPr lang="nn-NO"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nn-NO"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nn-NO"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nn-NO"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i = 0;i &lt; </a:t>
            </a:r>
            <a:r>
              <a:rPr lang="nn-NO"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n</a:t>
            </a:r>
            <a:r>
              <a:rPr lang="nn-NO"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c[j] =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c[j+1] = 2 * </a:t>
            </a:r>
            <a:r>
              <a:rPr lang="en-US" altLang="zh-CN" sz="16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a</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j += 2;</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return</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b[num] = { 1,2,3 };</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Func</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 num);</a:t>
            </a:r>
          </a:p>
          <a:p>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0;i &lt; 2*</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num;i</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16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16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1600" b="1" dirty="0">
              <a:latin typeface="Courier New" panose="02070309020205020404" pitchFamily="49" charset="0"/>
              <a:cs typeface="Courier New" panose="02070309020205020404" pitchFamily="49" charset="0"/>
            </a:endParaRPr>
          </a:p>
        </p:txBody>
      </p:sp>
      <p:pic>
        <p:nvPicPr>
          <p:cNvPr id="9" name="图片 8">
            <a:extLst>
              <a:ext uri="{FF2B5EF4-FFF2-40B4-BE49-F238E27FC236}">
                <a16:creationId xmlns:a16="http://schemas.microsoft.com/office/drawing/2014/main" id="{C5E9201E-B775-4474-904F-CFD15E14C6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572" y="4569046"/>
            <a:ext cx="7590178" cy="1600339"/>
          </a:xfrm>
          <a:prstGeom prst="rect">
            <a:avLst/>
          </a:prstGeom>
        </p:spPr>
      </p:pic>
      <p:pic>
        <p:nvPicPr>
          <p:cNvPr id="11" name="内容占位符 4">
            <a:extLst>
              <a:ext uri="{FF2B5EF4-FFF2-40B4-BE49-F238E27FC236}">
                <a16:creationId xmlns:a16="http://schemas.microsoft.com/office/drawing/2014/main" id="{6B7C3DA9-0FB7-4BFD-883D-229A45F4CD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5958481" y="1193564"/>
            <a:ext cx="2522842" cy="1997955"/>
          </a:xfrm>
          <a:prstGeom prst="rect">
            <a:avLst/>
          </a:prstGeom>
          <a:noFill/>
          <a:ln w="9525">
            <a:noFill/>
            <a:miter lim="800000"/>
            <a:headEnd/>
            <a:tailEnd/>
          </a:ln>
        </p:spPr>
      </p:pic>
      <p:sp>
        <p:nvSpPr>
          <p:cNvPr id="26" name="矩形 25">
            <a:hlinkClick r:id="" action="ppaction://noaction"/>
            <a:extLst>
              <a:ext uri="{FF2B5EF4-FFF2-40B4-BE49-F238E27FC236}">
                <a16:creationId xmlns:a16="http://schemas.microsoft.com/office/drawing/2014/main" id="{92DF9F9F-886C-4BC3-B5DF-EF27011D260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27" name="矩形 26">
            <a:hlinkClick r:id="" action="ppaction://noaction"/>
            <a:extLst>
              <a:ext uri="{FF2B5EF4-FFF2-40B4-BE49-F238E27FC236}">
                <a16:creationId xmlns:a16="http://schemas.microsoft.com/office/drawing/2014/main" id="{77182888-35CF-4F82-9B8E-8C43997EB93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8" name="矩形 27">
            <a:hlinkClick r:id="" action="ppaction://noaction"/>
            <a:extLst>
              <a:ext uri="{FF2B5EF4-FFF2-40B4-BE49-F238E27FC236}">
                <a16:creationId xmlns:a16="http://schemas.microsoft.com/office/drawing/2014/main" id="{6607B7A3-ED3C-4B36-BFD5-5FEA4F21E5F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9" name="矩形 28">
            <a:hlinkClick r:id="" action="ppaction://noaction"/>
            <a:extLst>
              <a:ext uri="{FF2B5EF4-FFF2-40B4-BE49-F238E27FC236}">
                <a16:creationId xmlns:a16="http://schemas.microsoft.com/office/drawing/2014/main" id="{3B53B20A-881D-4925-AAE0-6F14A6F81CD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rId5" action="ppaction://hlinksldjump"/>
            <a:extLst>
              <a:ext uri="{FF2B5EF4-FFF2-40B4-BE49-F238E27FC236}">
                <a16:creationId xmlns:a16="http://schemas.microsoft.com/office/drawing/2014/main" id="{E5333C3D-ADAA-4364-8783-CF4F15D38AB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2F979604-3373-4EE6-8912-F0EF508C7F7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06EC8029-2D29-467C-B215-DC037644C00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6" name="矩形 15">
            <a:hlinkClick r:id="" action="ppaction://noaction"/>
            <a:extLst>
              <a:ext uri="{FF2B5EF4-FFF2-40B4-BE49-F238E27FC236}">
                <a16:creationId xmlns:a16="http://schemas.microsoft.com/office/drawing/2014/main" id="{16C9A1A8-6A6D-42DC-87FA-7241857F7C2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custDataLst>
      <p:tags r:id="rId1"/>
    </p:custDataLst>
    <p:extLst>
      <p:ext uri="{BB962C8B-B14F-4D97-AF65-F5344CB8AC3E}">
        <p14:creationId xmlns:p14="http://schemas.microsoft.com/office/powerpoint/2010/main" val="129326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996BD52-D686-4C52-BBAF-E3C36855ED71}"/>
              </a:ext>
            </a:extLst>
          </p:cNvPr>
          <p:cNvSpPr>
            <a:spLocks noGrp="1"/>
          </p:cNvSpPr>
          <p:nvPr>
            <p:ph idx="1"/>
          </p:nvPr>
        </p:nvSpPr>
        <p:spPr>
          <a:xfrm>
            <a:off x="457200" y="1120877"/>
            <a:ext cx="8229600" cy="530849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6.13】</a:t>
            </a:r>
            <a:r>
              <a:rPr lang="zh-CN" altLang="en-US" dirty="0">
                <a:solidFill>
                  <a:srgbClr val="C00000"/>
                </a:solidFill>
              </a:rPr>
              <a:t>设计程序，实现如下功能：</a:t>
            </a:r>
            <a:endParaRPr lang="en-US" altLang="zh-CN" dirty="0">
              <a:solidFill>
                <a:srgbClr val="C00000"/>
              </a:solidFill>
            </a:endParaRPr>
          </a:p>
          <a:p>
            <a:pPr marL="0" indent="0">
              <a:buNone/>
            </a:pPr>
            <a:r>
              <a:rPr lang="zh-CN" altLang="en-US" dirty="0">
                <a:solidFill>
                  <a:srgbClr val="C00000"/>
                </a:solidFill>
              </a:rPr>
              <a:t>提示用户输入任意一个字符串，而后找到输入串中第一个'</a:t>
            </a:r>
            <a:r>
              <a:rPr lang="en-US" altLang="zh-CN" dirty="0">
                <a:solidFill>
                  <a:srgbClr val="C00000"/>
                </a:solidFill>
              </a:rPr>
              <a:t>a'</a:t>
            </a:r>
            <a:r>
              <a:rPr lang="zh-CN" altLang="en-US" dirty="0">
                <a:solidFill>
                  <a:srgbClr val="C00000"/>
                </a:solidFill>
              </a:rPr>
              <a:t>字符出现的位置(若有的话)，并输出从'</a:t>
            </a:r>
            <a:r>
              <a:rPr lang="en-US" altLang="zh-CN" dirty="0">
                <a:solidFill>
                  <a:srgbClr val="C00000"/>
                </a:solidFill>
              </a:rPr>
              <a:t>a'</a:t>
            </a:r>
            <a:r>
              <a:rPr lang="zh-CN" altLang="en-US" dirty="0">
                <a:solidFill>
                  <a:srgbClr val="C00000"/>
                </a:solidFill>
              </a:rPr>
              <a:t>字符开始的子串; 若输入串中不出现'</a:t>
            </a:r>
            <a:r>
              <a:rPr lang="en-US" altLang="zh-CN" dirty="0">
                <a:solidFill>
                  <a:srgbClr val="C00000"/>
                </a:solidFill>
              </a:rPr>
              <a:t>a'</a:t>
            </a:r>
            <a:r>
              <a:rPr lang="zh-CN" altLang="en-US" dirty="0">
                <a:solidFill>
                  <a:srgbClr val="C00000"/>
                </a:solidFill>
              </a:rPr>
              <a:t>字符的话, 输出 </a:t>
            </a:r>
            <a:r>
              <a:rPr lang="zh-CN" altLang="en-US" dirty="0">
                <a:solidFill>
                  <a:srgbClr val="C00000"/>
                </a:solidFill>
                <a:latin typeface="Times New Roman"/>
              </a:rPr>
              <a:t>“</a:t>
            </a:r>
            <a:r>
              <a:rPr lang="en-US" altLang="zh-CN" dirty="0">
                <a:solidFill>
                  <a:srgbClr val="C00000"/>
                </a:solidFill>
              </a:rPr>
              <a:t>No match found</a:t>
            </a:r>
            <a:r>
              <a:rPr lang="en-US" altLang="zh-CN" dirty="0">
                <a:solidFill>
                  <a:srgbClr val="C00000"/>
                </a:solidFill>
                <a:latin typeface="Times New Roman"/>
              </a:rPr>
              <a:t>”</a:t>
            </a:r>
            <a:r>
              <a:rPr lang="en-US" altLang="zh-CN" dirty="0">
                <a:solidFill>
                  <a:srgbClr val="C00000"/>
                </a:solidFill>
              </a:rPr>
              <a:t>。</a:t>
            </a:r>
          </a:p>
          <a:p>
            <a:pPr marL="0" indent="0">
              <a:buNone/>
            </a:pPr>
            <a:endParaRPr lang="zh-CN" altLang="en-US" dirty="0"/>
          </a:p>
        </p:txBody>
      </p:sp>
      <p:sp>
        <p:nvSpPr>
          <p:cNvPr id="11" name="矩形 10">
            <a:hlinkClick r:id="" action="ppaction://noaction"/>
            <a:extLst>
              <a:ext uri="{FF2B5EF4-FFF2-40B4-BE49-F238E27FC236}">
                <a16:creationId xmlns:a16="http://schemas.microsoft.com/office/drawing/2014/main" id="{51A43347-BA0B-41AE-9EAF-3A5D191DAFD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2" name="矩形 11">
            <a:hlinkClick r:id="" action="ppaction://noaction"/>
            <a:extLst>
              <a:ext uri="{FF2B5EF4-FFF2-40B4-BE49-F238E27FC236}">
                <a16:creationId xmlns:a16="http://schemas.microsoft.com/office/drawing/2014/main" id="{FD1ECBBF-D2BA-472E-9588-41EF172F3AA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898D8EAF-795F-4EC1-BBCF-36172928A0A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14" name="矩形 13">
            <a:hlinkClick r:id="" action="ppaction://noaction"/>
            <a:extLst>
              <a:ext uri="{FF2B5EF4-FFF2-40B4-BE49-F238E27FC236}">
                <a16:creationId xmlns:a16="http://schemas.microsoft.com/office/drawing/2014/main" id="{85D1D5C8-B6A4-4AD4-9CF8-BE2580B019D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rId2" action="ppaction://hlinksldjump"/>
            <a:extLst>
              <a:ext uri="{FF2B5EF4-FFF2-40B4-BE49-F238E27FC236}">
                <a16:creationId xmlns:a16="http://schemas.microsoft.com/office/drawing/2014/main" id="{2CF1341D-CA7B-4C62-9339-DCC1110E9FF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43D991EF-B3CD-4D8F-BA1B-9C745F69915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149B3210-8290-4591-872E-369838B5EEA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8" name="矩形 17">
            <a:hlinkClick r:id="" action="ppaction://noaction"/>
            <a:extLst>
              <a:ext uri="{FF2B5EF4-FFF2-40B4-BE49-F238E27FC236}">
                <a16:creationId xmlns:a16="http://schemas.microsoft.com/office/drawing/2014/main" id="{2FFA9B09-4F88-42ED-825B-3DE0361D51D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15980968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463846"/>
            <a:ext cx="8229600" cy="4914577"/>
          </a:xfrm>
        </p:spPr>
        <p:txBody>
          <a:bodyPr/>
          <a:lstStyle/>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&lt;iostream&gt;</a:t>
            </a:r>
          </a:p>
          <a:p>
            <a:pPr algn="just">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a:latin typeface="Courier New" pitchFamily="49" charset="0"/>
                <a:cs typeface="Courier New" pitchFamily="49" charset="0"/>
              </a:rPr>
              <a:t>std;</a:t>
            </a:r>
          </a:p>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match(</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str);  </a:t>
            </a:r>
          </a:p>
          <a:p>
            <a:pPr algn="just">
              <a:spcBef>
                <a:spcPts val="0"/>
              </a:spcBef>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返回</a:t>
            </a:r>
            <a:r>
              <a:rPr lang="en-US" altLang="zh-CN" sz="2000" b="1" dirty="0" err="1">
                <a:solidFill>
                  <a:srgbClr val="00B050"/>
                </a:solidFill>
                <a:latin typeface="Courier New" pitchFamily="49" charset="0"/>
                <a:cs typeface="Courier New" pitchFamily="49" charset="0"/>
              </a:rPr>
              <a:t>str</a:t>
            </a:r>
            <a:r>
              <a:rPr lang="zh-CN" altLang="en-US" sz="2000" b="1" dirty="0">
                <a:solidFill>
                  <a:srgbClr val="00B050"/>
                </a:solidFill>
                <a:latin typeface="Courier New" pitchFamily="49" charset="0"/>
                <a:cs typeface="Courier New" pitchFamily="49" charset="0"/>
              </a:rPr>
              <a:t>中第一个</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字符出现的位置(地址值，即指向字符的指针)</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s[81];</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a string:"&lt;&lt;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cin.getline</a:t>
            </a:r>
            <a:r>
              <a:rPr lang="en-US" altLang="zh-CN" sz="2000" b="1" dirty="0">
                <a:latin typeface="Courier New" pitchFamily="49" charset="0"/>
                <a:cs typeface="Courier New" pitchFamily="49" charset="0"/>
              </a:rPr>
              <a:t>(s,80);</a:t>
            </a:r>
          </a:p>
          <a:p>
            <a:pPr algn="just">
              <a:spcBef>
                <a:spcPts val="0"/>
              </a:spcBef>
              <a:buNone/>
            </a:pP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latin typeface="Courier New" pitchFamily="49" charset="0"/>
                <a:cs typeface="Courier New" pitchFamily="49" charset="0"/>
              </a:rPr>
              <a:t> *p=match('</a:t>
            </a:r>
            <a:r>
              <a:rPr lang="en-US" altLang="zh-CN" sz="2000" b="1" dirty="0" err="1">
                <a:latin typeface="Courier New" pitchFamily="49" charset="0"/>
                <a:cs typeface="Courier New" pitchFamily="49" charset="0"/>
              </a:rPr>
              <a:t>a',s</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调用</a:t>
            </a:r>
            <a:r>
              <a:rPr lang="en-US" altLang="zh-CN" sz="2000" b="1" dirty="0">
                <a:solidFill>
                  <a:srgbClr val="00B050"/>
                </a:solidFill>
                <a:latin typeface="Courier New" pitchFamily="49" charset="0"/>
                <a:cs typeface="Courier New" pitchFamily="49" charset="0"/>
              </a:rPr>
              <a:t>match，</a:t>
            </a:r>
            <a:r>
              <a:rPr lang="zh-CN" altLang="en-US" sz="2000" b="1" dirty="0">
                <a:solidFill>
                  <a:srgbClr val="00B050"/>
                </a:solidFill>
                <a:latin typeface="Courier New" pitchFamily="49" charset="0"/>
                <a:cs typeface="Courier New" pitchFamily="49" charset="0"/>
              </a:rPr>
              <a:t>返回串</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a:t>
            </a:r>
            <a:endParaRPr lang="en-US" altLang="zh-CN" sz="2000" b="1" dirty="0">
              <a:solidFill>
                <a:srgbClr val="00B050"/>
              </a:solidFill>
              <a:latin typeface="Courier New" pitchFamily="49" charset="0"/>
              <a:cs typeface="Courier New" pitchFamily="49" charset="0"/>
            </a:endParaRPr>
          </a:p>
          <a:p>
            <a:pPr algn="just">
              <a:spcBef>
                <a:spcPts val="0"/>
              </a:spcBef>
              <a:buNone/>
            </a:pPr>
            <a:r>
              <a:rPr lang="en-US" altLang="zh-CN" sz="2000" b="1" dirty="0">
                <a:solidFill>
                  <a:srgbClr val="00B050"/>
                </a:solidFill>
                <a:latin typeface="Courier New" pitchFamily="49" charset="0"/>
                <a:cs typeface="Courier New" pitchFamily="49" charset="0"/>
              </a:rPr>
              <a:t>				//</a:t>
            </a:r>
            <a:r>
              <a:rPr lang="zh-CN" altLang="en-US" sz="2000" b="1" dirty="0">
                <a:solidFill>
                  <a:srgbClr val="00B050"/>
                </a:solidFill>
                <a:latin typeface="Courier New" pitchFamily="49" charset="0"/>
                <a:cs typeface="Courier New" pitchFamily="49" charset="0"/>
              </a:rPr>
              <a:t>第一个'</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字符出现 的位置</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(p)</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中含有'</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字符时，返回的结果</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指针值为非0</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Sub_str</a:t>
            </a:r>
            <a:r>
              <a:rPr lang="en-US" altLang="zh-CN" sz="2000" b="1" dirty="0">
                <a:latin typeface="Courier New" pitchFamily="49" charset="0"/>
                <a:cs typeface="Courier New" pitchFamily="49" charset="0"/>
              </a:rPr>
              <a:t> from first 'a' ==&gt;"&lt;&lt;p&lt;&lt;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中不含有'</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a:t>
            </a:r>
          </a:p>
          <a:p>
            <a:pPr algn="just">
              <a:spcBef>
                <a:spcPts val="0"/>
              </a:spcBef>
              <a:buNone/>
            </a:pPr>
            <a:r>
              <a:rPr lang="zh-CN" altLang="en-US" sz="2000" b="1" dirty="0">
                <a:solidFill>
                  <a:schemeClr val="tx2"/>
                </a:solidFill>
                <a:latin typeface="Courier New" pitchFamily="49" charset="0"/>
                <a:cs typeface="Courier New" pitchFamily="49" charset="0"/>
              </a:rPr>
              <a:t>	</a:t>
            </a:r>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&lt;&lt;"No match found"&lt;&lt;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19" name="矩形 18">
            <a:hlinkClick r:id="" action="ppaction://noaction"/>
            <a:extLst>
              <a:ext uri="{FF2B5EF4-FFF2-40B4-BE49-F238E27FC236}">
                <a16:creationId xmlns:a16="http://schemas.microsoft.com/office/drawing/2014/main" id="{AF2F969E-E071-4BDD-92F1-FCB9784B97F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20" name="矩形 19">
            <a:hlinkClick r:id="" action="ppaction://noaction"/>
            <a:extLst>
              <a:ext uri="{FF2B5EF4-FFF2-40B4-BE49-F238E27FC236}">
                <a16:creationId xmlns:a16="http://schemas.microsoft.com/office/drawing/2014/main" id="{75AA20C3-D6CA-40D9-AB6C-461EED0520F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2B9EA2AD-F60F-45C3-A35F-87CC42DD380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2" name="矩形 21">
            <a:hlinkClick r:id="" action="ppaction://noaction"/>
            <a:extLst>
              <a:ext uri="{FF2B5EF4-FFF2-40B4-BE49-F238E27FC236}">
                <a16:creationId xmlns:a16="http://schemas.microsoft.com/office/drawing/2014/main" id="{1A3E140E-FDB9-4EC3-813F-864102DDED1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rId2" action="ppaction://hlinksldjump"/>
            <a:extLst>
              <a:ext uri="{FF2B5EF4-FFF2-40B4-BE49-F238E27FC236}">
                <a16:creationId xmlns:a16="http://schemas.microsoft.com/office/drawing/2014/main" id="{534B6390-DCE4-4AF8-AC5B-DD86687DA29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8E1C05BD-54A9-4F64-9D63-42408EDD990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A99B0302-48C2-4047-87F3-C6F5CCD3DF2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6" name="矩形 15">
            <a:hlinkClick r:id="" action="ppaction://noaction"/>
            <a:extLst>
              <a:ext uri="{FF2B5EF4-FFF2-40B4-BE49-F238E27FC236}">
                <a16:creationId xmlns:a16="http://schemas.microsoft.com/office/drawing/2014/main" id="{6962FD91-ECA9-48A3-8744-FD065838DD2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404496843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8"/>
            <a:ext cx="8229600" cy="5058593"/>
          </a:xfrm>
        </p:spPr>
        <p:txBody>
          <a:bodyPr/>
          <a:lstStyle/>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match(</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s)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找</a:t>
            </a:r>
            <a:r>
              <a:rPr lang="en-US" altLang="zh-CN" sz="2000" b="1" dirty="0" err="1">
                <a:solidFill>
                  <a:srgbClr val="00B050"/>
                </a:solidFill>
                <a:latin typeface="Courier New" pitchFamily="49" charset="0"/>
                <a:cs typeface="Courier New" pitchFamily="49" charset="0"/>
              </a:rPr>
              <a:t>str</a:t>
            </a:r>
            <a:r>
              <a:rPr lang="zh-CN" altLang="en-US" sz="2000" b="1" dirty="0">
                <a:solidFill>
                  <a:srgbClr val="00B050"/>
                </a:solidFill>
                <a:latin typeface="Courier New" pitchFamily="49" charset="0"/>
                <a:cs typeface="Courier New" pitchFamily="49" charset="0"/>
              </a:rPr>
              <a:t>中第一个</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字符出现的位置并返回</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while</a:t>
            </a:r>
            <a:r>
              <a:rPr lang="en-US" altLang="zh-CN" sz="2000" b="1" dirty="0">
                <a:latin typeface="Courier New" pitchFamily="49" charset="0"/>
                <a:cs typeface="Courier New" pitchFamily="49" charset="0"/>
              </a:rPr>
              <a:t>(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]!=c &amp;&amp;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此时，或者</a:t>
            </a:r>
            <a:r>
              <a:rPr lang="en-US" altLang="zh-CN" sz="2000" b="1" dirty="0">
                <a:solidFill>
                  <a:srgbClr val="00B050"/>
                </a:solidFill>
                <a:latin typeface="Courier New" pitchFamily="49" charset="0"/>
                <a:cs typeface="Courier New" pitchFamily="49" charset="0"/>
              </a:rPr>
              <a:t>s[</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或者</a:t>
            </a:r>
            <a:r>
              <a:rPr lang="en-US" altLang="zh-CN" sz="2000" b="1" dirty="0">
                <a:solidFill>
                  <a:srgbClr val="00B050"/>
                </a:solidFill>
                <a:latin typeface="Courier New" pitchFamily="49" charset="0"/>
                <a:cs typeface="Courier New" pitchFamily="49" charset="0"/>
              </a:rPr>
              <a:t>s[</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]='\0'</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]==c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(&amp;s[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若找到，返回在</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串的地址</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nullptr</a:t>
            </a:r>
            <a:r>
              <a:rPr lang="en-US" altLang="zh-CN" sz="2000" b="1" dirty="0">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没找到时返空指针</a:t>
            </a:r>
            <a:endParaRPr lang="en-US" altLang="zh-CN" sz="2000" b="1" dirty="0">
              <a:solidFill>
                <a:srgbClr val="00B050"/>
              </a:solidFill>
              <a:latin typeface="Courier New" pitchFamily="49" charset="0"/>
              <a:cs typeface="Courier New" pitchFamily="49" charset="0"/>
            </a:endParaRP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endParaRPr lang="en-US" altLang="zh-CN" sz="2000" dirty="0">
              <a:latin typeface="Courier New" pitchFamily="49" charset="0"/>
              <a:cs typeface="Courier New" pitchFamily="49" charset="0"/>
            </a:endParaRPr>
          </a:p>
          <a:p>
            <a:pPr algn="just">
              <a:spcBef>
                <a:spcPts val="0"/>
              </a:spcBef>
              <a:buNone/>
            </a:pPr>
            <a:r>
              <a:rPr lang="zh-CN" altLang="en-US" sz="2400" dirty="0">
                <a:solidFill>
                  <a:schemeClr val="accent6">
                    <a:lumMod val="75000"/>
                  </a:schemeClr>
                </a:solidFill>
              </a:rPr>
              <a:t>运行结果：</a:t>
            </a:r>
            <a:endParaRPr lang="en-US" altLang="zh-CN" sz="2400" dirty="0">
              <a:solidFill>
                <a:schemeClr val="accent6">
                  <a:lumMod val="75000"/>
                </a:schemeClr>
              </a:solidFill>
            </a:endParaRPr>
          </a:p>
          <a:p>
            <a:pPr algn="just">
              <a:lnSpc>
                <a:spcPct val="85000"/>
              </a:lnSpc>
              <a:buNone/>
            </a:pPr>
            <a:r>
              <a:rPr lang="en-US" altLang="zh-CN" sz="2400" b="1" dirty="0">
                <a:latin typeface="Courier New" panose="02070309020205020404" pitchFamily="49" charset="0"/>
                <a:cs typeface="Courier New" panose="02070309020205020404" pitchFamily="49" charset="0"/>
              </a:rPr>
              <a:t>Input a string:  </a:t>
            </a:r>
            <a:r>
              <a:rPr lang="en-US" altLang="zh-CN" sz="2400" b="1" dirty="0">
                <a:solidFill>
                  <a:srgbClr val="FF0000"/>
                </a:solidFill>
                <a:latin typeface="Courier New" panose="02070309020205020404" pitchFamily="49" charset="0"/>
                <a:cs typeface="Courier New" panose="02070309020205020404" pitchFamily="49" charset="0"/>
              </a:rPr>
              <a:t>I am a student.</a:t>
            </a:r>
          </a:p>
          <a:p>
            <a:pPr algn="just">
              <a:lnSpc>
                <a:spcPct val="85000"/>
              </a:lnSpc>
              <a:buNone/>
            </a:pPr>
            <a:r>
              <a:rPr lang="en-US" altLang="zh-CN" sz="2400" b="1" dirty="0" err="1">
                <a:latin typeface="Courier New" panose="02070309020205020404" pitchFamily="49" charset="0"/>
                <a:cs typeface="Courier New" panose="02070309020205020404" pitchFamily="49" charset="0"/>
              </a:rPr>
              <a:t>Sub_str</a:t>
            </a:r>
            <a:r>
              <a:rPr lang="en-US" altLang="zh-CN" sz="2400" b="1" dirty="0">
                <a:latin typeface="Courier New" panose="02070309020205020404" pitchFamily="49" charset="0"/>
                <a:cs typeface="Courier New" panose="02070309020205020404" pitchFamily="49" charset="0"/>
              </a:rPr>
              <a:t> from first 'a' ==&gt;am a student. </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endParaRPr lang="en-US" altLang="zh-CN" sz="2000" dirty="0">
              <a:solidFill>
                <a:schemeClr val="tx2"/>
              </a:solidFill>
              <a:latin typeface="Courier New" pitchFamily="49" charset="0"/>
              <a:cs typeface="Courier New" pitchFamily="49" charset="0"/>
            </a:endParaRPr>
          </a:p>
          <a:p>
            <a:pPr>
              <a:buNone/>
            </a:pPr>
            <a:endParaRPr lang="zh-CN" altLang="en-US" sz="2000" dirty="0">
              <a:latin typeface="Courier New" pitchFamily="49" charset="0"/>
              <a:cs typeface="Courier New" pitchFamily="49" charset="0"/>
            </a:endParaRPr>
          </a:p>
        </p:txBody>
      </p:sp>
      <p:sp>
        <p:nvSpPr>
          <p:cNvPr id="17" name="矩形 16">
            <a:hlinkClick r:id="" action="ppaction://noaction"/>
            <a:extLst>
              <a:ext uri="{FF2B5EF4-FFF2-40B4-BE49-F238E27FC236}">
                <a16:creationId xmlns:a16="http://schemas.microsoft.com/office/drawing/2014/main" id="{F632A86D-F65C-4ACE-9F8D-9FE8EA97127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8" name="矩形 17">
            <a:hlinkClick r:id="" action="ppaction://noaction"/>
            <a:extLst>
              <a:ext uri="{FF2B5EF4-FFF2-40B4-BE49-F238E27FC236}">
                <a16:creationId xmlns:a16="http://schemas.microsoft.com/office/drawing/2014/main" id="{7F81D9E4-380F-4F4F-9615-A0A98AABE2B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7D674B3F-2279-4BE4-A725-1297D6973F4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0" name="矩形 19">
            <a:hlinkClick r:id="" action="ppaction://noaction"/>
            <a:extLst>
              <a:ext uri="{FF2B5EF4-FFF2-40B4-BE49-F238E27FC236}">
                <a16:creationId xmlns:a16="http://schemas.microsoft.com/office/drawing/2014/main" id="{9D853F0C-8DED-49BC-B1D5-CC37E730C6A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rId2" action="ppaction://hlinksldjump"/>
            <a:extLst>
              <a:ext uri="{FF2B5EF4-FFF2-40B4-BE49-F238E27FC236}">
                <a16:creationId xmlns:a16="http://schemas.microsoft.com/office/drawing/2014/main" id="{42CB2F86-F603-42C1-95A8-D0A7C99017B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36FD5B11-0582-4628-9824-C27BBB1B203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1177CF57-DD13-4B6D-A53B-A0C772F7A5C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2" name="矩形 21">
            <a:hlinkClick r:id="" action="ppaction://noaction"/>
            <a:extLst>
              <a:ext uri="{FF2B5EF4-FFF2-40B4-BE49-F238E27FC236}">
                <a16:creationId xmlns:a16="http://schemas.microsoft.com/office/drawing/2014/main" id="{6F4B9EA5-A59C-4238-B9B9-D09C71996D8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39119380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301E573-800C-4326-86DE-C464BD06DF1C}"/>
              </a:ext>
            </a:extLst>
          </p:cNvPr>
          <p:cNvSpPr txBox="1"/>
          <p:nvPr>
            <p:custDataLst>
              <p:tags r:id="rId2"/>
            </p:custDataLst>
          </p:nvPr>
        </p:nvSpPr>
        <p:spPr>
          <a:xfrm>
            <a:off x="914400" y="831100"/>
            <a:ext cx="7315200" cy="5383963"/>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函数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lookup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在数组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中查找是否有等于</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val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的元素，若有，返回第一个相等元素的指针，否则，返回 空指针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请将函数补充完整。</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*lookup(int t[],int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val,int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n)</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int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j=</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for(</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=0;i&lt;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if (t[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val</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break;}</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return j;</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矩形: 圆角 6">
            <a:extLst>
              <a:ext uri="{FF2B5EF4-FFF2-40B4-BE49-F238E27FC236}">
                <a16:creationId xmlns:a16="http://schemas.microsoft.com/office/drawing/2014/main" id="{13C3BEF5-ADA6-44F0-82F9-2C37AFA7AD32}"/>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a:extLst>
              <a:ext uri="{FF2B5EF4-FFF2-40B4-BE49-F238E27FC236}">
                <a16:creationId xmlns:a16="http://schemas.microsoft.com/office/drawing/2014/main" id="{FD4A7E91-CADD-4D50-B949-4B75B09B1EC2}"/>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2" name="组合 11">
            <a:extLst>
              <a:ext uri="{FF2B5EF4-FFF2-40B4-BE49-F238E27FC236}">
                <a16:creationId xmlns:a16="http://schemas.microsoft.com/office/drawing/2014/main" id="{A1AE8C12-4F0E-4151-ADFC-5495B1C96692}"/>
              </a:ext>
            </a:extLst>
          </p:cNvPr>
          <p:cNvGrpSpPr/>
          <p:nvPr>
            <p:custDataLst>
              <p:tags r:id="rId5"/>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B999E6D1-8F94-4842-9AB9-1A32C4A092B9}"/>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2000BDE4-9760-4F46-A403-99E4D5B056AE}"/>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CF77BF55-BDB2-4F97-A8BF-6B1AF91B18F4}"/>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a:extLst>
                <a:ext uri="{FF2B5EF4-FFF2-40B4-BE49-F238E27FC236}">
                  <a16:creationId xmlns:a16="http://schemas.microsoft.com/office/drawing/2014/main" id="{F07BDA33-D994-4D1E-B086-610DED135024}"/>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89DA6DE8-6ED7-426D-87D1-C30BC1519078}"/>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8358129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5" name="标题 4">
            <a:extLst>
              <a:ext uri="{FF2B5EF4-FFF2-40B4-BE49-F238E27FC236}">
                <a16:creationId xmlns:a16="http://schemas.microsoft.com/office/drawing/2014/main" id="{B805C38D-776A-437D-AE85-D0314C07E352}"/>
              </a:ext>
            </a:extLst>
          </p:cNvPr>
          <p:cNvSpPr>
            <a:spLocks noGrp="1"/>
          </p:cNvSpPr>
          <p:nvPr>
            <p:ph type="ctrTitle"/>
          </p:nvPr>
        </p:nvSpPr>
        <p:spPr/>
        <p:txBody>
          <a:bodyPr/>
          <a:lstStyle/>
          <a:p>
            <a:r>
              <a:rPr lang="zh-CN" altLang="en-US" dirty="0"/>
              <a:t>函数指针</a:t>
            </a:r>
          </a:p>
        </p:txBody>
      </p:sp>
      <p:sp>
        <p:nvSpPr>
          <p:cNvPr id="10" name="TextBox 8">
            <a:extLst>
              <a:ext uri="{FF2B5EF4-FFF2-40B4-BE49-F238E27FC236}">
                <a16:creationId xmlns:a16="http://schemas.microsoft.com/office/drawing/2014/main" id="{FE6F3ED1-15E9-4F56-A011-3CD36CBE8E35}"/>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01270D4D-495B-4D02-9D93-2147826329C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F57B6664-FDC4-4D2E-9B21-0EC02ABECE9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2569393904"/>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r>
              <a:rPr lang="zh-CN" altLang="en-US" dirty="0"/>
              <a:t>也叫作函数指针</a:t>
            </a:r>
            <a:endParaRPr lang="en-US" altLang="zh-CN" dirty="0"/>
          </a:p>
          <a:p>
            <a:pPr lvl="1"/>
            <a:r>
              <a:rPr lang="zh-CN" altLang="en-US" dirty="0"/>
              <a:t>函数具有地址（称为</a:t>
            </a:r>
            <a:r>
              <a:rPr lang="zh-CN" altLang="en-US" dirty="0">
                <a:solidFill>
                  <a:srgbClr val="FF0000"/>
                </a:solidFill>
              </a:rPr>
              <a:t>入口地址</a:t>
            </a:r>
            <a:r>
              <a:rPr lang="zh-CN" altLang="en-US" dirty="0"/>
              <a:t>）</a:t>
            </a:r>
            <a:endParaRPr lang="en-US" altLang="zh-CN" dirty="0"/>
          </a:p>
          <a:p>
            <a:pPr lvl="1"/>
            <a:r>
              <a:rPr lang="zh-CN" altLang="en-US" dirty="0"/>
              <a:t>函数的地址也可作指针的值，这就是函数指针。函数指针的说明格式与函数的原型相似，主要区别是：原来的</a:t>
            </a:r>
            <a:r>
              <a:rPr lang="en-US" altLang="zh-CN" dirty="0"/>
              <a:t>〈</a:t>
            </a:r>
            <a:r>
              <a:rPr lang="zh-CN" altLang="en-US" dirty="0"/>
              <a:t>函数名</a:t>
            </a:r>
            <a:r>
              <a:rPr lang="en-US" altLang="zh-CN" dirty="0"/>
              <a:t>〉</a:t>
            </a:r>
            <a:r>
              <a:rPr lang="zh-CN" altLang="en-US" dirty="0"/>
              <a:t>，用*</a:t>
            </a:r>
            <a:r>
              <a:rPr lang="en-US" altLang="zh-CN" dirty="0"/>
              <a:t>〈</a:t>
            </a:r>
            <a:r>
              <a:rPr lang="zh-CN" altLang="en-US" dirty="0"/>
              <a:t>函数指针名</a:t>
            </a:r>
            <a:r>
              <a:rPr lang="en-US" altLang="zh-CN" dirty="0"/>
              <a:t>〉</a:t>
            </a:r>
            <a:r>
              <a:rPr lang="zh-CN" altLang="en-US" dirty="0"/>
              <a:t>所代替</a:t>
            </a:r>
            <a:endParaRPr lang="en-US" altLang="zh-CN" dirty="0"/>
          </a:p>
          <a:p>
            <a:pPr lvl="1"/>
            <a:r>
              <a:rPr lang="zh-CN" altLang="en-US" dirty="0"/>
              <a:t>说明格式：</a:t>
            </a:r>
            <a:endParaRPr lang="en-US" altLang="zh-CN" dirty="0"/>
          </a:p>
          <a:p>
            <a:pPr lvl="2">
              <a:buNone/>
            </a:pPr>
            <a:r>
              <a:rPr lang="zh-CN" altLang="en-US" sz="2400" b="1" dirty="0">
                <a:solidFill>
                  <a:schemeClr val="tx2"/>
                </a:solidFill>
                <a:latin typeface="Courier New" pitchFamily="49" charset="0"/>
                <a:cs typeface="Courier New" pitchFamily="49" charset="0"/>
              </a:rPr>
              <a:t>&lt;类型名&gt; (*</a:t>
            </a:r>
            <a:r>
              <a:rPr lang="en-US" altLang="zh-CN" sz="2400" b="1" dirty="0">
                <a:solidFill>
                  <a:schemeClr val="tx2"/>
                </a:solidFill>
                <a:latin typeface="Courier New" pitchFamily="49" charset="0"/>
                <a:cs typeface="Courier New" pitchFamily="49" charset="0"/>
              </a:rPr>
              <a:t>pf)(&lt;</a:t>
            </a:r>
            <a:r>
              <a:rPr lang="zh-CN" altLang="en-US" sz="2400" b="1" dirty="0">
                <a:solidFill>
                  <a:schemeClr val="tx2"/>
                </a:solidFill>
                <a:latin typeface="Courier New" pitchFamily="49" charset="0"/>
                <a:cs typeface="Courier New" pitchFamily="49" charset="0"/>
              </a:rPr>
              <a:t>参数表</a:t>
            </a:r>
            <a:r>
              <a:rPr lang="en-US" altLang="zh-CN" sz="2400" b="1" dirty="0">
                <a:solidFill>
                  <a:schemeClr val="tx2"/>
                </a:solidFill>
                <a:latin typeface="Courier New" pitchFamily="49" charset="0"/>
                <a:cs typeface="Courier New" pitchFamily="49" charset="0"/>
              </a:rPr>
              <a:t>&gt;);</a:t>
            </a:r>
          </a:p>
          <a:p>
            <a:pPr lvl="2">
              <a:buNone/>
            </a:pPr>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t>
            </a:r>
          </a:p>
          <a:p>
            <a:pPr lvl="3"/>
            <a:r>
              <a:rPr lang="en-US" altLang="zh-CN" sz="2200" dirty="0" err="1"/>
              <a:t>pf</a:t>
            </a:r>
            <a:r>
              <a:rPr lang="zh-CN" altLang="en-US" sz="2200" dirty="0"/>
              <a:t>为指向“</a:t>
            </a:r>
            <a:r>
              <a:rPr lang="zh-CN" altLang="en-US" sz="2200" dirty="0">
                <a:solidFill>
                  <a:srgbClr val="FF0000"/>
                </a:solidFill>
              </a:rPr>
              <a:t>一族</a:t>
            </a:r>
            <a:r>
              <a:rPr lang="zh-CN" altLang="en-US" sz="2200" dirty="0"/>
              <a:t>”函数的指针(即*</a:t>
            </a:r>
            <a:r>
              <a:rPr lang="en-US" altLang="zh-CN" sz="2200" dirty="0" err="1"/>
              <a:t>pf</a:t>
            </a:r>
            <a:r>
              <a:rPr lang="zh-CN" altLang="en-US" sz="2200" dirty="0"/>
              <a:t>为函数名)，该函数无参，且返回值类型为</a:t>
            </a:r>
            <a:r>
              <a:rPr lang="en-US" altLang="zh-CN" sz="2200" dirty="0" err="1"/>
              <a:t>int</a:t>
            </a:r>
            <a:r>
              <a:rPr lang="en-US" altLang="zh-CN" sz="2200" dirty="0"/>
              <a:t>。</a:t>
            </a:r>
          </a:p>
          <a:p>
            <a:pPr lvl="2"/>
            <a:endParaRPr lang="zh-CN" altLang="en-US" dirty="0"/>
          </a:p>
        </p:txBody>
      </p:sp>
      <p:sp>
        <p:nvSpPr>
          <p:cNvPr id="20" name="矩形 19">
            <a:hlinkClick r:id="" action="ppaction://noaction"/>
            <a:extLst>
              <a:ext uri="{FF2B5EF4-FFF2-40B4-BE49-F238E27FC236}">
                <a16:creationId xmlns:a16="http://schemas.microsoft.com/office/drawing/2014/main" id="{FC934354-399F-46F4-881A-AC92343D821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21" name="矩形 20">
            <a:hlinkClick r:id="" action="ppaction://noaction"/>
            <a:extLst>
              <a:ext uri="{FF2B5EF4-FFF2-40B4-BE49-F238E27FC236}">
                <a16:creationId xmlns:a16="http://schemas.microsoft.com/office/drawing/2014/main" id="{E8BF927E-D193-4AB1-8933-C3DBB593073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6A0594D1-2DC1-4808-954B-0849AC13429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3" name="矩形 22">
            <a:hlinkClick r:id="" action="ppaction://noaction"/>
            <a:extLst>
              <a:ext uri="{FF2B5EF4-FFF2-40B4-BE49-F238E27FC236}">
                <a16:creationId xmlns:a16="http://schemas.microsoft.com/office/drawing/2014/main" id="{34BB713E-49EE-4D55-A5C0-921467DF3EC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rId3" action="ppaction://hlinksldjump"/>
            <a:extLst>
              <a:ext uri="{FF2B5EF4-FFF2-40B4-BE49-F238E27FC236}">
                <a16:creationId xmlns:a16="http://schemas.microsoft.com/office/drawing/2014/main" id="{290B746B-A784-4BCD-BAC6-71724732B46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BB331772-4695-40BF-BB43-8F0E3ED1C01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7211D01D-9691-4592-8D0F-15F7549F832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6" name="矩形 15">
            <a:hlinkClick r:id="" action="ppaction://noaction"/>
            <a:extLst>
              <a:ext uri="{FF2B5EF4-FFF2-40B4-BE49-F238E27FC236}">
                <a16:creationId xmlns:a16="http://schemas.microsoft.com/office/drawing/2014/main" id="{8CA06230-3005-4D3B-B5A6-E9A43561D9E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369707326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6.14】</a:t>
            </a:r>
            <a:r>
              <a:rPr lang="zh-CN" altLang="en-US" dirty="0">
                <a:solidFill>
                  <a:srgbClr val="C00000"/>
                </a:solidFill>
              </a:rPr>
              <a:t>通过使用指向函数的指针变量来调用自定义函数</a:t>
            </a:r>
            <a:r>
              <a:rPr lang="en-US" altLang="zh-CN" dirty="0">
                <a:solidFill>
                  <a:srgbClr val="C00000"/>
                </a:solidFill>
              </a:rPr>
              <a:t>max</a:t>
            </a:r>
            <a:r>
              <a:rPr lang="zh-CN" altLang="en-US" dirty="0">
                <a:solidFill>
                  <a:srgbClr val="C00000"/>
                </a:solidFill>
              </a:rPr>
              <a:t>及</a:t>
            </a:r>
            <a:r>
              <a:rPr lang="en-US" altLang="zh-CN" dirty="0">
                <a:solidFill>
                  <a:srgbClr val="C00000"/>
                </a:solidFill>
              </a:rPr>
              <a:t>min</a:t>
            </a:r>
          </a:p>
          <a:p>
            <a:pPr algn="just">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&lt;iostream&gt;</a:t>
            </a:r>
          </a:p>
          <a:p>
            <a:pPr algn="just">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a:latin typeface="Courier New" pitchFamily="49" charset="0"/>
                <a:cs typeface="Courier New" pitchFamily="49" charset="0"/>
              </a:rPr>
              <a:t>std;</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max</a:t>
            </a:r>
            <a:r>
              <a:rPr lang="en-US" altLang="zh-CN" sz="2000" b="1" dirty="0">
                <a:solidFill>
                  <a:schemeClr val="tx2"/>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自定义的</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函数</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(x&gt;</a:t>
            </a:r>
            <a:r>
              <a:rPr lang="en-US" altLang="zh-CN" sz="2000" b="1" dirty="0" err="1">
                <a:latin typeface="Courier New" pitchFamily="49" charset="0"/>
                <a:cs typeface="Courier New" pitchFamily="49" charset="0"/>
              </a:rPr>
              <a:t>y?x:y</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min(</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自定义的</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函数</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(x&lt;</a:t>
            </a:r>
            <a:r>
              <a:rPr lang="en-US" altLang="zh-CN" sz="2000" b="1" dirty="0" err="1">
                <a:latin typeface="Courier New" pitchFamily="49" charset="0"/>
                <a:cs typeface="Courier New" pitchFamily="49" charset="0"/>
              </a:rPr>
              <a:t>y?x:y</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a:t>
            </a:r>
            <a:r>
              <a:rPr lang="en-US" altLang="zh-CN" sz="2000" b="1" dirty="0" err="1">
                <a:solidFill>
                  <a:srgbClr val="0000FF"/>
                </a:solidFill>
                <a:latin typeface="Courier New" pitchFamily="49" charset="0"/>
                <a:cs typeface="Courier New" pitchFamily="49" charset="0"/>
              </a:rPr>
              <a:t>int</a:t>
            </a:r>
            <a:r>
              <a:rPr lang="en-US" altLang="zh-CN" sz="2000" b="1" dirty="0" err="1">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为指向函数的指针(即*</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为函数名)，该函数有两个</a:t>
            </a:r>
            <a:r>
              <a:rPr lang="en-US" altLang="zh-CN" sz="2000" b="1" dirty="0" err="1">
                <a:solidFill>
                  <a:srgbClr val="00B050"/>
                </a:solidFill>
                <a:latin typeface="Courier New" pitchFamily="49" charset="0"/>
                <a:cs typeface="Courier New" pitchFamily="49" charset="0"/>
              </a:rPr>
              <a:t>int</a:t>
            </a:r>
            <a:r>
              <a:rPr lang="zh-CN" altLang="en-US" sz="2000" b="1" dirty="0">
                <a:solidFill>
                  <a:srgbClr val="00B050"/>
                </a:solidFill>
                <a:latin typeface="Courier New" pitchFamily="49" charset="0"/>
                <a:cs typeface="Courier New" pitchFamily="49" charset="0"/>
              </a:rPr>
              <a:t>型参数, 且返回值类型也为</a:t>
            </a:r>
            <a:r>
              <a:rPr lang="en-US" altLang="zh-CN" sz="2000" b="1" dirty="0" err="1">
                <a:solidFill>
                  <a:srgbClr val="00B050"/>
                </a:solidFill>
                <a:latin typeface="Courier New" pitchFamily="49" charset="0"/>
                <a:cs typeface="Courier New" pitchFamily="49" charset="0"/>
              </a:rPr>
              <a:t>int</a:t>
            </a:r>
            <a:r>
              <a:rPr lang="en-US" altLang="zh-CN" sz="2000" b="1" dirty="0">
                <a:solidFill>
                  <a:srgbClr val="00B050"/>
                </a:solidFill>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a,b,c</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a:t>
            </a:r>
            <a:endParaRPr lang="zh-CN" altLang="en-US" b="1" dirty="0"/>
          </a:p>
        </p:txBody>
      </p:sp>
      <p:sp>
        <p:nvSpPr>
          <p:cNvPr id="17" name="矩形 16">
            <a:hlinkClick r:id="" action="ppaction://noaction"/>
            <a:extLst>
              <a:ext uri="{FF2B5EF4-FFF2-40B4-BE49-F238E27FC236}">
                <a16:creationId xmlns:a16="http://schemas.microsoft.com/office/drawing/2014/main" id="{42D85ED3-5EDF-47F9-B2CA-D0BA5DD8280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8" name="矩形 17">
            <a:hlinkClick r:id="" action="ppaction://noaction"/>
            <a:extLst>
              <a:ext uri="{FF2B5EF4-FFF2-40B4-BE49-F238E27FC236}">
                <a16:creationId xmlns:a16="http://schemas.microsoft.com/office/drawing/2014/main" id="{F8520BD1-6444-4CA2-A5F1-3DF91074AB5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94E2367C-F041-4513-89CF-3AB331F6196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0" name="矩形 19">
            <a:hlinkClick r:id="" action="ppaction://noaction"/>
            <a:extLst>
              <a:ext uri="{FF2B5EF4-FFF2-40B4-BE49-F238E27FC236}">
                <a16:creationId xmlns:a16="http://schemas.microsoft.com/office/drawing/2014/main" id="{25A6DA80-3DDA-4B12-BD9F-A02026B06FA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rId2" action="ppaction://hlinksldjump"/>
            <a:extLst>
              <a:ext uri="{FF2B5EF4-FFF2-40B4-BE49-F238E27FC236}">
                <a16:creationId xmlns:a16="http://schemas.microsoft.com/office/drawing/2014/main" id="{DBEF8D2A-9253-4115-BCF7-A7960F8D617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E4523FBC-2C3C-4805-BE55-4B8B45844E3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016F7BA5-B4BB-41AE-B44B-E11EC9DB392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2" name="矩形 21">
            <a:hlinkClick r:id="" action="ppaction://noaction"/>
            <a:extLst>
              <a:ext uri="{FF2B5EF4-FFF2-40B4-BE49-F238E27FC236}">
                <a16:creationId xmlns:a16="http://schemas.microsoft.com/office/drawing/2014/main" id="{F3718E65-8A9C-47AA-AFF9-BA643C463A9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26161530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600" y="980728"/>
            <a:ext cx="8686800" cy="5572164"/>
          </a:xfrm>
        </p:spPr>
        <p:txBody>
          <a:bodyPr/>
          <a:lstStyle/>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&lt;&lt;"max?/min? -- input 1/0 :";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=='1')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求</a:t>
            </a:r>
            <a:r>
              <a:rPr lang="en-US" altLang="zh-CN" sz="2000" b="1" dirty="0">
                <a:solidFill>
                  <a:srgbClr val="00B050"/>
                </a:solidFill>
                <a:latin typeface="Courier New" pitchFamily="49" charset="0"/>
                <a:cs typeface="Courier New" pitchFamily="49" charset="0"/>
              </a:rPr>
              <a:t>max</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 max;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类似数组名，函数名也为</a:t>
            </a:r>
            <a:r>
              <a:rPr lang="zh-CN" altLang="en-US" sz="2000" b="1" dirty="0">
                <a:solidFill>
                  <a:srgbClr val="FF0000"/>
                </a:solidFill>
                <a:latin typeface="Courier New" pitchFamily="49" charset="0"/>
                <a:cs typeface="Courier New" pitchFamily="49" charset="0"/>
              </a:rPr>
              <a:t>指针常量</a:t>
            </a:r>
            <a:r>
              <a:rPr lang="zh-CN" altLang="en-US" sz="2000" b="1" dirty="0">
                <a:solidFill>
                  <a:srgbClr val="00B050"/>
                </a:solidFill>
                <a:latin typeface="Courier New" pitchFamily="49" charset="0"/>
                <a:cs typeface="Courier New" pitchFamily="49" charset="0"/>
              </a:rPr>
              <a:t>				//(表示函数的入口地址)，赋给函数指针</a:t>
            </a:r>
            <a:r>
              <a:rPr lang="en-US" altLang="zh-CN" sz="2000" b="1" dirty="0">
                <a:solidFill>
                  <a:srgbClr val="00B050"/>
                </a:solidFill>
                <a:latin typeface="Courier New" pitchFamily="49" charset="0"/>
                <a:cs typeface="Courier New" pitchFamily="49" charset="0"/>
              </a:rPr>
              <a:t>p</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&lt;&lt;"For MAX: input 2 integer numbers ==&gt; </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&gt;&gt;a&gt;&gt;b; </a:t>
            </a:r>
          </a:p>
          <a:p>
            <a:pPr algn="just">
              <a:spcBef>
                <a:spcPts val="0"/>
              </a:spcBef>
              <a:buNone/>
            </a:pPr>
            <a:r>
              <a:rPr lang="en-US" altLang="zh-CN" sz="2000" b="1" dirty="0">
                <a:latin typeface="Courier New" pitchFamily="49" charset="0"/>
                <a:cs typeface="Courier New" pitchFamily="49" charset="0"/>
              </a:rPr>
              <a:t>		c=(*p)(</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即</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以实参</a:t>
            </a:r>
            <a:r>
              <a:rPr lang="en-US" altLang="zh-CN" sz="2000" b="1" dirty="0" err="1">
                <a:solidFill>
                  <a:srgbClr val="00B050"/>
                </a:solidFill>
                <a:latin typeface="Courier New" pitchFamily="49" charset="0"/>
                <a:cs typeface="Courier New" pitchFamily="49" charset="0"/>
              </a:rPr>
              <a:t>a、b</a:t>
            </a:r>
            <a:r>
              <a:rPr lang="zh-CN" altLang="en-US" sz="2000" b="1" dirty="0">
                <a:solidFill>
                  <a:srgbClr val="00B050"/>
                </a:solidFill>
                <a:latin typeface="Courier New" pitchFamily="49" charset="0"/>
                <a:cs typeface="Courier New" pitchFamily="49" charset="0"/>
              </a:rPr>
              <a:t>对</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进行调用</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&lt;&lt;"max(</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)==&gt;"&lt;&lt;c&lt;&lt;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求</a:t>
            </a:r>
            <a:r>
              <a:rPr lang="en-US" altLang="zh-CN" sz="2000" b="1" dirty="0">
                <a:solidFill>
                  <a:srgbClr val="00B050"/>
                </a:solidFill>
                <a:latin typeface="Courier New" pitchFamily="49" charset="0"/>
                <a:cs typeface="Courier New" pitchFamily="49" charset="0"/>
              </a:rPr>
              <a:t>min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 &amp;min;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使</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指向</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函数，亦可写为取地址表达式</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&lt;&lt;"For MIN: input 2 integer numbers ==&gt;</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&gt;&gt;a&gt;&gt;b;</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c=(*p)(</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即</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以实参</a:t>
            </a:r>
            <a:r>
              <a:rPr lang="en-US" altLang="zh-CN" sz="2000" b="1" dirty="0" err="1">
                <a:solidFill>
                  <a:srgbClr val="00B050"/>
                </a:solidFill>
                <a:latin typeface="Courier New" pitchFamily="49" charset="0"/>
                <a:cs typeface="Courier New" pitchFamily="49" charset="0"/>
              </a:rPr>
              <a:t>a、b</a:t>
            </a:r>
            <a:r>
              <a:rPr lang="zh-CN" altLang="en-US" sz="2000" b="1" dirty="0">
                <a:solidFill>
                  <a:srgbClr val="00B050"/>
                </a:solidFill>
                <a:latin typeface="Courier New" pitchFamily="49" charset="0"/>
                <a:cs typeface="Courier New" pitchFamily="49" charset="0"/>
              </a:rPr>
              <a:t>对</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进行调用</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&lt;&lt;"min(</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)==&gt;"&lt;&lt;c&lt;&lt;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a:t>
            </a:r>
          </a:p>
        </p:txBody>
      </p:sp>
      <p:sp>
        <p:nvSpPr>
          <p:cNvPr id="17" name="矩形 16">
            <a:hlinkClick r:id="" action="ppaction://noaction"/>
            <a:extLst>
              <a:ext uri="{FF2B5EF4-FFF2-40B4-BE49-F238E27FC236}">
                <a16:creationId xmlns:a16="http://schemas.microsoft.com/office/drawing/2014/main" id="{D2F284F2-1DF2-409A-A840-89F0F706616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8" name="矩形 17">
            <a:hlinkClick r:id="" action="ppaction://noaction"/>
            <a:extLst>
              <a:ext uri="{FF2B5EF4-FFF2-40B4-BE49-F238E27FC236}">
                <a16:creationId xmlns:a16="http://schemas.microsoft.com/office/drawing/2014/main" id="{19653D4B-1BD0-43F9-9C12-9A23E456DB1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012893CA-6275-4E91-A5B8-A11F1DF9610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0" name="矩形 19">
            <a:hlinkClick r:id="" action="ppaction://noaction"/>
            <a:extLst>
              <a:ext uri="{FF2B5EF4-FFF2-40B4-BE49-F238E27FC236}">
                <a16:creationId xmlns:a16="http://schemas.microsoft.com/office/drawing/2014/main" id="{169C5941-F766-482D-9F9B-2023BB32F83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rId2" action="ppaction://hlinksldjump"/>
            <a:extLst>
              <a:ext uri="{FF2B5EF4-FFF2-40B4-BE49-F238E27FC236}">
                <a16:creationId xmlns:a16="http://schemas.microsoft.com/office/drawing/2014/main" id="{36218AB5-7295-4089-8885-7DA6C0395CF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ECAD4B19-F184-4FC6-8C0E-E50B5EA5857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7032DEA4-4E41-4921-B871-F3855EC711C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2" name="矩形 21">
            <a:hlinkClick r:id="" action="ppaction://noaction"/>
            <a:extLst>
              <a:ext uri="{FF2B5EF4-FFF2-40B4-BE49-F238E27FC236}">
                <a16:creationId xmlns:a16="http://schemas.microsoft.com/office/drawing/2014/main" id="{2B39B29C-C184-4103-BF26-1F359866CD4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386318302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4500562"/>
          </a:xfrm>
        </p:spPr>
        <p:txBody>
          <a:bodyPr/>
          <a:lstStyle/>
          <a:p>
            <a:pPr marL="0" indent="0">
              <a:buNone/>
            </a:pPr>
            <a:r>
              <a:rPr lang="zh-CN" altLang="en-US" dirty="0">
                <a:solidFill>
                  <a:schemeClr val="accent6">
                    <a:lumMod val="75000"/>
                  </a:schemeClr>
                </a:solidFill>
              </a:rPr>
              <a:t>程序执行后的显示结果如下：</a:t>
            </a:r>
            <a:endParaRPr lang="zh-CN" altLang="en-US" sz="3200" dirty="0">
              <a:solidFill>
                <a:schemeClr val="accent6">
                  <a:lumMod val="75000"/>
                </a:schemeClr>
              </a:solidFill>
            </a:endParaRPr>
          </a:p>
          <a:p>
            <a:pPr algn="just">
              <a:lnSpc>
                <a:spcPct val="85000"/>
              </a:lnSpc>
              <a:buNone/>
            </a:pPr>
            <a:endParaRPr lang="en-US" altLang="zh-CN" dirty="0">
              <a:solidFill>
                <a:schemeClr val="tx2"/>
              </a:solidFill>
            </a:endParaRPr>
          </a:p>
          <a:p>
            <a:pPr algn="just">
              <a:lnSpc>
                <a:spcPct val="85000"/>
              </a:lnSpc>
              <a:buNone/>
            </a:pPr>
            <a:r>
              <a:rPr lang="en-US" altLang="zh-CN" dirty="0"/>
              <a:t>max?/min? -- input 1/0 :</a:t>
            </a:r>
            <a:r>
              <a:rPr lang="en-US" altLang="zh-CN" dirty="0">
                <a:solidFill>
                  <a:srgbClr val="FF0000"/>
                </a:solidFill>
              </a:rPr>
              <a:t>1</a:t>
            </a:r>
          </a:p>
          <a:p>
            <a:pPr algn="just">
              <a:lnSpc>
                <a:spcPct val="85000"/>
              </a:lnSpc>
              <a:buNone/>
            </a:pPr>
            <a:r>
              <a:rPr lang="en-US" altLang="zh-CN" dirty="0"/>
              <a:t>For MAX: input 2 integer numbers ==&gt; a, b :</a:t>
            </a:r>
            <a:r>
              <a:rPr lang="en-US" altLang="zh-CN" dirty="0">
                <a:solidFill>
                  <a:srgbClr val="FF0000"/>
                </a:solidFill>
              </a:rPr>
              <a:t>22 -3</a:t>
            </a:r>
          </a:p>
          <a:p>
            <a:pPr algn="just">
              <a:lnSpc>
                <a:spcPct val="85000"/>
              </a:lnSpc>
              <a:buNone/>
            </a:pPr>
            <a:r>
              <a:rPr lang="en-US" altLang="zh-CN" dirty="0"/>
              <a:t>max(</a:t>
            </a:r>
            <a:r>
              <a:rPr lang="en-US" altLang="zh-CN" dirty="0" err="1"/>
              <a:t>a,b</a:t>
            </a:r>
            <a:r>
              <a:rPr lang="en-US" altLang="zh-CN" dirty="0"/>
              <a:t>)==&gt;22</a:t>
            </a:r>
            <a:endParaRPr lang="zh-CN" altLang="en-US" sz="3200" dirty="0"/>
          </a:p>
        </p:txBody>
      </p:sp>
      <p:sp>
        <p:nvSpPr>
          <p:cNvPr id="17" name="矩形 16">
            <a:hlinkClick r:id="" action="ppaction://noaction"/>
            <a:extLst>
              <a:ext uri="{FF2B5EF4-FFF2-40B4-BE49-F238E27FC236}">
                <a16:creationId xmlns:a16="http://schemas.microsoft.com/office/drawing/2014/main" id="{30F71227-DB2F-4310-9E54-A95A094DC0C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8" name="矩形 17">
            <a:hlinkClick r:id="" action="ppaction://noaction"/>
            <a:extLst>
              <a:ext uri="{FF2B5EF4-FFF2-40B4-BE49-F238E27FC236}">
                <a16:creationId xmlns:a16="http://schemas.microsoft.com/office/drawing/2014/main" id="{03376066-AA3E-4A0E-A2B2-45DB11DAC02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96E586FF-5C89-430F-B9D4-AF0C5B42A4B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0" name="矩形 19">
            <a:hlinkClick r:id="" action="ppaction://noaction"/>
            <a:extLst>
              <a:ext uri="{FF2B5EF4-FFF2-40B4-BE49-F238E27FC236}">
                <a16:creationId xmlns:a16="http://schemas.microsoft.com/office/drawing/2014/main" id="{45C907D6-AFD4-4A08-B2CC-47E1B40E4CF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rId2" action="ppaction://hlinksldjump"/>
            <a:extLst>
              <a:ext uri="{FF2B5EF4-FFF2-40B4-BE49-F238E27FC236}">
                <a16:creationId xmlns:a16="http://schemas.microsoft.com/office/drawing/2014/main" id="{233A031A-8505-4FE3-BEB2-C6A0416EBDC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9C4DFD59-B3E9-4C5B-8C24-AA937EA5FC3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31DD84DE-925A-44D0-9EC2-F71FCCAAC99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2" name="矩形 21">
            <a:hlinkClick r:id="" action="ppaction://noaction"/>
            <a:extLst>
              <a:ext uri="{FF2B5EF4-FFF2-40B4-BE49-F238E27FC236}">
                <a16:creationId xmlns:a16="http://schemas.microsoft.com/office/drawing/2014/main" id="{465D1410-E242-4FB3-B38E-711715C3C9A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94993811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pPr>
              <a:buNone/>
            </a:pPr>
            <a:r>
              <a:rPr lang="en-US" altLang="zh-CN"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f1(</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t>
            </a: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f2(</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a:p>
            <a:pPr>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f3(</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t>
            </a: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f4</a:t>
            </a:r>
            <a:r>
              <a:rPr lang="en-US" altLang="zh-CN" sz="2400" b="1" dirty="0">
                <a:solidFill>
                  <a:schemeClr val="tx2"/>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float</a:t>
            </a:r>
            <a:r>
              <a:rPr lang="en-US" altLang="zh-CN" sz="2400" b="1" dirty="0">
                <a:solidFill>
                  <a:schemeClr val="tx2"/>
                </a:solidFill>
                <a:latin typeface="Courier New" pitchFamily="49" charset="0"/>
                <a:cs typeface="Courier New" pitchFamily="49" charset="0"/>
              </a:rPr>
              <a:t>);</a:t>
            </a:r>
            <a:endParaRPr lang="en-US" altLang="zh-CN" sz="2400" b="1" dirty="0"/>
          </a:p>
          <a:p>
            <a:pPr lvl="1"/>
            <a:r>
              <a:rPr lang="zh-CN" altLang="en-US" dirty="0"/>
              <a:t>设</a:t>
            </a:r>
            <a:r>
              <a:rPr lang="en-US" altLang="zh-CN" dirty="0"/>
              <a:t>f1,f2,f3,f4 </a:t>
            </a:r>
            <a:r>
              <a:rPr lang="zh-CN" altLang="en-US" dirty="0"/>
              <a:t>是</a:t>
            </a:r>
            <a:r>
              <a:rPr lang="en-US" altLang="zh-CN" dirty="0"/>
              <a:t>4 </a:t>
            </a:r>
            <a:r>
              <a:rPr lang="zh-CN" altLang="en-US" dirty="0"/>
              <a:t>个已说明的函数，这时，下面的说明和赋值，就有合法与不合法的区别：</a:t>
            </a:r>
            <a:endParaRPr lang="en-US" altLang="zh-CN" dirty="0"/>
          </a:p>
          <a:p>
            <a:pPr marL="457200" lvl="1" indent="0">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zh-CN" altLang="en-US"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)=&amp;f1;</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a:t>
            </a:r>
          </a:p>
          <a:p>
            <a:pPr marL="457200" lvl="1" indent="0">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pf1)(</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)=&amp;f1; </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不合法 </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=&amp;f4;</a:t>
            </a:r>
            <a:r>
              <a:rPr lang="zh-CN" altLang="en-US" sz="2400" b="1" dirty="0">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 </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=&amp;f2;</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不合法</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=&amp;f3;</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a:t>
            </a:r>
          </a:p>
        </p:txBody>
      </p:sp>
      <p:sp>
        <p:nvSpPr>
          <p:cNvPr id="18" name="矩形 17">
            <a:hlinkClick r:id="" action="ppaction://noaction"/>
            <a:extLst>
              <a:ext uri="{FF2B5EF4-FFF2-40B4-BE49-F238E27FC236}">
                <a16:creationId xmlns:a16="http://schemas.microsoft.com/office/drawing/2014/main" id="{5D129013-9B5E-4FBB-AC7F-8FF36A7BA45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9" name="矩形 18">
            <a:hlinkClick r:id="" action="ppaction://noaction"/>
            <a:extLst>
              <a:ext uri="{FF2B5EF4-FFF2-40B4-BE49-F238E27FC236}">
                <a16:creationId xmlns:a16="http://schemas.microsoft.com/office/drawing/2014/main" id="{2A32AE78-903B-468A-8805-A5C43E8607F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50506738-C610-4263-85C8-0131730795B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1" name="矩形 20">
            <a:hlinkClick r:id="" action="ppaction://noaction"/>
            <a:extLst>
              <a:ext uri="{FF2B5EF4-FFF2-40B4-BE49-F238E27FC236}">
                <a16:creationId xmlns:a16="http://schemas.microsoft.com/office/drawing/2014/main" id="{68707B0C-9621-40EA-BE73-45B8ED75804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rId2" action="ppaction://hlinksldjump"/>
            <a:extLst>
              <a:ext uri="{FF2B5EF4-FFF2-40B4-BE49-F238E27FC236}">
                <a16:creationId xmlns:a16="http://schemas.microsoft.com/office/drawing/2014/main" id="{8B3AEEC1-5E64-45F2-A1EA-1BC221D9D7D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D8DAF247-9206-4D38-AD70-FDB02B669DE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C7A14DC5-D117-442B-9683-D90862A673A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3" name="矩形 22">
            <a:hlinkClick r:id="" action="ppaction://noaction"/>
            <a:extLst>
              <a:ext uri="{FF2B5EF4-FFF2-40B4-BE49-F238E27FC236}">
                <a16:creationId xmlns:a16="http://schemas.microsoft.com/office/drawing/2014/main" id="{265C8F1B-DD65-4F1B-BA1B-B39BC1CE52C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399800274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函数指针做参数</a:t>
            </a:r>
          </a:p>
        </p:txBody>
      </p:sp>
      <p:sp>
        <p:nvSpPr>
          <p:cNvPr id="3" name="内容占位符 2"/>
          <p:cNvSpPr>
            <a:spLocks noGrp="1"/>
          </p:cNvSpPr>
          <p:nvPr>
            <p:ph idx="1"/>
          </p:nvPr>
        </p:nvSpPr>
        <p:spPr/>
        <p:txBody>
          <a:bodyPr/>
          <a:lstStyle/>
          <a:p>
            <a:r>
              <a:rPr lang="en-US" altLang="zh-CN" dirty="0"/>
              <a:t>C</a:t>
            </a:r>
            <a:r>
              <a:rPr lang="zh-CN" altLang="en-US" dirty="0"/>
              <a:t>＋＋语言本身不允许把函数作为参数，有了函数指针，就可以通过函数指针，把函数作为参数使用。</a:t>
            </a:r>
          </a:p>
          <a:p>
            <a:pPr lvl="1"/>
            <a:r>
              <a:rPr lang="zh-CN" altLang="en-US" dirty="0">
                <a:solidFill>
                  <a:srgbClr val="C00000"/>
                </a:solidFill>
              </a:rPr>
              <a:t>例如：</a:t>
            </a:r>
            <a:r>
              <a:rPr lang="zh-CN" altLang="en-US" dirty="0"/>
              <a:t>用来计算函数定积分的函数</a:t>
            </a:r>
            <a:r>
              <a:rPr lang="en-US" altLang="zh-CN" dirty="0" err="1"/>
              <a:t>simpson</a:t>
            </a:r>
            <a:r>
              <a:rPr lang="zh-CN" altLang="en-US" dirty="0"/>
              <a:t>（），对于不同的函数计算其定积分值，应有一个函数参数，在</a:t>
            </a:r>
            <a:r>
              <a:rPr lang="en-US" altLang="zh-CN" dirty="0"/>
              <a:t>C</a:t>
            </a:r>
            <a:r>
              <a:rPr lang="zh-CN" altLang="en-US" dirty="0"/>
              <a:t>＋＋程序中用函数指针可以方便地解决这个问题：</a:t>
            </a:r>
            <a:endParaRPr lang="en-US" altLang="zh-CN" dirty="0"/>
          </a:p>
          <a:p>
            <a:pPr>
              <a:buNone/>
            </a:pPr>
            <a:r>
              <a:rPr lang="en-US" altLang="zh-CN" sz="2000"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simpson</a:t>
            </a:r>
            <a:r>
              <a:rPr lang="en-US" altLang="zh-CN"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b;</a:t>
            </a:r>
            <a:r>
              <a:rPr lang="en-US" altLang="zh-CN" sz="2000" b="1" dirty="0" err="1">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a:t>
            </a:r>
            <a:r>
              <a:rPr lang="zh-CN" altLang="en-US" sz="2000" b="1" dirty="0">
                <a:solidFill>
                  <a:schemeClr val="tx2"/>
                </a:solidFill>
                <a:latin typeface="Courier New" pitchFamily="49" charset="0"/>
                <a:cs typeface="Courier New" pitchFamily="49" charset="0"/>
              </a:rPr>
              <a:t>*</a:t>
            </a:r>
            <a:r>
              <a:rPr lang="en-US" altLang="zh-CN" sz="2000" b="1" dirty="0" err="1">
                <a:solidFill>
                  <a:schemeClr val="tx2"/>
                </a:solidFill>
                <a:latin typeface="Courier New" pitchFamily="49" charset="0"/>
                <a:cs typeface="Courier New" pitchFamily="49" charset="0"/>
              </a:rPr>
              <a:t>pf</a:t>
            </a:r>
            <a:r>
              <a:rPr lang="en-US" altLang="zh-CN"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a:t>
            </a:r>
            <a:r>
              <a:rPr lang="zh-CN" altLang="en-US" sz="2000" dirty="0">
                <a:solidFill>
                  <a:schemeClr val="tx2"/>
                </a:solidFill>
                <a:latin typeface="Courier New" pitchFamily="49" charset="0"/>
                <a:cs typeface="Courier New" pitchFamily="49" charset="0"/>
              </a:rPr>
              <a:t>  </a:t>
            </a:r>
          </a:p>
          <a:p>
            <a:pPr lvl="2"/>
            <a:r>
              <a:rPr lang="zh-CN" altLang="en-US" dirty="0"/>
              <a:t>参数</a:t>
            </a:r>
            <a:r>
              <a:rPr lang="en-US" altLang="zh-CN" dirty="0" err="1"/>
              <a:t>a,b</a:t>
            </a:r>
            <a:r>
              <a:rPr lang="en-US" altLang="zh-CN" dirty="0"/>
              <a:t> </a:t>
            </a:r>
            <a:r>
              <a:rPr lang="zh-CN" altLang="en-US" dirty="0"/>
              <a:t>给出定积分的上下限，函数指针</a:t>
            </a:r>
            <a:r>
              <a:rPr lang="en-US" altLang="zh-CN" dirty="0" err="1"/>
              <a:t>pf</a:t>
            </a:r>
            <a:r>
              <a:rPr lang="en-US" altLang="zh-CN" dirty="0"/>
              <a:t> </a:t>
            </a:r>
            <a:r>
              <a:rPr lang="zh-CN" altLang="en-US" dirty="0"/>
              <a:t>则指向被积函数（函数体从略）。在使用时可以对不同的浮点函数和上下限，调用</a:t>
            </a:r>
            <a:r>
              <a:rPr lang="en-US" altLang="zh-CN" dirty="0" err="1"/>
              <a:t>simpson</a:t>
            </a:r>
            <a:r>
              <a:rPr lang="en-US" altLang="zh-CN" dirty="0"/>
              <a:t>()</a:t>
            </a:r>
            <a:r>
              <a:rPr lang="zh-CN" altLang="en-US" dirty="0"/>
              <a:t>计算其定积分</a:t>
            </a:r>
          </a:p>
        </p:txBody>
      </p:sp>
      <p:sp>
        <p:nvSpPr>
          <p:cNvPr id="18" name="矩形 17">
            <a:hlinkClick r:id="" action="ppaction://noaction"/>
            <a:extLst>
              <a:ext uri="{FF2B5EF4-FFF2-40B4-BE49-F238E27FC236}">
                <a16:creationId xmlns:a16="http://schemas.microsoft.com/office/drawing/2014/main" id="{71266C74-CBE9-4563-B146-C16A62A19BE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19" name="矩形 18">
            <a:hlinkClick r:id="" action="ppaction://noaction"/>
            <a:extLst>
              <a:ext uri="{FF2B5EF4-FFF2-40B4-BE49-F238E27FC236}">
                <a16:creationId xmlns:a16="http://schemas.microsoft.com/office/drawing/2014/main" id="{0A2EA6BF-7F6D-403F-ABD1-DA2E5D8CEC9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A346A075-B722-4CDA-9BE0-7C51EA07959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1" name="矩形 20">
            <a:hlinkClick r:id="" action="ppaction://noaction"/>
            <a:extLst>
              <a:ext uri="{FF2B5EF4-FFF2-40B4-BE49-F238E27FC236}">
                <a16:creationId xmlns:a16="http://schemas.microsoft.com/office/drawing/2014/main" id="{F8ABB6E3-E9E8-4A3B-BF32-D48EA1F566B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rId3" action="ppaction://hlinksldjump"/>
            <a:extLst>
              <a:ext uri="{FF2B5EF4-FFF2-40B4-BE49-F238E27FC236}">
                <a16:creationId xmlns:a16="http://schemas.microsoft.com/office/drawing/2014/main" id="{10FA04E4-4C5E-4C21-ADB7-40AB2938891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0814B7C2-D59A-4B1E-8584-CDA6793A220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378A3BC8-5EC9-49C1-AC3F-6B682B20170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3" name="矩形 22">
            <a:hlinkClick r:id="" action="ppaction://noaction"/>
            <a:extLst>
              <a:ext uri="{FF2B5EF4-FFF2-40B4-BE49-F238E27FC236}">
                <a16:creationId xmlns:a16="http://schemas.microsoft.com/office/drawing/2014/main" id="{4981A151-6215-4384-BAA8-C6BCA4706CE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86160730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4356" y="1639218"/>
            <a:ext cx="8401048" cy="4685382"/>
          </a:xfrm>
        </p:spPr>
        <p:txBody>
          <a:bodyPr/>
          <a:lstStyle/>
          <a:p>
            <a:r>
              <a:rPr lang="zh-CN" altLang="en-US" dirty="0"/>
              <a:t>根据给出的函数原型，设计函数，计算定积分并上机验证。</a:t>
            </a:r>
            <a:endParaRPr lang="en-US" altLang="zh-CN" dirty="0"/>
          </a:p>
          <a:p>
            <a:pPr lvl="1"/>
            <a:r>
              <a:rPr lang="zh-CN" altLang="en-US" dirty="0"/>
              <a:t>计算定积分的函数原型</a:t>
            </a:r>
            <a:endParaRPr lang="en-US" altLang="zh-CN" dirty="0"/>
          </a:p>
          <a:p>
            <a:pPr>
              <a:buNone/>
            </a:pPr>
            <a:r>
              <a:rPr lang="en-US" altLang="zh-CN" sz="2000" dirty="0">
                <a:solidFill>
                  <a:srgbClr val="0000FF"/>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integral(</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b,</a:t>
            </a:r>
            <a:r>
              <a:rPr lang="en-US" altLang="zh-CN" sz="2000" b="1" dirty="0" err="1">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(*fun)(</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a:t>
            </a:r>
          </a:p>
          <a:p>
            <a:pPr lvl="1"/>
            <a:r>
              <a:rPr lang="zh-CN" altLang="en-US" dirty="0"/>
              <a:t>计算以下</a:t>
            </a:r>
            <a:r>
              <a:rPr lang="en-US" altLang="zh-CN" dirty="0"/>
              <a:t>5</a:t>
            </a:r>
            <a:r>
              <a:rPr lang="zh-CN" altLang="en-US" dirty="0"/>
              <a:t>个定积分</a:t>
            </a:r>
            <a:endParaRPr lang="en-US" altLang="zh-CN" dirty="0"/>
          </a:p>
          <a:p>
            <a:pPr lvl="2"/>
            <a:endParaRPr lang="zh-CN" altLang="en-US" dirty="0"/>
          </a:p>
        </p:txBody>
      </p:sp>
      <p:graphicFrame>
        <p:nvGraphicFramePr>
          <p:cNvPr id="6" name="对象 5"/>
          <p:cNvGraphicFramePr>
            <a:graphicFrameLocks noChangeAspect="1"/>
          </p:cNvGraphicFramePr>
          <p:nvPr>
            <p:extLst/>
          </p:nvPr>
        </p:nvGraphicFramePr>
        <p:xfrm>
          <a:off x="1285852" y="4317903"/>
          <a:ext cx="2428892" cy="487165"/>
        </p:xfrm>
        <a:graphic>
          <a:graphicData uri="http://schemas.openxmlformats.org/presentationml/2006/ole">
            <mc:AlternateContent xmlns:mc="http://schemas.openxmlformats.org/markup-compatibility/2006">
              <mc:Choice xmlns:v="urn:schemas-microsoft-com:vml" Requires="v">
                <p:oleObj spid="_x0000_s2415" name="Equation" r:id="rId4" imgW="25298400" imgH="7620000" progId="">
                  <p:embed/>
                </p:oleObj>
              </mc:Choice>
              <mc:Fallback>
                <p:oleObj name="Equation" r:id="rId4" imgW="25298400" imgH="7620000" progId="">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52" y="4317903"/>
                        <a:ext cx="2428892" cy="487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extLst/>
          </p:nvPr>
        </p:nvGraphicFramePr>
        <p:xfrm>
          <a:off x="1285852" y="4902101"/>
          <a:ext cx="2603500" cy="487362"/>
        </p:xfrm>
        <a:graphic>
          <a:graphicData uri="http://schemas.openxmlformats.org/presentationml/2006/ole">
            <mc:AlternateContent xmlns:mc="http://schemas.openxmlformats.org/markup-compatibility/2006">
              <mc:Choice xmlns:v="urn:schemas-microsoft-com:vml" Requires="v">
                <p:oleObj spid="_x0000_s2416" name="Equation" r:id="rId6" imgW="27127200" imgH="7620000" progId="">
                  <p:embed/>
                </p:oleObj>
              </mc:Choice>
              <mc:Fallback>
                <p:oleObj name="Equation" r:id="rId6" imgW="27127200" imgH="7620000" progId="">
                  <p:embed/>
                  <p:pic>
                    <p:nvPicPr>
                      <p:cNvPr id="2051"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52" y="4902101"/>
                        <a:ext cx="2603500"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extLst/>
          </p:nvPr>
        </p:nvGraphicFramePr>
        <p:xfrm>
          <a:off x="1285852" y="5554563"/>
          <a:ext cx="1463675" cy="466725"/>
        </p:xfrm>
        <a:graphic>
          <a:graphicData uri="http://schemas.openxmlformats.org/presentationml/2006/ole">
            <mc:AlternateContent xmlns:mc="http://schemas.openxmlformats.org/markup-compatibility/2006">
              <mc:Choice xmlns:v="urn:schemas-microsoft-com:vml" Requires="v">
                <p:oleObj spid="_x0000_s2417" name="Equation" r:id="rId8" imgW="15240000" imgH="7315200" progId="">
                  <p:embed/>
                </p:oleObj>
              </mc:Choice>
              <mc:Fallback>
                <p:oleObj name="Equation" r:id="rId8" imgW="15240000" imgH="7315200" progId="">
                  <p:embed/>
                  <p:pic>
                    <p:nvPicPr>
                      <p:cNvPr id="2052"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5852" y="5554563"/>
                        <a:ext cx="14636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extLst/>
          </p:nvPr>
        </p:nvGraphicFramePr>
        <p:xfrm>
          <a:off x="4595813" y="4317901"/>
          <a:ext cx="2809875" cy="487362"/>
        </p:xfrm>
        <a:graphic>
          <a:graphicData uri="http://schemas.openxmlformats.org/presentationml/2006/ole">
            <mc:AlternateContent xmlns:mc="http://schemas.openxmlformats.org/markup-compatibility/2006">
              <mc:Choice xmlns:v="urn:schemas-microsoft-com:vml" Requires="v">
                <p:oleObj spid="_x0000_s2418" name="Equation" r:id="rId10" imgW="29260800" imgH="7620000" progId="">
                  <p:embed/>
                </p:oleObj>
              </mc:Choice>
              <mc:Fallback>
                <p:oleObj name="Equation" r:id="rId10" imgW="29260800" imgH="7620000" progId="">
                  <p:embed/>
                  <p:pic>
                    <p:nvPicPr>
                      <p:cNvPr id="2053"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95813" y="4317901"/>
                        <a:ext cx="2809875"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6"/>
          <p:cNvGraphicFramePr>
            <a:graphicFrameLocks noChangeAspect="1"/>
          </p:cNvGraphicFramePr>
          <p:nvPr>
            <p:extLst/>
          </p:nvPr>
        </p:nvGraphicFramePr>
        <p:xfrm>
          <a:off x="4572000" y="4889401"/>
          <a:ext cx="2633662" cy="487362"/>
        </p:xfrm>
        <a:graphic>
          <a:graphicData uri="http://schemas.openxmlformats.org/presentationml/2006/ole">
            <mc:AlternateContent xmlns:mc="http://schemas.openxmlformats.org/markup-compatibility/2006">
              <mc:Choice xmlns:v="urn:schemas-microsoft-com:vml" Requires="v">
                <p:oleObj spid="_x0000_s2419" name="Equation" r:id="rId12" imgW="27432000" imgH="7620000" progId="">
                  <p:embed/>
                </p:oleObj>
              </mc:Choice>
              <mc:Fallback>
                <p:oleObj name="Equation" r:id="rId12" imgW="27432000" imgH="7620000" progId="">
                  <p:embed/>
                  <p:pic>
                    <p:nvPicPr>
                      <p:cNvPr id="2054"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0" y="4889401"/>
                        <a:ext cx="2633662"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7">
            <a:extLst>
              <a:ext uri="{FF2B5EF4-FFF2-40B4-BE49-F238E27FC236}">
                <a16:creationId xmlns:a16="http://schemas.microsoft.com/office/drawing/2014/main" id="{AF314DC4-D3E5-4644-AA09-673800DC6FBC}"/>
              </a:ext>
            </a:extLst>
          </p:cNvPr>
          <p:cNvSpPr>
            <a:spLocks noGrp="1"/>
          </p:cNvSpPr>
          <p:nvPr>
            <p:ph type="title"/>
          </p:nvPr>
        </p:nvSpPr>
        <p:spPr/>
        <p:txBody>
          <a:bodyPr/>
          <a:lstStyle/>
          <a:p>
            <a:r>
              <a:rPr lang="en-US" altLang="zh-CN" dirty="0"/>
              <a:t>【</a:t>
            </a:r>
            <a:r>
              <a:rPr lang="zh-CN" altLang="en-US" dirty="0"/>
              <a:t>练习</a:t>
            </a:r>
            <a:r>
              <a:rPr lang="en-US" altLang="zh-CN" dirty="0"/>
              <a:t>】</a:t>
            </a:r>
            <a:endParaRPr lang="zh-CN" altLang="en-US" dirty="0"/>
          </a:p>
        </p:txBody>
      </p:sp>
      <p:sp>
        <p:nvSpPr>
          <p:cNvPr id="23" name="矩形 22">
            <a:hlinkClick r:id="" action="ppaction://noaction"/>
            <a:extLst>
              <a:ext uri="{FF2B5EF4-FFF2-40B4-BE49-F238E27FC236}">
                <a16:creationId xmlns:a16="http://schemas.microsoft.com/office/drawing/2014/main" id="{7C5AF637-7EF5-4794-B633-865E8497BF6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指针参数</a:t>
            </a:r>
          </a:p>
        </p:txBody>
      </p:sp>
      <p:sp>
        <p:nvSpPr>
          <p:cNvPr id="24" name="矩形 23">
            <a:hlinkClick r:id="" action="ppaction://noaction"/>
            <a:extLst>
              <a:ext uri="{FF2B5EF4-FFF2-40B4-BE49-F238E27FC236}">
                <a16:creationId xmlns:a16="http://schemas.microsoft.com/office/drawing/2014/main" id="{D6E4B763-A17A-4808-BB12-5BCB1CEA9AE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函数返回指针</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5" name="矩形 24">
            <a:hlinkClick r:id="" action="ppaction://noaction"/>
            <a:extLst>
              <a:ext uri="{FF2B5EF4-FFF2-40B4-BE49-F238E27FC236}">
                <a16:creationId xmlns:a16="http://schemas.microsoft.com/office/drawing/2014/main" id="{2BF82ACA-89AB-444E-B21F-E6C9504092F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函数指针</a:t>
            </a:r>
          </a:p>
        </p:txBody>
      </p:sp>
      <p:sp>
        <p:nvSpPr>
          <p:cNvPr id="26" name="矩形 25">
            <a:hlinkClick r:id="" action="ppaction://noaction"/>
            <a:extLst>
              <a:ext uri="{FF2B5EF4-FFF2-40B4-BE49-F238E27FC236}">
                <a16:creationId xmlns:a16="http://schemas.microsoft.com/office/drawing/2014/main" id="{F27267D6-BFC3-4137-9E63-56A8A66E79E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rId14" action="ppaction://hlinksldjump"/>
            <a:extLst>
              <a:ext uri="{FF2B5EF4-FFF2-40B4-BE49-F238E27FC236}">
                <a16:creationId xmlns:a16="http://schemas.microsoft.com/office/drawing/2014/main" id="{463EB188-F747-4893-B8CE-432850D7782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73B09B5B-5A85-4ECA-9566-1C796120C78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7" name="矩形 26">
            <a:hlinkClick r:id="" action="ppaction://noaction"/>
            <a:extLst>
              <a:ext uri="{FF2B5EF4-FFF2-40B4-BE49-F238E27FC236}">
                <a16:creationId xmlns:a16="http://schemas.microsoft.com/office/drawing/2014/main" id="{513E1004-FE38-46E2-934E-E7DBAE4F9F3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8" name="矩形 27">
            <a:hlinkClick r:id="" action="ppaction://noaction"/>
            <a:extLst>
              <a:ext uri="{FF2B5EF4-FFF2-40B4-BE49-F238E27FC236}">
                <a16:creationId xmlns:a16="http://schemas.microsoft.com/office/drawing/2014/main" id="{3AA84596-D3C0-47DF-9C10-193B3562D0E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Tree>
    <p:extLst>
      <p:ext uri="{BB962C8B-B14F-4D97-AF65-F5344CB8AC3E}">
        <p14:creationId xmlns:p14="http://schemas.microsoft.com/office/powerpoint/2010/main" val="260428190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D9ECB8D-C285-4830-8D00-ACC5A01D5096}"/>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定义语句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(*p)( );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的含义是（     ）</a:t>
            </a:r>
          </a:p>
        </p:txBody>
      </p:sp>
      <p:sp>
        <p:nvSpPr>
          <p:cNvPr id="7" name="文本框 6">
            <a:extLst>
              <a:ext uri="{FF2B5EF4-FFF2-40B4-BE49-F238E27FC236}">
                <a16:creationId xmlns:a16="http://schemas.microsoft.com/office/drawing/2014/main" id="{AC0069BE-B5E2-40E4-8E98-E89868C90029}"/>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是一个函数名，该函数返回值是指针</a:t>
            </a:r>
          </a:p>
        </p:txBody>
      </p:sp>
      <p:sp>
        <p:nvSpPr>
          <p:cNvPr id="8" name="文本框 7">
            <a:extLst>
              <a:ext uri="{FF2B5EF4-FFF2-40B4-BE49-F238E27FC236}">
                <a16:creationId xmlns:a16="http://schemas.microsoft.com/office/drawing/2014/main" id="{0CAB8629-3AE9-4330-BA09-F11294BBECCA}"/>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是一个指向一维数组的指针变量</a:t>
            </a:r>
          </a:p>
        </p:txBody>
      </p:sp>
      <p:sp>
        <p:nvSpPr>
          <p:cNvPr id="9" name="文本框 8">
            <a:extLst>
              <a:ext uri="{FF2B5EF4-FFF2-40B4-BE49-F238E27FC236}">
                <a16:creationId xmlns:a16="http://schemas.microsoft.com/office/drawing/2014/main" id="{9B38D709-765E-4948-BA97-29E2DAC67ED9}"/>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是一个指向函数的指针，该函数返回值是整数</a:t>
            </a:r>
          </a:p>
        </p:txBody>
      </p:sp>
      <p:sp>
        <p:nvSpPr>
          <p:cNvPr id="10" name="文本框 9">
            <a:extLst>
              <a:ext uri="{FF2B5EF4-FFF2-40B4-BE49-F238E27FC236}">
                <a16:creationId xmlns:a16="http://schemas.microsoft.com/office/drawing/2014/main" id="{AD63A1DF-B747-4AE3-BD88-F3BDE827D7B2}"/>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以上都不对</a:t>
            </a:r>
          </a:p>
        </p:txBody>
      </p:sp>
      <p:sp>
        <p:nvSpPr>
          <p:cNvPr id="11" name="椭圆 10">
            <a:extLst>
              <a:ext uri="{FF2B5EF4-FFF2-40B4-BE49-F238E27FC236}">
                <a16:creationId xmlns:a16="http://schemas.microsoft.com/office/drawing/2014/main" id="{7652B225-B8E6-433A-9939-08100CBF8153}"/>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764EFA34-BADC-4906-AC7F-0DD76E800D5B}"/>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ED667043-686C-4847-8C5A-52BDA9C8D40E}"/>
              </a:ext>
            </a:extLst>
          </p:cNvPr>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9A56FF56-23B6-426B-B774-FFD561EB444A}"/>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F4FEF4CF-94E9-4448-8EB2-7503C4FC2967}"/>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57D2C7B0-2A94-458E-A597-426C55E460DA}"/>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4E7EA6F8-B1AA-44BF-AE6C-08FFCD6A456D}"/>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FF9F9A21-ACE3-4DD0-A07A-ECCD49658FC9}"/>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7BB9C671-39FB-4959-AA4B-D3C275C6DF0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151730F4-2306-4200-8814-4B4C43F34502}"/>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6078083F-2A28-4B99-9B35-0BD4F37717A5}"/>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16431639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1424693"/>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5" name="五边形 24"/>
          <p:cNvSpPr/>
          <p:nvPr/>
        </p:nvSpPr>
        <p:spPr bwMode="auto">
          <a:xfrm flipH="1">
            <a:off x="2040062" y="234721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1600" y="1419527"/>
            <a:ext cx="792162" cy="788989"/>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1600" y="2344043"/>
            <a:ext cx="792162" cy="788988"/>
            <a:chOff x="854055" y="1643050"/>
            <a:chExt cx="792165" cy="788992"/>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动态内存分配</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引用类型</a:t>
            </a:r>
          </a:p>
        </p:txBody>
      </p:sp>
      <p:sp>
        <p:nvSpPr>
          <p:cNvPr id="53" name="矩形 52">
            <a:hlinkClick r:id="rId4" action="ppaction://hlinksldjump"/>
            <a:extLst>
              <a:ext uri="{FF2B5EF4-FFF2-40B4-BE49-F238E27FC236}">
                <a16:creationId xmlns:a16="http://schemas.microsoft.com/office/drawing/2014/main" id="{A47E000E-E292-466A-AA33-B4B4C7E4309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54" name="矩形 53">
            <a:hlinkClick r:id="" action="ppaction://noaction"/>
            <a:extLst>
              <a:ext uri="{FF2B5EF4-FFF2-40B4-BE49-F238E27FC236}">
                <a16:creationId xmlns:a16="http://schemas.microsoft.com/office/drawing/2014/main" id="{C5EBC3A7-7D14-485E-A3A0-C40BD13AFC5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55" name="矩形 54">
            <a:hlinkClick r:id="" action="ppaction://noaction"/>
            <a:extLst>
              <a:ext uri="{FF2B5EF4-FFF2-40B4-BE49-F238E27FC236}">
                <a16:creationId xmlns:a16="http://schemas.microsoft.com/office/drawing/2014/main" id="{44FD20AD-C5DC-48C3-B0EF-6CD140F9557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57" name="矩形 56">
            <a:hlinkClick r:id="" action="ppaction://noaction"/>
            <a:extLst>
              <a:ext uri="{FF2B5EF4-FFF2-40B4-BE49-F238E27FC236}">
                <a16:creationId xmlns:a16="http://schemas.microsoft.com/office/drawing/2014/main" id="{46F32E8F-E600-453C-970A-CB7B835D1D7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
        <p:nvSpPr>
          <p:cNvPr id="62" name="五边形 24">
            <a:extLst>
              <a:ext uri="{FF2B5EF4-FFF2-40B4-BE49-F238E27FC236}">
                <a16:creationId xmlns:a16="http://schemas.microsoft.com/office/drawing/2014/main" id="{DAE74B39-47C5-4D45-87BE-14B558FBA14C}"/>
              </a:ext>
            </a:extLst>
          </p:cNvPr>
          <p:cNvSpPr/>
          <p:nvPr/>
        </p:nvSpPr>
        <p:spPr bwMode="auto">
          <a:xfrm flipH="1">
            <a:off x="2040062" y="3297031"/>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3" name="组合 28">
            <a:extLst>
              <a:ext uri="{FF2B5EF4-FFF2-40B4-BE49-F238E27FC236}">
                <a16:creationId xmlns:a16="http://schemas.microsoft.com/office/drawing/2014/main" id="{994747F8-0FE5-4F35-941E-168787C35421}"/>
              </a:ext>
            </a:extLst>
          </p:cNvPr>
          <p:cNvGrpSpPr>
            <a:grpSpLocks/>
          </p:cNvGrpSpPr>
          <p:nvPr/>
        </p:nvGrpSpPr>
        <p:grpSpPr bwMode="auto">
          <a:xfrm>
            <a:off x="1641600" y="3293855"/>
            <a:ext cx="792162" cy="788988"/>
            <a:chOff x="854055" y="1643050"/>
            <a:chExt cx="792165" cy="788992"/>
          </a:xfrm>
        </p:grpSpPr>
        <p:sp>
          <p:nvSpPr>
            <p:cNvPr id="64" name="椭圆 63">
              <a:extLst>
                <a:ext uri="{FF2B5EF4-FFF2-40B4-BE49-F238E27FC236}">
                  <a16:creationId xmlns:a16="http://schemas.microsoft.com/office/drawing/2014/main" id="{A1CC501A-68C8-4F5E-90B4-46D61E4C67CA}"/>
                </a:ext>
              </a:extLst>
            </p:cNvPr>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5" name="图片 22" descr="NANKAI.png">
              <a:extLst>
                <a:ext uri="{FF2B5EF4-FFF2-40B4-BE49-F238E27FC236}">
                  <a16:creationId xmlns:a16="http://schemas.microsoft.com/office/drawing/2014/main" id="{DF4E83C8-A7E3-42B5-A370-A7AD1CFF2DBF}"/>
                </a:ext>
              </a:extLst>
            </p:cNvPr>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sp>
        <p:nvSpPr>
          <p:cNvPr id="66" name="TextBox 43">
            <a:extLst>
              <a:ext uri="{FF2B5EF4-FFF2-40B4-BE49-F238E27FC236}">
                <a16:creationId xmlns:a16="http://schemas.microsoft.com/office/drawing/2014/main" id="{AE30072C-7CCF-4C58-A3A9-7B1681F230F4}"/>
              </a:ext>
            </a:extLst>
          </p:cNvPr>
          <p:cNvSpPr txBox="1"/>
          <p:nvPr/>
        </p:nvSpPr>
        <p:spPr>
          <a:xfrm>
            <a:off x="2627784" y="3418642"/>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引用与函数</a:t>
            </a:r>
          </a:p>
        </p:txBody>
      </p:sp>
      <p:sp>
        <p:nvSpPr>
          <p:cNvPr id="67" name="矩形 66">
            <a:hlinkClick r:id="" action="ppaction://noaction"/>
            <a:extLst>
              <a:ext uri="{FF2B5EF4-FFF2-40B4-BE49-F238E27FC236}">
                <a16:creationId xmlns:a16="http://schemas.microsoft.com/office/drawing/2014/main" id="{ED95A039-E72E-49EB-949D-BC388F3E8BD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68" name="矩形 67">
            <a:hlinkClick r:id="" action="ppaction://noaction"/>
            <a:extLst>
              <a:ext uri="{FF2B5EF4-FFF2-40B4-BE49-F238E27FC236}">
                <a16:creationId xmlns:a16="http://schemas.microsoft.com/office/drawing/2014/main" id="{73AEC012-AAC6-48FC-B413-3BE532D8499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69" name="矩形 68">
            <a:hlinkClick r:id="" action="ppaction://noaction"/>
            <a:extLst>
              <a:ext uri="{FF2B5EF4-FFF2-40B4-BE49-F238E27FC236}">
                <a16:creationId xmlns:a16="http://schemas.microsoft.com/office/drawing/2014/main" id="{4F5CA451-310F-44C3-AB22-6886B1068BA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70" name="矩形 69">
            <a:hlinkClick r:id="" action="ppaction://noaction"/>
            <a:extLst>
              <a:ext uri="{FF2B5EF4-FFF2-40B4-BE49-F238E27FC236}">
                <a16:creationId xmlns:a16="http://schemas.microsoft.com/office/drawing/2014/main" id="{D23A1F17-A3AA-4D86-A4D5-5CD1E8A47CB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3540426388"/>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5" name="标题 4">
            <a:extLst>
              <a:ext uri="{FF2B5EF4-FFF2-40B4-BE49-F238E27FC236}">
                <a16:creationId xmlns:a16="http://schemas.microsoft.com/office/drawing/2014/main" id="{937D4D31-4E6E-44C5-BF9A-E7E813588816}"/>
              </a:ext>
            </a:extLst>
          </p:cNvPr>
          <p:cNvSpPr>
            <a:spLocks noGrp="1"/>
          </p:cNvSpPr>
          <p:nvPr>
            <p:ph type="ctrTitle"/>
          </p:nvPr>
        </p:nvSpPr>
        <p:spPr/>
        <p:txBody>
          <a:bodyPr/>
          <a:lstStyle/>
          <a:p>
            <a:r>
              <a:rPr lang="zh-CN" altLang="en-US" dirty="0"/>
              <a:t>动态内存分配</a:t>
            </a:r>
          </a:p>
        </p:txBody>
      </p:sp>
      <p:sp>
        <p:nvSpPr>
          <p:cNvPr id="10" name="TextBox 8">
            <a:extLst>
              <a:ext uri="{FF2B5EF4-FFF2-40B4-BE49-F238E27FC236}">
                <a16:creationId xmlns:a16="http://schemas.microsoft.com/office/drawing/2014/main" id="{E5C1B6EC-5D11-47C8-9D77-4CD8B8092862}"/>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7497F124-11B0-4553-BB29-C81A1A6F460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D01D10C0-5CE5-4D53-97AB-77BA7B2F494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3748148942"/>
      </p:ext>
    </p:extLst>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动态内存分配的含义</a:t>
            </a:r>
          </a:p>
        </p:txBody>
      </p:sp>
      <p:sp>
        <p:nvSpPr>
          <p:cNvPr id="6" name="AutoShape 3"/>
          <p:cNvSpPr>
            <a:spLocks noChangeArrowheads="1"/>
          </p:cNvSpPr>
          <p:nvPr/>
        </p:nvSpPr>
        <p:spPr bwMode="gray">
          <a:xfrm>
            <a:off x="5562600" y="2695564"/>
            <a:ext cx="2819400" cy="2895600"/>
          </a:xfrm>
          <a:prstGeom prst="chevron">
            <a:avLst>
              <a:gd name="adj" fmla="val 16468"/>
            </a:avLst>
          </a:prstGeom>
          <a:gradFill rotWithShape="1">
            <a:gsLst>
              <a:gs pos="0">
                <a:schemeClr val="accent2"/>
              </a:gs>
              <a:gs pos="100000">
                <a:schemeClr val="accent2">
                  <a:gamma/>
                  <a:shade val="46275"/>
                  <a:invGamma/>
                </a:schemeClr>
              </a:gs>
            </a:gsLst>
            <a:lin ang="0" scaled="1"/>
          </a:gradFill>
          <a:ln w="38100">
            <a:solidFill>
              <a:srgbClr val="EAEAEA"/>
            </a:solidFill>
            <a:miter lim="800000"/>
            <a:headEnd/>
            <a:tailEnd/>
          </a:ln>
          <a:effectLst>
            <a:outerShdw dist="109250" dir="3267739" algn="ctr" rotWithShape="0">
              <a:srgbClr val="333333">
                <a:alpha val="50000"/>
              </a:srgb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charset="0"/>
              <a:ea typeface="宋体" charset="-122"/>
              <a:cs typeface="+mn-cs"/>
            </a:endParaRPr>
          </a:p>
        </p:txBody>
      </p:sp>
      <p:sp>
        <p:nvSpPr>
          <p:cNvPr id="7" name="AutoShape 4"/>
          <p:cNvSpPr>
            <a:spLocks noChangeArrowheads="1"/>
          </p:cNvSpPr>
          <p:nvPr/>
        </p:nvSpPr>
        <p:spPr bwMode="gray">
          <a:xfrm>
            <a:off x="3200400" y="2695564"/>
            <a:ext cx="2971800" cy="2895600"/>
          </a:xfrm>
          <a:prstGeom prst="chevron">
            <a:avLst>
              <a:gd name="adj" fmla="val 17842"/>
            </a:avLst>
          </a:prstGeom>
          <a:gradFill rotWithShape="1">
            <a:gsLst>
              <a:gs pos="0">
                <a:schemeClr val="hlink"/>
              </a:gs>
              <a:gs pos="100000">
                <a:schemeClr val="hlink">
                  <a:gamma/>
                  <a:shade val="46275"/>
                  <a:invGamma/>
                </a:schemeClr>
              </a:gs>
            </a:gsLst>
            <a:lin ang="0" scaled="1"/>
          </a:gradFill>
          <a:ln w="38100">
            <a:solidFill>
              <a:srgbClr val="EAEAEA"/>
            </a:solidFill>
            <a:miter lim="800000"/>
            <a:headEnd/>
            <a:tailEnd/>
          </a:ln>
          <a:effectLst>
            <a:outerShdw dist="109250" dir="3267739" algn="ctr" rotWithShape="0">
              <a:srgbClr val="333333">
                <a:alpha val="50000"/>
              </a:srgb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charset="0"/>
              <a:ea typeface="宋体" charset="-122"/>
              <a:cs typeface="+mn-cs"/>
            </a:endParaRPr>
          </a:p>
        </p:txBody>
      </p:sp>
      <p:sp>
        <p:nvSpPr>
          <p:cNvPr id="8" name="AutoShape 5"/>
          <p:cNvSpPr>
            <a:spLocks noChangeArrowheads="1"/>
          </p:cNvSpPr>
          <p:nvPr/>
        </p:nvSpPr>
        <p:spPr bwMode="gray">
          <a:xfrm>
            <a:off x="838200" y="2695564"/>
            <a:ext cx="2971800" cy="2895600"/>
          </a:xfrm>
          <a:prstGeom prst="chevron">
            <a:avLst>
              <a:gd name="adj" fmla="val 17842"/>
            </a:avLst>
          </a:prstGeom>
          <a:gradFill rotWithShape="1">
            <a:gsLst>
              <a:gs pos="0">
                <a:schemeClr val="accent1"/>
              </a:gs>
              <a:gs pos="100000">
                <a:schemeClr val="accent1">
                  <a:gamma/>
                  <a:shade val="46275"/>
                  <a:invGamma/>
                </a:schemeClr>
              </a:gs>
            </a:gsLst>
            <a:lin ang="0" scaled="1"/>
          </a:gradFill>
          <a:ln w="38100">
            <a:solidFill>
              <a:srgbClr val="EAEAEA"/>
            </a:solidFill>
            <a:miter lim="800000"/>
            <a:headEnd/>
            <a:tailEnd/>
          </a:ln>
          <a:effectLst>
            <a:outerShdw dist="109250" dir="3267739" algn="ctr" rotWithShape="0">
              <a:srgbClr val="333333">
                <a:alpha val="50000"/>
              </a:srgb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charset="0"/>
              <a:ea typeface="宋体" charset="-122"/>
              <a:cs typeface="+mn-cs"/>
            </a:endParaRPr>
          </a:p>
        </p:txBody>
      </p:sp>
      <p:sp>
        <p:nvSpPr>
          <p:cNvPr id="9" name="AutoShape 6"/>
          <p:cNvSpPr>
            <a:spLocks noChangeArrowheads="1"/>
          </p:cNvSpPr>
          <p:nvPr/>
        </p:nvSpPr>
        <p:spPr bwMode="gray">
          <a:xfrm>
            <a:off x="1066800" y="1857364"/>
            <a:ext cx="2057400" cy="574675"/>
          </a:xfrm>
          <a:prstGeom prst="roundRect">
            <a:avLst>
              <a:gd name="adj" fmla="val 50000"/>
            </a:avLst>
          </a:prstGeom>
          <a:gradFill rotWithShape="1">
            <a:gsLst>
              <a:gs pos="0">
                <a:schemeClr val="accent1"/>
              </a:gs>
              <a:gs pos="100000">
                <a:schemeClr val="accent1">
                  <a:gamma/>
                  <a:shade val="46275"/>
                  <a:invGamma/>
                </a:schemeClr>
              </a:gs>
            </a:gsLst>
            <a:lin ang="0" scaled="1"/>
          </a:gradFill>
          <a:ln w="38100" algn="ctr">
            <a:solidFill>
              <a:srgbClr val="FFFFFF"/>
            </a:solidFill>
            <a:round/>
            <a:headEnd/>
            <a:tailEnd/>
          </a:ln>
          <a:effectLst>
            <a:outerShdw dist="63500" dir="3187806" algn="ctr" rotWithShape="0">
              <a:srgbClr val="001D3A"/>
            </a:outer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Arial" charset="0"/>
                <a:ea typeface="宋体" pitchFamily="2" charset="-122"/>
                <a:cs typeface="+mn-cs"/>
              </a:rPr>
              <a:t>静态存储区</a:t>
            </a:r>
            <a:endParaRPr kumimoji="0" lang="en-US" altLang="zh-CN" sz="2000" b="1" i="0" u="none" strike="noStrike" kern="1200" cap="none" spc="0" normalizeH="0" baseline="0" noProof="0" dirty="0">
              <a:ln>
                <a:noFill/>
              </a:ln>
              <a:solidFill>
                <a:prstClr val="white"/>
              </a:solidFill>
              <a:effectLst/>
              <a:uLnTx/>
              <a:uFillTx/>
              <a:latin typeface="Arial" charset="0"/>
              <a:ea typeface="宋体" pitchFamily="2" charset="-122"/>
              <a:cs typeface="+mn-cs"/>
            </a:endParaRPr>
          </a:p>
        </p:txBody>
      </p:sp>
      <p:sp>
        <p:nvSpPr>
          <p:cNvPr id="10" name="AutoShape 7"/>
          <p:cNvSpPr>
            <a:spLocks noChangeArrowheads="1"/>
          </p:cNvSpPr>
          <p:nvPr/>
        </p:nvSpPr>
        <p:spPr bwMode="gray">
          <a:xfrm>
            <a:off x="3386138" y="1857364"/>
            <a:ext cx="2057400" cy="574675"/>
          </a:xfrm>
          <a:prstGeom prst="roundRect">
            <a:avLst>
              <a:gd name="adj" fmla="val 50000"/>
            </a:avLst>
          </a:prstGeom>
          <a:gradFill rotWithShape="1">
            <a:gsLst>
              <a:gs pos="0">
                <a:schemeClr val="hlink"/>
              </a:gs>
              <a:gs pos="100000">
                <a:schemeClr val="hlink">
                  <a:gamma/>
                  <a:shade val="46275"/>
                  <a:invGamma/>
                </a:schemeClr>
              </a:gs>
            </a:gsLst>
            <a:lin ang="0" scaled="1"/>
          </a:gradFill>
          <a:ln w="38100" algn="ctr">
            <a:solidFill>
              <a:srgbClr val="FFFFFF"/>
            </a:solidFill>
            <a:round/>
            <a:headEnd/>
            <a:tailEnd/>
          </a:ln>
          <a:effectLst>
            <a:outerShdw dist="63500" dir="3187806" algn="ctr" rotWithShape="0">
              <a:srgbClr val="001D3A"/>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Arial" charset="0"/>
                <a:ea typeface="宋体" pitchFamily="2" charset="-122"/>
                <a:cs typeface="+mn-cs"/>
              </a:rPr>
              <a:t>栈区</a:t>
            </a:r>
            <a:endParaRPr kumimoji="0" lang="en-US" altLang="zh-CN" sz="2000" b="1" i="0" u="none" strike="noStrike" kern="1200" cap="none" spc="0" normalizeH="0" baseline="0" noProof="0" dirty="0">
              <a:ln>
                <a:noFill/>
              </a:ln>
              <a:solidFill>
                <a:prstClr val="white"/>
              </a:solidFill>
              <a:effectLst/>
              <a:uLnTx/>
              <a:uFillTx/>
              <a:latin typeface="Arial" charset="0"/>
              <a:ea typeface="宋体" pitchFamily="2" charset="-122"/>
              <a:cs typeface="+mn-cs"/>
            </a:endParaRPr>
          </a:p>
        </p:txBody>
      </p:sp>
      <p:sp>
        <p:nvSpPr>
          <p:cNvPr id="11" name="AutoShape 8"/>
          <p:cNvSpPr>
            <a:spLocks noChangeArrowheads="1"/>
          </p:cNvSpPr>
          <p:nvPr/>
        </p:nvSpPr>
        <p:spPr bwMode="gray">
          <a:xfrm>
            <a:off x="5715000" y="1857364"/>
            <a:ext cx="2057400" cy="574675"/>
          </a:xfrm>
          <a:prstGeom prst="roundRect">
            <a:avLst>
              <a:gd name="adj" fmla="val 50000"/>
            </a:avLst>
          </a:prstGeom>
          <a:gradFill rotWithShape="1">
            <a:gsLst>
              <a:gs pos="0">
                <a:schemeClr val="accent2"/>
              </a:gs>
              <a:gs pos="100000">
                <a:schemeClr val="accent2">
                  <a:gamma/>
                  <a:shade val="46275"/>
                  <a:invGamma/>
                </a:schemeClr>
              </a:gs>
            </a:gsLst>
            <a:lin ang="0" scaled="1"/>
          </a:gradFill>
          <a:ln w="38100" algn="ctr">
            <a:solidFill>
              <a:srgbClr val="FFFFFF"/>
            </a:solidFill>
            <a:round/>
            <a:headEnd/>
            <a:tailEnd/>
          </a:ln>
          <a:effectLst>
            <a:outerShdw dist="63500" dir="3187806" algn="ctr" rotWithShape="0">
              <a:srgbClr val="001D3A"/>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Arial" charset="0"/>
                <a:ea typeface="宋体" pitchFamily="2" charset="-122"/>
                <a:cs typeface="+mn-cs"/>
              </a:rPr>
              <a:t>堆</a:t>
            </a:r>
            <a:endParaRPr kumimoji="0" lang="en-US" altLang="zh-CN" sz="2000" b="1" i="0" u="none" strike="noStrike" kern="1200" cap="none" spc="0" normalizeH="0" baseline="0" noProof="0" dirty="0">
              <a:ln>
                <a:noFill/>
              </a:ln>
              <a:solidFill>
                <a:prstClr val="white"/>
              </a:solidFill>
              <a:effectLst/>
              <a:uLnTx/>
              <a:uFillTx/>
              <a:latin typeface="Arial" charset="0"/>
              <a:ea typeface="宋体" pitchFamily="2" charset="-122"/>
              <a:cs typeface="+mn-cs"/>
            </a:endParaRPr>
          </a:p>
        </p:txBody>
      </p:sp>
      <p:sp>
        <p:nvSpPr>
          <p:cNvPr id="12" name="TextBox 11"/>
          <p:cNvSpPr txBox="1"/>
          <p:nvPr/>
        </p:nvSpPr>
        <p:spPr>
          <a:xfrm>
            <a:off x="1428728" y="2928934"/>
            <a:ext cx="1714512" cy="267765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rPr>
              <a:t>自动分配内存空间并初始化，空间始终有效</a:t>
            </a:r>
            <a:endParaRPr kumimoji="0" lang="en-US" altLang="zh-CN"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全局变量</a:t>
            </a:r>
            <a:endParaRPr kumimoji="0" lang="en-US" altLang="zh-CN"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静态变量</a:t>
            </a:r>
          </a:p>
        </p:txBody>
      </p:sp>
      <p:sp>
        <p:nvSpPr>
          <p:cNvPr id="13" name="TextBox 12"/>
          <p:cNvSpPr txBox="1"/>
          <p:nvPr/>
        </p:nvSpPr>
        <p:spPr>
          <a:xfrm>
            <a:off x="3857620" y="2928934"/>
            <a:ext cx="1714512" cy="230832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rPr>
              <a:t>分配内存空间不进行初始化，随时释放该空间</a:t>
            </a:r>
            <a:endParaRPr kumimoji="0" lang="en-US" altLang="zh-CN"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自动变量</a:t>
            </a:r>
          </a:p>
        </p:txBody>
      </p:sp>
      <p:sp>
        <p:nvSpPr>
          <p:cNvPr id="14" name="TextBox 13"/>
          <p:cNvSpPr txBox="1"/>
          <p:nvPr/>
        </p:nvSpPr>
        <p:spPr>
          <a:xfrm>
            <a:off x="6215074" y="2928934"/>
            <a:ext cx="1714512" cy="156966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rPr>
              <a:t>动态内存分配</a:t>
            </a:r>
            <a:endParaRPr kumimoji="0" lang="en-US" altLang="zh-CN" sz="2400" b="1" i="0" u="none" strike="noStrike" kern="1200" cap="none" spc="0" normalizeH="0" baseline="0" noProof="0" dirty="0">
              <a:ln>
                <a:noFill/>
              </a:ln>
              <a:solidFill>
                <a:prstClr val="white"/>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分配内存</a:t>
            </a:r>
            <a:endParaRPr kumimoji="0" lang="en-US" altLang="zh-CN"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Ø"/>
              <a:tabLst/>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回收内存</a:t>
            </a:r>
          </a:p>
        </p:txBody>
      </p:sp>
      <p:sp>
        <p:nvSpPr>
          <p:cNvPr id="22" name="矩形 21">
            <a:hlinkClick r:id="rId2" action="ppaction://hlinksldjump"/>
            <a:extLst>
              <a:ext uri="{FF2B5EF4-FFF2-40B4-BE49-F238E27FC236}">
                <a16:creationId xmlns:a16="http://schemas.microsoft.com/office/drawing/2014/main" id="{24045FED-23AD-4A89-A788-481445E84AA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1" name="矩形 30">
            <a:hlinkClick r:id="" action="ppaction://noaction"/>
            <a:extLst>
              <a:ext uri="{FF2B5EF4-FFF2-40B4-BE49-F238E27FC236}">
                <a16:creationId xmlns:a16="http://schemas.microsoft.com/office/drawing/2014/main" id="{C586C072-69CA-46BF-94C4-4739790BE1D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2" name="矩形 31">
            <a:hlinkClick r:id="" action="ppaction://noaction"/>
            <a:extLst>
              <a:ext uri="{FF2B5EF4-FFF2-40B4-BE49-F238E27FC236}">
                <a16:creationId xmlns:a16="http://schemas.microsoft.com/office/drawing/2014/main" id="{64B4CB17-9A42-4D97-9889-3DA1EA30762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33" name="矩形 32">
            <a:hlinkClick r:id="" action="ppaction://noaction"/>
            <a:extLst>
              <a:ext uri="{FF2B5EF4-FFF2-40B4-BE49-F238E27FC236}">
                <a16:creationId xmlns:a16="http://schemas.microsoft.com/office/drawing/2014/main" id="{4C7CAC2B-6B11-40B3-AE2D-56F0E8B8AA1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4" name="矩形 33">
            <a:hlinkClick r:id="" action="ppaction://noaction"/>
            <a:extLst>
              <a:ext uri="{FF2B5EF4-FFF2-40B4-BE49-F238E27FC236}">
                <a16:creationId xmlns:a16="http://schemas.microsoft.com/office/drawing/2014/main" id="{27484A01-CCAB-4689-A513-7130B394CA8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35" name="矩形 34">
            <a:hlinkClick r:id="" action="ppaction://noaction"/>
            <a:extLst>
              <a:ext uri="{FF2B5EF4-FFF2-40B4-BE49-F238E27FC236}">
                <a16:creationId xmlns:a16="http://schemas.microsoft.com/office/drawing/2014/main" id="{9B54E217-EE15-4249-9116-B918A9E414D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36" name="矩形 35">
            <a:hlinkClick r:id="" action="ppaction://noaction"/>
            <a:extLst>
              <a:ext uri="{FF2B5EF4-FFF2-40B4-BE49-F238E27FC236}">
                <a16:creationId xmlns:a16="http://schemas.microsoft.com/office/drawing/2014/main" id="{E97057C3-ABBF-42BA-A43A-47454C30476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37" name="矩形 36">
            <a:hlinkClick r:id="" action="ppaction://noaction"/>
            <a:extLst>
              <a:ext uri="{FF2B5EF4-FFF2-40B4-BE49-F238E27FC236}">
                <a16:creationId xmlns:a16="http://schemas.microsoft.com/office/drawing/2014/main" id="{41218866-2045-4202-8761-007E6C5D43D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52919054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动态内存分配的含义</a:t>
            </a:r>
          </a:p>
        </p:txBody>
      </p:sp>
      <p:sp>
        <p:nvSpPr>
          <p:cNvPr id="3" name="内容占位符 2"/>
          <p:cNvSpPr>
            <a:spLocks noGrp="1"/>
          </p:cNvSpPr>
          <p:nvPr>
            <p:ph idx="1"/>
          </p:nvPr>
        </p:nvSpPr>
        <p:spPr/>
        <p:txBody>
          <a:bodyPr/>
          <a:lstStyle/>
          <a:p>
            <a:r>
              <a:rPr lang="zh-CN" altLang="en-US" dirty="0"/>
              <a:t>未初始化的指针处于</a:t>
            </a:r>
            <a:r>
              <a:rPr lang="zh-CN" altLang="en-US" dirty="0">
                <a:solidFill>
                  <a:srgbClr val="FF0000"/>
                </a:solidFill>
              </a:rPr>
              <a:t>悬挂</a:t>
            </a:r>
            <a:r>
              <a:rPr lang="zh-CN" altLang="en-US" dirty="0"/>
              <a:t>状态，用人工方式分配内存空间</a:t>
            </a:r>
            <a:endParaRPr lang="en-US" altLang="zh-CN" dirty="0"/>
          </a:p>
          <a:p>
            <a:r>
              <a:rPr lang="zh-CN" altLang="en-US" dirty="0"/>
              <a:t>解决未知空间大小的内存管理问题</a:t>
            </a:r>
            <a:endParaRPr lang="en-US" altLang="zh-CN" dirty="0"/>
          </a:p>
          <a:p>
            <a:pPr lvl="1"/>
            <a:r>
              <a:rPr lang="zh-CN" altLang="en-US" dirty="0"/>
              <a:t>无法预知需要的内存空间大小</a:t>
            </a:r>
            <a:endParaRPr lang="en-US" altLang="zh-CN" dirty="0"/>
          </a:p>
          <a:p>
            <a:pPr lvl="2"/>
            <a:r>
              <a:rPr lang="zh-CN" altLang="en-US" dirty="0"/>
              <a:t>如未知大小的数组</a:t>
            </a:r>
            <a:endParaRPr lang="en-US" altLang="zh-CN" dirty="0"/>
          </a:p>
          <a:p>
            <a:pPr marL="457200" lvl="1" indent="0">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count;</a:t>
            </a:r>
          </a:p>
          <a:p>
            <a:pPr marL="457200" lvl="1" indent="0">
              <a:buNone/>
            </a:pPr>
            <a:r>
              <a:rPr lang="en-US" altLang="zh-CN" b="1" dirty="0" err="1">
                <a:latin typeface="Courier New" pitchFamily="49" charset="0"/>
                <a:cs typeface="Courier New" pitchFamily="49" charset="0"/>
              </a:rPr>
              <a:t>cin</a:t>
            </a:r>
            <a:r>
              <a:rPr lang="en-US" altLang="zh-CN" b="1" dirty="0">
                <a:latin typeface="Courier New" pitchFamily="49" charset="0"/>
                <a:cs typeface="Courier New" pitchFamily="49" charset="0"/>
              </a:rPr>
              <a:t>&gt;&gt;count;</a:t>
            </a:r>
          </a:p>
          <a:p>
            <a:pPr marL="457200" lvl="1" indent="0">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 = </a:t>
            </a:r>
            <a:r>
              <a:rPr lang="en-US" altLang="zh-CN" b="1" dirty="0">
                <a:solidFill>
                  <a:srgbClr val="0000FF"/>
                </a:solidFill>
                <a:latin typeface="Courier New" pitchFamily="49" charset="0"/>
                <a:cs typeface="Courier New" pitchFamily="49" charset="0"/>
              </a:rPr>
              <a:t>new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[count];</a:t>
            </a:r>
          </a:p>
          <a:p>
            <a:pPr lvl="1"/>
            <a:r>
              <a:rPr lang="en-US" altLang="zh-CN" dirty="0"/>
              <a:t>/*</a:t>
            </a:r>
            <a:r>
              <a:rPr lang="zh-CN" altLang="en-US" dirty="0"/>
              <a:t>将指针</a:t>
            </a:r>
            <a:r>
              <a:rPr lang="en-US" altLang="zh-CN" dirty="0"/>
              <a:t>a</a:t>
            </a:r>
            <a:r>
              <a:rPr lang="zh-CN" altLang="en-US" dirty="0"/>
              <a:t>与包含</a:t>
            </a:r>
            <a:r>
              <a:rPr lang="en-US" altLang="zh-CN" dirty="0"/>
              <a:t>count</a:t>
            </a:r>
            <a:r>
              <a:rPr lang="zh-CN" altLang="en-US" dirty="0"/>
              <a:t>个元素的数组关联，该数组没有名字，通过指针</a:t>
            </a:r>
            <a:r>
              <a:rPr lang="en-US" altLang="zh-CN" dirty="0"/>
              <a:t>a</a:t>
            </a:r>
            <a:r>
              <a:rPr lang="zh-CN" altLang="en-US" dirty="0"/>
              <a:t>访问</a:t>
            </a:r>
            <a:r>
              <a:rPr lang="en-US" altLang="zh-CN" dirty="0"/>
              <a:t>*/</a:t>
            </a:r>
            <a:endParaRPr lang="zh-CN" altLang="en-US" dirty="0"/>
          </a:p>
        </p:txBody>
      </p:sp>
      <p:sp>
        <p:nvSpPr>
          <p:cNvPr id="20" name="矩形 19">
            <a:hlinkClick r:id="rId3" action="ppaction://hlinksldjump"/>
            <a:extLst>
              <a:ext uri="{FF2B5EF4-FFF2-40B4-BE49-F238E27FC236}">
                <a16:creationId xmlns:a16="http://schemas.microsoft.com/office/drawing/2014/main" id="{E49AEE83-D2AF-4711-8CF4-BF08AC0145C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A8C48125-1E09-4FF6-9822-7AFB3BDFCC4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3A6F29AA-D9A5-49F9-A228-29B87A449BA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3" name="矩形 22">
            <a:hlinkClick r:id="" action="ppaction://noaction"/>
            <a:extLst>
              <a:ext uri="{FF2B5EF4-FFF2-40B4-BE49-F238E27FC236}">
                <a16:creationId xmlns:a16="http://schemas.microsoft.com/office/drawing/2014/main" id="{213977BE-C3BC-4102-9C91-21821A64610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5A12CBE9-0DFB-477D-9A45-0D367EDDE1E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5" name="矩形 24">
            <a:hlinkClick r:id="" action="ppaction://noaction"/>
            <a:extLst>
              <a:ext uri="{FF2B5EF4-FFF2-40B4-BE49-F238E27FC236}">
                <a16:creationId xmlns:a16="http://schemas.microsoft.com/office/drawing/2014/main" id="{AAD5E1E2-27B7-43B2-8865-5098F198482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6" name="矩形 25">
            <a:hlinkClick r:id="" action="ppaction://noaction"/>
            <a:extLst>
              <a:ext uri="{FF2B5EF4-FFF2-40B4-BE49-F238E27FC236}">
                <a16:creationId xmlns:a16="http://schemas.microsoft.com/office/drawing/2014/main" id="{A24C048F-7BF2-46D2-8950-E0AB9319498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7" name="矩形 26">
            <a:hlinkClick r:id="" action="ppaction://noaction"/>
            <a:extLst>
              <a:ext uri="{FF2B5EF4-FFF2-40B4-BE49-F238E27FC236}">
                <a16:creationId xmlns:a16="http://schemas.microsoft.com/office/drawing/2014/main" id="{6C876DD8-0108-468C-9D27-113224CFBB2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34318935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动态内存分配运算符</a:t>
            </a:r>
          </a:p>
        </p:txBody>
      </p:sp>
      <p:sp>
        <p:nvSpPr>
          <p:cNvPr id="3" name="内容占位符 2"/>
          <p:cNvSpPr>
            <a:spLocks noGrp="1"/>
          </p:cNvSpPr>
          <p:nvPr>
            <p:ph idx="1"/>
          </p:nvPr>
        </p:nvSpPr>
        <p:spPr>
          <a:xfrm>
            <a:off x="457200" y="1844824"/>
            <a:ext cx="8153400" cy="4727448"/>
          </a:xfrm>
        </p:spPr>
        <p:txBody>
          <a:bodyPr/>
          <a:lstStyle/>
          <a:p>
            <a:r>
              <a:rPr lang="zh-CN" altLang="en-US" dirty="0"/>
              <a:t>内存分配运算符</a:t>
            </a:r>
            <a:r>
              <a:rPr lang="en-US" altLang="zh-CN" dirty="0"/>
              <a:t>new</a:t>
            </a:r>
          </a:p>
          <a:p>
            <a:pPr>
              <a:lnSpc>
                <a:spcPct val="90000"/>
              </a:lnSpc>
              <a:buNone/>
            </a:pPr>
            <a:r>
              <a:rPr lang="en-US" altLang="zh-CN" sz="2400" dirty="0">
                <a:solidFill>
                  <a:schemeClr val="hlink"/>
                </a:solidFill>
              </a:rPr>
              <a:t>		</a:t>
            </a:r>
            <a:r>
              <a:rPr lang="en-US" altLang="zh-CN" sz="2400" b="1" dirty="0">
                <a:solidFill>
                  <a:srgbClr val="0000FF"/>
                </a:solidFill>
                <a:latin typeface="Courier New" pitchFamily="49" charset="0"/>
                <a:cs typeface="Courier New" pitchFamily="49" charset="0"/>
              </a:rPr>
              <a:t>new</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&lt;</a:t>
            </a:r>
            <a:r>
              <a:rPr lang="zh-CN" altLang="en-US" sz="2400" b="1" dirty="0">
                <a:latin typeface="Courier New" pitchFamily="49" charset="0"/>
                <a:cs typeface="Courier New" pitchFamily="49" charset="0"/>
              </a:rPr>
              <a:t>类型名&gt;</a:t>
            </a:r>
            <a:r>
              <a:rPr lang="zh-CN" altLang="en-US" sz="2400" b="1" dirty="0">
                <a:solidFill>
                  <a:schemeClr val="tx2"/>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//动态变量</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new</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&lt;</a:t>
            </a:r>
            <a:r>
              <a:rPr lang="zh-CN" altLang="en-US" sz="2400" b="1" dirty="0">
                <a:latin typeface="Courier New" pitchFamily="49" charset="0"/>
                <a:cs typeface="Courier New" pitchFamily="49" charset="0"/>
              </a:rPr>
              <a:t>类型名&gt; [ &lt;元素个数&gt; ]  </a:t>
            </a:r>
            <a:r>
              <a:rPr lang="zh-CN" altLang="en-US" sz="2400" b="1" dirty="0">
                <a:solidFill>
                  <a:srgbClr val="00B050"/>
                </a:solidFill>
                <a:latin typeface="Courier New" pitchFamily="49" charset="0"/>
                <a:cs typeface="Courier New" pitchFamily="49" charset="0"/>
              </a:rPr>
              <a:t>//动态数组</a:t>
            </a:r>
            <a:endParaRPr lang="en-US" altLang="zh-CN" sz="2400" b="1" dirty="0">
              <a:solidFill>
                <a:srgbClr val="00B050"/>
              </a:solidFill>
              <a:latin typeface="Courier New" pitchFamily="49" charset="0"/>
              <a:cs typeface="Courier New" pitchFamily="49" charset="0"/>
            </a:endParaRPr>
          </a:p>
          <a:p>
            <a:pPr lvl="2"/>
            <a:r>
              <a:rPr lang="zh-CN" altLang="en-US" dirty="0"/>
              <a:t>生成一个（或一批)所给类型的</a:t>
            </a:r>
            <a:r>
              <a:rPr lang="zh-CN" altLang="en-US" dirty="0">
                <a:solidFill>
                  <a:srgbClr val="FF0000"/>
                </a:solidFill>
              </a:rPr>
              <a:t>无名动态变量</a:t>
            </a:r>
            <a:r>
              <a:rPr lang="zh-CN" altLang="en-US" dirty="0"/>
              <a:t>,返回所生成变量的一个指针值(首地址)</a:t>
            </a:r>
            <a:endParaRPr lang="en-US" altLang="zh-CN" dirty="0"/>
          </a:p>
          <a:p>
            <a:r>
              <a:rPr lang="zh-CN" altLang="en-US" dirty="0"/>
              <a:t>释放内存运算符</a:t>
            </a:r>
            <a:r>
              <a:rPr lang="en-US" altLang="zh-CN" dirty="0"/>
              <a:t>delete</a:t>
            </a:r>
          </a:p>
          <a:p>
            <a:pPr>
              <a:spcBef>
                <a:spcPts val="0"/>
              </a:spcBef>
              <a:buNone/>
            </a:pPr>
            <a:r>
              <a:rPr lang="zh-CN" altLang="en-US" dirty="0">
                <a:solidFill>
                  <a:srgbClr val="0000FF"/>
                </a:solidFill>
              </a:rPr>
              <a:t> </a:t>
            </a:r>
            <a:r>
              <a:rPr lang="en-US" altLang="zh-CN" dirty="0">
                <a:solidFill>
                  <a:srgbClr val="0000FF"/>
                </a:solidFill>
              </a:rPr>
              <a:t>		</a:t>
            </a:r>
            <a:r>
              <a:rPr lang="en-US" altLang="zh-CN" sz="2400" b="1" dirty="0">
                <a:solidFill>
                  <a:srgbClr val="0000FF"/>
                </a:solidFill>
                <a:latin typeface="Courier New" pitchFamily="49" charset="0"/>
                <a:cs typeface="Courier New" pitchFamily="49" charset="0"/>
              </a:rPr>
              <a:t>delete </a:t>
            </a:r>
            <a:r>
              <a:rPr lang="en-US" altLang="zh-CN" sz="2400" b="1" dirty="0">
                <a:latin typeface="Courier New" pitchFamily="49" charset="0"/>
                <a:cs typeface="Courier New" pitchFamily="49" charset="0"/>
              </a:rPr>
              <a:t>&lt;</a:t>
            </a:r>
            <a:r>
              <a:rPr lang="zh-CN" altLang="en-US" sz="2400" b="1" dirty="0">
                <a:latin typeface="Courier New" pitchFamily="49" charset="0"/>
                <a:cs typeface="Courier New" pitchFamily="49" charset="0"/>
              </a:rPr>
              <a:t>指针&gt; </a:t>
            </a:r>
            <a:r>
              <a:rPr lang="zh-CN" altLang="en-US" sz="2400" b="1" dirty="0">
                <a:solidFill>
                  <a:schemeClr val="tx2"/>
                </a:solidFill>
                <a:latin typeface="Courier New" pitchFamily="49" charset="0"/>
                <a:cs typeface="Courier New" pitchFamily="49" charset="0"/>
              </a:rPr>
              <a:t>	</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delete</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&lt;</a:t>
            </a:r>
            <a:r>
              <a:rPr lang="zh-CN" altLang="en-US" sz="2400" b="1" dirty="0">
                <a:latin typeface="Courier New" pitchFamily="49" charset="0"/>
                <a:cs typeface="Courier New" pitchFamily="49" charset="0"/>
              </a:rPr>
              <a:t>指针&gt;    </a:t>
            </a:r>
            <a:endParaRPr lang="en-US" altLang="zh-CN" sz="2400" b="1" dirty="0">
              <a:latin typeface="Courier New" pitchFamily="49" charset="0"/>
              <a:cs typeface="Courier New" pitchFamily="49" charset="0"/>
            </a:endParaRPr>
          </a:p>
          <a:p>
            <a:pPr lvl="2"/>
            <a:r>
              <a:rPr lang="zh-CN" altLang="en-US" dirty="0"/>
              <a:t>释放通过</a:t>
            </a:r>
            <a:r>
              <a:rPr lang="en-US" altLang="zh-CN" dirty="0"/>
              <a:t>new</a:t>
            </a:r>
            <a:r>
              <a:rPr lang="zh-CN" altLang="en-US" dirty="0"/>
              <a:t>生成的动态变量(或动态数组)，但指针变量仍存在</a:t>
            </a:r>
            <a:endParaRPr lang="en-US" altLang="zh-CN" dirty="0"/>
          </a:p>
        </p:txBody>
      </p:sp>
      <p:sp>
        <p:nvSpPr>
          <p:cNvPr id="20" name="矩形 19">
            <a:hlinkClick r:id="rId3" action="ppaction://hlinksldjump"/>
            <a:extLst>
              <a:ext uri="{FF2B5EF4-FFF2-40B4-BE49-F238E27FC236}">
                <a16:creationId xmlns:a16="http://schemas.microsoft.com/office/drawing/2014/main" id="{558943C3-943F-4978-8FD7-D756DE24FD0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7A6A45D2-DB56-40D4-B492-164576ABDB5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342B9370-8864-4DF7-985A-4F83B01C168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3" name="矩形 22">
            <a:hlinkClick r:id="" action="ppaction://noaction"/>
            <a:extLst>
              <a:ext uri="{FF2B5EF4-FFF2-40B4-BE49-F238E27FC236}">
                <a16:creationId xmlns:a16="http://schemas.microsoft.com/office/drawing/2014/main" id="{4F3A49C8-55AC-4657-A043-22D39894840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07E0FB8C-5205-4BCB-809B-96492210EB3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5" name="矩形 24">
            <a:hlinkClick r:id="" action="ppaction://noaction"/>
            <a:extLst>
              <a:ext uri="{FF2B5EF4-FFF2-40B4-BE49-F238E27FC236}">
                <a16:creationId xmlns:a16="http://schemas.microsoft.com/office/drawing/2014/main" id="{6BA77382-EAF6-4558-B555-6BC726EE2BB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6" name="矩形 25">
            <a:hlinkClick r:id="" action="ppaction://noaction"/>
            <a:extLst>
              <a:ext uri="{FF2B5EF4-FFF2-40B4-BE49-F238E27FC236}">
                <a16:creationId xmlns:a16="http://schemas.microsoft.com/office/drawing/2014/main" id="{23239A57-3EB6-448A-85B1-AE7663F1E8A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7" name="矩形 26">
            <a:hlinkClick r:id="" action="ppaction://noaction"/>
            <a:extLst>
              <a:ext uri="{FF2B5EF4-FFF2-40B4-BE49-F238E27FC236}">
                <a16:creationId xmlns:a16="http://schemas.microsoft.com/office/drawing/2014/main" id="{05CE7BA5-5C6B-4CBB-9E37-CBA74C13652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64334435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动态变量</a:t>
            </a:r>
          </a:p>
        </p:txBody>
      </p:sp>
      <p:sp>
        <p:nvSpPr>
          <p:cNvPr id="3" name="内容占位符 2"/>
          <p:cNvSpPr>
            <a:spLocks noGrp="1"/>
          </p:cNvSpPr>
          <p:nvPr>
            <p:ph idx="1"/>
          </p:nvPr>
        </p:nvSpPr>
        <p:spPr/>
        <p:txBody>
          <a:bodyPr/>
          <a:lstStyle/>
          <a:p>
            <a:r>
              <a:rPr lang="zh-CN" altLang="en-US" dirty="0"/>
              <a:t>运算符</a:t>
            </a:r>
            <a:r>
              <a:rPr lang="en-US" altLang="zh-CN" dirty="0"/>
              <a:t>new</a:t>
            </a:r>
            <a:r>
              <a:rPr lang="zh-CN" altLang="en-US" dirty="0"/>
              <a:t>在动态分配内存的同时，又说明了一种变量</a:t>
            </a:r>
            <a:r>
              <a:rPr lang="en-US" altLang="zh-CN" dirty="0"/>
              <a:t>——</a:t>
            </a:r>
            <a:r>
              <a:rPr lang="zh-CN" altLang="en-US" dirty="0">
                <a:solidFill>
                  <a:srgbClr val="FF0000"/>
                </a:solidFill>
              </a:rPr>
              <a:t>无名</a:t>
            </a:r>
            <a:r>
              <a:rPr lang="zh-CN" altLang="en-US" dirty="0"/>
              <a:t>动态变量</a:t>
            </a:r>
            <a:endParaRPr lang="en-US" altLang="zh-CN" dirty="0"/>
          </a:p>
          <a:p>
            <a:pPr lvl="1"/>
            <a:r>
              <a:rPr lang="zh-CN" altLang="en-US" dirty="0"/>
              <a:t>没有变量名</a:t>
            </a:r>
            <a:endParaRPr lang="en-US" altLang="zh-CN" dirty="0"/>
          </a:p>
          <a:p>
            <a:pPr lvl="1"/>
            <a:r>
              <a:rPr lang="zh-CN" altLang="en-US" dirty="0"/>
              <a:t>由指针指向该变量的地址</a:t>
            </a:r>
            <a:endParaRPr lang="en-US" altLang="zh-CN" dirty="0"/>
          </a:p>
          <a:p>
            <a:pPr lvl="1"/>
            <a:r>
              <a:rPr lang="zh-CN" altLang="en-US" dirty="0"/>
              <a:t>由指针变量的取内容表达式访问该变量的值</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p>
          <a:p>
            <a:pPr lvl="2">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 = </a:t>
            </a:r>
            <a:r>
              <a:rPr lang="en-US" altLang="zh-CN" b="1" dirty="0">
                <a:solidFill>
                  <a:srgbClr val="0000FF"/>
                </a:solidFill>
                <a:latin typeface="Courier New" pitchFamily="49" charset="0"/>
                <a:cs typeface="Courier New" pitchFamily="49" charset="0"/>
              </a:rPr>
              <a:t>new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(5);</a:t>
            </a:r>
          </a:p>
          <a:p>
            <a:pPr lvl="2">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 = </a:t>
            </a:r>
            <a:r>
              <a:rPr lang="en-US" altLang="zh-CN" b="1" dirty="0">
                <a:solidFill>
                  <a:srgbClr val="0000FF"/>
                </a:solidFill>
                <a:latin typeface="Courier New" pitchFamily="49" charset="0"/>
                <a:cs typeface="Courier New" pitchFamily="49" charset="0"/>
              </a:rPr>
              <a:t>new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{5};</a:t>
            </a:r>
          </a:p>
          <a:p>
            <a:pPr lvl="2">
              <a:buNone/>
            </a:pPr>
            <a:r>
              <a:rPr lang="en-US" altLang="zh-CN" dirty="0">
                <a:solidFill>
                  <a:srgbClr val="00B050"/>
                </a:solidFill>
              </a:rPr>
              <a:t>//</a:t>
            </a:r>
            <a:r>
              <a:rPr lang="zh-CN" altLang="en-US" dirty="0">
                <a:solidFill>
                  <a:srgbClr val="00B050"/>
                </a:solidFill>
              </a:rPr>
              <a:t>生成动态变量并赋初值</a:t>
            </a:r>
            <a:r>
              <a:rPr lang="en-US" altLang="zh-CN" dirty="0">
                <a:solidFill>
                  <a:srgbClr val="00B050"/>
                </a:solidFill>
              </a:rPr>
              <a:t>5</a:t>
            </a:r>
          </a:p>
          <a:p>
            <a:pPr lvl="2">
              <a:buNone/>
            </a:pPr>
            <a:r>
              <a:rPr lang="en-US" altLang="zh-CN" dirty="0">
                <a:solidFill>
                  <a:srgbClr val="00B050"/>
                </a:solidFill>
              </a:rPr>
              <a:t>//</a:t>
            </a:r>
            <a:r>
              <a:rPr lang="zh-CN" altLang="en-US" dirty="0">
                <a:solidFill>
                  <a:srgbClr val="00B050"/>
                </a:solidFill>
              </a:rPr>
              <a:t>动态变量没有名字，其所在地址为</a:t>
            </a:r>
            <a:r>
              <a:rPr lang="en-US" altLang="zh-CN" dirty="0">
                <a:solidFill>
                  <a:srgbClr val="00B050"/>
                </a:solidFill>
              </a:rPr>
              <a:t>p</a:t>
            </a:r>
            <a:r>
              <a:rPr lang="zh-CN" altLang="en-US" dirty="0">
                <a:solidFill>
                  <a:srgbClr val="00B050"/>
                </a:solidFill>
              </a:rPr>
              <a:t>，其值为</a:t>
            </a:r>
            <a:r>
              <a:rPr lang="en-US" altLang="zh-CN" dirty="0">
                <a:solidFill>
                  <a:srgbClr val="00B050"/>
                </a:solidFill>
              </a:rPr>
              <a:t>*p</a:t>
            </a:r>
            <a:endParaRPr lang="zh-CN" altLang="en-US" dirty="0">
              <a:solidFill>
                <a:srgbClr val="00B050"/>
              </a:solidFill>
            </a:endParaRPr>
          </a:p>
        </p:txBody>
      </p:sp>
      <p:sp>
        <p:nvSpPr>
          <p:cNvPr id="28" name="矩形 27">
            <a:hlinkClick r:id="rId2" action="ppaction://hlinksldjump"/>
            <a:extLst>
              <a:ext uri="{FF2B5EF4-FFF2-40B4-BE49-F238E27FC236}">
                <a16:creationId xmlns:a16="http://schemas.microsoft.com/office/drawing/2014/main" id="{374E9243-6A78-428F-92F3-FB2234B9254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9" name="矩形 28">
            <a:hlinkClick r:id="" action="ppaction://noaction"/>
            <a:extLst>
              <a:ext uri="{FF2B5EF4-FFF2-40B4-BE49-F238E27FC236}">
                <a16:creationId xmlns:a16="http://schemas.microsoft.com/office/drawing/2014/main" id="{B4F77DD9-01FE-445D-AF10-B470A4BFD78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0" name="矩形 29">
            <a:hlinkClick r:id="" action="ppaction://noaction"/>
            <a:extLst>
              <a:ext uri="{FF2B5EF4-FFF2-40B4-BE49-F238E27FC236}">
                <a16:creationId xmlns:a16="http://schemas.microsoft.com/office/drawing/2014/main" id="{E731C52E-8975-4AED-8DA5-3CECAD62A5F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31" name="矩形 30">
            <a:hlinkClick r:id="" action="ppaction://noaction"/>
            <a:extLst>
              <a:ext uri="{FF2B5EF4-FFF2-40B4-BE49-F238E27FC236}">
                <a16:creationId xmlns:a16="http://schemas.microsoft.com/office/drawing/2014/main" id="{67256D9E-8D7E-432A-BFFD-FB700DF032D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2" name="矩形 31">
            <a:hlinkClick r:id="" action="ppaction://noaction"/>
            <a:extLst>
              <a:ext uri="{FF2B5EF4-FFF2-40B4-BE49-F238E27FC236}">
                <a16:creationId xmlns:a16="http://schemas.microsoft.com/office/drawing/2014/main" id="{C6C0EC5F-8382-49C3-97AD-2DB59076B99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33" name="矩形 32">
            <a:hlinkClick r:id="" action="ppaction://noaction"/>
            <a:extLst>
              <a:ext uri="{FF2B5EF4-FFF2-40B4-BE49-F238E27FC236}">
                <a16:creationId xmlns:a16="http://schemas.microsoft.com/office/drawing/2014/main" id="{F6DBF955-C9A8-44FA-8114-629D3FA51FA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34" name="矩形 33">
            <a:hlinkClick r:id="" action="ppaction://noaction"/>
            <a:extLst>
              <a:ext uri="{FF2B5EF4-FFF2-40B4-BE49-F238E27FC236}">
                <a16:creationId xmlns:a16="http://schemas.microsoft.com/office/drawing/2014/main" id="{33EA02A7-2385-4093-9857-D2F7437B250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35" name="矩形 34">
            <a:hlinkClick r:id="" action="ppaction://noaction"/>
            <a:extLst>
              <a:ext uri="{FF2B5EF4-FFF2-40B4-BE49-F238E27FC236}">
                <a16:creationId xmlns:a16="http://schemas.microsoft.com/office/drawing/2014/main" id="{AE94207C-51C8-4C16-A63B-47A600D4E24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92527097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使用运算符</a:t>
            </a:r>
            <a:r>
              <a:rPr lang="en-US" altLang="zh-CN" dirty="0"/>
              <a:t>new</a:t>
            </a:r>
            <a:r>
              <a:rPr lang="zh-CN" altLang="en-US" dirty="0"/>
              <a:t>动态分配一组相同类型的内存空间</a:t>
            </a:r>
            <a:r>
              <a:rPr lang="en-US" altLang="zh-CN" dirty="0"/>
              <a:t>——</a:t>
            </a:r>
            <a:r>
              <a:rPr lang="zh-CN" altLang="en-US" dirty="0">
                <a:solidFill>
                  <a:srgbClr val="FF0000"/>
                </a:solidFill>
              </a:rPr>
              <a:t>无名</a:t>
            </a:r>
            <a:r>
              <a:rPr lang="zh-CN" altLang="en-US" dirty="0"/>
              <a:t>动态数组（一维数组）</a:t>
            </a:r>
            <a:endParaRPr lang="en-US" altLang="zh-CN" dirty="0"/>
          </a:p>
          <a:p>
            <a:pPr lvl="1"/>
            <a:r>
              <a:rPr lang="zh-CN" altLang="en-US" dirty="0"/>
              <a:t>没有数组名</a:t>
            </a:r>
            <a:endParaRPr lang="en-US" altLang="zh-CN" dirty="0"/>
          </a:p>
          <a:p>
            <a:pPr lvl="1"/>
            <a:r>
              <a:rPr lang="zh-CN" altLang="en-US" dirty="0"/>
              <a:t>由指针指向该数组的首地址</a:t>
            </a:r>
            <a:endParaRPr lang="en-US" altLang="zh-CN" dirty="0"/>
          </a:p>
          <a:p>
            <a:pPr lvl="1"/>
            <a:r>
              <a:rPr lang="zh-CN" altLang="en-US" dirty="0"/>
              <a:t>通过指针的“移动</a:t>
            </a:r>
            <a:r>
              <a:rPr lang="en-US" altLang="zh-CN" dirty="0"/>
              <a:t>+</a:t>
            </a:r>
            <a:r>
              <a:rPr lang="zh-CN" altLang="en-US" dirty="0"/>
              <a:t>取内容”访问动态数组中的元素</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p>
          <a:p>
            <a:pPr marL="457200" lvl="1" indent="0">
              <a:buNone/>
            </a:pPr>
            <a:r>
              <a:rPr lang="en-US" altLang="zh-CN" dirty="0"/>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*pa = </a:t>
            </a:r>
            <a:r>
              <a:rPr lang="en-US" altLang="zh-CN" sz="2000" b="1" dirty="0">
                <a:solidFill>
                  <a:srgbClr val="0000FF"/>
                </a:solidFill>
                <a:latin typeface="Courier New" panose="02070309020205020404" pitchFamily="49" charset="0"/>
                <a:cs typeface="Courier New" panose="02070309020205020404" pitchFamily="49" charset="0"/>
              </a:rPr>
              <a:t>new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[5];</a:t>
            </a:r>
          </a:p>
          <a:p>
            <a:pPr marL="457200" lvl="1" indent="0">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 =0;i&lt;5;i++)</a:t>
            </a:r>
          </a:p>
          <a:p>
            <a:pPr marL="457200" lvl="1" indent="0">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&gt;&gt;*pa++;</a:t>
            </a:r>
            <a:endParaRPr lang="zh-CN" altLang="en-US" sz="2000" b="1" dirty="0">
              <a:latin typeface="Courier New" panose="02070309020205020404" pitchFamily="49" charset="0"/>
              <a:cs typeface="Courier New" panose="02070309020205020404" pitchFamily="49" charset="0"/>
            </a:endParaRPr>
          </a:p>
        </p:txBody>
      </p:sp>
      <p:sp>
        <p:nvSpPr>
          <p:cNvPr id="3" name="标题 2"/>
          <p:cNvSpPr>
            <a:spLocks noGrp="1"/>
          </p:cNvSpPr>
          <p:nvPr>
            <p:ph type="title"/>
          </p:nvPr>
        </p:nvSpPr>
        <p:spPr/>
        <p:txBody>
          <a:bodyPr/>
          <a:lstStyle/>
          <a:p>
            <a:r>
              <a:rPr lang="zh-CN" altLang="en-US" dirty="0"/>
              <a:t>一维动态数组</a:t>
            </a:r>
          </a:p>
        </p:txBody>
      </p:sp>
      <p:sp>
        <p:nvSpPr>
          <p:cNvPr id="22" name="矩形 21">
            <a:hlinkClick r:id="rId2" action="ppaction://hlinksldjump"/>
            <a:extLst>
              <a:ext uri="{FF2B5EF4-FFF2-40B4-BE49-F238E27FC236}">
                <a16:creationId xmlns:a16="http://schemas.microsoft.com/office/drawing/2014/main" id="{0C1A72A6-BC65-493F-A22A-B47D6595380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E34BAB9D-8A70-4143-963B-18209750081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160E0B05-EE31-4A2A-9ADC-554557E1386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5" name="矩形 24">
            <a:hlinkClick r:id="" action="ppaction://noaction"/>
            <a:extLst>
              <a:ext uri="{FF2B5EF4-FFF2-40B4-BE49-F238E27FC236}">
                <a16:creationId xmlns:a16="http://schemas.microsoft.com/office/drawing/2014/main" id="{47D4C3A6-EDB7-4296-8A39-71F1135FA89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6" name="矩形 25">
            <a:hlinkClick r:id="" action="ppaction://noaction"/>
            <a:extLst>
              <a:ext uri="{FF2B5EF4-FFF2-40B4-BE49-F238E27FC236}">
                <a16:creationId xmlns:a16="http://schemas.microsoft.com/office/drawing/2014/main" id="{1366318C-BE24-45B6-B52A-C9D153CA4EB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7" name="矩形 26">
            <a:hlinkClick r:id="" action="ppaction://noaction"/>
            <a:extLst>
              <a:ext uri="{FF2B5EF4-FFF2-40B4-BE49-F238E27FC236}">
                <a16:creationId xmlns:a16="http://schemas.microsoft.com/office/drawing/2014/main" id="{6D0A44F9-4223-47B7-AD9B-442AA4965A5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8" name="矩形 27">
            <a:hlinkClick r:id="" action="ppaction://noaction"/>
            <a:extLst>
              <a:ext uri="{FF2B5EF4-FFF2-40B4-BE49-F238E27FC236}">
                <a16:creationId xmlns:a16="http://schemas.microsoft.com/office/drawing/2014/main" id="{6CFEBFF7-8E3C-437F-B6FD-88B68B72417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9" name="矩形 28">
            <a:hlinkClick r:id="" action="ppaction://noaction"/>
            <a:extLst>
              <a:ext uri="{FF2B5EF4-FFF2-40B4-BE49-F238E27FC236}">
                <a16:creationId xmlns:a16="http://schemas.microsoft.com/office/drawing/2014/main" id="{B8A67C82-0D77-45F1-9DE1-8CECF16CEA9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428973035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5689" y="1196752"/>
            <a:ext cx="8664496" cy="450056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6.15】</a:t>
            </a:r>
            <a:r>
              <a:rPr lang="zh-CN" altLang="en-US" dirty="0">
                <a:solidFill>
                  <a:srgbClr val="C00000"/>
                </a:solidFill>
              </a:rPr>
              <a:t>从键盘输入整数</a:t>
            </a:r>
            <a:r>
              <a:rPr lang="en-US" altLang="zh-CN" dirty="0">
                <a:solidFill>
                  <a:srgbClr val="C00000"/>
                </a:solidFill>
              </a:rPr>
              <a:t>n</a:t>
            </a:r>
            <a:r>
              <a:rPr lang="zh-CN" altLang="en-US" dirty="0">
                <a:solidFill>
                  <a:srgbClr val="C00000"/>
                </a:solidFill>
              </a:rPr>
              <a:t>，再输入</a:t>
            </a:r>
            <a:r>
              <a:rPr lang="en-US" altLang="zh-CN" dirty="0">
                <a:solidFill>
                  <a:srgbClr val="C00000"/>
                </a:solidFill>
              </a:rPr>
              <a:t>n</a:t>
            </a:r>
            <a:r>
              <a:rPr lang="zh-CN" altLang="en-US" dirty="0">
                <a:solidFill>
                  <a:srgbClr val="C00000"/>
                </a:solidFill>
              </a:rPr>
              <a:t>个</a:t>
            </a:r>
            <a:r>
              <a:rPr lang="en-US" altLang="zh-CN" dirty="0" err="1">
                <a:solidFill>
                  <a:srgbClr val="C00000"/>
                </a:solidFill>
              </a:rPr>
              <a:t>int</a:t>
            </a:r>
            <a:r>
              <a:rPr lang="zh-CN" altLang="en-US" dirty="0">
                <a:solidFill>
                  <a:srgbClr val="C00000"/>
                </a:solidFill>
              </a:rPr>
              <a:t>型数，而后按输入的相反顺序输出它们。</a:t>
            </a:r>
            <a:endParaRPr lang="en-US" altLang="zh-CN" dirty="0">
              <a:solidFill>
                <a:srgbClr val="C00000"/>
              </a:solidFill>
            </a:endParaRPr>
          </a:p>
          <a:p>
            <a:r>
              <a:rPr lang="zh-CN" altLang="en-US" dirty="0">
                <a:solidFill>
                  <a:srgbClr val="008000"/>
                </a:solidFill>
              </a:rPr>
              <a:t>程序执行后的输入输出结果为:</a:t>
            </a:r>
            <a:endParaRPr lang="zh-CN" altLang="en-US" dirty="0">
              <a:solidFill>
                <a:srgbClr val="0000FF"/>
              </a:solidFill>
            </a:endParaRPr>
          </a:p>
          <a:p>
            <a:pPr>
              <a:buNone/>
            </a:pPr>
            <a:r>
              <a:rPr lang="en-US" altLang="zh-CN" b="1" dirty="0">
                <a:latin typeface="Courier New" panose="02070309020205020404" pitchFamily="49" charset="0"/>
                <a:cs typeface="Courier New" panose="02070309020205020404" pitchFamily="49" charset="0"/>
              </a:rPr>
              <a:t>Input number n: </a:t>
            </a:r>
            <a:r>
              <a:rPr lang="en-US" altLang="zh-CN" b="1" dirty="0">
                <a:solidFill>
                  <a:srgbClr val="0000FF"/>
                </a:solidFill>
                <a:latin typeface="Courier New" panose="02070309020205020404" pitchFamily="49" charset="0"/>
                <a:cs typeface="Courier New" panose="02070309020205020404" pitchFamily="49" charset="0"/>
              </a:rPr>
              <a:t>10</a:t>
            </a:r>
          </a:p>
          <a:p>
            <a:pPr>
              <a:buNone/>
            </a:pPr>
            <a:r>
              <a:rPr lang="en-US" altLang="zh-CN" b="1" dirty="0">
                <a:latin typeface="Courier New" panose="02070309020205020404" pitchFamily="49" charset="0"/>
                <a:cs typeface="Courier New" panose="02070309020205020404" pitchFamily="49" charset="0"/>
              </a:rPr>
              <a:t>Input 10 integers: </a:t>
            </a:r>
            <a:r>
              <a:rPr lang="en-US" altLang="zh-CN" b="1" dirty="0">
                <a:solidFill>
                  <a:srgbClr val="0000FF"/>
                </a:solidFill>
                <a:latin typeface="Courier New" panose="02070309020205020404" pitchFamily="49" charset="0"/>
                <a:cs typeface="Courier New" panose="02070309020205020404" pitchFamily="49" charset="0"/>
              </a:rPr>
              <a:t>1 2 3 4 5 6 7 8 9 10</a:t>
            </a:r>
          </a:p>
          <a:p>
            <a:pPr>
              <a:buNone/>
            </a:pPr>
            <a:r>
              <a:rPr lang="en-US" altLang="zh-CN" b="1" dirty="0">
                <a:latin typeface="Courier New" panose="02070309020205020404" pitchFamily="49" charset="0"/>
                <a:cs typeface="Courier New" panose="02070309020205020404" pitchFamily="49" charset="0"/>
              </a:rPr>
              <a:t>---- The result ----</a:t>
            </a:r>
          </a:p>
          <a:p>
            <a:pPr>
              <a:buNone/>
            </a:pPr>
            <a:r>
              <a:rPr lang="en-US" altLang="zh-CN" b="1" dirty="0">
                <a:latin typeface="Courier New" panose="02070309020205020404" pitchFamily="49" charset="0"/>
                <a:cs typeface="Courier New" panose="02070309020205020404" pitchFamily="49" charset="0"/>
              </a:rPr>
              <a:t>10 9 8 7 6 5 4 3 2 1  </a:t>
            </a:r>
          </a:p>
          <a:p>
            <a:endParaRPr lang="zh-CN" altLang="en-US" dirty="0"/>
          </a:p>
        </p:txBody>
      </p:sp>
      <p:sp>
        <p:nvSpPr>
          <p:cNvPr id="28" name="矩形 27">
            <a:hlinkClick r:id="rId2" action="ppaction://hlinksldjump"/>
            <a:extLst>
              <a:ext uri="{FF2B5EF4-FFF2-40B4-BE49-F238E27FC236}">
                <a16:creationId xmlns:a16="http://schemas.microsoft.com/office/drawing/2014/main" id="{F4CD18CC-D08D-458E-8BC5-3619979D6EA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9" name="矩形 28">
            <a:hlinkClick r:id="" action="ppaction://noaction"/>
            <a:extLst>
              <a:ext uri="{FF2B5EF4-FFF2-40B4-BE49-F238E27FC236}">
                <a16:creationId xmlns:a16="http://schemas.microsoft.com/office/drawing/2014/main" id="{E24E5BE6-EB46-48AE-B0D7-4058FAFC004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0" name="矩形 29">
            <a:hlinkClick r:id="" action="ppaction://noaction"/>
            <a:extLst>
              <a:ext uri="{FF2B5EF4-FFF2-40B4-BE49-F238E27FC236}">
                <a16:creationId xmlns:a16="http://schemas.microsoft.com/office/drawing/2014/main" id="{BA3CB54D-B7BD-4CC9-AAA2-EF3EEC52EC7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31" name="矩形 30">
            <a:hlinkClick r:id="" action="ppaction://noaction"/>
            <a:extLst>
              <a:ext uri="{FF2B5EF4-FFF2-40B4-BE49-F238E27FC236}">
                <a16:creationId xmlns:a16="http://schemas.microsoft.com/office/drawing/2014/main" id="{B3AE3565-4CE8-4A31-A816-8AC54797B93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2" name="矩形 31">
            <a:hlinkClick r:id="" action="ppaction://noaction"/>
            <a:extLst>
              <a:ext uri="{FF2B5EF4-FFF2-40B4-BE49-F238E27FC236}">
                <a16:creationId xmlns:a16="http://schemas.microsoft.com/office/drawing/2014/main" id="{37B5C8B7-FD12-45A3-9F53-4F891641AD8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33" name="矩形 32">
            <a:hlinkClick r:id="" action="ppaction://noaction"/>
            <a:extLst>
              <a:ext uri="{FF2B5EF4-FFF2-40B4-BE49-F238E27FC236}">
                <a16:creationId xmlns:a16="http://schemas.microsoft.com/office/drawing/2014/main" id="{68623873-FD92-4624-B610-0D672A39944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34" name="矩形 33">
            <a:hlinkClick r:id="" action="ppaction://noaction"/>
            <a:extLst>
              <a:ext uri="{FF2B5EF4-FFF2-40B4-BE49-F238E27FC236}">
                <a16:creationId xmlns:a16="http://schemas.microsoft.com/office/drawing/2014/main" id="{260B0972-79E9-4C9B-BB8E-EBE15220B00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35" name="矩形 34">
            <a:hlinkClick r:id="" action="ppaction://noaction"/>
            <a:extLst>
              <a:ext uri="{FF2B5EF4-FFF2-40B4-BE49-F238E27FC236}">
                <a16:creationId xmlns:a16="http://schemas.microsoft.com/office/drawing/2014/main" id="{88148DD7-B601-4C54-B407-6DCE5703C4D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130981757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29600" cy="5400600"/>
          </a:xfrm>
        </p:spPr>
        <p:txBody>
          <a:bodyPr/>
          <a:lstStyle/>
          <a:p>
            <a:pPr>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 &lt;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a:latin typeface="Courier New" pitchFamily="49" charset="0"/>
                <a:cs typeface="Courier New" pitchFamily="49" charset="0"/>
              </a:rPr>
              <a:t>std;</a:t>
            </a:r>
          </a:p>
          <a:p>
            <a:pPr>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 {</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 n,*a, *p;</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number n: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&gt;&gt;n;</a:t>
            </a:r>
          </a:p>
          <a:p>
            <a:pPr>
              <a:spcBef>
                <a:spcPts val="0"/>
              </a:spcBef>
              <a:buNone/>
            </a:pPr>
            <a:r>
              <a:rPr lang="en-US" altLang="zh-CN" sz="2000" b="1" dirty="0">
                <a:latin typeface="Courier New" pitchFamily="49" charset="0"/>
                <a:cs typeface="Courier New" pitchFamily="49" charset="0"/>
              </a:rPr>
              <a:t>	a = </a:t>
            </a:r>
            <a:r>
              <a:rPr lang="en-US" altLang="zh-CN" sz="2000" b="1" dirty="0">
                <a:solidFill>
                  <a:srgbClr val="0000FF"/>
                </a:solidFill>
                <a:latin typeface="Courier New" pitchFamily="49" charset="0"/>
                <a:cs typeface="Courier New" pitchFamily="49" charset="0"/>
              </a:rPr>
              <a:t>new</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[n];</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10 integers:"&lt;&lt;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&lt;n;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t>
            </a:r>
            <a:r>
              <a:rPr lang="en-US" altLang="zh-CN" sz="2000" b="1" dirty="0" err="1">
                <a:latin typeface="Courier New" pitchFamily="49" charset="0"/>
                <a:cs typeface="Courier New" pitchFamily="49" charset="0"/>
              </a:rPr>
              <a:t>a+i</a:t>
            </a:r>
            <a:r>
              <a:rPr lang="en-US" altLang="zh-CN" sz="2000" b="1" dirty="0">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也可用</a:t>
            </a:r>
            <a:r>
              <a:rPr lang="en-US" altLang="zh-CN" sz="2000" b="1" dirty="0">
                <a:solidFill>
                  <a:srgbClr val="007434"/>
                </a:solidFill>
                <a:latin typeface="Courier New" pitchFamily="49" charset="0"/>
                <a:cs typeface="Courier New" pitchFamily="49" charset="0"/>
              </a:rPr>
              <a:t>a[</a:t>
            </a:r>
            <a:r>
              <a:rPr lang="en-US" altLang="zh-CN" sz="2000" b="1" dirty="0" err="1">
                <a:solidFill>
                  <a:srgbClr val="007434"/>
                </a:solidFill>
                <a:latin typeface="Courier New" pitchFamily="49" charset="0"/>
                <a:cs typeface="Courier New" pitchFamily="49" charset="0"/>
              </a:rPr>
              <a:t>i</a:t>
            </a:r>
            <a:r>
              <a:rPr lang="en-US" altLang="zh-CN" sz="2000" b="1" dirty="0">
                <a:solidFill>
                  <a:srgbClr val="007434"/>
                </a:solidFill>
                <a:latin typeface="Courier New" pitchFamily="49" charset="0"/>
                <a:cs typeface="Courier New" pitchFamily="49" charset="0"/>
              </a:rPr>
              <a:t>] </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 The result ----"&lt;&lt;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(p=a+n-1; p&gt;=a; p--)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&lt;&lt;*p&lt;&lt;"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0;</a:t>
            </a:r>
          </a:p>
          <a:p>
            <a:pPr>
              <a:spcBef>
                <a:spcPts val="0"/>
              </a:spcBef>
              <a:buNone/>
            </a:pPr>
            <a:r>
              <a:rPr lang="en-US" altLang="zh-CN" sz="2000" b="1" dirty="0">
                <a:latin typeface="Courier New" pitchFamily="49" charset="0"/>
                <a:cs typeface="Courier New" pitchFamily="49" charset="0"/>
              </a:rPr>
              <a:t>} </a:t>
            </a:r>
            <a:endParaRPr lang="zh-CN" altLang="en-US" sz="2000" b="1" dirty="0">
              <a:latin typeface="Courier New" pitchFamily="49" charset="0"/>
              <a:cs typeface="Courier New" pitchFamily="49" charset="0"/>
            </a:endParaRPr>
          </a:p>
          <a:p>
            <a:pPr>
              <a:buNone/>
            </a:pPr>
            <a:endParaRPr lang="zh-CN" altLang="en-US" b="1" dirty="0"/>
          </a:p>
        </p:txBody>
      </p:sp>
      <p:sp>
        <p:nvSpPr>
          <p:cNvPr id="20" name="矩形 19">
            <a:hlinkClick r:id="rId2" action="ppaction://hlinksldjump"/>
            <a:extLst>
              <a:ext uri="{FF2B5EF4-FFF2-40B4-BE49-F238E27FC236}">
                <a16:creationId xmlns:a16="http://schemas.microsoft.com/office/drawing/2014/main" id="{4035B000-2ADE-4377-BF93-FE81C1C91B1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65A91011-656B-4D95-9148-0505DE74F4A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0E2AB9EE-5B02-4876-BD19-FB1271BDC99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3" name="矩形 22">
            <a:hlinkClick r:id="" action="ppaction://noaction"/>
            <a:extLst>
              <a:ext uri="{FF2B5EF4-FFF2-40B4-BE49-F238E27FC236}">
                <a16:creationId xmlns:a16="http://schemas.microsoft.com/office/drawing/2014/main" id="{C8E809DF-E1AE-487A-AB82-E1E1AE349A6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70BDB339-D494-4368-A41F-9C835645201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5" name="矩形 24">
            <a:hlinkClick r:id="" action="ppaction://noaction"/>
            <a:extLst>
              <a:ext uri="{FF2B5EF4-FFF2-40B4-BE49-F238E27FC236}">
                <a16:creationId xmlns:a16="http://schemas.microsoft.com/office/drawing/2014/main" id="{1E5FE9B6-3DDC-47F0-A1A6-28ABFF64539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6" name="矩形 25">
            <a:hlinkClick r:id="" action="ppaction://noaction"/>
            <a:extLst>
              <a:ext uri="{FF2B5EF4-FFF2-40B4-BE49-F238E27FC236}">
                <a16:creationId xmlns:a16="http://schemas.microsoft.com/office/drawing/2014/main" id="{A33FFE88-0196-4F09-8662-6F59FA56063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7" name="矩形 26">
            <a:hlinkClick r:id="" action="ppaction://noaction"/>
            <a:extLst>
              <a:ext uri="{FF2B5EF4-FFF2-40B4-BE49-F238E27FC236}">
                <a16:creationId xmlns:a16="http://schemas.microsoft.com/office/drawing/2014/main" id="{52F8FE41-E48E-435A-9F37-E49E1926178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8735860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E63BC68-EAF8-4C67-A928-6ED8B0FF0AEC}"/>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对使用关键字</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new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所开辟的动态存储空间，释放时必须使用（      ）</a:t>
            </a:r>
          </a:p>
        </p:txBody>
      </p:sp>
      <p:sp>
        <p:nvSpPr>
          <p:cNvPr id="7" name="文本框 6">
            <a:extLst>
              <a:ext uri="{FF2B5EF4-FFF2-40B4-BE49-F238E27FC236}">
                <a16:creationId xmlns:a16="http://schemas.microsoft.com/office/drawing/2014/main" id="{D933F34B-2536-459E-869B-ED481FFC880B}"/>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free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A96093B7-AF1E-47E4-AF39-E3F1F25FA1A8}"/>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delete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26922CB1-26BA-4362-854E-5AE67FA9EF8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release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5209ED00-1807-495D-9F25-C807F5C9DB0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destroy</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EC4FB7B9-6391-4D0A-A2E1-E87188DB803C}"/>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DBDDCD25-E549-4609-8CDC-CD4CE6B48729}"/>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0F080491-3F63-4A1A-A49A-19D796265938}"/>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A0682016-627E-4BD9-9498-9FA78BF9B2D8}"/>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A446302F-5801-4FF7-BE85-074AE35990FA}"/>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CAF4AB28-EBD7-46B2-B26A-2322D9E97B74}"/>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D227A295-1F91-4BD9-A238-3D58E2540CEB}"/>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88B1BD77-6A04-4D8C-8D17-FAF9BAD78511}"/>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87EF4032-C26B-45A6-B3BF-8314BC99FA3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3F07585D-CE90-47D3-AA67-D38D59DBA29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26E8ED7E-9D2D-45D7-97C4-A5791C819A46}"/>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8441853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5" name="标题 4">
            <a:extLst>
              <a:ext uri="{FF2B5EF4-FFF2-40B4-BE49-F238E27FC236}">
                <a16:creationId xmlns:a16="http://schemas.microsoft.com/office/drawing/2014/main" id="{A455524B-59AE-49D1-822B-6F6626EA423C}"/>
              </a:ext>
            </a:extLst>
          </p:cNvPr>
          <p:cNvSpPr>
            <a:spLocks noGrp="1"/>
          </p:cNvSpPr>
          <p:nvPr>
            <p:ph type="ctrTitle"/>
          </p:nvPr>
        </p:nvSpPr>
        <p:spPr/>
        <p:txBody>
          <a:bodyPr/>
          <a:lstStyle/>
          <a:p>
            <a:r>
              <a:rPr lang="zh-CN" altLang="en-US" dirty="0"/>
              <a:t>二维动态数组</a:t>
            </a:r>
          </a:p>
        </p:txBody>
      </p:sp>
      <p:sp>
        <p:nvSpPr>
          <p:cNvPr id="10" name="TextBox 8">
            <a:extLst>
              <a:ext uri="{FF2B5EF4-FFF2-40B4-BE49-F238E27FC236}">
                <a16:creationId xmlns:a16="http://schemas.microsoft.com/office/drawing/2014/main" id="{76D933DC-4477-4F85-89C6-0689B69985A0}"/>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8BA54B09-406F-4D0F-8A5D-512D1042749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9600B541-37D7-4450-989E-2B3C643EDB0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519287145"/>
      </p:ext>
    </p:extLst>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二维动态数组</a:t>
            </a:r>
          </a:p>
        </p:txBody>
      </p:sp>
      <p:sp>
        <p:nvSpPr>
          <p:cNvPr id="3" name="内容占位符 2"/>
          <p:cNvSpPr>
            <a:spLocks noGrp="1"/>
          </p:cNvSpPr>
          <p:nvPr>
            <p:ph idx="1"/>
          </p:nvPr>
        </p:nvSpPr>
        <p:spPr/>
        <p:txBody>
          <a:bodyPr/>
          <a:lstStyle/>
          <a:p>
            <a:r>
              <a:rPr lang="zh-CN" altLang="en-US" dirty="0"/>
              <a:t>使用动态内存分配的方式，按行和列分别分配存储空间</a:t>
            </a:r>
            <a:endParaRPr lang="en-US" altLang="zh-CN" dirty="0"/>
          </a:p>
          <a:p>
            <a:pPr>
              <a:spcBef>
                <a:spcPts val="0"/>
              </a:spcBef>
              <a:buNone/>
            </a:pPr>
            <a:r>
              <a:rPr lang="en-US" altLang="zh-CN" sz="2800" b="1" dirty="0">
                <a:solidFill>
                  <a:srgbClr val="0000FF"/>
                </a:solidFill>
              </a:rPr>
              <a:t>	</a:t>
            </a:r>
            <a:r>
              <a:rPr lang="en-US" altLang="zh-CN" sz="2400" b="1" dirty="0">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 = </a:t>
            </a:r>
            <a:r>
              <a:rPr lang="en-US" altLang="zh-CN" sz="2400" b="1" dirty="0">
                <a:solidFill>
                  <a:srgbClr val="0000FF"/>
                </a:solidFill>
                <a:latin typeface="Courier New" pitchFamily="49" charset="0"/>
                <a:cs typeface="Courier New" pitchFamily="49" charset="0"/>
              </a:rPr>
              <a:t>new </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*[3];</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为指针，指向具有3个</a:t>
            </a: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int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数据的数组(即元素均为指针的数组)</a:t>
            </a:r>
            <a:r>
              <a:rPr lang="en-US" altLang="zh-CN" sz="2400" b="1" dirty="0">
                <a:solidFill>
                  <a:srgbClr val="007434"/>
                </a:solidFill>
                <a:latin typeface="Courier New" pitchFamily="49" charset="0"/>
                <a:cs typeface="Courier New" pitchFamily="49" charset="0"/>
              </a:rPr>
              <a:t>*/</a:t>
            </a:r>
            <a:endParaRPr lang="zh-CN" altLang="en-US" sz="2400" b="1" dirty="0">
              <a:solidFill>
                <a:srgbClr val="007434"/>
              </a:solidFill>
              <a:latin typeface="Courier New" pitchFamily="49" charset="0"/>
              <a:cs typeface="Courier New" pitchFamily="49" charset="0"/>
            </a:endParaRP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=0;i&lt;3;i++)</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a+i</a:t>
            </a:r>
            <a:r>
              <a:rPr lang="en-US" altLang="zh-CN" sz="2400" b="1" dirty="0">
                <a:latin typeface="Courier New" pitchFamily="49" charset="0"/>
                <a:cs typeface="Courier New" pitchFamily="49" charset="0"/>
              </a:rPr>
              <a:t>) = </a:t>
            </a:r>
            <a:r>
              <a:rPr lang="en-US" altLang="zh-CN" sz="2400" b="1" dirty="0">
                <a:solidFill>
                  <a:srgbClr val="0000FF"/>
                </a:solidFill>
                <a:latin typeface="Courier New" pitchFamily="49" charset="0"/>
                <a:cs typeface="Courier New" pitchFamily="49" charset="0"/>
              </a:rPr>
              <a:t>new </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[4];</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分配3批动态空间(每批为4个</a:t>
            </a:r>
            <a:r>
              <a:rPr lang="en-US" altLang="zh-CN" sz="2400" b="1" dirty="0" err="1">
                <a:solidFill>
                  <a:srgbClr val="007434"/>
                </a:solidFill>
                <a:latin typeface="Courier New" pitchFamily="49" charset="0"/>
                <a:cs typeface="Courier New" pitchFamily="49" charset="0"/>
              </a:rPr>
              <a:t>int</a:t>
            </a:r>
            <a:r>
              <a:rPr lang="zh-CN" altLang="en-US" sz="2400" b="1" dirty="0">
                <a:solidFill>
                  <a:srgbClr val="007434"/>
                </a:solidFill>
                <a:latin typeface="Courier New" pitchFamily="49" charset="0"/>
                <a:cs typeface="Courier New" pitchFamily="49" charset="0"/>
              </a:rPr>
              <a:t>大小)，并使上述数组元素指针指向它们。此时的</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实际上是一个3行4列的数组，也可通过</a:t>
            </a:r>
            <a:r>
              <a:rPr lang="en-US" altLang="zh-CN" sz="2400" b="1" dirty="0">
                <a:solidFill>
                  <a:srgbClr val="007434"/>
                </a:solidFill>
                <a:latin typeface="Courier New" pitchFamily="49" charset="0"/>
                <a:cs typeface="Courier New" pitchFamily="49" charset="0"/>
              </a:rPr>
              <a:t>a[</a:t>
            </a:r>
            <a:r>
              <a:rPr lang="en-US" altLang="zh-CN" sz="2400" b="1" dirty="0" err="1">
                <a:solidFill>
                  <a:srgbClr val="007434"/>
                </a:solidFill>
                <a:latin typeface="Courier New" pitchFamily="49" charset="0"/>
                <a:cs typeface="Courier New" pitchFamily="49" charset="0"/>
              </a:rPr>
              <a:t>i</a:t>
            </a:r>
            <a:r>
              <a:rPr lang="en-US" altLang="zh-CN" sz="2400" b="1" dirty="0">
                <a:solidFill>
                  <a:srgbClr val="007434"/>
                </a:solidFill>
                <a:latin typeface="Courier New" pitchFamily="49" charset="0"/>
                <a:cs typeface="Courier New" pitchFamily="49" charset="0"/>
              </a:rPr>
              <a:t>][j]</a:t>
            </a:r>
            <a:r>
              <a:rPr lang="zh-CN" altLang="en-US" sz="2400" b="1" dirty="0">
                <a:solidFill>
                  <a:srgbClr val="007434"/>
                </a:solidFill>
                <a:latin typeface="Courier New" pitchFamily="49" charset="0"/>
                <a:cs typeface="Courier New" pitchFamily="49" charset="0"/>
              </a:rPr>
              <a:t>的形式访问各元素。</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a:t>
            </a:r>
            <a:endParaRPr lang="zh-CN" altLang="en-US" b="1" dirty="0">
              <a:solidFill>
                <a:srgbClr val="007434"/>
              </a:solidFill>
              <a:latin typeface="Courier New" pitchFamily="49" charset="0"/>
              <a:cs typeface="Courier New" pitchFamily="49" charset="0"/>
            </a:endParaRPr>
          </a:p>
        </p:txBody>
      </p:sp>
      <p:sp>
        <p:nvSpPr>
          <p:cNvPr id="15" name="矩形 14">
            <a:hlinkClick r:id="rId3" action="ppaction://hlinksldjump"/>
            <a:extLst>
              <a:ext uri="{FF2B5EF4-FFF2-40B4-BE49-F238E27FC236}">
                <a16:creationId xmlns:a16="http://schemas.microsoft.com/office/drawing/2014/main" id="{BF965725-F3B6-4EB8-B93D-F1A08CFE4DC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CE5D39E8-1742-412C-994D-35BF3D17C35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97004EA9-04A0-4587-A228-27551D77E66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8" name="矩形 17">
            <a:hlinkClick r:id="" action="ppaction://noaction"/>
            <a:extLst>
              <a:ext uri="{FF2B5EF4-FFF2-40B4-BE49-F238E27FC236}">
                <a16:creationId xmlns:a16="http://schemas.microsoft.com/office/drawing/2014/main" id="{BA63362C-DE62-4D23-B3F7-D85AD6CFEC8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A91CCBF7-CEBA-45BA-BB67-127E34D7A44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0" name="矩形 19">
            <a:hlinkClick r:id="" action="ppaction://noaction"/>
            <a:extLst>
              <a:ext uri="{FF2B5EF4-FFF2-40B4-BE49-F238E27FC236}">
                <a16:creationId xmlns:a16="http://schemas.microsoft.com/office/drawing/2014/main" id="{0EF217AE-5A07-406A-BD5D-4D85DA31E2A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F35471AE-18C5-46D5-B347-354EBAEA8C9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2" name="矩形 21">
            <a:hlinkClick r:id="" action="ppaction://noaction"/>
            <a:extLst>
              <a:ext uri="{FF2B5EF4-FFF2-40B4-BE49-F238E27FC236}">
                <a16:creationId xmlns:a16="http://schemas.microsoft.com/office/drawing/2014/main" id="{8EC24144-1226-4C78-97E1-1E87A0D0F19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56157996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6.16】</a:t>
            </a:r>
            <a:r>
              <a:rPr lang="zh-CN" altLang="en-US" dirty="0">
                <a:solidFill>
                  <a:srgbClr val="C00000"/>
                </a:solidFill>
              </a:rPr>
              <a:t>分析程序运行结果</a:t>
            </a:r>
            <a:endParaRPr lang="en-US" altLang="zh-CN" dirty="0">
              <a:solidFill>
                <a:srgbClr val="C00000"/>
              </a:solidFill>
            </a:endParaRPr>
          </a:p>
          <a:p>
            <a:r>
              <a:rPr lang="zh-CN" altLang="en-US" dirty="0">
                <a:solidFill>
                  <a:srgbClr val="C00000"/>
                </a:solidFill>
              </a:rPr>
              <a:t>(利用二重指针实现二维动态数组)</a:t>
            </a:r>
          </a:p>
          <a:p>
            <a:pPr>
              <a:lnSpc>
                <a:spcPct val="80000"/>
              </a:lnSpc>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&lt;iostream&gt;</a:t>
            </a:r>
          </a:p>
          <a:p>
            <a:pPr>
              <a:lnSpc>
                <a:spcPct val="80000"/>
              </a:lnSpc>
              <a:buNone/>
            </a:pPr>
            <a:r>
              <a:rPr lang="en-US" altLang="zh-CN" sz="2000" b="1" dirty="0">
                <a:solidFill>
                  <a:srgbClr val="0000FF"/>
                </a:solidFill>
                <a:latin typeface="Courier New" pitchFamily="49" charset="0"/>
                <a:cs typeface="Courier New" pitchFamily="49" charset="0"/>
              </a:rPr>
              <a:t>using</a:t>
            </a: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namespace</a:t>
            </a:r>
            <a:r>
              <a:rPr lang="en-US" altLang="zh-CN" sz="2000" b="1" dirty="0">
                <a:latin typeface="Courier New" pitchFamily="49" charset="0"/>
                <a:cs typeface="Courier New" pitchFamily="49" charset="0"/>
              </a:rPr>
              <a:t> std;</a:t>
            </a:r>
          </a:p>
          <a:p>
            <a:pPr>
              <a:lnSpc>
                <a:spcPct val="80000"/>
              </a:lnSpc>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 {</a:t>
            </a:r>
          </a:p>
          <a:p>
            <a:pPr>
              <a:lnSpc>
                <a:spcPct val="80000"/>
              </a:lnSpc>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lin,col,i,j</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lin,col</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t>
            </a:r>
            <a:r>
              <a:rPr lang="en-US" altLang="zh-CN" sz="2000" b="1" dirty="0" err="1">
                <a:latin typeface="Courier New" pitchFamily="49" charset="0"/>
                <a:cs typeface="Courier New" pitchFamily="49" charset="0"/>
              </a:rPr>
              <a:t>lin</a:t>
            </a:r>
            <a:r>
              <a:rPr lang="en-US" altLang="zh-CN" sz="2000" b="1" dirty="0">
                <a:latin typeface="Courier New" pitchFamily="49" charset="0"/>
                <a:cs typeface="Courier New" pitchFamily="49" charset="0"/>
              </a:rPr>
              <a:t>&gt;&gt;</a:t>
            </a:r>
            <a:r>
              <a:rPr lang="en-US" altLang="zh-CN" sz="2000" b="1" dirty="0" err="1">
                <a:latin typeface="Courier New" pitchFamily="49" charset="0"/>
                <a:cs typeface="Courier New" pitchFamily="49" charset="0"/>
              </a:rPr>
              <a:t>col</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任意输入行数</a:t>
            </a:r>
            <a:r>
              <a:rPr lang="en-US" altLang="zh-CN" sz="2000" b="1" dirty="0" err="1">
                <a:solidFill>
                  <a:srgbClr val="007434"/>
                </a:solidFill>
                <a:latin typeface="Courier New" pitchFamily="49" charset="0"/>
                <a:cs typeface="Courier New" pitchFamily="49" charset="0"/>
              </a:rPr>
              <a:t>lin</a:t>
            </a:r>
            <a:r>
              <a:rPr lang="zh-CN" altLang="en-US" sz="2000" b="1" dirty="0">
                <a:solidFill>
                  <a:srgbClr val="007434"/>
                </a:solidFill>
                <a:latin typeface="Courier New" pitchFamily="49" charset="0"/>
                <a:cs typeface="Courier New" pitchFamily="49" charset="0"/>
              </a:rPr>
              <a:t>及列数</a:t>
            </a:r>
            <a:r>
              <a:rPr lang="en-US" altLang="zh-CN" sz="2000" b="1" dirty="0" err="1">
                <a:solidFill>
                  <a:srgbClr val="007434"/>
                </a:solidFill>
                <a:latin typeface="Courier New" pitchFamily="49" charset="0"/>
                <a:cs typeface="Courier New" pitchFamily="49" charset="0"/>
              </a:rPr>
              <a:t>col</a:t>
            </a:r>
            <a:endParaRPr lang="en-US" altLang="zh-CN" sz="2000" b="1" dirty="0">
              <a:solidFill>
                <a:srgbClr val="007434"/>
              </a:solidFill>
              <a:latin typeface="Courier New" pitchFamily="49" charset="0"/>
              <a:cs typeface="Courier New" pitchFamily="49" charset="0"/>
            </a:endParaRPr>
          </a:p>
          <a:p>
            <a:pPr>
              <a:lnSpc>
                <a:spcPct val="80000"/>
              </a:lnSpc>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**b;  </a:t>
            </a:r>
          </a:p>
          <a:p>
            <a:pPr>
              <a:lnSpc>
                <a:spcPct val="80000"/>
              </a:lnSpc>
              <a:buNone/>
            </a:pPr>
            <a:r>
              <a:rPr lang="en-US" altLang="zh-CN" sz="2000" b="1" dirty="0">
                <a:latin typeface="Courier New" pitchFamily="49" charset="0"/>
                <a:cs typeface="Courier New" pitchFamily="49" charset="0"/>
              </a:rPr>
              <a:t>	b = </a:t>
            </a:r>
            <a:r>
              <a:rPr lang="en-US" altLang="zh-CN" sz="2000" b="1" dirty="0">
                <a:solidFill>
                  <a:srgbClr val="0000FF"/>
                </a:solidFill>
                <a:latin typeface="Courier New" pitchFamily="49" charset="0"/>
                <a:cs typeface="Courier New" pitchFamily="49" charset="0"/>
              </a:rPr>
              <a:t>new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lin</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en-US" altLang="zh-CN" sz="2000" b="1" dirty="0" err="1">
                <a:solidFill>
                  <a:srgbClr val="007434"/>
                </a:solidFill>
                <a:latin typeface="Courier New" pitchFamily="49" charset="0"/>
                <a:cs typeface="Courier New" pitchFamily="49" charset="0"/>
              </a:rPr>
              <a:t>lin</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行数)个“</a:t>
            </a:r>
            <a:r>
              <a:rPr lang="en-US" altLang="zh-CN" sz="2000" b="1" dirty="0" err="1">
                <a:solidFill>
                  <a:srgbClr val="007434"/>
                </a:solidFill>
                <a:latin typeface="Courier New" pitchFamily="49" charset="0"/>
                <a:cs typeface="Courier New" pitchFamily="49" charset="0"/>
              </a:rPr>
              <a:t>int</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”指针</a:t>
            </a:r>
            <a:endParaRPr lang="en-US" altLang="zh-CN" sz="2000" b="1" dirty="0">
              <a:solidFill>
                <a:srgbClr val="007434"/>
              </a:solidFill>
              <a:latin typeface="Courier New" pitchFamily="49" charset="0"/>
              <a:cs typeface="Courier New" pitchFamily="49" charset="0"/>
            </a:endParaRPr>
          </a:p>
          <a:p>
            <a:pPr>
              <a:lnSpc>
                <a:spcPct val="80000"/>
              </a:lnSpc>
              <a:buNone/>
            </a:pPr>
            <a:r>
              <a:rPr lang="en-US" altLang="zh-CN" sz="2000" b="1" dirty="0">
                <a:solidFill>
                  <a:srgbClr val="007434"/>
                </a:solidFill>
                <a:latin typeface="Courier New" pitchFamily="49" charset="0"/>
                <a:cs typeface="Courier New" pitchFamily="49" charset="0"/>
              </a:rPr>
              <a:t>				   </a:t>
            </a:r>
            <a:r>
              <a:rPr lang="en-US" altLang="zh-CN"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a:t>
            </a:r>
            <a:r>
              <a:rPr lang="zh-CN" altLang="en-US"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可以理解为</a:t>
            </a:r>
            <a:r>
              <a:rPr lang="en-US" altLang="zh-CN"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b</a:t>
            </a:r>
            <a:r>
              <a:rPr lang="zh-CN" altLang="en-US"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rPr>
              <a:t>指向一维指针数组</a:t>
            </a:r>
            <a:endParaRPr lang="en-US" altLang="zh-CN" sz="2000" b="1" dirty="0">
              <a:solidFill>
                <a:srgbClr val="007434"/>
              </a:solidFill>
              <a:latin typeface="Courier New" panose="02070309020205020404" pitchFamily="49" charset="0"/>
              <a:ea typeface="宋体" panose="02010600030101010101" pitchFamily="2" charset="-122"/>
              <a:cs typeface="Courier New" panose="02070309020205020404" pitchFamily="49" charset="0"/>
            </a:endParaRPr>
          </a:p>
          <a:p>
            <a:pPr>
              <a:lnSpc>
                <a:spcPct val="80000"/>
              </a:lnSpc>
              <a:buNone/>
            </a:pPr>
            <a:r>
              <a:rPr lang="en-US" altLang="zh-CN" sz="2000" b="1" dirty="0">
                <a:solidFill>
                  <a:srgbClr val="007434"/>
                </a:solidFill>
                <a:latin typeface="Courier New" pitchFamily="49" charset="0"/>
                <a:cs typeface="Courier New" pitchFamily="49" charset="0"/>
              </a:rPr>
              <a:t>				   //</a:t>
            </a:r>
            <a:r>
              <a:rPr lang="zh-CN" altLang="en-US" sz="2000" b="1" dirty="0">
                <a:solidFill>
                  <a:srgbClr val="007434"/>
                </a:solidFill>
                <a:latin typeface="Courier New" pitchFamily="49" charset="0"/>
                <a:cs typeface="Courier New" pitchFamily="49" charset="0"/>
              </a:rPr>
              <a:t>与指针数组的“</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”关系类似</a:t>
            </a:r>
          </a:p>
          <a:p>
            <a:pPr>
              <a:lnSpc>
                <a:spcPct val="80000"/>
              </a:lnSpc>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lin;i</a:t>
            </a:r>
            <a:r>
              <a:rPr lang="en-US" altLang="zh-CN" sz="2000" b="1" dirty="0">
                <a:latin typeface="Courier New" pitchFamily="49" charset="0"/>
                <a:cs typeface="Courier New" pitchFamily="49" charset="0"/>
              </a:rPr>
              <a:t>++)</a:t>
            </a:r>
          </a:p>
          <a:p>
            <a:pPr>
              <a:lnSpc>
                <a:spcPct val="80000"/>
              </a:lnSpc>
              <a:buNone/>
            </a:pPr>
            <a:r>
              <a:rPr lang="en-US" altLang="zh-CN" sz="2000" b="1" dirty="0">
                <a:latin typeface="Courier New" pitchFamily="49" charset="0"/>
                <a:cs typeface="Courier New" pitchFamily="49" charset="0"/>
              </a:rPr>
              <a:t>	    b[</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 = </a:t>
            </a:r>
            <a:r>
              <a:rPr lang="en-US" altLang="zh-CN" sz="2000" b="1" dirty="0">
                <a:solidFill>
                  <a:srgbClr val="0000FF"/>
                </a:solidFill>
                <a:latin typeface="Courier New" pitchFamily="49" charset="0"/>
                <a:cs typeface="Courier New" pitchFamily="49" charset="0"/>
              </a:rPr>
              <a:t>new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col</a:t>
            </a:r>
            <a:r>
              <a:rPr lang="en-US" altLang="zh-CN" sz="2000" b="1" dirty="0">
                <a:latin typeface="Courier New" pitchFamily="49" charset="0"/>
                <a:cs typeface="Courier New" pitchFamily="49" charset="0"/>
              </a:rPr>
              <a:t>];</a:t>
            </a:r>
          </a:p>
          <a:p>
            <a:pPr>
              <a:lnSpc>
                <a:spcPct val="80000"/>
              </a:lnSpc>
              <a:buNone/>
            </a:pPr>
            <a:r>
              <a:rPr lang="en-US" altLang="zh-CN" sz="2000" b="1" dirty="0">
                <a:solidFill>
                  <a:srgbClr val="00B050"/>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每行有</a:t>
            </a:r>
            <a:r>
              <a:rPr lang="en-US" altLang="zh-CN" sz="2000" b="1" dirty="0" err="1">
                <a:solidFill>
                  <a:srgbClr val="007434"/>
                </a:solidFill>
                <a:latin typeface="Courier New" pitchFamily="49" charset="0"/>
                <a:cs typeface="Courier New" pitchFamily="49" charset="0"/>
              </a:rPr>
              <a:t>col</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列数)个</a:t>
            </a:r>
            <a:r>
              <a:rPr lang="en-US" altLang="zh-CN" sz="2000" b="1" dirty="0" err="1">
                <a:solidFill>
                  <a:srgbClr val="007434"/>
                </a:solidFill>
                <a:latin typeface="Courier New" pitchFamily="49" charset="0"/>
                <a:cs typeface="Courier New" pitchFamily="49" charset="0"/>
              </a:rPr>
              <a:t>int</a:t>
            </a:r>
            <a:r>
              <a:rPr lang="zh-CN" altLang="en-US" sz="2000" b="1" dirty="0">
                <a:solidFill>
                  <a:srgbClr val="007434"/>
                </a:solidFill>
                <a:latin typeface="Courier New" pitchFamily="49" charset="0"/>
                <a:cs typeface="Courier New" pitchFamily="49" charset="0"/>
              </a:rPr>
              <a:t>数</a:t>
            </a:r>
          </a:p>
          <a:p>
            <a:pPr>
              <a:lnSpc>
                <a:spcPct val="80000"/>
              </a:lnSpc>
              <a:buNone/>
            </a:pPr>
            <a:r>
              <a:rPr lang="zh-CN" altLang="en-US" sz="2000" b="1" dirty="0">
                <a:solidFill>
                  <a:srgbClr val="007434"/>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	</a:t>
            </a:r>
            <a:r>
              <a:rPr lang="zh-CN" altLang="en-US" sz="2000" b="1" dirty="0">
                <a:solidFill>
                  <a:srgbClr val="007434"/>
                </a:solidFill>
                <a:latin typeface="Courier New" pitchFamily="49" charset="0"/>
                <a:cs typeface="Courier New" pitchFamily="49" charset="0"/>
              </a:rPr>
              <a:t>//此时的</a:t>
            </a:r>
            <a:r>
              <a:rPr lang="en-US" altLang="zh-CN" sz="2000" b="1" dirty="0">
                <a:solidFill>
                  <a:srgbClr val="007434"/>
                </a:solidFill>
                <a:latin typeface="Courier New" pitchFamily="49" charset="0"/>
                <a:cs typeface="Courier New" pitchFamily="49" charset="0"/>
              </a:rPr>
              <a:t>b</a:t>
            </a:r>
            <a:r>
              <a:rPr lang="zh-CN" altLang="en-US" sz="2000" b="1" dirty="0">
                <a:solidFill>
                  <a:srgbClr val="007434"/>
                </a:solidFill>
                <a:latin typeface="Courier New" pitchFamily="49" charset="0"/>
                <a:cs typeface="Courier New" pitchFamily="49" charset="0"/>
              </a:rPr>
              <a:t>成为动态(大小)的二维数组</a:t>
            </a:r>
            <a:endParaRPr lang="zh-CN" altLang="en-US" sz="2000" b="1" dirty="0">
              <a:solidFill>
                <a:schemeClr val="tx2"/>
              </a:solidFill>
              <a:latin typeface="Courier New" pitchFamily="49" charset="0"/>
              <a:cs typeface="Courier New" pitchFamily="49" charset="0"/>
            </a:endParaRPr>
          </a:p>
        </p:txBody>
      </p:sp>
      <p:sp>
        <p:nvSpPr>
          <p:cNvPr id="13" name="矩形 12">
            <a:hlinkClick r:id="rId3" action="ppaction://hlinksldjump"/>
            <a:extLst>
              <a:ext uri="{FF2B5EF4-FFF2-40B4-BE49-F238E27FC236}">
                <a16:creationId xmlns:a16="http://schemas.microsoft.com/office/drawing/2014/main" id="{3CDFF9DD-5EB9-4433-A223-527A91BEE74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48403C5D-4343-4325-91D4-6774897DF6E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0DD6E801-BCCA-49FA-9418-489577454BB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8" name="矩形 17">
            <a:hlinkClick r:id="" action="ppaction://noaction"/>
            <a:extLst>
              <a:ext uri="{FF2B5EF4-FFF2-40B4-BE49-F238E27FC236}">
                <a16:creationId xmlns:a16="http://schemas.microsoft.com/office/drawing/2014/main" id="{DE044112-69DE-4AD3-A5C3-6C3956B2CB5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B36A26F4-4475-462B-9E14-90313A86D12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0" name="矩形 19">
            <a:hlinkClick r:id="" action="ppaction://noaction"/>
            <a:extLst>
              <a:ext uri="{FF2B5EF4-FFF2-40B4-BE49-F238E27FC236}">
                <a16:creationId xmlns:a16="http://schemas.microsoft.com/office/drawing/2014/main" id="{654459AA-80B2-48B6-9DB6-804E948A7B0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CDD7B3F1-E2AF-4D56-B867-08A2D35DCB2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2" name="矩形 21">
            <a:hlinkClick r:id="" action="ppaction://noaction"/>
            <a:extLst>
              <a:ext uri="{FF2B5EF4-FFF2-40B4-BE49-F238E27FC236}">
                <a16:creationId xmlns:a16="http://schemas.microsoft.com/office/drawing/2014/main" id="{53AFADF5-24DB-4786-B57A-7B66548A3C5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76245087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34904"/>
            <a:ext cx="8686800" cy="5376090"/>
          </a:xfrm>
        </p:spPr>
        <p:txBody>
          <a:bodyPr/>
          <a:lstStyle/>
          <a:p>
            <a:pPr>
              <a:spcBef>
                <a:spcPts val="0"/>
              </a:spcBef>
              <a:buNone/>
            </a:pPr>
            <a:r>
              <a:rPr lang="en-US" altLang="zh-CN" sz="2400" dirty="0">
                <a:solidFill>
                  <a:srgbClr val="0000FF"/>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lin;i</a:t>
            </a: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	    for</a:t>
            </a:r>
            <a:r>
              <a:rPr lang="en-US" altLang="zh-CN" sz="2000" b="1" dirty="0">
                <a:latin typeface="Courier New" pitchFamily="49" charset="0"/>
                <a:cs typeface="Courier New" pitchFamily="49" charset="0"/>
              </a:rPr>
              <a:t>(j=0;j&lt;</a:t>
            </a:r>
            <a:r>
              <a:rPr lang="en-US" altLang="zh-CN" sz="2000" b="1" dirty="0" err="1">
                <a:latin typeface="Courier New" pitchFamily="49" charset="0"/>
                <a:cs typeface="Courier New" pitchFamily="49" charset="0"/>
              </a:rPr>
              <a:t>col;j</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b[</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][j]=</a:t>
            </a:r>
            <a:r>
              <a:rPr lang="en-US" altLang="zh-CN" sz="2000" b="1" dirty="0" err="1">
                <a:latin typeface="Courier New" pitchFamily="49" charset="0"/>
                <a:cs typeface="Courier New" pitchFamily="49" charset="0"/>
              </a:rPr>
              <a:t>i+j</a:t>
            </a:r>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  </a:t>
            </a:r>
          </a:p>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可按下标方式使用各数组元素，给</a:t>
            </a:r>
            <a:r>
              <a:rPr lang="en-US" altLang="zh-CN" sz="2000" b="1" dirty="0">
                <a:solidFill>
                  <a:srgbClr val="007434"/>
                </a:solidFill>
                <a:latin typeface="Courier New" pitchFamily="49" charset="0"/>
                <a:cs typeface="Courier New" pitchFamily="49" charset="0"/>
              </a:rPr>
              <a:t>b</a:t>
            </a:r>
            <a:r>
              <a:rPr lang="zh-CN" altLang="en-US" sz="2000" b="1" dirty="0">
                <a:solidFill>
                  <a:srgbClr val="007434"/>
                </a:solidFill>
                <a:latin typeface="Courier New" pitchFamily="49" charset="0"/>
                <a:cs typeface="Courier New" pitchFamily="49" charset="0"/>
              </a:rPr>
              <a:t>数组赋值</a:t>
            </a:r>
          </a:p>
          <a:p>
            <a:pPr>
              <a:spcBef>
                <a:spcPts val="0"/>
              </a:spcBef>
              <a:buNone/>
            </a:pPr>
            <a:r>
              <a:rPr lang="zh-CN" altLang="en-US" sz="2000" b="1" dirty="0">
                <a:solidFill>
                  <a:srgbClr val="0000FF"/>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lin;i</a:t>
            </a:r>
            <a:r>
              <a:rPr lang="en-US" altLang="zh-CN" sz="2000" b="1" dirty="0">
                <a:latin typeface="Courier New" pitchFamily="49" charset="0"/>
                <a:cs typeface="Courier New" pitchFamily="49" charset="0"/>
              </a:rPr>
              <a:t>++)</a:t>
            </a:r>
            <a:r>
              <a:rPr lang="zh-CN" altLang="en-US" sz="2000" b="1" dirty="0">
                <a:latin typeface="Courier New" pitchFamily="49" charset="0"/>
                <a:cs typeface="Courier New" pitchFamily="49" charset="0"/>
              </a:rPr>
              <a:t> {</a:t>
            </a:r>
            <a:endParaRPr lang="en-US" altLang="zh-CN" sz="2000" b="1" dirty="0">
              <a:latin typeface="Courier New" pitchFamily="49" charset="0"/>
              <a:cs typeface="Courier New" pitchFamily="49" charset="0"/>
            </a:endParaRP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a:t>
            </a:r>
            <a:r>
              <a:rPr lang="zh-CN" altLang="en-US" sz="2000" b="1" dirty="0">
                <a:solidFill>
                  <a:srgbClr val="007434"/>
                </a:solidFill>
                <a:latin typeface="Courier New" pitchFamily="49" charset="0"/>
                <a:cs typeface="Courier New" pitchFamily="49" charset="0"/>
              </a:rPr>
              <a:t>按</a:t>
            </a:r>
            <a:r>
              <a:rPr lang="en-US" altLang="zh-CN" sz="2000" b="1" dirty="0" err="1">
                <a:solidFill>
                  <a:srgbClr val="007434"/>
                </a:solidFill>
                <a:latin typeface="Courier New" pitchFamily="49" charset="0"/>
                <a:cs typeface="Courier New" pitchFamily="49" charset="0"/>
              </a:rPr>
              <a:t>lin</a:t>
            </a:r>
            <a:r>
              <a:rPr lang="zh-CN" altLang="en-US" sz="2000" b="1" dirty="0">
                <a:solidFill>
                  <a:srgbClr val="007434"/>
                </a:solidFill>
                <a:latin typeface="Courier New" pitchFamily="49" charset="0"/>
                <a:cs typeface="Courier New" pitchFamily="49" charset="0"/>
              </a:rPr>
              <a:t>行</a:t>
            </a:r>
            <a:r>
              <a:rPr lang="en-US" altLang="zh-CN" sz="2000" b="1" dirty="0" err="1">
                <a:solidFill>
                  <a:srgbClr val="007434"/>
                </a:solidFill>
                <a:latin typeface="Courier New" pitchFamily="49" charset="0"/>
                <a:cs typeface="Courier New" pitchFamily="49" charset="0"/>
              </a:rPr>
              <a:t>col</a:t>
            </a:r>
            <a:r>
              <a:rPr lang="zh-CN" altLang="en-US" sz="2000" b="1" dirty="0">
                <a:solidFill>
                  <a:srgbClr val="007434"/>
                </a:solidFill>
                <a:latin typeface="Courier New" pitchFamily="49" charset="0"/>
                <a:cs typeface="Courier New" pitchFamily="49" charset="0"/>
              </a:rPr>
              <a:t>列格式显示出</a:t>
            </a:r>
            <a:r>
              <a:rPr lang="en-US" altLang="zh-CN" sz="2000" b="1" dirty="0">
                <a:solidFill>
                  <a:srgbClr val="007434"/>
                </a:solidFill>
                <a:latin typeface="Courier New" pitchFamily="49" charset="0"/>
                <a:cs typeface="Courier New" pitchFamily="49" charset="0"/>
              </a:rPr>
              <a:t>b</a:t>
            </a:r>
            <a:r>
              <a:rPr lang="zh-CN" altLang="en-US" sz="2000" b="1" dirty="0">
                <a:solidFill>
                  <a:srgbClr val="007434"/>
                </a:solidFill>
                <a:latin typeface="Courier New" pitchFamily="49" charset="0"/>
                <a:cs typeface="Courier New" pitchFamily="49" charset="0"/>
              </a:rPr>
              <a:t>数组各元素	</a:t>
            </a:r>
          </a:p>
          <a:p>
            <a:pPr>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(j=0;j&lt;</a:t>
            </a:r>
            <a:r>
              <a:rPr lang="en-US" altLang="zh-CN" sz="2000" b="1" dirty="0" err="1">
                <a:latin typeface="Courier New" pitchFamily="49" charset="0"/>
                <a:cs typeface="Courier New" pitchFamily="49" charset="0"/>
              </a:rPr>
              <a:t>col;j</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][j]&lt;&lt;"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	}</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rgbClr val="007434"/>
                </a:solidFill>
                <a:latin typeface="Courier New" pitchFamily="49" charset="0"/>
                <a:cs typeface="Courier New" pitchFamily="49" charset="0"/>
              </a:rPr>
              <a:t>//b</a:t>
            </a:r>
            <a:r>
              <a:rPr lang="zh-CN" altLang="en-US" sz="2000" b="1" dirty="0">
                <a:solidFill>
                  <a:srgbClr val="007434"/>
                </a:solidFill>
                <a:latin typeface="Courier New" pitchFamily="49" charset="0"/>
                <a:cs typeface="Courier New" pitchFamily="49" charset="0"/>
              </a:rPr>
              <a:t>为</a:t>
            </a:r>
            <a:r>
              <a:rPr lang="en-US" altLang="zh-CN" sz="2000" b="1" dirty="0">
                <a:solidFill>
                  <a:srgbClr val="007434"/>
                </a:solidFill>
                <a:latin typeface="Courier New" pitchFamily="49" charset="0"/>
                <a:cs typeface="Courier New" pitchFamily="49" charset="0"/>
              </a:rPr>
              <a:t>b[0]</a:t>
            </a:r>
            <a:r>
              <a:rPr lang="zh-CN" altLang="en-US" sz="2000" b="1" dirty="0">
                <a:solidFill>
                  <a:srgbClr val="007434"/>
                </a:solidFill>
                <a:latin typeface="Courier New" pitchFamily="49" charset="0"/>
                <a:cs typeface="Courier New" pitchFamily="49" charset="0"/>
              </a:rPr>
              <a:t>地址，指针地址</a:t>
            </a:r>
            <a:endParaRPr lang="en-US" altLang="zh-CN" sz="2000" b="1" dirty="0">
              <a:solidFill>
                <a:srgbClr val="007434"/>
              </a:solidFill>
              <a:latin typeface="Courier New" pitchFamily="49" charset="0"/>
              <a:cs typeface="Courier New" pitchFamily="49" charset="0"/>
            </a:endParaRPr>
          </a:p>
          <a:p>
            <a:pPr>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r>
              <a:rPr lang="en-US" altLang="zh-CN" sz="2000" b="1" dirty="0">
                <a:solidFill>
                  <a:srgbClr val="007434"/>
                </a:solidFill>
                <a:latin typeface="Courier New" pitchFamily="49" charset="0"/>
                <a:cs typeface="Courier New" pitchFamily="49" charset="0"/>
              </a:rPr>
              <a:t>//*b</a:t>
            </a:r>
            <a:r>
              <a:rPr lang="zh-CN" altLang="en-US" sz="2000" b="1" dirty="0">
                <a:solidFill>
                  <a:srgbClr val="007434"/>
                </a:solidFill>
                <a:latin typeface="Courier New" pitchFamily="49" charset="0"/>
                <a:cs typeface="Courier New" pitchFamily="49" charset="0"/>
              </a:rPr>
              <a:t>为</a:t>
            </a:r>
            <a:r>
              <a:rPr lang="en-US" altLang="zh-CN" sz="2000" b="1" dirty="0">
                <a:solidFill>
                  <a:srgbClr val="007434"/>
                </a:solidFill>
                <a:latin typeface="Courier New" pitchFamily="49" charset="0"/>
                <a:cs typeface="Courier New" pitchFamily="49" charset="0"/>
              </a:rPr>
              <a:t>b[0][0]</a:t>
            </a:r>
            <a:r>
              <a:rPr lang="zh-CN" altLang="en-US" sz="2000" b="1" dirty="0">
                <a:solidFill>
                  <a:srgbClr val="007434"/>
                </a:solidFill>
                <a:latin typeface="Courier New" pitchFamily="49" charset="0"/>
                <a:cs typeface="Courier New" pitchFamily="49" charset="0"/>
              </a:rPr>
              <a:t>的地址，指针值</a:t>
            </a:r>
            <a:endParaRPr lang="en-US" altLang="zh-CN" sz="2000" b="1" dirty="0">
              <a:solidFill>
                <a:srgbClr val="007434"/>
              </a:solidFill>
              <a:latin typeface="Courier New" pitchFamily="49" charset="0"/>
              <a:cs typeface="Courier New" pitchFamily="49" charset="0"/>
            </a:endParaRP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rgbClr val="007434"/>
                </a:solidFill>
                <a:latin typeface="Courier New" pitchFamily="49" charset="0"/>
                <a:cs typeface="Courier New" pitchFamily="49" charset="0"/>
              </a:rPr>
              <a:t>//**b</a:t>
            </a:r>
            <a:r>
              <a:rPr lang="zh-CN" altLang="en-US" sz="2000" b="1" dirty="0">
                <a:solidFill>
                  <a:srgbClr val="007434"/>
                </a:solidFill>
                <a:latin typeface="Courier New" pitchFamily="49" charset="0"/>
                <a:cs typeface="Courier New" pitchFamily="49" charset="0"/>
              </a:rPr>
              <a:t>为</a:t>
            </a:r>
            <a:r>
              <a:rPr lang="en-US" altLang="zh-CN" sz="2000" b="1" dirty="0">
                <a:solidFill>
                  <a:srgbClr val="007434"/>
                </a:solidFill>
                <a:latin typeface="Courier New" pitchFamily="49" charset="0"/>
                <a:cs typeface="Courier New" pitchFamily="49" charset="0"/>
              </a:rPr>
              <a:t>b[0][0]</a:t>
            </a:r>
            <a:r>
              <a:rPr lang="zh-CN" altLang="en-US" sz="2000" b="1" dirty="0">
                <a:solidFill>
                  <a:srgbClr val="007434"/>
                </a:solidFill>
                <a:latin typeface="Courier New" pitchFamily="49" charset="0"/>
                <a:cs typeface="Courier New" pitchFamily="49" charset="0"/>
              </a:rPr>
              <a:t>的值</a:t>
            </a:r>
            <a:endParaRPr lang="en-US" altLang="zh-CN" sz="2000" b="1" dirty="0">
              <a:solidFill>
                <a:srgbClr val="007434"/>
              </a:solidFill>
              <a:latin typeface="Courier New" pitchFamily="49" charset="0"/>
              <a:cs typeface="Courier New" pitchFamily="49" charset="0"/>
            </a:endParaRPr>
          </a:p>
          <a:p>
            <a:pPr>
              <a:lnSpc>
                <a:spcPct val="85000"/>
              </a:lnSpc>
              <a:buNone/>
            </a:pPr>
            <a:r>
              <a:rPr lang="en-US" altLang="zh-CN" sz="2000" b="1" dirty="0">
                <a:latin typeface="Courier New" pitchFamily="49" charset="0"/>
                <a:cs typeface="Courier New" pitchFamily="49" charset="0"/>
              </a:rPr>
              <a:t>}</a:t>
            </a:r>
          </a:p>
          <a:p>
            <a:pPr>
              <a:spcBef>
                <a:spcPts val="0"/>
              </a:spcBef>
              <a:buNone/>
            </a:pPr>
            <a:endParaRPr lang="zh-CN" altLang="en-US" sz="2400" dirty="0">
              <a:solidFill>
                <a:schemeClr val="tx2"/>
              </a:solidFill>
              <a:latin typeface="Courier New" pitchFamily="49" charset="0"/>
              <a:cs typeface="Courier New" pitchFamily="49" charset="0"/>
            </a:endParaRPr>
          </a:p>
        </p:txBody>
      </p:sp>
      <p:sp>
        <p:nvSpPr>
          <p:cNvPr id="13" name="矩形 12">
            <a:hlinkClick r:id="rId2" action="ppaction://hlinksldjump"/>
            <a:extLst>
              <a:ext uri="{FF2B5EF4-FFF2-40B4-BE49-F238E27FC236}">
                <a16:creationId xmlns:a16="http://schemas.microsoft.com/office/drawing/2014/main" id="{ED7A1575-4431-44F8-A2A6-8A7787CD369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8032A395-71E7-4D83-8D44-85E8BF40E3E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166D920D-2B5F-4B5E-BE76-5FF16C56963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6" name="矩形 15">
            <a:hlinkClick r:id="" action="ppaction://noaction"/>
            <a:extLst>
              <a:ext uri="{FF2B5EF4-FFF2-40B4-BE49-F238E27FC236}">
                <a16:creationId xmlns:a16="http://schemas.microsoft.com/office/drawing/2014/main" id="{533721BC-F7AF-4AFE-9799-EAA5A48B8DE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484C6480-AD3C-4C56-89DE-70B607B2FD1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18" name="矩形 17">
            <a:hlinkClick r:id="" action="ppaction://noaction"/>
            <a:extLst>
              <a:ext uri="{FF2B5EF4-FFF2-40B4-BE49-F238E27FC236}">
                <a16:creationId xmlns:a16="http://schemas.microsoft.com/office/drawing/2014/main" id="{16C934F2-8C0E-4459-9C16-C31BAF14A25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106E2BE7-776E-45DD-9906-499616BCB55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0" name="矩形 19">
            <a:hlinkClick r:id="" action="ppaction://noaction"/>
            <a:extLst>
              <a:ext uri="{FF2B5EF4-FFF2-40B4-BE49-F238E27FC236}">
                <a16:creationId xmlns:a16="http://schemas.microsoft.com/office/drawing/2014/main" id="{2F97E110-390D-4F09-836E-0757F92C9F6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04191867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22677" y="2884944"/>
            <a:ext cx="7496871" cy="267765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880068"/>
                </a:solidFill>
                <a:effectLst/>
                <a:uLnTx/>
                <a:uFillTx/>
                <a:latin typeface="Courier New" pitchFamily="49" charset="0"/>
                <a:ea typeface="楷体_GB2312" pitchFamily="49" charset="-122"/>
                <a:cs typeface="Courier New" pitchFamily="49" charset="0"/>
              </a:rPr>
              <a:t>	</a:t>
            </a: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for</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i</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=0;i&lt;3;i++)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		</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cout</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b+i</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endl</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880068"/>
                </a:solidFill>
                <a:effectLst/>
                <a:uLnTx/>
                <a:uFillTx/>
                <a:latin typeface="Courier New" pitchFamily="49" charset="0"/>
                <a:ea typeface="楷体_GB2312" pitchFamily="49" charset="-122"/>
                <a:cs typeface="Courier New" pitchFamily="49" charset="0"/>
              </a:rPr>
              <a:t>		</a:t>
            </a: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for</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(j=0;j&lt;4;j++)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			</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cout</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b+i</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)+j&lt;&lt;"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		</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cout</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&lt;&lt;</a:t>
            </a:r>
            <a:r>
              <a:rPr kumimoji="0" lang="en-US" altLang="zh-CN" sz="2400" b="1" i="0" u="none" strike="noStrike" kern="1200" cap="none" spc="0" normalizeH="0" baseline="0" noProof="0" dirty="0" err="1">
                <a:ln>
                  <a:noFill/>
                </a:ln>
                <a:solidFill>
                  <a:prstClr val="black"/>
                </a:solidFill>
                <a:effectLst/>
                <a:uLnTx/>
                <a:uFillTx/>
                <a:latin typeface="Courier New" pitchFamily="49" charset="0"/>
                <a:ea typeface="楷体_GB2312" pitchFamily="49" charset="-122"/>
                <a:cs typeface="Courier New" pitchFamily="49" charset="0"/>
              </a:rPr>
              <a:t>endl</a:t>
            </a: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rPr>
              <a:t>	}</a:t>
            </a:r>
            <a:endParaRPr kumimoji="0" lang="zh-CN" altLang="en-US" sz="2400" b="1" i="0" u="none" strike="noStrike" kern="1200" cap="none" spc="0" normalizeH="0" baseline="0" noProof="0" dirty="0">
              <a:ln>
                <a:noFill/>
              </a:ln>
              <a:solidFill>
                <a:prstClr val="black"/>
              </a:solidFill>
              <a:effectLst/>
              <a:uLnTx/>
              <a:uFillTx/>
              <a:latin typeface="Courier New" pitchFamily="49" charset="0"/>
              <a:ea typeface="楷体_GB2312" pitchFamily="49" charset="-122"/>
              <a:cs typeface="Courier New" pitchFamily="49" charset="0"/>
            </a:endParaRPr>
          </a:p>
        </p:txBody>
      </p:sp>
      <p:sp>
        <p:nvSpPr>
          <p:cNvPr id="7" name="内容占位符 2"/>
          <p:cNvSpPr>
            <a:spLocks noGrp="1"/>
          </p:cNvSpPr>
          <p:nvPr>
            <p:ph idx="1"/>
          </p:nvPr>
        </p:nvSpPr>
        <p:spPr>
          <a:xfrm>
            <a:off x="457200" y="1295400"/>
            <a:ext cx="8153400" cy="1629544"/>
          </a:xfrm>
        </p:spPr>
        <p:txBody>
          <a:bodyPr/>
          <a:lstStyle/>
          <a:p>
            <a:r>
              <a:rPr lang="en-US" altLang="zh-CN" dirty="0">
                <a:solidFill>
                  <a:srgbClr val="C00000"/>
                </a:solidFill>
              </a:rPr>
              <a:t>【</a:t>
            </a:r>
            <a:r>
              <a:rPr lang="zh-CN" altLang="en-US" dirty="0">
                <a:solidFill>
                  <a:srgbClr val="C00000"/>
                </a:solidFill>
              </a:rPr>
              <a:t>思考</a:t>
            </a:r>
            <a:r>
              <a:rPr lang="en-US" altLang="zh-CN" dirty="0">
                <a:solidFill>
                  <a:srgbClr val="C00000"/>
                </a:solidFill>
              </a:rPr>
              <a:t>】</a:t>
            </a:r>
          </a:p>
          <a:p>
            <a:r>
              <a:rPr lang="zh-CN" altLang="en-US" dirty="0"/>
              <a:t>在</a:t>
            </a:r>
            <a:r>
              <a:rPr lang="zh-CN" altLang="en-US" dirty="0">
                <a:solidFill>
                  <a:srgbClr val="C00000"/>
                </a:solidFill>
              </a:rPr>
              <a:t>例</a:t>
            </a:r>
            <a:r>
              <a:rPr lang="en-US" altLang="zh-CN" dirty="0">
                <a:solidFill>
                  <a:srgbClr val="C00000"/>
                </a:solidFill>
              </a:rPr>
              <a:t>6.16</a:t>
            </a:r>
            <a:r>
              <a:rPr lang="zh-CN" altLang="en-US" dirty="0"/>
              <a:t>以下程序段主函数末尾添加如下代码，将显示什么结果</a:t>
            </a:r>
          </a:p>
        </p:txBody>
      </p:sp>
      <p:sp>
        <p:nvSpPr>
          <p:cNvPr id="14" name="矩形 13">
            <a:hlinkClick r:id="rId2" action="ppaction://hlinksldjump"/>
            <a:extLst>
              <a:ext uri="{FF2B5EF4-FFF2-40B4-BE49-F238E27FC236}">
                <a16:creationId xmlns:a16="http://schemas.microsoft.com/office/drawing/2014/main" id="{B912758B-04F2-4271-A255-77AD1DE7CCD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5365A2EB-B784-4F0F-BABA-D41F8A24206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16CB557D-A824-48A4-B6F3-EA64F912BE9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7" name="矩形 16">
            <a:hlinkClick r:id="" action="ppaction://noaction"/>
            <a:extLst>
              <a:ext uri="{FF2B5EF4-FFF2-40B4-BE49-F238E27FC236}">
                <a16:creationId xmlns:a16="http://schemas.microsoft.com/office/drawing/2014/main" id="{B496AF6A-FED3-4B6C-9B22-ECAAB693D03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0E86ACB8-B075-4F50-8D61-F66559B2837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1" name="矩形 20">
            <a:hlinkClick r:id="" action="ppaction://noaction"/>
            <a:extLst>
              <a:ext uri="{FF2B5EF4-FFF2-40B4-BE49-F238E27FC236}">
                <a16:creationId xmlns:a16="http://schemas.microsoft.com/office/drawing/2014/main" id="{10E3F403-0A7C-437F-BECC-218065C340C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6FE8A519-A85E-4B7B-A597-806E582104F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3" name="矩形 22">
            <a:hlinkClick r:id="" action="ppaction://noaction"/>
            <a:extLst>
              <a:ext uri="{FF2B5EF4-FFF2-40B4-BE49-F238E27FC236}">
                <a16:creationId xmlns:a16="http://schemas.microsoft.com/office/drawing/2014/main" id="{A543242C-880F-4B1F-9A71-BBDD0E205A8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54036865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1124744"/>
            <a:ext cx="8928992" cy="3312368"/>
          </a:xfrm>
        </p:spPr>
        <p:txBody>
          <a:bodyPr/>
          <a:lstStyle/>
          <a:p>
            <a:r>
              <a:rPr lang="zh-CN" altLang="en-US" sz="2400" b="1" dirty="0">
                <a:solidFill>
                  <a:schemeClr val="accent6">
                    <a:lumMod val="75000"/>
                  </a:schemeClr>
                </a:solidFill>
              </a:rPr>
              <a:t>运行结果（部分）：</a:t>
            </a:r>
            <a:endParaRPr lang="en-US" altLang="zh-CN" sz="2400" b="1" dirty="0">
              <a:solidFill>
                <a:schemeClr val="accent6">
                  <a:lumMod val="75000"/>
                </a:schemeClr>
              </a:solidFill>
            </a:endParaRPr>
          </a:p>
          <a:p>
            <a:r>
              <a:rPr lang="en-US" altLang="zh-CN" sz="2400" dirty="0"/>
              <a:t>0134DCF0</a:t>
            </a:r>
          </a:p>
          <a:p>
            <a:r>
              <a:rPr lang="en-US" altLang="zh-CN" sz="2400" dirty="0"/>
              <a:t>0134DA20        0134DA24        0134DA28        0134DA2C</a:t>
            </a:r>
          </a:p>
          <a:p>
            <a:r>
              <a:rPr lang="en-US" altLang="zh-CN" sz="2400" dirty="0"/>
              <a:t>0134DCF4</a:t>
            </a:r>
          </a:p>
          <a:p>
            <a:r>
              <a:rPr lang="en-US" altLang="zh-CN" sz="2400" dirty="0"/>
              <a:t>0134DA60        0134DA64        0134DA68        0134DA6C</a:t>
            </a:r>
          </a:p>
          <a:p>
            <a:r>
              <a:rPr lang="en-US" altLang="zh-CN" sz="2400" dirty="0"/>
              <a:t>0134DCF8</a:t>
            </a:r>
          </a:p>
          <a:p>
            <a:r>
              <a:rPr lang="en-US" altLang="zh-CN" sz="2400" dirty="0"/>
              <a:t>0134DAA0       0134DAA4       0134DAA8        0134DAAC</a:t>
            </a:r>
          </a:p>
        </p:txBody>
      </p:sp>
      <p:sp>
        <p:nvSpPr>
          <p:cNvPr id="4" name="矩形 3"/>
          <p:cNvSpPr/>
          <p:nvPr/>
        </p:nvSpPr>
        <p:spPr>
          <a:xfrm>
            <a:off x="415200" y="1582994"/>
            <a:ext cx="1728192" cy="386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6" name="矩形 5"/>
          <p:cNvSpPr/>
          <p:nvPr/>
        </p:nvSpPr>
        <p:spPr>
          <a:xfrm>
            <a:off x="408674" y="2028168"/>
            <a:ext cx="8051758" cy="39925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9" name="TextBox 8"/>
          <p:cNvSpPr txBox="1"/>
          <p:nvPr/>
        </p:nvSpPr>
        <p:spPr>
          <a:xfrm>
            <a:off x="539552" y="4780844"/>
            <a:ext cx="1728192" cy="369332"/>
          </a:xfrm>
          <a:prstGeom prst="rect">
            <a:avLst/>
          </a:prstGeom>
          <a:solidFill>
            <a:srgbClr val="FFFF00"/>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0134DA20</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cxnSp>
        <p:nvCxnSpPr>
          <p:cNvPr id="11" name="直接箭头连接符 10"/>
          <p:cNvCxnSpPr>
            <a:stCxn id="9" idx="3"/>
          </p:cNvCxnSpPr>
          <p:nvPr/>
        </p:nvCxnSpPr>
        <p:spPr>
          <a:xfrm>
            <a:off x="2267744" y="4965510"/>
            <a:ext cx="936104"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48721" y="4244629"/>
            <a:ext cx="1711403" cy="369332"/>
          </a:xfrm>
          <a:prstGeom prst="rect">
            <a:avLst/>
          </a:prstGeom>
          <a:noFill/>
          <a:ln>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0134DCF0</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3" name="TextBox 12"/>
          <p:cNvSpPr txBox="1"/>
          <p:nvPr/>
        </p:nvSpPr>
        <p:spPr>
          <a:xfrm>
            <a:off x="3203847" y="4257401"/>
            <a:ext cx="1723549" cy="369332"/>
          </a:xfrm>
          <a:prstGeom prst="rect">
            <a:avLst/>
          </a:prstGeom>
          <a:noFill/>
          <a:ln>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0134DA20</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5" name="TextBox 14"/>
          <p:cNvSpPr txBox="1"/>
          <p:nvPr/>
        </p:nvSpPr>
        <p:spPr>
          <a:xfrm>
            <a:off x="3203847" y="4771027"/>
            <a:ext cx="2304255" cy="369332"/>
          </a:xfrm>
          <a:prstGeom prst="rect">
            <a:avLst/>
          </a:prstGeom>
          <a:solidFill>
            <a:schemeClr val="accent2">
              <a:lumMod val="40000"/>
              <a:lumOff val="60000"/>
            </a:schemeClr>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即</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b[0][0])</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16" name="TextBox 15"/>
          <p:cNvSpPr txBox="1"/>
          <p:nvPr/>
        </p:nvSpPr>
        <p:spPr>
          <a:xfrm>
            <a:off x="556341" y="5816277"/>
            <a:ext cx="1728192" cy="369332"/>
          </a:xfrm>
          <a:prstGeom prst="rect">
            <a:avLst/>
          </a:prstGeom>
          <a:solidFill>
            <a:srgbClr val="FFFF00"/>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0134DA60</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cxnSp>
        <p:nvCxnSpPr>
          <p:cNvPr id="17" name="直接箭头连接符 16"/>
          <p:cNvCxnSpPr>
            <a:stCxn id="16" idx="3"/>
          </p:cNvCxnSpPr>
          <p:nvPr/>
        </p:nvCxnSpPr>
        <p:spPr>
          <a:xfrm>
            <a:off x="2284533" y="6000943"/>
            <a:ext cx="936104"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459276" y="5243676"/>
            <a:ext cx="1922321" cy="369332"/>
          </a:xfrm>
          <a:prstGeom prst="rect">
            <a:avLst/>
          </a:prstGeom>
          <a:noFill/>
          <a:ln>
            <a:solidFill>
              <a:srgbClr val="FF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b+1</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0134DCF4</a:t>
            </a:r>
          </a:p>
        </p:txBody>
      </p:sp>
      <p:sp>
        <p:nvSpPr>
          <p:cNvPr id="19" name="TextBox 18"/>
          <p:cNvSpPr txBox="1"/>
          <p:nvPr/>
        </p:nvSpPr>
        <p:spPr>
          <a:xfrm>
            <a:off x="3203847" y="5232692"/>
            <a:ext cx="2204450" cy="369332"/>
          </a:xfrm>
          <a:prstGeom prst="rect">
            <a:avLst/>
          </a:prstGeom>
          <a:noFill/>
          <a:ln>
            <a:solidFill>
              <a:srgbClr val="FF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*(b+1)</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0134DA60</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20" name="TextBox 19"/>
          <p:cNvSpPr txBox="1"/>
          <p:nvPr/>
        </p:nvSpPr>
        <p:spPr>
          <a:xfrm>
            <a:off x="3220636" y="5806460"/>
            <a:ext cx="2287467" cy="369332"/>
          </a:xfrm>
          <a:prstGeom prst="rect">
            <a:avLst/>
          </a:prstGeom>
          <a:solidFill>
            <a:schemeClr val="accent2">
              <a:lumMod val="40000"/>
              <a:lumOff val="60000"/>
            </a:schemeClr>
          </a:solid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**(b+1)</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 </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a:t>
            </a: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即</a:t>
            </a:r>
            <a:r>
              <a:rPr kumimoji="0" lang="en-US" altLang="zh-CN"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b[1][0])</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21" name="矩形 20"/>
          <p:cNvSpPr/>
          <p:nvPr/>
        </p:nvSpPr>
        <p:spPr>
          <a:xfrm>
            <a:off x="5796136" y="4401695"/>
            <a:ext cx="266611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b = </a:t>
            </a:r>
            <a:r>
              <a:rPr kumimoji="0" lang="en-US" altLang="zh-CN" sz="18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new </a:t>
            </a:r>
            <a:r>
              <a:rPr kumimoji="0" lang="en-US" altLang="zh-CN" sz="1800" b="1" i="0" u="none" strike="noStrike" kern="1200" cap="none" spc="0" normalizeH="0" baseline="0" noProof="0" dirty="0" err="1">
                <a:ln>
                  <a:noFill/>
                </a:ln>
                <a:solidFill>
                  <a:srgbClr val="0000FF"/>
                </a:solidFill>
                <a:effectLst/>
                <a:uLnTx/>
                <a:uFillTx/>
                <a:latin typeface="Courier New" pitchFamily="49" charset="0"/>
                <a:ea typeface="黑体" panose="02010609060101010101" pitchFamily="49" charset="-122"/>
                <a:cs typeface="Courier New" pitchFamily="49" charset="0"/>
              </a:rPr>
              <a:t>int</a:t>
            </a:r>
            <a:r>
              <a:rPr kumimoji="0" lang="en-US" altLang="zh-CN" sz="18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a:t>
            </a:r>
            <a:r>
              <a:rPr kumimoji="0" lang="en-US" altLang="zh-CN" sz="18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lin</a:t>
            </a:r>
            <a:r>
              <a:rPr kumimoji="0" lang="en-US" altLang="zh-CN" sz="18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为</a:t>
            </a: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b</a:t>
            </a:r>
            <a:r>
              <a:rPr kumimoji="0" lang="zh-CN" altLang="en-US"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分配连续的空间</a:t>
            </a:r>
            <a:r>
              <a:rPr kumimoji="0" lang="en-US" altLang="zh-CN" sz="1800" b="1" i="0" u="none" strike="noStrike" kern="1200" cap="none" spc="0" normalizeH="0" baseline="0" noProof="0" dirty="0">
                <a:ln>
                  <a:noFill/>
                </a:ln>
                <a:solidFill>
                  <a:srgbClr val="880068"/>
                </a:solidFill>
                <a:effectLst/>
                <a:uLnTx/>
                <a:uFillTx/>
                <a:latin typeface="Courier New" pitchFamily="49" charset="0"/>
                <a:ea typeface="黑体" panose="02010609060101010101" pitchFamily="49" charset="-122"/>
                <a:cs typeface="Courier New" pitchFamily="49" charset="0"/>
              </a:rPr>
              <a:t> </a:t>
            </a: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22" name="矩形 21"/>
          <p:cNvSpPr/>
          <p:nvPr/>
        </p:nvSpPr>
        <p:spPr>
          <a:xfrm>
            <a:off x="5796136" y="5140359"/>
            <a:ext cx="2871299" cy="92333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b[</a:t>
            </a:r>
            <a:r>
              <a:rPr kumimoji="0" lang="en-US" altLang="zh-CN" sz="1800" b="1" i="0" u="none" strike="noStrike" kern="1200" cap="none" spc="0" normalizeH="0" baseline="0" noProof="0" dirty="0" err="1">
                <a:ln>
                  <a:noFill/>
                </a:ln>
                <a:solidFill>
                  <a:prstClr val="black"/>
                </a:solidFill>
                <a:effectLst/>
                <a:uLnTx/>
                <a:uFillTx/>
                <a:latin typeface="Courier New" pitchFamily="49" charset="0"/>
                <a:ea typeface="黑体" panose="02010609060101010101" pitchFamily="49" charset="-122"/>
                <a:cs typeface="Courier New" pitchFamily="49" charset="0"/>
              </a:rPr>
              <a:t>i</a:t>
            </a:r>
            <a:r>
              <a:rPr kumimoji="0" lang="en-US" altLang="zh-CN" sz="18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 = </a:t>
            </a:r>
            <a:r>
              <a:rPr kumimoji="0" lang="en-US" altLang="zh-CN" sz="1800" b="1" i="0" u="none" strike="noStrike" kern="1200" cap="none" spc="0" normalizeH="0" baseline="0" noProof="0" dirty="0">
                <a:ln>
                  <a:noFill/>
                </a:ln>
                <a:solidFill>
                  <a:srgbClr val="0000FF"/>
                </a:solidFill>
                <a:effectLst/>
                <a:uLnTx/>
                <a:uFillTx/>
                <a:latin typeface="Courier New" pitchFamily="49" charset="0"/>
                <a:ea typeface="黑体" panose="02010609060101010101" pitchFamily="49" charset="-122"/>
                <a:cs typeface="Courier New" pitchFamily="49" charset="0"/>
              </a:rPr>
              <a:t>new </a:t>
            </a:r>
            <a:r>
              <a:rPr kumimoji="0" lang="en-US" altLang="zh-CN" sz="1800" b="1" i="0" u="none" strike="noStrike" kern="1200" cap="none" spc="0" normalizeH="0" baseline="0" noProof="0" dirty="0" err="1">
                <a:ln>
                  <a:noFill/>
                </a:ln>
                <a:solidFill>
                  <a:srgbClr val="0000FF"/>
                </a:solidFill>
                <a:effectLst/>
                <a:uLnTx/>
                <a:uFillTx/>
                <a:latin typeface="Courier New" pitchFamily="49" charset="0"/>
                <a:ea typeface="黑体" panose="02010609060101010101" pitchFamily="49" charset="-122"/>
                <a:cs typeface="Courier New" pitchFamily="49" charset="0"/>
              </a:rPr>
              <a:t>int</a:t>
            </a:r>
            <a:r>
              <a:rPr kumimoji="0" lang="en-US" altLang="zh-CN" sz="1800" b="1" i="0" u="none" strike="noStrike" kern="1200" cap="none" spc="0" normalizeH="0" baseline="0" noProof="0" dirty="0">
                <a:ln>
                  <a:noFill/>
                </a:ln>
                <a:solidFill>
                  <a:prstClr val="black"/>
                </a:solidFill>
                <a:effectLst/>
                <a:uLnTx/>
                <a:uFillTx/>
                <a:latin typeface="Courier New" pitchFamily="49" charset="0"/>
                <a:ea typeface="黑体" panose="02010609060101010101" pitchFamily="49" charset="-122"/>
                <a:cs typeface="Courier New" pitchFamily="49" charset="0"/>
              </a:rPr>
              <a:t>[col]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为</a:t>
            </a: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b[</a:t>
            </a:r>
            <a:r>
              <a:rPr kumimoji="0" lang="en-US" altLang="zh-CN" sz="1800" b="1" i="0" u="none" strike="noStrike" kern="1200" cap="none" spc="0" normalizeH="0" baseline="0" noProof="0" dirty="0" err="1">
                <a:ln>
                  <a:noFill/>
                </a:ln>
                <a:solidFill>
                  <a:srgbClr val="00B050"/>
                </a:solidFill>
                <a:effectLst/>
                <a:uLnTx/>
                <a:uFillTx/>
                <a:latin typeface="Courier New" pitchFamily="49" charset="0"/>
                <a:ea typeface="黑体" panose="02010609060101010101" pitchFamily="49" charset="-122"/>
                <a:cs typeface="Courier New" pitchFamily="49" charset="0"/>
              </a:rPr>
              <a:t>i</a:t>
            </a: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分配连续的空间</a:t>
            </a:r>
            <a:endPar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但</a:t>
            </a: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b[</a:t>
            </a:r>
            <a:r>
              <a:rPr kumimoji="0" lang="en-US" altLang="zh-CN" sz="1800" b="1" i="0" u="none" strike="noStrike" kern="1200" cap="none" spc="0" normalizeH="0" baseline="0" noProof="0" dirty="0" err="1">
                <a:ln>
                  <a:noFill/>
                </a:ln>
                <a:solidFill>
                  <a:srgbClr val="00B050"/>
                </a:solidFill>
                <a:effectLst/>
                <a:uLnTx/>
                <a:uFillTx/>
                <a:latin typeface="Courier New" pitchFamily="49" charset="0"/>
                <a:ea typeface="黑体" panose="02010609060101010101" pitchFamily="49" charset="-122"/>
                <a:cs typeface="Courier New" pitchFamily="49" charset="0"/>
              </a:rPr>
              <a:t>i</a:t>
            </a:r>
            <a:r>
              <a:rPr kumimoji="0" lang="en-US" altLang="zh-CN"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a:t>
            </a:r>
            <a:r>
              <a:rPr kumimoji="0" lang="zh-CN" altLang="en-US" sz="1800" b="1" i="0" u="none" strike="noStrike" kern="1200" cap="none" spc="0" normalizeH="0" baseline="0" noProof="0" dirty="0">
                <a:ln>
                  <a:noFill/>
                </a:ln>
                <a:solidFill>
                  <a:srgbClr val="00B050"/>
                </a:solidFill>
                <a:effectLst/>
                <a:uLnTx/>
                <a:uFillTx/>
                <a:latin typeface="Courier New" pitchFamily="49" charset="0"/>
                <a:ea typeface="黑体" panose="02010609060101010101" pitchFamily="49" charset="-122"/>
                <a:cs typeface="Courier New" pitchFamily="49" charset="0"/>
              </a:rPr>
              <a:t>之间空间不连续</a:t>
            </a:r>
            <a:endParaRPr kumimoji="0" lang="zh-CN" altLang="en-US" sz="1800" b="0" i="0" u="none" strike="noStrike" kern="1200" cap="none" spc="0" normalizeH="0" baseline="0" noProof="0" dirty="0">
              <a:ln>
                <a:noFill/>
              </a:ln>
              <a:solidFill>
                <a:srgbClr val="00B050"/>
              </a:solidFill>
              <a:effectLst/>
              <a:uLnTx/>
              <a:uFillTx/>
              <a:latin typeface="Arial"/>
              <a:ea typeface="黑体" panose="02010609060101010101" pitchFamily="49" charset="-122"/>
              <a:cs typeface="+mn-cs"/>
            </a:endParaRPr>
          </a:p>
        </p:txBody>
      </p:sp>
      <p:cxnSp>
        <p:nvCxnSpPr>
          <p:cNvPr id="31" name="直接箭头连接符 30">
            <a:extLst>
              <a:ext uri="{FF2B5EF4-FFF2-40B4-BE49-F238E27FC236}">
                <a16:creationId xmlns:a16="http://schemas.microsoft.com/office/drawing/2014/main" id="{0B5E178C-9F28-4CCB-9DED-0F26DC5139FB}"/>
              </a:ext>
            </a:extLst>
          </p:cNvPr>
          <p:cNvCxnSpPr>
            <a:stCxn id="12" idx="2"/>
            <a:endCxn id="9" idx="0"/>
          </p:cNvCxnSpPr>
          <p:nvPr/>
        </p:nvCxnSpPr>
        <p:spPr>
          <a:xfrm flipH="1">
            <a:off x="1403648" y="4613961"/>
            <a:ext cx="775" cy="16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EC56D2DD-40FE-41FA-A422-FDD28B696CDB}"/>
              </a:ext>
            </a:extLst>
          </p:cNvPr>
          <p:cNvCxnSpPr>
            <a:stCxn id="13" idx="2"/>
          </p:cNvCxnSpPr>
          <p:nvPr/>
        </p:nvCxnSpPr>
        <p:spPr>
          <a:xfrm>
            <a:off x="4065622" y="4626733"/>
            <a:ext cx="3458" cy="144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B5304DE4-28E8-46D8-A158-29ECBAA1BF67}"/>
              </a:ext>
            </a:extLst>
          </p:cNvPr>
          <p:cNvCxnSpPr>
            <a:stCxn id="18" idx="2"/>
            <a:endCxn id="16" idx="0"/>
          </p:cNvCxnSpPr>
          <p:nvPr/>
        </p:nvCxnSpPr>
        <p:spPr>
          <a:xfrm>
            <a:off x="1420437" y="5613008"/>
            <a:ext cx="0" cy="203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76F6D808-ABAB-4A5A-ABE0-CCD4444621A0}"/>
              </a:ext>
            </a:extLst>
          </p:cNvPr>
          <p:cNvCxnSpPr>
            <a:cxnSpLocks/>
          </p:cNvCxnSpPr>
          <p:nvPr/>
        </p:nvCxnSpPr>
        <p:spPr>
          <a:xfrm>
            <a:off x="4065621" y="5602024"/>
            <a:ext cx="0" cy="204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CE828D31-3520-445A-854E-47E1A189D1B6}"/>
              </a:ext>
            </a:extLst>
          </p:cNvPr>
          <p:cNvSpPr/>
          <p:nvPr/>
        </p:nvSpPr>
        <p:spPr>
          <a:xfrm>
            <a:off x="415200" y="2492936"/>
            <a:ext cx="1728192" cy="386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34" name="矩形 33">
            <a:extLst>
              <a:ext uri="{FF2B5EF4-FFF2-40B4-BE49-F238E27FC236}">
                <a16:creationId xmlns:a16="http://schemas.microsoft.com/office/drawing/2014/main" id="{285C204D-084C-4D10-8357-B4CB47658484}"/>
              </a:ext>
            </a:extLst>
          </p:cNvPr>
          <p:cNvSpPr/>
          <p:nvPr/>
        </p:nvSpPr>
        <p:spPr>
          <a:xfrm>
            <a:off x="408674" y="2938110"/>
            <a:ext cx="8051758" cy="39925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36" name="矩形 35">
            <a:extLst>
              <a:ext uri="{FF2B5EF4-FFF2-40B4-BE49-F238E27FC236}">
                <a16:creationId xmlns:a16="http://schemas.microsoft.com/office/drawing/2014/main" id="{53D3DAB0-F789-4BA7-BCDF-AC7561EB884C}"/>
              </a:ext>
            </a:extLst>
          </p:cNvPr>
          <p:cNvSpPr/>
          <p:nvPr/>
        </p:nvSpPr>
        <p:spPr>
          <a:xfrm>
            <a:off x="411894" y="3377554"/>
            <a:ext cx="1728192" cy="386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37" name="矩形 36">
            <a:extLst>
              <a:ext uri="{FF2B5EF4-FFF2-40B4-BE49-F238E27FC236}">
                <a16:creationId xmlns:a16="http://schemas.microsoft.com/office/drawing/2014/main" id="{33F44075-1C12-4866-9730-EFB78A9F0523}"/>
              </a:ext>
            </a:extLst>
          </p:cNvPr>
          <p:cNvSpPr/>
          <p:nvPr/>
        </p:nvSpPr>
        <p:spPr>
          <a:xfrm>
            <a:off x="415200" y="3822728"/>
            <a:ext cx="8051758" cy="339927"/>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黑体" panose="02010609060101010101" pitchFamily="49" charset="-122"/>
              <a:cs typeface="+mn-cs"/>
            </a:endParaRPr>
          </a:p>
        </p:txBody>
      </p:sp>
      <p:sp>
        <p:nvSpPr>
          <p:cNvPr id="41" name="矩形 40">
            <a:hlinkClick r:id="rId4" action="ppaction://hlinksldjump"/>
            <a:extLst>
              <a:ext uri="{FF2B5EF4-FFF2-40B4-BE49-F238E27FC236}">
                <a16:creationId xmlns:a16="http://schemas.microsoft.com/office/drawing/2014/main" id="{D4808308-B959-46AF-9945-3441049F7FD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42" name="矩形 41">
            <a:hlinkClick r:id="" action="ppaction://noaction"/>
            <a:extLst>
              <a:ext uri="{FF2B5EF4-FFF2-40B4-BE49-F238E27FC236}">
                <a16:creationId xmlns:a16="http://schemas.microsoft.com/office/drawing/2014/main" id="{762B8E85-C737-49D6-88C7-69A3EC503EF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43" name="矩形 42">
            <a:hlinkClick r:id="" action="ppaction://noaction"/>
            <a:extLst>
              <a:ext uri="{FF2B5EF4-FFF2-40B4-BE49-F238E27FC236}">
                <a16:creationId xmlns:a16="http://schemas.microsoft.com/office/drawing/2014/main" id="{556FFFC0-98E5-4FEC-9626-A8E13617228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44" name="矩形 43">
            <a:hlinkClick r:id="" action="ppaction://noaction"/>
            <a:extLst>
              <a:ext uri="{FF2B5EF4-FFF2-40B4-BE49-F238E27FC236}">
                <a16:creationId xmlns:a16="http://schemas.microsoft.com/office/drawing/2014/main" id="{4EBEB6B0-979A-4C4B-AAAF-66A328E87F2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45" name="矩形 44">
            <a:hlinkClick r:id="" action="ppaction://noaction"/>
            <a:extLst>
              <a:ext uri="{FF2B5EF4-FFF2-40B4-BE49-F238E27FC236}">
                <a16:creationId xmlns:a16="http://schemas.microsoft.com/office/drawing/2014/main" id="{669EB83E-6C6A-4B9D-A185-A8F52517FB3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46" name="矩形 45">
            <a:hlinkClick r:id="" action="ppaction://noaction"/>
            <a:extLst>
              <a:ext uri="{FF2B5EF4-FFF2-40B4-BE49-F238E27FC236}">
                <a16:creationId xmlns:a16="http://schemas.microsoft.com/office/drawing/2014/main" id="{EE4D264A-99BC-4BF2-A603-99C26D5D663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47" name="矩形 46">
            <a:hlinkClick r:id="" action="ppaction://noaction"/>
            <a:extLst>
              <a:ext uri="{FF2B5EF4-FFF2-40B4-BE49-F238E27FC236}">
                <a16:creationId xmlns:a16="http://schemas.microsoft.com/office/drawing/2014/main" id="{E65E2429-1D5D-41B7-8688-2C32D14D270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48" name="矩形 47">
            <a:hlinkClick r:id="" action="ppaction://noaction"/>
            <a:extLst>
              <a:ext uri="{FF2B5EF4-FFF2-40B4-BE49-F238E27FC236}">
                <a16:creationId xmlns:a16="http://schemas.microsoft.com/office/drawing/2014/main" id="{B9601997-0EA0-4B27-83E4-DCB2A32DD08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custDataLst>
      <p:tags r:id="rId1"/>
    </p:custDataLst>
    <p:extLst>
      <p:ext uri="{BB962C8B-B14F-4D97-AF65-F5344CB8AC3E}">
        <p14:creationId xmlns:p14="http://schemas.microsoft.com/office/powerpoint/2010/main" val="124346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2" grpId="0" animBg="1"/>
      <p:bldP spid="13" grpId="0" animBg="1"/>
      <p:bldP spid="15" grpId="0" animBg="1"/>
      <p:bldP spid="16" grpId="0" animBg="1"/>
      <p:bldP spid="18" grpId="0" animBg="1"/>
      <p:bldP spid="19" grpId="0" animBg="1"/>
      <p:bldP spid="20" grpId="0" animBg="1"/>
      <p:bldP spid="21" grpId="0"/>
      <p:bldP spid="22" grpId="0"/>
      <p:bldP spid="32" grpId="0" animBg="1"/>
      <p:bldP spid="34" grpId="0" animBg="1"/>
      <p:bldP spid="36" grpId="0" animBg="1"/>
      <p:bldP spid="37"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5" name="标题 4">
            <a:extLst>
              <a:ext uri="{FF2B5EF4-FFF2-40B4-BE49-F238E27FC236}">
                <a16:creationId xmlns:a16="http://schemas.microsoft.com/office/drawing/2014/main" id="{F662B303-CF06-4608-A0F3-63790BDD8E91}"/>
              </a:ext>
            </a:extLst>
          </p:cNvPr>
          <p:cNvSpPr>
            <a:spLocks noGrp="1"/>
          </p:cNvSpPr>
          <p:nvPr>
            <p:ph type="ctrTitle"/>
          </p:nvPr>
        </p:nvSpPr>
        <p:spPr/>
        <p:txBody>
          <a:bodyPr/>
          <a:lstStyle/>
          <a:p>
            <a:r>
              <a:rPr lang="zh-CN" altLang="en-US" dirty="0"/>
              <a:t>动态内存回收</a:t>
            </a:r>
          </a:p>
        </p:txBody>
      </p:sp>
      <p:sp>
        <p:nvSpPr>
          <p:cNvPr id="10" name="TextBox 8">
            <a:extLst>
              <a:ext uri="{FF2B5EF4-FFF2-40B4-BE49-F238E27FC236}">
                <a16:creationId xmlns:a16="http://schemas.microsoft.com/office/drawing/2014/main" id="{4CFF3D9E-CE09-45E4-8293-C102D04F4499}"/>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2BBA2736-F8CC-46AF-A643-BDDD04104F8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29F73291-14A0-4D6C-BE65-440DC699F789}"/>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668965135"/>
      </p:ext>
    </p:extLst>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动态内存回收机制</a:t>
            </a:r>
          </a:p>
        </p:txBody>
      </p:sp>
      <p:sp>
        <p:nvSpPr>
          <p:cNvPr id="3" name="内容占位符 2"/>
          <p:cNvSpPr>
            <a:spLocks noGrp="1"/>
          </p:cNvSpPr>
          <p:nvPr>
            <p:ph idx="1"/>
          </p:nvPr>
        </p:nvSpPr>
        <p:spPr/>
        <p:txBody>
          <a:bodyPr/>
          <a:lstStyle/>
          <a:p>
            <a:r>
              <a:rPr lang="zh-CN" altLang="en-US" dirty="0"/>
              <a:t>通过</a:t>
            </a:r>
            <a:r>
              <a:rPr lang="en-US" altLang="zh-CN" dirty="0"/>
              <a:t>delete</a:t>
            </a:r>
            <a:r>
              <a:rPr lang="zh-CN" altLang="en-US" dirty="0"/>
              <a:t>运算符实现</a:t>
            </a:r>
            <a:endParaRPr lang="en-US" altLang="zh-CN" dirty="0"/>
          </a:p>
          <a:p>
            <a:pPr lvl="1"/>
            <a:r>
              <a:rPr lang="zh-CN" altLang="en-US" dirty="0"/>
              <a:t>当不再需要动态变量时，可在程序的任何地点释放掉它们，回收其所占用的内存空间</a:t>
            </a:r>
            <a:endParaRPr lang="en-US" altLang="zh-CN" dirty="0"/>
          </a:p>
          <a:p>
            <a:pPr lvl="2">
              <a:buNone/>
            </a:pPr>
            <a:r>
              <a:rPr lang="en-US" altLang="zh-CN" b="1" dirty="0">
                <a:solidFill>
                  <a:srgbClr val="0000FF"/>
                </a:solidFill>
                <a:latin typeface="Courier New" pitchFamily="49" charset="0"/>
                <a:cs typeface="Courier New" pitchFamily="49" charset="0"/>
              </a:rPr>
              <a:t>delete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a:t>
            </a:r>
            <a:r>
              <a:rPr lang="zh-CN" altLang="en-US" b="1" dirty="0">
                <a:latin typeface="Courier New" pitchFamily="49" charset="0"/>
                <a:cs typeface="Courier New" pitchFamily="49" charset="0"/>
              </a:rPr>
              <a:t>；</a:t>
            </a:r>
            <a:r>
              <a:rPr lang="en-US" altLang="zh-CN" b="1" dirty="0">
                <a:solidFill>
                  <a:srgbClr val="007434"/>
                </a:solidFill>
                <a:latin typeface="Courier New" pitchFamily="49" charset="0"/>
                <a:cs typeface="Courier New" pitchFamily="49" charset="0"/>
              </a:rPr>
              <a:t>//</a:t>
            </a:r>
            <a:r>
              <a:rPr lang="zh-CN" altLang="en-US" b="1" dirty="0">
                <a:solidFill>
                  <a:srgbClr val="007434"/>
                </a:solidFill>
                <a:latin typeface="Courier New" pitchFamily="49" charset="0"/>
                <a:cs typeface="Courier New" pitchFamily="49" charset="0"/>
              </a:rPr>
              <a:t>动态变量</a:t>
            </a:r>
            <a:endParaRPr lang="en-US" altLang="zh-CN" b="1" dirty="0">
              <a:solidFill>
                <a:srgbClr val="007434"/>
              </a:solidFill>
              <a:latin typeface="Courier New" pitchFamily="49" charset="0"/>
              <a:cs typeface="Courier New" pitchFamily="49" charset="0"/>
            </a:endParaRPr>
          </a:p>
          <a:p>
            <a:pPr lvl="2">
              <a:buNone/>
            </a:pPr>
            <a:r>
              <a:rPr lang="en-US" altLang="zh-CN" b="1" dirty="0">
                <a:solidFill>
                  <a:srgbClr val="0000FF"/>
                </a:solidFill>
                <a:latin typeface="Courier New" pitchFamily="49" charset="0"/>
                <a:cs typeface="Courier New" pitchFamily="49" charset="0"/>
              </a:rPr>
              <a:t>delete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a:t>
            </a:r>
            <a:r>
              <a:rPr lang="en-US" altLang="zh-CN" b="1" dirty="0">
                <a:solidFill>
                  <a:schemeClr val="tx2"/>
                </a:solidFill>
                <a:latin typeface="Courier New" pitchFamily="49" charset="0"/>
                <a:cs typeface="Courier New" pitchFamily="49" charset="0"/>
              </a:rPr>
              <a:t>  </a:t>
            </a:r>
            <a:r>
              <a:rPr lang="en-US" altLang="zh-CN" b="1" dirty="0">
                <a:solidFill>
                  <a:srgbClr val="007434"/>
                </a:solidFill>
                <a:latin typeface="Courier New" pitchFamily="49" charset="0"/>
                <a:cs typeface="Courier New" pitchFamily="49" charset="0"/>
              </a:rPr>
              <a:t>//</a:t>
            </a:r>
            <a:r>
              <a:rPr lang="zh-CN" altLang="en-US" b="1" dirty="0">
                <a:solidFill>
                  <a:srgbClr val="007434"/>
                </a:solidFill>
                <a:latin typeface="Courier New" pitchFamily="49" charset="0"/>
                <a:cs typeface="Courier New" pitchFamily="49" charset="0"/>
              </a:rPr>
              <a:t>一维动态数组</a:t>
            </a:r>
            <a:endParaRPr lang="en-US" altLang="zh-CN" b="1" dirty="0">
              <a:solidFill>
                <a:srgbClr val="007434"/>
              </a:solidFill>
              <a:latin typeface="Courier New" pitchFamily="49" charset="0"/>
              <a:cs typeface="Courier New" pitchFamily="49" charset="0"/>
            </a:endParaRPr>
          </a:p>
          <a:p>
            <a:pPr lvl="1"/>
            <a:r>
              <a:rPr lang="zh-CN" altLang="en-US" dirty="0"/>
              <a:t>释放后的动态变量即不存在，但是指针变量仍然存在，仍可进行新的动态内存分配</a:t>
            </a:r>
            <a:endParaRPr lang="en-US" altLang="zh-CN" dirty="0"/>
          </a:p>
          <a:p>
            <a:pPr lvl="2"/>
            <a:r>
              <a:rPr lang="zh-CN" altLang="en-US" dirty="0"/>
              <a:t>即该指针能够继续指向新的动态变量</a:t>
            </a:r>
            <a:endParaRPr lang="en-US" altLang="zh-CN" dirty="0"/>
          </a:p>
          <a:p>
            <a:pPr lvl="1"/>
            <a:endParaRPr lang="zh-CN" altLang="en-US" dirty="0"/>
          </a:p>
        </p:txBody>
      </p:sp>
      <p:sp>
        <p:nvSpPr>
          <p:cNvPr id="14" name="矩形 13">
            <a:hlinkClick r:id="rId3" action="ppaction://hlinksldjump"/>
            <a:extLst>
              <a:ext uri="{FF2B5EF4-FFF2-40B4-BE49-F238E27FC236}">
                <a16:creationId xmlns:a16="http://schemas.microsoft.com/office/drawing/2014/main" id="{EA9EF6F3-F4AF-4CEC-9B85-CA155643DFA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ACD8F4F3-74D9-4091-A249-80E7A8FB504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2BEB2350-B58A-4CEB-B4C2-2BC2F704AC3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7" name="矩形 16">
            <a:hlinkClick r:id="" action="ppaction://noaction"/>
            <a:extLst>
              <a:ext uri="{FF2B5EF4-FFF2-40B4-BE49-F238E27FC236}">
                <a16:creationId xmlns:a16="http://schemas.microsoft.com/office/drawing/2014/main" id="{22B03A13-112C-415A-9F92-7036E078600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F39C3DBB-2D90-47F2-A6BD-D44CA4AEBB6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19" name="矩形 18">
            <a:hlinkClick r:id="" action="ppaction://noaction"/>
            <a:extLst>
              <a:ext uri="{FF2B5EF4-FFF2-40B4-BE49-F238E27FC236}">
                <a16:creationId xmlns:a16="http://schemas.microsoft.com/office/drawing/2014/main" id="{287272DD-4B87-46EF-A51F-77B25CD9C75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D4989851-9AB6-441F-8F2C-236803F50FA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1" name="矩形 20">
            <a:hlinkClick r:id="" action="ppaction://noaction"/>
            <a:extLst>
              <a:ext uri="{FF2B5EF4-FFF2-40B4-BE49-F238E27FC236}">
                <a16:creationId xmlns:a16="http://schemas.microsoft.com/office/drawing/2014/main" id="{C7B30CA5-BB81-485F-9B78-E37D3745798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40809226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二维动态数组的内存回收</a:t>
            </a:r>
            <a:endParaRPr lang="en-US" altLang="zh-CN" dirty="0"/>
          </a:p>
          <a:p>
            <a:pPr lvl="1"/>
            <a:r>
              <a:rPr lang="zh-CN" altLang="en-US" dirty="0"/>
              <a:t>按照分配的方式逆向回收</a:t>
            </a:r>
            <a:endParaRPr lang="en-US" altLang="zh-CN" dirty="0"/>
          </a:p>
          <a:p>
            <a:pPr lvl="1"/>
            <a:r>
              <a:rPr lang="zh-CN" altLang="en-US" dirty="0">
                <a:solidFill>
                  <a:srgbClr val="C00000"/>
                </a:solidFill>
              </a:rPr>
              <a:t>例</a:t>
            </a:r>
            <a:r>
              <a:rPr lang="en-US" altLang="zh-CN" dirty="0">
                <a:solidFill>
                  <a:srgbClr val="C00000"/>
                </a:solidFill>
              </a:rPr>
              <a:t>6.16</a:t>
            </a:r>
            <a:r>
              <a:rPr lang="zh-CN" altLang="en-US" dirty="0"/>
              <a:t>中，二维动态数组的内存回收方式为：</a:t>
            </a:r>
            <a:endParaRPr lang="en-US" altLang="zh-CN" dirty="0"/>
          </a:p>
          <a:p>
            <a:pPr>
              <a:spcBef>
                <a:spcPts val="0"/>
              </a:spcBef>
              <a:buNone/>
            </a:pPr>
            <a:r>
              <a:rPr lang="en-US" altLang="zh-CN" sz="2000" b="1" dirty="0">
                <a:solidFill>
                  <a:srgbClr val="0000FF"/>
                </a:solidFill>
                <a:latin typeface="Courier New" pitchFamily="49" charset="0"/>
                <a:cs typeface="Courier New" pitchFamily="49" charset="0"/>
              </a:rPr>
              <a:t>		    </a:t>
            </a:r>
          </a:p>
          <a:p>
            <a:pPr>
              <a:spcBef>
                <a:spcPts val="0"/>
              </a:spcBef>
              <a:buNone/>
            </a:pPr>
            <a:r>
              <a:rPr lang="en-US" altLang="zh-CN" sz="2000" b="1" dirty="0">
                <a:solidFill>
                  <a:srgbClr val="0000FF"/>
                </a:solidFill>
                <a:latin typeface="Courier New" pitchFamily="49" charset="0"/>
                <a:cs typeface="Courier New" pitchFamily="49" charset="0"/>
              </a:rPr>
              <a:t>		    for</a:t>
            </a:r>
            <a:r>
              <a:rPr lang="en-US" altLang="zh-CN" sz="2000" b="1" dirty="0">
                <a:latin typeface="Courier New" pitchFamily="49" charset="0"/>
                <a:cs typeface="Courier New" pitchFamily="49" charset="0"/>
              </a:rPr>
              <a:t>(j=0;j&lt;</a:t>
            </a:r>
            <a:r>
              <a:rPr lang="en-US" altLang="zh-CN" sz="2000" b="1" dirty="0" err="1">
                <a:latin typeface="Courier New" pitchFamily="49" charset="0"/>
                <a:cs typeface="Courier New" pitchFamily="49" charset="0"/>
              </a:rPr>
              <a:t>col;j</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delete []b[</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delete []b;</a:t>
            </a:r>
          </a:p>
          <a:p>
            <a:pPr>
              <a:spcBef>
                <a:spcPts val="0"/>
              </a:spcBef>
              <a:buNone/>
            </a:pPr>
            <a:r>
              <a:rPr lang="en-US" altLang="zh-CN" sz="2000" b="1" dirty="0">
                <a:latin typeface="Courier New" pitchFamily="49" charset="0"/>
                <a:cs typeface="Courier New" pitchFamily="49" charset="0"/>
              </a:rPr>
              <a:t>   	</a:t>
            </a:r>
            <a:endParaRPr lang="zh-CN" altLang="en-US" dirty="0"/>
          </a:p>
        </p:txBody>
      </p:sp>
      <p:sp>
        <p:nvSpPr>
          <p:cNvPr id="3" name="标题 2"/>
          <p:cNvSpPr>
            <a:spLocks noGrp="1"/>
          </p:cNvSpPr>
          <p:nvPr>
            <p:ph type="title"/>
          </p:nvPr>
        </p:nvSpPr>
        <p:spPr/>
        <p:txBody>
          <a:bodyPr/>
          <a:lstStyle/>
          <a:p>
            <a:r>
              <a:rPr lang="zh-CN" altLang="en-US" dirty="0"/>
              <a:t>动态内存回收机制</a:t>
            </a:r>
          </a:p>
        </p:txBody>
      </p:sp>
      <p:sp>
        <p:nvSpPr>
          <p:cNvPr id="14" name="矩形 13">
            <a:hlinkClick r:id="rId2" action="ppaction://hlinksldjump"/>
            <a:extLst>
              <a:ext uri="{FF2B5EF4-FFF2-40B4-BE49-F238E27FC236}">
                <a16:creationId xmlns:a16="http://schemas.microsoft.com/office/drawing/2014/main" id="{F00434D1-01B6-4F83-BA9D-8DB233AD2CE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59D97212-F202-42CE-B621-344697379DA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BC6F1088-9068-4871-B53E-8E301127652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7" name="矩形 16">
            <a:hlinkClick r:id="" action="ppaction://noaction"/>
            <a:extLst>
              <a:ext uri="{FF2B5EF4-FFF2-40B4-BE49-F238E27FC236}">
                <a16:creationId xmlns:a16="http://schemas.microsoft.com/office/drawing/2014/main" id="{DAA45FBF-CDF9-476E-94A3-FE42C65D240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B8D962B4-3D5D-47F0-8709-520BCDC6C68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19" name="矩形 18">
            <a:hlinkClick r:id="" action="ppaction://noaction"/>
            <a:extLst>
              <a:ext uri="{FF2B5EF4-FFF2-40B4-BE49-F238E27FC236}">
                <a16:creationId xmlns:a16="http://schemas.microsoft.com/office/drawing/2014/main" id="{44310ACC-C331-43FE-8BAC-992C6BC01B4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34F9C6D0-7661-4043-ABAA-C46A4FA6BE3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1" name="矩形 20">
            <a:hlinkClick r:id="" action="ppaction://noaction"/>
            <a:extLst>
              <a:ext uri="{FF2B5EF4-FFF2-40B4-BE49-F238E27FC236}">
                <a16:creationId xmlns:a16="http://schemas.microsoft.com/office/drawing/2014/main" id="{F5BA59D5-BC5C-4A52-9729-C5BFB7BBE7D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89156330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329642" cy="5029200"/>
          </a:xfrm>
        </p:spPr>
        <p:txBody>
          <a:bodyPr/>
          <a:lstStyle/>
          <a:p>
            <a:r>
              <a:rPr lang="en-US" altLang="zh-CN" dirty="0">
                <a:solidFill>
                  <a:srgbClr val="C00000"/>
                </a:solidFill>
              </a:rPr>
              <a:t>【</a:t>
            </a:r>
            <a:r>
              <a:rPr lang="zh-CN" altLang="en-US" dirty="0">
                <a:solidFill>
                  <a:srgbClr val="C00000"/>
                </a:solidFill>
              </a:rPr>
              <a:t>举例</a:t>
            </a:r>
            <a:r>
              <a:rPr lang="en-US" altLang="zh-CN" dirty="0">
                <a:solidFill>
                  <a:srgbClr val="C00000"/>
                </a:solidFill>
              </a:rPr>
              <a:t>】</a:t>
            </a:r>
          </a:p>
          <a:p>
            <a:pPr>
              <a:buNone/>
            </a:pPr>
            <a:r>
              <a:rPr lang="en-US" altLang="zh-CN" dirty="0">
                <a:solidFill>
                  <a:srgbClr val="0000FF"/>
                </a:solidFill>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*pi, *</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a:t>
            </a:r>
          </a:p>
          <a:p>
            <a:pPr>
              <a:buNone/>
            </a:pPr>
            <a:r>
              <a:rPr lang="en-US" altLang="zh-CN" sz="2400" b="1" dirty="0">
                <a:latin typeface="Courier New" pitchFamily="49" charset="0"/>
                <a:cs typeface="Courier New" pitchFamily="49" charset="0"/>
              </a:rPr>
              <a:t>	 	pi = </a:t>
            </a:r>
            <a:r>
              <a:rPr lang="en-US" altLang="zh-CN" sz="2400" b="1" dirty="0">
                <a:solidFill>
                  <a:srgbClr val="0000FF"/>
                </a:solidFill>
                <a:latin typeface="Courier New" pitchFamily="49" charset="0"/>
                <a:cs typeface="Courier New" pitchFamily="49" charset="0"/>
              </a:rPr>
              <a:t>new</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new</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[10];</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分配空间的大小可以是变量</a:t>
            </a:r>
            <a:r>
              <a:rPr lang="en-US" altLang="zh-CN" sz="2400" b="1" dirty="0">
                <a:solidFill>
                  <a:schemeClr val="tx2"/>
                </a:solidFill>
                <a:latin typeface="Courier New" pitchFamily="49" charset="0"/>
                <a:cs typeface="Courier New" pitchFamily="49" charset="0"/>
              </a:rPr>
              <a:t> </a:t>
            </a:r>
          </a:p>
          <a:p>
            <a:pPr>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delete</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pi;    </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释放动态变量*</a:t>
            </a:r>
            <a:r>
              <a:rPr lang="en-US" altLang="zh-CN" sz="2400" b="1" dirty="0">
                <a:solidFill>
                  <a:srgbClr val="007434"/>
                </a:solidFill>
                <a:latin typeface="Courier New" pitchFamily="49" charset="0"/>
                <a:cs typeface="Courier New" pitchFamily="49" charset="0"/>
              </a:rPr>
              <a:t>pi, </a:t>
            </a:r>
            <a:r>
              <a:rPr lang="zh-CN" altLang="en-US" sz="2400" b="1" dirty="0">
                <a:solidFill>
                  <a:srgbClr val="007434"/>
                </a:solidFill>
                <a:latin typeface="Courier New" pitchFamily="49" charset="0"/>
                <a:cs typeface="Courier New" pitchFamily="49" charset="0"/>
              </a:rPr>
              <a:t>但指针变量</a:t>
            </a:r>
            <a:r>
              <a:rPr lang="en-US" altLang="zh-CN" sz="2400" b="1" dirty="0">
                <a:solidFill>
                  <a:srgbClr val="007434"/>
                </a:solidFill>
                <a:latin typeface="Courier New" pitchFamily="49" charset="0"/>
                <a:cs typeface="Courier New" pitchFamily="49" charset="0"/>
              </a:rPr>
              <a:t>pi</a:t>
            </a:r>
            <a:r>
              <a:rPr lang="zh-CN" altLang="en-US" sz="2400" b="1" dirty="0">
                <a:solidFill>
                  <a:srgbClr val="007434"/>
                </a:solidFill>
                <a:latin typeface="Courier New" pitchFamily="49" charset="0"/>
                <a:cs typeface="Courier New" pitchFamily="49" charset="0"/>
              </a:rPr>
              <a:t>仍存在</a:t>
            </a:r>
          </a:p>
          <a:p>
            <a:pPr>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delete</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pj</a:t>
            </a:r>
            <a:r>
              <a:rPr lang="en-US" altLang="zh-CN" sz="2400" b="1" dirty="0">
                <a:latin typeface="Courier New" pitchFamily="49" charset="0"/>
                <a:cs typeface="Courier New" pitchFamily="49" charset="0"/>
              </a:rPr>
              <a:t>; </a:t>
            </a:r>
          </a:p>
          <a:p>
            <a:pPr lvl="1"/>
            <a:r>
              <a:rPr lang="zh-CN" altLang="en-US" dirty="0">
                <a:solidFill>
                  <a:srgbClr val="FF0000"/>
                </a:solidFill>
              </a:rPr>
              <a:t>注意：</a:t>
            </a:r>
            <a:endParaRPr lang="en-US" altLang="zh-CN" dirty="0">
              <a:solidFill>
                <a:srgbClr val="FF0000"/>
              </a:solidFill>
            </a:endParaRPr>
          </a:p>
          <a:p>
            <a:pPr marL="914400" lvl="2" indent="0">
              <a:buNone/>
            </a:pPr>
            <a:r>
              <a:rPr lang="en-US" altLang="zh-CN" b="1" dirty="0">
                <a:solidFill>
                  <a:srgbClr val="0000FF"/>
                </a:solidFill>
                <a:latin typeface="Courier New" panose="02070309020205020404" pitchFamily="49" charset="0"/>
                <a:cs typeface="Courier New" panose="02070309020205020404" pitchFamily="49" charset="0"/>
              </a:rPr>
              <a:t>delete</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pj</a:t>
            </a:r>
            <a:r>
              <a:rPr lang="zh-CN" altLang="en-US" b="1" dirty="0">
                <a:latin typeface="Courier New" panose="02070309020205020404" pitchFamily="49" charset="0"/>
                <a:cs typeface="Courier New" panose="02070309020205020404" pitchFamily="49" charset="0"/>
              </a:rPr>
              <a:t>和</a:t>
            </a:r>
            <a:r>
              <a:rPr lang="en-US" altLang="zh-CN" b="1" dirty="0">
                <a:solidFill>
                  <a:srgbClr val="0000FF"/>
                </a:solidFill>
                <a:latin typeface="Courier New" panose="02070309020205020404" pitchFamily="49" charset="0"/>
                <a:cs typeface="Courier New" panose="02070309020205020404" pitchFamily="49" charset="0"/>
              </a:rPr>
              <a:t>delete</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pj</a:t>
            </a:r>
            <a:r>
              <a:rPr lang="zh-CN" altLang="en-US" b="1" dirty="0">
                <a:latin typeface="Courier New" panose="02070309020205020404" pitchFamily="49" charset="0"/>
                <a:cs typeface="Courier New" panose="02070309020205020404" pitchFamily="49" charset="0"/>
              </a:rPr>
              <a:t>的区别</a:t>
            </a:r>
            <a:endParaRPr lang="en-US" altLang="zh-CN" b="1" dirty="0">
              <a:latin typeface="Courier New" panose="02070309020205020404" pitchFamily="49" charset="0"/>
              <a:cs typeface="Courier New" panose="02070309020205020404" pitchFamily="49" charset="0"/>
            </a:endParaRPr>
          </a:p>
          <a:p>
            <a:endParaRPr lang="zh-CN" altLang="en-US" dirty="0"/>
          </a:p>
        </p:txBody>
      </p:sp>
      <p:sp>
        <p:nvSpPr>
          <p:cNvPr id="13" name="矩形 12">
            <a:hlinkClick r:id="rId2" action="ppaction://hlinksldjump"/>
            <a:extLst>
              <a:ext uri="{FF2B5EF4-FFF2-40B4-BE49-F238E27FC236}">
                <a16:creationId xmlns:a16="http://schemas.microsoft.com/office/drawing/2014/main" id="{F489B1D8-CDC5-417D-A220-5B90D702A34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B015DED1-EE9F-4F5A-B628-7ABC6665EBB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A54B277A-9830-437B-A20B-0B99149B8B0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6" name="矩形 15">
            <a:hlinkClick r:id="" action="ppaction://noaction"/>
            <a:extLst>
              <a:ext uri="{FF2B5EF4-FFF2-40B4-BE49-F238E27FC236}">
                <a16:creationId xmlns:a16="http://schemas.microsoft.com/office/drawing/2014/main" id="{021E11A2-3BD6-4EFD-B8BC-ACB77C9D4B0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BA1CC9E6-6B3A-4A7D-B896-EC196A37AFB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18" name="矩形 17">
            <a:hlinkClick r:id="" action="ppaction://noaction"/>
            <a:extLst>
              <a:ext uri="{FF2B5EF4-FFF2-40B4-BE49-F238E27FC236}">
                <a16:creationId xmlns:a16="http://schemas.microsoft.com/office/drawing/2014/main" id="{437DFD5C-1BF1-4B95-98D6-4142E4FDB76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EF8E797F-0063-4B88-A8D8-D1D73E92D2B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0" name="矩形 19">
            <a:hlinkClick r:id="" action="ppaction://noaction"/>
            <a:extLst>
              <a:ext uri="{FF2B5EF4-FFF2-40B4-BE49-F238E27FC236}">
                <a16:creationId xmlns:a16="http://schemas.microsoft.com/office/drawing/2014/main" id="{A75E54AA-7612-46E0-8EF6-CB0182D8E86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78740516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4B5146F-A601-4275-B7CA-584D30B7C97B}"/>
              </a:ext>
            </a:extLst>
          </p:cNvPr>
          <p:cNvSpPr/>
          <p:nvPr/>
        </p:nvSpPr>
        <p:spPr>
          <a:xfrm>
            <a:off x="771831" y="1317717"/>
            <a:ext cx="6336891" cy="3416320"/>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namespace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p>
          <a:p>
            <a:endParaRPr lang="zh-CN" altLang="en-US"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void</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 =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new</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[5]{ 0,1,2,3,4 };</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for</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=0;i&lt;5;i++)</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 +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i</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delete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pa;</a:t>
            </a: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5" name="矩形 4">
            <a:hlinkClick r:id="rId2" action="ppaction://hlinksldjump"/>
            <a:extLst>
              <a:ext uri="{FF2B5EF4-FFF2-40B4-BE49-F238E27FC236}">
                <a16:creationId xmlns:a16="http://schemas.microsoft.com/office/drawing/2014/main" id="{98F873C4-E9D3-4783-AB80-5522ED85547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9" name="矩形 8">
            <a:hlinkClick r:id="" action="ppaction://noaction"/>
            <a:extLst>
              <a:ext uri="{FF2B5EF4-FFF2-40B4-BE49-F238E27FC236}">
                <a16:creationId xmlns:a16="http://schemas.microsoft.com/office/drawing/2014/main" id="{7703F309-87F7-4668-B7AB-CA02D635F73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0" name="矩形 9">
            <a:hlinkClick r:id="" action="ppaction://noaction"/>
            <a:extLst>
              <a:ext uri="{FF2B5EF4-FFF2-40B4-BE49-F238E27FC236}">
                <a16:creationId xmlns:a16="http://schemas.microsoft.com/office/drawing/2014/main" id="{353AA279-64A1-4AA7-9CA3-58362485E85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1" name="矩形 10">
            <a:hlinkClick r:id="" action="ppaction://noaction"/>
            <a:extLst>
              <a:ext uri="{FF2B5EF4-FFF2-40B4-BE49-F238E27FC236}">
                <a16:creationId xmlns:a16="http://schemas.microsoft.com/office/drawing/2014/main" id="{2DBD75E3-70E2-45A8-8524-788F0399351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072754BE-C770-4ED0-A09C-5370CA3F934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13" name="矩形 12">
            <a:hlinkClick r:id="" action="ppaction://noaction"/>
            <a:extLst>
              <a:ext uri="{FF2B5EF4-FFF2-40B4-BE49-F238E27FC236}">
                <a16:creationId xmlns:a16="http://schemas.microsoft.com/office/drawing/2014/main" id="{5819A78C-5270-4B26-BC1C-0645E9FF69A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918FA27F-9B45-4FFB-ACC0-6CA1E05E0C9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15" name="矩形 14">
            <a:hlinkClick r:id="" action="ppaction://noaction"/>
            <a:extLst>
              <a:ext uri="{FF2B5EF4-FFF2-40B4-BE49-F238E27FC236}">
                <a16:creationId xmlns:a16="http://schemas.microsoft.com/office/drawing/2014/main" id="{38DBCD80-E5AD-49C2-9DB0-208FDDA85E8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278725372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动态内存地址的保护</a:t>
            </a:r>
          </a:p>
        </p:txBody>
      </p:sp>
      <p:sp>
        <p:nvSpPr>
          <p:cNvPr id="3" name="内容占位符 2"/>
          <p:cNvSpPr>
            <a:spLocks noGrp="1"/>
          </p:cNvSpPr>
          <p:nvPr>
            <p:ph idx="1"/>
          </p:nvPr>
        </p:nvSpPr>
        <p:spPr/>
        <p:txBody>
          <a:bodyPr/>
          <a:lstStyle/>
          <a:p>
            <a:r>
              <a:rPr lang="zh-CN" altLang="en-US" dirty="0"/>
              <a:t>注意：</a:t>
            </a:r>
            <a:endParaRPr lang="en-US" altLang="zh-CN" dirty="0"/>
          </a:p>
          <a:p>
            <a:pPr lvl="1"/>
            <a:r>
              <a:rPr lang="zh-CN" altLang="en-US" dirty="0"/>
              <a:t>在使用动态变量时应注意的是，</a:t>
            </a:r>
            <a:r>
              <a:rPr lang="zh-CN" altLang="en-US" dirty="0">
                <a:solidFill>
                  <a:srgbClr val="FF3300"/>
                </a:solidFill>
              </a:rPr>
              <a:t>要保护动态变量的地址</a:t>
            </a:r>
            <a:r>
              <a:rPr lang="zh-CN" altLang="en-US" dirty="0"/>
              <a:t>。 </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solidFill>
                  <a:srgbClr val="C00000"/>
                </a:solidFill>
              </a:rPr>
              <a:t>程序段：</a:t>
            </a:r>
            <a:r>
              <a:rPr lang="en-US" altLang="zh-CN" dirty="0"/>
              <a:t> </a:t>
            </a:r>
          </a:p>
          <a:p>
            <a:pPr lvl="2">
              <a:buNone/>
            </a:pPr>
            <a:r>
              <a:rPr lang="en-US" altLang="zh-CN" b="1" dirty="0">
                <a:latin typeface="Courier New" pitchFamily="49" charset="0"/>
                <a:cs typeface="Courier New" pitchFamily="49" charset="0"/>
              </a:rPr>
              <a:t>pi=</a:t>
            </a:r>
            <a:r>
              <a:rPr lang="en-US" altLang="zh-CN" b="1" dirty="0">
                <a:solidFill>
                  <a:srgbClr val="0000FF"/>
                </a:solidFill>
                <a:latin typeface="Courier New" pitchFamily="49" charset="0"/>
                <a:cs typeface="Courier New" pitchFamily="49" charset="0"/>
              </a:rPr>
              <a:t>new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a:t>
            </a:r>
          </a:p>
          <a:p>
            <a:pPr lvl="2">
              <a:buNone/>
            </a:pPr>
            <a:r>
              <a:rPr lang="en-US" altLang="zh-CN" b="1" dirty="0">
                <a:latin typeface="Courier New" pitchFamily="49" charset="0"/>
                <a:cs typeface="Courier New" pitchFamily="49" charset="0"/>
              </a:rPr>
              <a:t>pi=&amp;a;</a:t>
            </a:r>
          </a:p>
          <a:p>
            <a:pPr lvl="2">
              <a:buNone/>
            </a:pPr>
            <a:r>
              <a:rPr lang="en-US" altLang="zh-CN" b="1" dirty="0">
                <a:solidFill>
                  <a:srgbClr val="0000FF"/>
                </a:solidFill>
                <a:latin typeface="Courier New" pitchFamily="49" charset="0"/>
                <a:cs typeface="Courier New" pitchFamily="49" charset="0"/>
              </a:rPr>
              <a:t>delete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pi;</a:t>
            </a:r>
          </a:p>
          <a:p>
            <a:pPr lvl="1"/>
            <a:r>
              <a:rPr lang="zh-CN" altLang="en-US" dirty="0"/>
              <a:t>动态变量已经改变，无法实现释放原来动态变量所占的空间。这将造成</a:t>
            </a:r>
            <a:r>
              <a:rPr lang="zh-CN" altLang="en-US" dirty="0">
                <a:solidFill>
                  <a:srgbClr val="FF3300"/>
                </a:solidFill>
              </a:rPr>
              <a:t>内存的泄漏</a:t>
            </a:r>
            <a:r>
              <a:rPr lang="zh-CN" altLang="en-US" dirty="0"/>
              <a:t>，如果过多地话，将占用大量系统内存资源的浪费</a:t>
            </a:r>
          </a:p>
        </p:txBody>
      </p:sp>
      <p:sp>
        <p:nvSpPr>
          <p:cNvPr id="16" name="矩形 15">
            <a:hlinkClick r:id="rId2" action="ppaction://hlinksldjump"/>
            <a:extLst>
              <a:ext uri="{FF2B5EF4-FFF2-40B4-BE49-F238E27FC236}">
                <a16:creationId xmlns:a16="http://schemas.microsoft.com/office/drawing/2014/main" id="{D510CB6B-F45E-461C-9AC6-0C906D65043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4FA54A45-0923-42F6-80FB-78D11E64465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C8E9EF16-7570-4943-886B-EA37A87CFFC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9" name="矩形 18">
            <a:hlinkClick r:id="" action="ppaction://noaction"/>
            <a:extLst>
              <a:ext uri="{FF2B5EF4-FFF2-40B4-BE49-F238E27FC236}">
                <a16:creationId xmlns:a16="http://schemas.microsoft.com/office/drawing/2014/main" id="{3695881D-4CFC-44CF-B234-26EE8DD57E7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2802EE34-AEE9-4B62-BDFD-28E583708AF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1" name="矩形 20">
            <a:hlinkClick r:id="" action="ppaction://noaction"/>
            <a:extLst>
              <a:ext uri="{FF2B5EF4-FFF2-40B4-BE49-F238E27FC236}">
                <a16:creationId xmlns:a16="http://schemas.microsoft.com/office/drawing/2014/main" id="{97E06EDF-DA9A-4C8E-BBD6-39ED1666F0B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2192F02C-AC62-4D8F-9CA6-C810259FBFD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3" name="矩形 22">
            <a:hlinkClick r:id="" action="ppaction://noaction"/>
            <a:extLst>
              <a:ext uri="{FF2B5EF4-FFF2-40B4-BE49-F238E27FC236}">
                <a16:creationId xmlns:a16="http://schemas.microsoft.com/office/drawing/2014/main" id="{46FB3F77-46E4-42A9-BED3-DE82DA3CF88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197273655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0FAA0E6-113E-4EBD-94F0-021A5DF245E9}"/>
              </a:ext>
            </a:extLst>
          </p:cNvPr>
          <p:cNvSpPr>
            <a:spLocks noGrp="1"/>
          </p:cNvSpPr>
          <p:nvPr>
            <p:ph idx="1"/>
          </p:nvPr>
        </p:nvSpPr>
        <p:spPr/>
        <p:txBody>
          <a:bodyPr/>
          <a:lstStyle/>
          <a:p>
            <a:r>
              <a:rPr lang="zh-CN" altLang="en-US" dirty="0"/>
              <a:t>使用</a:t>
            </a:r>
            <a:r>
              <a:rPr lang="en-US" altLang="zh-CN" dirty="0"/>
              <a:t>delete</a:t>
            </a:r>
            <a:r>
              <a:rPr lang="zh-CN" altLang="en-US" dirty="0"/>
              <a:t>释放内存，实质上是将指针与内存的“指向关系”释放，此时指针不再指向为其分配的内存空间，处于“悬挂”状态</a:t>
            </a:r>
          </a:p>
        </p:txBody>
      </p:sp>
      <p:sp>
        <p:nvSpPr>
          <p:cNvPr id="3" name="标题 2">
            <a:extLst>
              <a:ext uri="{FF2B5EF4-FFF2-40B4-BE49-F238E27FC236}">
                <a16:creationId xmlns:a16="http://schemas.microsoft.com/office/drawing/2014/main" id="{5F1A44DA-D33F-4FC8-AC5B-8D61BF6A80CC}"/>
              </a:ext>
            </a:extLst>
          </p:cNvPr>
          <p:cNvSpPr>
            <a:spLocks noGrp="1"/>
          </p:cNvSpPr>
          <p:nvPr>
            <p:ph type="title"/>
          </p:nvPr>
        </p:nvSpPr>
        <p:spPr/>
        <p:txBody>
          <a:bodyPr/>
          <a:lstStyle/>
          <a:p>
            <a:r>
              <a:rPr lang="zh-CN" altLang="en-US" dirty="0"/>
              <a:t>悬挂指针问题</a:t>
            </a:r>
          </a:p>
        </p:txBody>
      </p:sp>
      <p:sp>
        <p:nvSpPr>
          <p:cNvPr id="4" name="文本框 3">
            <a:extLst>
              <a:ext uri="{FF2B5EF4-FFF2-40B4-BE49-F238E27FC236}">
                <a16:creationId xmlns:a16="http://schemas.microsoft.com/office/drawing/2014/main" id="{10AF6DE6-023C-4723-80DB-12F87D545558}"/>
              </a:ext>
            </a:extLst>
          </p:cNvPr>
          <p:cNvSpPr txBox="1"/>
          <p:nvPr/>
        </p:nvSpPr>
        <p:spPr>
          <a:xfrm>
            <a:off x="11307337" y="4181707"/>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5" name="文本框 4">
            <a:extLst>
              <a:ext uri="{FF2B5EF4-FFF2-40B4-BE49-F238E27FC236}">
                <a16:creationId xmlns:a16="http://schemas.microsoft.com/office/drawing/2014/main" id="{6F2958E1-7FC7-4C74-B0FA-54AB74B51E7F}"/>
              </a:ext>
            </a:extLst>
          </p:cNvPr>
          <p:cNvSpPr txBox="1"/>
          <p:nvPr/>
        </p:nvSpPr>
        <p:spPr>
          <a:xfrm>
            <a:off x="11307337" y="3880624"/>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endParaRPr>
          </a:p>
        </p:txBody>
      </p:sp>
      <p:sp>
        <p:nvSpPr>
          <p:cNvPr id="6" name="文本框 5">
            <a:extLst>
              <a:ext uri="{FF2B5EF4-FFF2-40B4-BE49-F238E27FC236}">
                <a16:creationId xmlns:a16="http://schemas.microsoft.com/office/drawing/2014/main" id="{24E6F9D5-2F3E-401B-A046-3395368E638E}"/>
              </a:ext>
            </a:extLst>
          </p:cNvPr>
          <p:cNvSpPr txBox="1"/>
          <p:nvPr/>
        </p:nvSpPr>
        <p:spPr>
          <a:xfrm>
            <a:off x="356837" y="3429000"/>
            <a:ext cx="4917690"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#include</a:t>
            </a:r>
            <a:r>
              <a:rPr kumimoji="0" lang="en-US" altLang="zh-CN" sz="2000" b="1" i="0" u="none" strike="noStrike" kern="1200" cap="none" spc="0" normalizeH="0" baseline="0" noProof="0" dirty="0">
                <a:ln>
                  <a:noFill/>
                </a:ln>
                <a:solidFill>
                  <a:srgbClr val="A31515"/>
                </a:solidFill>
                <a:effectLst/>
                <a:uLnTx/>
                <a:uFillTx/>
                <a:latin typeface="Courier New" panose="02070309020205020404" pitchFamily="49" charset="0"/>
                <a:ea typeface="新宋体" panose="02010609030101010101" pitchFamily="49" charset="-122"/>
                <a:cs typeface="Courier New" panose="02070309020205020404" pitchFamily="49" charset="0"/>
              </a:rPr>
              <a:t>&lt;iostream&gt;</a:t>
            </a:r>
            <a:endPar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using</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namespace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std;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void</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 =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new</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int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Courier New" panose="02070309020205020404" pitchFamily="49" charset="0"/>
                <a:ea typeface="新宋体" panose="02010609030101010101" pitchFamily="49" charset="-122"/>
                <a:cs typeface="Courier New" panose="02070309020205020404" pitchFamily="49" charset="0"/>
              </a:rPr>
              <a:t>    delete</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cout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pa </a:t>
            </a:r>
            <a:r>
              <a:rPr kumimoji="0" lang="en-US" altLang="zh-CN" sz="2000" b="1" i="0" u="none" strike="noStrike" kern="1200" cap="none" spc="0" normalizeH="0" baseline="0" noProof="0" dirty="0">
                <a:ln>
                  <a:noFill/>
                </a:ln>
                <a:solidFill>
                  <a:srgbClr val="008080"/>
                </a:solidFill>
                <a:effectLst/>
                <a:uLnTx/>
                <a:uFillTx/>
                <a:latin typeface="Courier New" panose="02070309020205020404" pitchFamily="49" charset="0"/>
                <a:ea typeface="新宋体" panose="02010609030101010101" pitchFamily="49" charset="-122"/>
                <a:cs typeface="Courier New" panose="02070309020205020404" pitchFamily="49" charset="0"/>
              </a:rPr>
              <a:t>&lt;&lt;</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 </a:t>
            </a:r>
            <a:r>
              <a:rPr kumimoji="0" lang="en-US" altLang="zh-CN" sz="2000" b="1" i="0" u="none" strike="noStrike" kern="1200" cap="none" spc="0" normalizeH="0" baseline="0" noProof="0" dirty="0" err="1">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endl</a:t>
            </a: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ourier New" panose="02070309020205020404" pitchFamily="49" charset="0"/>
                <a:ea typeface="新宋体" panose="02010609030101010101" pitchFamily="49" charset="-122"/>
                <a:cs typeface="Courier New" panose="02070309020205020404" pitchFamily="49" charset="0"/>
              </a:rPr>
              <a:t>}</a:t>
            </a:r>
            <a:endParaRPr kumimoji="0" lang="zh-CN" altLang="en-US" sz="2000" b="1" i="0" u="none" strike="noStrike" kern="1200" cap="none" spc="0" normalizeH="0" baseline="0" noProof="0" dirty="0">
              <a:ln>
                <a:noFill/>
              </a:ln>
              <a:solidFill>
                <a:prstClr val="black"/>
              </a:solidFill>
              <a:effectLst/>
              <a:uLnTx/>
              <a:uFillTx/>
              <a:latin typeface="Courier New" panose="02070309020205020404" pitchFamily="49" charset="0"/>
              <a:ea typeface="黑体" panose="02010609060101010101" pitchFamily="49" charset="-122"/>
              <a:cs typeface="Courier New" panose="02070309020205020404" pitchFamily="49" charset="0"/>
            </a:endParaRPr>
          </a:p>
        </p:txBody>
      </p:sp>
      <p:pic>
        <p:nvPicPr>
          <p:cNvPr id="8" name="图片 7">
            <a:extLst>
              <a:ext uri="{FF2B5EF4-FFF2-40B4-BE49-F238E27FC236}">
                <a16:creationId xmlns:a16="http://schemas.microsoft.com/office/drawing/2014/main" id="{43A62C0B-EA9F-4267-975A-85A9068270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173" y="3423181"/>
            <a:ext cx="2560542" cy="1127858"/>
          </a:xfrm>
          <a:prstGeom prst="rect">
            <a:avLst/>
          </a:prstGeom>
        </p:spPr>
      </p:pic>
      <p:pic>
        <p:nvPicPr>
          <p:cNvPr id="10" name="图片 9">
            <a:extLst>
              <a:ext uri="{FF2B5EF4-FFF2-40B4-BE49-F238E27FC236}">
                <a16:creationId xmlns:a16="http://schemas.microsoft.com/office/drawing/2014/main" id="{D120819C-0842-4668-B554-B89CD0AF94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9174" y="4861681"/>
            <a:ext cx="2560542" cy="1183726"/>
          </a:xfrm>
          <a:prstGeom prst="rect">
            <a:avLst/>
          </a:prstGeom>
        </p:spPr>
      </p:pic>
      <p:sp>
        <p:nvSpPr>
          <p:cNvPr id="11" name="矩形 10">
            <a:hlinkClick r:id="rId4" action="ppaction://hlinksldjump"/>
            <a:extLst>
              <a:ext uri="{FF2B5EF4-FFF2-40B4-BE49-F238E27FC236}">
                <a16:creationId xmlns:a16="http://schemas.microsoft.com/office/drawing/2014/main" id="{0109A57B-EA86-4522-8267-BD735308AC2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171CC152-E6DF-41CE-9E2B-8D24857BD6A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CCD4CD75-2E8B-4D4E-B60C-99C6CF0A9DD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14" name="矩形 13">
            <a:hlinkClick r:id="" action="ppaction://noaction"/>
            <a:extLst>
              <a:ext uri="{FF2B5EF4-FFF2-40B4-BE49-F238E27FC236}">
                <a16:creationId xmlns:a16="http://schemas.microsoft.com/office/drawing/2014/main" id="{7920180D-CF25-4819-885F-D3E4A2A4D67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4897E76D-76D7-4876-B647-9B1BE6C8FDE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16" name="矩形 15">
            <a:hlinkClick r:id="" action="ppaction://noaction"/>
            <a:extLst>
              <a:ext uri="{FF2B5EF4-FFF2-40B4-BE49-F238E27FC236}">
                <a16:creationId xmlns:a16="http://schemas.microsoft.com/office/drawing/2014/main" id="{998EFFE0-A07F-4B6C-A28E-D2B95F69B98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2C6A1BD4-D6E5-48E6-A22C-D713E8C9404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18" name="矩形 17">
            <a:hlinkClick r:id="" action="ppaction://noaction"/>
            <a:extLst>
              <a:ext uri="{FF2B5EF4-FFF2-40B4-BE49-F238E27FC236}">
                <a16:creationId xmlns:a16="http://schemas.microsoft.com/office/drawing/2014/main" id="{CFCFCC16-A993-49C5-9929-D7CD2E5DD03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354717486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126BF11-969A-4FCA-88DA-A4E1CAF36915}"/>
              </a:ext>
            </a:extLst>
          </p:cNvPr>
          <p:cNvSpPr>
            <a:spLocks noGrp="1"/>
          </p:cNvSpPr>
          <p:nvPr>
            <p:ph type="title"/>
          </p:nvPr>
        </p:nvSpPr>
        <p:spPr/>
        <p:txBody>
          <a:bodyPr/>
          <a:lstStyle/>
          <a:p>
            <a:r>
              <a:rPr lang="zh-CN" altLang="en-US" dirty="0"/>
              <a:t>内存碎片</a:t>
            </a:r>
          </a:p>
        </p:txBody>
      </p:sp>
      <p:pic>
        <p:nvPicPr>
          <p:cNvPr id="4" name="图片 3">
            <a:extLst>
              <a:ext uri="{FF2B5EF4-FFF2-40B4-BE49-F238E27FC236}">
                <a16:creationId xmlns:a16="http://schemas.microsoft.com/office/drawing/2014/main" id="{376E64A2-05DC-4082-948E-17BD861A84E0}"/>
              </a:ext>
            </a:extLst>
          </p:cNvPr>
          <p:cNvPicPr>
            <a:picLocks noChangeAspect="1"/>
          </p:cNvPicPr>
          <p:nvPr/>
        </p:nvPicPr>
        <p:blipFill>
          <a:blip r:embed="rId2"/>
          <a:stretch>
            <a:fillRect/>
          </a:stretch>
        </p:blipFill>
        <p:spPr>
          <a:xfrm>
            <a:off x="2156645" y="2724150"/>
            <a:ext cx="5120640" cy="1409700"/>
          </a:xfrm>
          <a:prstGeom prst="rect">
            <a:avLst/>
          </a:prstGeom>
        </p:spPr>
      </p:pic>
      <p:cxnSp>
        <p:nvCxnSpPr>
          <p:cNvPr id="8" name="连接符: 曲线 7">
            <a:extLst>
              <a:ext uri="{FF2B5EF4-FFF2-40B4-BE49-F238E27FC236}">
                <a16:creationId xmlns:a16="http://schemas.microsoft.com/office/drawing/2014/main" id="{79804531-712C-4BBA-8B4E-C6DDD603BB4D}"/>
              </a:ext>
            </a:extLst>
          </p:cNvPr>
          <p:cNvCxnSpPr>
            <a:cxnSpLocks/>
          </p:cNvCxnSpPr>
          <p:nvPr/>
        </p:nvCxnSpPr>
        <p:spPr>
          <a:xfrm rot="16200000" flipH="1">
            <a:off x="2445950" y="4423202"/>
            <a:ext cx="1631563" cy="1103969"/>
          </a:xfrm>
          <a:prstGeom prst="curvedConnector3">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连接符: 曲线 9">
            <a:extLst>
              <a:ext uri="{FF2B5EF4-FFF2-40B4-BE49-F238E27FC236}">
                <a16:creationId xmlns:a16="http://schemas.microsoft.com/office/drawing/2014/main" id="{8DACE5AA-7A17-4765-8813-2A023A2C2A81}"/>
              </a:ext>
            </a:extLst>
          </p:cNvPr>
          <p:cNvCxnSpPr>
            <a:cxnSpLocks/>
          </p:cNvCxnSpPr>
          <p:nvPr/>
        </p:nvCxnSpPr>
        <p:spPr>
          <a:xfrm rot="5400000">
            <a:off x="3923488" y="4495684"/>
            <a:ext cx="1631563" cy="959007"/>
          </a:xfrm>
          <a:prstGeom prst="curvedConnector3">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CE87FD6-9AD4-4506-BD3D-1744666B44C2}"/>
              </a:ext>
            </a:extLst>
          </p:cNvPr>
          <p:cNvSpPr txBox="1"/>
          <p:nvPr/>
        </p:nvSpPr>
        <p:spPr>
          <a:xfrm>
            <a:off x="2587083" y="5873931"/>
            <a:ext cx="31334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已分配的内存，且仍在使用</a:t>
            </a:r>
          </a:p>
        </p:txBody>
      </p:sp>
      <p:cxnSp>
        <p:nvCxnSpPr>
          <p:cNvPr id="16" name="直接箭头连接符 15">
            <a:extLst>
              <a:ext uri="{FF2B5EF4-FFF2-40B4-BE49-F238E27FC236}">
                <a16:creationId xmlns:a16="http://schemas.microsoft.com/office/drawing/2014/main" id="{36D5091D-06DB-45A5-B200-86DC7E5757FE}"/>
              </a:ext>
            </a:extLst>
          </p:cNvPr>
          <p:cNvCxnSpPr/>
          <p:nvPr/>
        </p:nvCxnSpPr>
        <p:spPr>
          <a:xfrm>
            <a:off x="3261732" y="2877011"/>
            <a:ext cx="2748775" cy="7805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AB8983BA-739A-43AF-9943-095FD12C3965}"/>
              </a:ext>
            </a:extLst>
          </p:cNvPr>
          <p:cNvCxnSpPr/>
          <p:nvPr/>
        </p:nvCxnSpPr>
        <p:spPr>
          <a:xfrm>
            <a:off x="3261732" y="2877011"/>
            <a:ext cx="551985" cy="7805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F57AD853-BBB1-4367-B04E-38FC29CCD26D}"/>
              </a:ext>
            </a:extLst>
          </p:cNvPr>
          <p:cNvSpPr txBox="1"/>
          <p:nvPr/>
        </p:nvSpPr>
        <p:spPr>
          <a:xfrm>
            <a:off x="1672682" y="2165449"/>
            <a:ext cx="313349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内存块已经释放，但它们都比下一个要分配额内存块小</a:t>
            </a:r>
          </a:p>
        </p:txBody>
      </p:sp>
      <p:sp>
        <p:nvSpPr>
          <p:cNvPr id="20" name="文本框 19">
            <a:extLst>
              <a:ext uri="{FF2B5EF4-FFF2-40B4-BE49-F238E27FC236}">
                <a16:creationId xmlns:a16="http://schemas.microsoft.com/office/drawing/2014/main" id="{647168E4-0C4A-49F1-917F-094DC88221CA}"/>
              </a:ext>
            </a:extLst>
          </p:cNvPr>
          <p:cNvSpPr txBox="1"/>
          <p:nvPr/>
        </p:nvSpPr>
        <p:spPr>
          <a:xfrm>
            <a:off x="5404623" y="2246583"/>
            <a:ext cx="22518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a:ea typeface="黑体" panose="02010609060101010101" pitchFamily="49" charset="-122"/>
                <a:cs typeface="+mn-cs"/>
              </a:rPr>
              <a:t>新请求分配的内存块</a:t>
            </a:r>
          </a:p>
        </p:txBody>
      </p:sp>
      <p:sp>
        <p:nvSpPr>
          <p:cNvPr id="14" name="矩形 13">
            <a:hlinkClick r:id="rId3" action="ppaction://hlinksldjump"/>
            <a:extLst>
              <a:ext uri="{FF2B5EF4-FFF2-40B4-BE49-F238E27FC236}">
                <a16:creationId xmlns:a16="http://schemas.microsoft.com/office/drawing/2014/main" id="{B96CC02B-4FAD-4E5C-BC33-02CAA40F6C2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6454E905-4FBA-4203-8831-C7C54AD10B6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24A57EA1-CAC8-4E2E-9BF6-3F3A92C5FEF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p>
        </p:txBody>
      </p:sp>
      <p:sp>
        <p:nvSpPr>
          <p:cNvPr id="21" name="矩形 20">
            <a:hlinkClick r:id="" action="ppaction://noaction"/>
            <a:extLst>
              <a:ext uri="{FF2B5EF4-FFF2-40B4-BE49-F238E27FC236}">
                <a16:creationId xmlns:a16="http://schemas.microsoft.com/office/drawing/2014/main" id="{926EF00D-992F-48B0-ADEA-1EA528819CC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lang="zh-CN" altLang="en-US" sz="1200" b="1" dirty="0">
                <a:solidFill>
                  <a:prstClr val="white"/>
                </a:solidFill>
                <a:latin typeface="Courier New" pitchFamily="49" charset="0"/>
                <a:cs typeface="Courier New" pitchFamily="49" charset="0"/>
              </a:rPr>
              <a:t>引用与函数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63E8EF77-464D-4C49-A480-81840DEEE91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动态内存分配的基本概念</a:t>
            </a:r>
          </a:p>
        </p:txBody>
      </p:sp>
      <p:sp>
        <p:nvSpPr>
          <p:cNvPr id="23" name="矩形 22">
            <a:hlinkClick r:id="" action="ppaction://noaction"/>
            <a:extLst>
              <a:ext uri="{FF2B5EF4-FFF2-40B4-BE49-F238E27FC236}">
                <a16:creationId xmlns:a16="http://schemas.microsoft.com/office/drawing/2014/main" id="{B3E7B261-3869-4D92-8CAB-365DDC0E9CA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7A19C6A2-86AD-4141-86BD-8A1E0286514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动态数组</a:t>
            </a:r>
          </a:p>
        </p:txBody>
      </p:sp>
      <p:sp>
        <p:nvSpPr>
          <p:cNvPr id="25" name="矩形 24">
            <a:hlinkClick r:id="" action="ppaction://noaction"/>
            <a:extLst>
              <a:ext uri="{FF2B5EF4-FFF2-40B4-BE49-F238E27FC236}">
                <a16:creationId xmlns:a16="http://schemas.microsoft.com/office/drawing/2014/main" id="{2F3A7348-30CC-4C26-A85F-33C0C8EF5DB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动态内存回收</a:t>
            </a:r>
          </a:p>
        </p:txBody>
      </p:sp>
    </p:spTree>
    <p:extLst>
      <p:ext uri="{BB962C8B-B14F-4D97-AF65-F5344CB8AC3E}">
        <p14:creationId xmlns:p14="http://schemas.microsoft.com/office/powerpoint/2010/main" val="161991119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233352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 name="组合 34"/>
          <p:cNvGrpSpPr>
            <a:grpSpLocks/>
          </p:cNvGrpSpPr>
          <p:nvPr/>
        </p:nvGrpSpPr>
        <p:grpSpPr bwMode="auto">
          <a:xfrm>
            <a:off x="1641600" y="1397421"/>
            <a:ext cx="5356225" cy="1735606"/>
            <a:chOff x="1643042" y="3196754"/>
            <a:chExt cx="5356246" cy="1735614"/>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动态内存分配</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引用类型</a:t>
            </a:r>
          </a:p>
        </p:txBody>
      </p:sp>
      <p:sp>
        <p:nvSpPr>
          <p:cNvPr id="51" name="矩形 50">
            <a:hlinkClick r:id="rId4" action="ppaction://hlinksldjump"/>
            <a:extLst>
              <a:ext uri="{FF2B5EF4-FFF2-40B4-BE49-F238E27FC236}">
                <a16:creationId xmlns:a16="http://schemas.microsoft.com/office/drawing/2014/main" id="{E394CED0-15E1-41ED-A9E3-FB88AD816EF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52" name="矩形 51">
            <a:hlinkClick r:id="" action="ppaction://noaction"/>
            <a:extLst>
              <a:ext uri="{FF2B5EF4-FFF2-40B4-BE49-F238E27FC236}">
                <a16:creationId xmlns:a16="http://schemas.microsoft.com/office/drawing/2014/main" id="{F5CA97A8-C085-4EFA-AAAC-FCFD7758754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53" name="矩形 52">
            <a:hlinkClick r:id="" action="ppaction://noaction"/>
            <a:extLst>
              <a:ext uri="{FF2B5EF4-FFF2-40B4-BE49-F238E27FC236}">
                <a16:creationId xmlns:a16="http://schemas.microsoft.com/office/drawing/2014/main" id="{120BFFB4-898C-4257-8044-55D64C1CAC1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54" name="矩形 53">
            <a:hlinkClick r:id="" action="ppaction://noaction"/>
            <a:extLst>
              <a:ext uri="{FF2B5EF4-FFF2-40B4-BE49-F238E27FC236}">
                <a16:creationId xmlns:a16="http://schemas.microsoft.com/office/drawing/2014/main" id="{38F107F8-6E03-446C-95EB-29AECB83DFC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prstClr val="white"/>
                </a:solidFill>
                <a:latin typeface="Courier New" pitchFamily="49" charset="0"/>
                <a:cs typeface="Courier New" pitchFamily="49" charset="0"/>
              </a:rPr>
              <a:t>引用与函数 □</a:t>
            </a:r>
          </a:p>
        </p:txBody>
      </p:sp>
      <p:sp>
        <p:nvSpPr>
          <p:cNvPr id="56" name="五边形 24">
            <a:extLst>
              <a:ext uri="{FF2B5EF4-FFF2-40B4-BE49-F238E27FC236}">
                <a16:creationId xmlns:a16="http://schemas.microsoft.com/office/drawing/2014/main" id="{FED05CB3-5CEA-4A17-ACBB-196D029650F8}"/>
              </a:ext>
            </a:extLst>
          </p:cNvPr>
          <p:cNvSpPr/>
          <p:nvPr/>
        </p:nvSpPr>
        <p:spPr bwMode="auto">
          <a:xfrm flipH="1">
            <a:off x="2040062" y="3297031"/>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7" name="组合 28">
            <a:extLst>
              <a:ext uri="{FF2B5EF4-FFF2-40B4-BE49-F238E27FC236}">
                <a16:creationId xmlns:a16="http://schemas.microsoft.com/office/drawing/2014/main" id="{92A6E709-64FC-4CCC-9329-2468ABE66C19}"/>
              </a:ext>
            </a:extLst>
          </p:cNvPr>
          <p:cNvGrpSpPr>
            <a:grpSpLocks/>
          </p:cNvGrpSpPr>
          <p:nvPr/>
        </p:nvGrpSpPr>
        <p:grpSpPr bwMode="auto">
          <a:xfrm>
            <a:off x="1641600" y="3293855"/>
            <a:ext cx="792162" cy="788988"/>
            <a:chOff x="854055" y="1643050"/>
            <a:chExt cx="792165" cy="788992"/>
          </a:xfrm>
        </p:grpSpPr>
        <p:sp>
          <p:nvSpPr>
            <p:cNvPr id="58" name="椭圆 57">
              <a:extLst>
                <a:ext uri="{FF2B5EF4-FFF2-40B4-BE49-F238E27FC236}">
                  <a16:creationId xmlns:a16="http://schemas.microsoft.com/office/drawing/2014/main" id="{22DC169D-C390-478B-8BBC-D93E59654E6C}"/>
                </a:ext>
              </a:extLst>
            </p:cNvPr>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9" name="图片 22" descr="NANKAI.png">
              <a:extLst>
                <a:ext uri="{FF2B5EF4-FFF2-40B4-BE49-F238E27FC236}">
                  <a16:creationId xmlns:a16="http://schemas.microsoft.com/office/drawing/2014/main" id="{35F8353D-86A1-4766-8B25-F2FDB6686D8F}"/>
                </a:ext>
              </a:extLst>
            </p:cNvPr>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sp>
        <p:nvSpPr>
          <p:cNvPr id="60" name="TextBox 43">
            <a:extLst>
              <a:ext uri="{FF2B5EF4-FFF2-40B4-BE49-F238E27FC236}">
                <a16:creationId xmlns:a16="http://schemas.microsoft.com/office/drawing/2014/main" id="{BFA098CC-7573-42CB-B4C8-4BC237FAB003}"/>
              </a:ext>
            </a:extLst>
          </p:cNvPr>
          <p:cNvSpPr txBox="1"/>
          <p:nvPr/>
        </p:nvSpPr>
        <p:spPr>
          <a:xfrm>
            <a:off x="2627784" y="3418642"/>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引用与函数</a:t>
            </a:r>
          </a:p>
        </p:txBody>
      </p:sp>
      <p:sp>
        <p:nvSpPr>
          <p:cNvPr id="61" name="矩形 60">
            <a:hlinkClick r:id="" action="ppaction://noaction"/>
            <a:extLst>
              <a:ext uri="{FF2B5EF4-FFF2-40B4-BE49-F238E27FC236}">
                <a16:creationId xmlns:a16="http://schemas.microsoft.com/office/drawing/2014/main" id="{0ED01DCB-E044-41AC-88D8-7DA7A6CC733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62" name="矩形 61">
            <a:hlinkClick r:id="" action="ppaction://noaction"/>
            <a:extLst>
              <a:ext uri="{FF2B5EF4-FFF2-40B4-BE49-F238E27FC236}">
                <a16:creationId xmlns:a16="http://schemas.microsoft.com/office/drawing/2014/main" id="{20810AD1-C170-4D43-BE61-012477D3893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63" name="矩形 62">
            <a:hlinkClick r:id="" action="ppaction://noaction"/>
            <a:extLst>
              <a:ext uri="{FF2B5EF4-FFF2-40B4-BE49-F238E27FC236}">
                <a16:creationId xmlns:a16="http://schemas.microsoft.com/office/drawing/2014/main" id="{2DFC6B50-751E-4C8B-86D1-C53362AE9BB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72" name="矩形 71">
            <a:hlinkClick r:id="" action="ppaction://noaction"/>
            <a:extLst>
              <a:ext uri="{FF2B5EF4-FFF2-40B4-BE49-F238E27FC236}">
                <a16:creationId xmlns:a16="http://schemas.microsoft.com/office/drawing/2014/main" id="{7187AC09-302B-4DE0-84AF-3157AD0F927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3845744276"/>
      </p:ext>
    </p:extLst>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5" name="标题 4">
            <a:extLst>
              <a:ext uri="{FF2B5EF4-FFF2-40B4-BE49-F238E27FC236}">
                <a16:creationId xmlns:a16="http://schemas.microsoft.com/office/drawing/2014/main" id="{3B036FD0-678F-492F-AED1-D42B73F53CD4}"/>
              </a:ext>
            </a:extLst>
          </p:cNvPr>
          <p:cNvSpPr>
            <a:spLocks noGrp="1"/>
          </p:cNvSpPr>
          <p:nvPr>
            <p:ph type="ctrTitle"/>
          </p:nvPr>
        </p:nvSpPr>
        <p:spPr/>
        <p:txBody>
          <a:bodyPr/>
          <a:lstStyle/>
          <a:p>
            <a:r>
              <a:rPr lang="zh-CN" altLang="en-US" dirty="0"/>
              <a:t>引用类型</a:t>
            </a:r>
          </a:p>
        </p:txBody>
      </p:sp>
      <p:sp>
        <p:nvSpPr>
          <p:cNvPr id="10" name="TextBox 8">
            <a:extLst>
              <a:ext uri="{FF2B5EF4-FFF2-40B4-BE49-F238E27FC236}">
                <a16:creationId xmlns:a16="http://schemas.microsoft.com/office/drawing/2014/main" id="{AB51A79A-39B4-422C-8B83-395BD5108E94}"/>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49C704B8-C962-4409-8796-699C04C3F629}"/>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C8E5E42D-816C-4548-AABE-F989C7D33BA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345219038"/>
      </p:ext>
    </p:extLst>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引用的含义</a:t>
            </a:r>
          </a:p>
        </p:txBody>
      </p:sp>
      <p:sp>
        <p:nvSpPr>
          <p:cNvPr id="3" name="内容占位符 2"/>
          <p:cNvSpPr>
            <a:spLocks noGrp="1"/>
          </p:cNvSpPr>
          <p:nvPr>
            <p:ph idx="1"/>
          </p:nvPr>
        </p:nvSpPr>
        <p:spPr/>
        <p:txBody>
          <a:bodyPr/>
          <a:lstStyle/>
          <a:p>
            <a:r>
              <a:rPr lang="zh-CN" altLang="en-US" dirty="0"/>
              <a:t>引用（</a:t>
            </a:r>
            <a:r>
              <a:rPr lang="en-US" altLang="zh-CN" dirty="0"/>
              <a:t>reference</a:t>
            </a:r>
            <a:r>
              <a:rPr lang="zh-CN" altLang="en-US" dirty="0"/>
              <a:t>）是</a:t>
            </a:r>
            <a:r>
              <a:rPr lang="en-US" altLang="zh-CN" dirty="0"/>
              <a:t>C</a:t>
            </a:r>
            <a:r>
              <a:rPr lang="zh-CN" altLang="en-US" dirty="0"/>
              <a:t>＋＋语言特有的数据形式。它的存在不仅像数组和指针那样依赖于已有的类型，而且它还依赖于一个已有的变量</a:t>
            </a:r>
            <a:endParaRPr lang="en-US" altLang="zh-CN" dirty="0"/>
          </a:p>
          <a:p>
            <a:pPr lvl="1"/>
            <a:r>
              <a:rPr lang="zh-CN" altLang="en-US" dirty="0"/>
              <a:t>引用是某个变量或对象的别名。建立引用，</a:t>
            </a:r>
            <a:r>
              <a:rPr lang="zh-CN" altLang="en-US" dirty="0">
                <a:solidFill>
                  <a:srgbClr val="C00000"/>
                </a:solidFill>
              </a:rPr>
              <a:t>必须用某个变量名或对象名来对它进行初始化</a:t>
            </a:r>
            <a:r>
              <a:rPr lang="zh-CN" altLang="en-US" dirty="0"/>
              <a:t>，从而将该引用绑定在那一个变量或对象上</a:t>
            </a:r>
            <a:endParaRPr lang="en-US" altLang="zh-CN" dirty="0"/>
          </a:p>
          <a:p>
            <a:pPr lvl="1"/>
            <a:r>
              <a:rPr lang="zh-CN" altLang="en-US" dirty="0"/>
              <a:t>建立引用并不重新为其分配内存空间，引用只是另一变量或对象的别名，任何对引用的使用与改变都是对该引用所绑定的那一变量或对象的使用与改变</a:t>
            </a:r>
          </a:p>
        </p:txBody>
      </p:sp>
      <p:sp>
        <p:nvSpPr>
          <p:cNvPr id="16" name="矩形 15">
            <a:hlinkClick r:id="rId2" action="ppaction://hlinksldjump"/>
            <a:extLst>
              <a:ext uri="{FF2B5EF4-FFF2-40B4-BE49-F238E27FC236}">
                <a16:creationId xmlns:a16="http://schemas.microsoft.com/office/drawing/2014/main" id="{A15E14E4-DB54-4ACC-A712-13CC07883BF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B251D948-BBE4-49E5-8B11-8E387A0EE32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5A0CAAA9-7EA2-43B1-963D-CB55211AD02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A24DBA1E-02AB-457C-ACFC-C5C34917C47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20" name="矩形 19">
            <a:hlinkClick r:id="" action="ppaction://noaction"/>
            <a:extLst>
              <a:ext uri="{FF2B5EF4-FFF2-40B4-BE49-F238E27FC236}">
                <a16:creationId xmlns:a16="http://schemas.microsoft.com/office/drawing/2014/main" id="{DAFEAC00-B157-489D-89FA-CCAFBFF14CA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21" name="矩形 20">
            <a:hlinkClick r:id="" action="ppaction://noaction"/>
            <a:extLst>
              <a:ext uri="{FF2B5EF4-FFF2-40B4-BE49-F238E27FC236}">
                <a16:creationId xmlns:a16="http://schemas.microsoft.com/office/drawing/2014/main" id="{DD451B49-2B1B-4581-BAC3-6988ECDBA0C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947267C0-9F7E-479C-8B0A-E1AE89FC6DD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0C8E7A52-4881-47FA-A08A-995C8991048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360691585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引用变量</a:t>
            </a:r>
          </a:p>
        </p:txBody>
      </p:sp>
      <p:sp>
        <p:nvSpPr>
          <p:cNvPr id="3" name="内容占位符 2"/>
          <p:cNvSpPr>
            <a:spLocks noGrp="1"/>
          </p:cNvSpPr>
          <p:nvPr>
            <p:ph idx="1"/>
          </p:nvPr>
        </p:nvSpPr>
        <p:spPr/>
        <p:txBody>
          <a:bodyPr/>
          <a:lstStyle/>
          <a:p>
            <a:r>
              <a:rPr lang="zh-CN" altLang="en-US" dirty="0"/>
              <a:t>引用变量的说明与初始化</a:t>
            </a:r>
            <a:endParaRPr lang="en-US" altLang="zh-CN" dirty="0">
              <a:solidFill>
                <a:srgbClr val="FF00FF"/>
              </a:solidFill>
            </a:endParaRPr>
          </a:p>
          <a:p>
            <a:pPr lvl="1">
              <a:buNone/>
            </a:pPr>
            <a:r>
              <a:rPr lang="zh-CN" altLang="en-US" b="1" dirty="0">
                <a:latin typeface="Courier New" pitchFamily="49" charset="0"/>
                <a:cs typeface="Courier New" pitchFamily="49" charset="0"/>
              </a:rPr>
              <a:t>&lt;类型&gt; &amp;&lt;变量名&gt; = &lt;对象变量名&gt;</a:t>
            </a:r>
            <a:endParaRPr lang="en-US" altLang="zh-CN" b="1" dirty="0">
              <a:latin typeface="Courier New" pitchFamily="49" charset="0"/>
              <a:cs typeface="Courier New" pitchFamily="49" charset="0"/>
            </a:endParaRPr>
          </a:p>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a:p>
            <a:pPr lvl="1">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a=2, b;</a:t>
            </a: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&amp; </a:t>
            </a:r>
            <a:r>
              <a:rPr lang="en-US" altLang="zh-CN" b="1" dirty="0" err="1">
                <a:latin typeface="Courier New" pitchFamily="49" charset="0"/>
                <a:cs typeface="Courier New" pitchFamily="49" charset="0"/>
              </a:rPr>
              <a:t>refa</a:t>
            </a:r>
            <a:r>
              <a:rPr lang="en-US" altLang="zh-CN" b="1" dirty="0">
                <a:latin typeface="Courier New" pitchFamily="49" charset="0"/>
                <a:cs typeface="Courier New" pitchFamily="49" charset="0"/>
              </a:rPr>
              <a:t>=a;</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引用</a:t>
            </a:r>
            <a:r>
              <a:rPr lang="en-US" altLang="zh-CN" b="1" dirty="0" err="1">
                <a:solidFill>
                  <a:srgbClr val="00B050"/>
                </a:solidFill>
                <a:latin typeface="Courier New" pitchFamily="49" charset="0"/>
                <a:cs typeface="Courier New" pitchFamily="49" charset="0"/>
              </a:rPr>
              <a:t>refa</a:t>
            </a:r>
            <a:r>
              <a:rPr lang="zh-CN" altLang="en-US" b="1" dirty="0">
                <a:solidFill>
                  <a:srgbClr val="00B050"/>
                </a:solidFill>
                <a:latin typeface="Courier New" pitchFamily="49" charset="0"/>
                <a:cs typeface="Courier New" pitchFamily="49" charset="0"/>
              </a:rPr>
              <a:t>是</a:t>
            </a:r>
            <a:r>
              <a:rPr lang="en-US" altLang="zh-CN" b="1" dirty="0" err="1">
                <a:solidFill>
                  <a:srgbClr val="00B050"/>
                </a:solidFill>
                <a:latin typeface="Courier New" pitchFamily="49" charset="0"/>
                <a:cs typeface="Courier New" pitchFamily="49" charset="0"/>
              </a:rPr>
              <a:t>int</a:t>
            </a:r>
            <a:r>
              <a:rPr lang="zh-CN" altLang="en-US" b="1" dirty="0">
                <a:solidFill>
                  <a:srgbClr val="00B050"/>
                </a:solidFill>
                <a:latin typeface="Courier New" pitchFamily="49" charset="0"/>
                <a:cs typeface="Courier New" pitchFamily="49" charset="0"/>
              </a:rPr>
              <a:t>型变量</a:t>
            </a:r>
            <a:r>
              <a:rPr lang="en-US" altLang="zh-CN" b="1" dirty="0">
                <a:solidFill>
                  <a:srgbClr val="00B050"/>
                </a:solidFill>
                <a:latin typeface="Courier New" pitchFamily="49" charset="0"/>
                <a:cs typeface="Courier New" pitchFamily="49" charset="0"/>
              </a:rPr>
              <a:t>a</a:t>
            </a:r>
            <a:r>
              <a:rPr lang="zh-CN" altLang="en-US" b="1" dirty="0">
                <a:solidFill>
                  <a:srgbClr val="00B050"/>
                </a:solidFill>
                <a:latin typeface="Courier New" pitchFamily="49" charset="0"/>
                <a:cs typeface="Courier New" pitchFamily="49" charset="0"/>
              </a:rPr>
              <a:t>的别名</a:t>
            </a: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&amp; </a:t>
            </a:r>
            <a:r>
              <a:rPr lang="en-US" altLang="zh-CN" b="1" dirty="0" err="1">
                <a:latin typeface="Courier New" pitchFamily="49" charset="0"/>
                <a:cs typeface="Courier New" pitchFamily="49" charset="0"/>
              </a:rPr>
              <a:t>refb</a:t>
            </a:r>
            <a:r>
              <a:rPr lang="en-US" altLang="zh-CN" b="1" dirty="0">
                <a:latin typeface="Courier New" pitchFamily="49" charset="0"/>
                <a:cs typeface="Courier New" pitchFamily="49" charset="0"/>
              </a:rPr>
              <a:t>=b;</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引用</a:t>
            </a:r>
            <a:r>
              <a:rPr lang="en-US" altLang="zh-CN" b="1" dirty="0" err="1">
                <a:solidFill>
                  <a:srgbClr val="00B050"/>
                </a:solidFill>
                <a:latin typeface="Courier New" pitchFamily="49" charset="0"/>
                <a:cs typeface="Courier New" pitchFamily="49" charset="0"/>
              </a:rPr>
              <a:t>refb</a:t>
            </a:r>
            <a:r>
              <a:rPr lang="zh-CN" altLang="en-US" b="1" dirty="0">
                <a:solidFill>
                  <a:srgbClr val="00B050"/>
                </a:solidFill>
                <a:latin typeface="Courier New" pitchFamily="49" charset="0"/>
                <a:cs typeface="Courier New" pitchFamily="49" charset="0"/>
              </a:rPr>
              <a:t>是</a:t>
            </a:r>
            <a:r>
              <a:rPr lang="en-US" altLang="zh-CN" b="1" dirty="0" err="1">
                <a:solidFill>
                  <a:srgbClr val="00B050"/>
                </a:solidFill>
                <a:latin typeface="Courier New" pitchFamily="49" charset="0"/>
                <a:cs typeface="Courier New" pitchFamily="49" charset="0"/>
              </a:rPr>
              <a:t>int</a:t>
            </a:r>
            <a:r>
              <a:rPr lang="zh-CN" altLang="en-US" b="1" dirty="0">
                <a:solidFill>
                  <a:srgbClr val="00B050"/>
                </a:solidFill>
                <a:latin typeface="Courier New" pitchFamily="49" charset="0"/>
                <a:cs typeface="Courier New" pitchFamily="49" charset="0"/>
              </a:rPr>
              <a:t>型变量</a:t>
            </a:r>
            <a:r>
              <a:rPr lang="en-US" altLang="zh-CN" b="1" dirty="0">
                <a:solidFill>
                  <a:srgbClr val="00B050"/>
                </a:solidFill>
                <a:latin typeface="Courier New" pitchFamily="49" charset="0"/>
                <a:cs typeface="Courier New" pitchFamily="49" charset="0"/>
              </a:rPr>
              <a:t>b</a:t>
            </a:r>
            <a:r>
              <a:rPr lang="zh-CN" altLang="en-US" b="1" dirty="0">
                <a:solidFill>
                  <a:srgbClr val="00B050"/>
                </a:solidFill>
                <a:latin typeface="Courier New" pitchFamily="49" charset="0"/>
                <a:cs typeface="Courier New" pitchFamily="49" charset="0"/>
              </a:rPr>
              <a:t>的别名</a:t>
            </a:r>
          </a:p>
          <a:p>
            <a:pPr lvl="1"/>
            <a:r>
              <a:rPr lang="zh-CN" altLang="en-US" dirty="0"/>
              <a:t>经过赋值“</a:t>
            </a:r>
            <a:r>
              <a:rPr lang="en-US" altLang="zh-CN" dirty="0" err="1"/>
              <a:t>refb</a:t>
            </a:r>
            <a:r>
              <a:rPr lang="en-US" altLang="zh-CN" dirty="0"/>
              <a:t>=55;”</a:t>
            </a:r>
            <a:r>
              <a:rPr lang="zh-CN" altLang="en-US" dirty="0"/>
              <a:t>以及“</a:t>
            </a:r>
            <a:r>
              <a:rPr lang="en-US" altLang="zh-CN" dirty="0" err="1"/>
              <a:t>refa</a:t>
            </a:r>
            <a:r>
              <a:rPr lang="en-US" altLang="zh-CN" dirty="0"/>
              <a:t>+=2;”</a:t>
            </a:r>
            <a:r>
              <a:rPr lang="zh-CN" altLang="en-US" dirty="0"/>
              <a:t>之后，</a:t>
            </a:r>
            <a:r>
              <a:rPr lang="en-US" altLang="zh-CN" dirty="0"/>
              <a:t>b</a:t>
            </a:r>
            <a:r>
              <a:rPr lang="zh-CN" altLang="en-US" dirty="0"/>
              <a:t>与</a:t>
            </a:r>
            <a:r>
              <a:rPr lang="en-US" altLang="zh-CN" dirty="0" err="1"/>
              <a:t>refb</a:t>
            </a:r>
            <a:r>
              <a:rPr lang="zh-CN" altLang="en-US" dirty="0"/>
              <a:t>的当前值都将是55，而</a:t>
            </a:r>
            <a:r>
              <a:rPr lang="en-US" altLang="zh-CN" dirty="0"/>
              <a:t>a</a:t>
            </a:r>
            <a:r>
              <a:rPr lang="zh-CN" altLang="en-US" dirty="0"/>
              <a:t>与</a:t>
            </a:r>
            <a:r>
              <a:rPr lang="en-US" altLang="zh-CN" dirty="0" err="1"/>
              <a:t>refa</a:t>
            </a:r>
            <a:r>
              <a:rPr lang="zh-CN" altLang="en-US" dirty="0"/>
              <a:t>都在原有值2的基础上增加了2，即当前值都变成了4。 </a:t>
            </a:r>
          </a:p>
          <a:p>
            <a:endParaRPr lang="zh-CN" altLang="en-US" dirty="0"/>
          </a:p>
        </p:txBody>
      </p:sp>
      <p:sp>
        <p:nvSpPr>
          <p:cNvPr id="14" name="矩形 13">
            <a:hlinkClick r:id="rId2" action="ppaction://hlinksldjump"/>
            <a:extLst>
              <a:ext uri="{FF2B5EF4-FFF2-40B4-BE49-F238E27FC236}">
                <a16:creationId xmlns:a16="http://schemas.microsoft.com/office/drawing/2014/main" id="{E1CC3B18-7182-4B53-B9C3-E03B0C8B049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12D21BE2-3C7B-4856-8074-7D97141A35D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2A166009-5732-4970-8046-EEFA33E18F9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F00B4759-A7C2-4F0F-BBCE-21A5F4855F4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20" name="矩形 19">
            <a:hlinkClick r:id="" action="ppaction://noaction"/>
            <a:extLst>
              <a:ext uri="{FF2B5EF4-FFF2-40B4-BE49-F238E27FC236}">
                <a16:creationId xmlns:a16="http://schemas.microsoft.com/office/drawing/2014/main" id="{BF58369B-4870-45F3-A64F-E2037E1F25F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21" name="矩形 20">
            <a:hlinkClick r:id="" action="ppaction://noaction"/>
            <a:extLst>
              <a:ext uri="{FF2B5EF4-FFF2-40B4-BE49-F238E27FC236}">
                <a16:creationId xmlns:a16="http://schemas.microsoft.com/office/drawing/2014/main" id="{FFF1D1D5-3C24-442B-936F-58340465F9A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E2B075EE-B35F-4F91-A2FE-F42AAB182FB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D756E7DC-AEB2-44FB-B7E2-B66C56E20E7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328952949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引用与指针的区别</a:t>
            </a:r>
          </a:p>
        </p:txBody>
      </p:sp>
      <p:sp>
        <p:nvSpPr>
          <p:cNvPr id="3" name="内容占位符 2"/>
          <p:cNvSpPr>
            <a:spLocks noGrp="1"/>
          </p:cNvSpPr>
          <p:nvPr>
            <p:ph idx="1"/>
          </p:nvPr>
        </p:nvSpPr>
        <p:spPr/>
        <p:txBody>
          <a:bodyPr/>
          <a:lstStyle/>
          <a:p>
            <a:pPr algn="just"/>
            <a:r>
              <a:rPr lang="zh-CN" altLang="en-US" dirty="0"/>
              <a:t>指针表示的是一个对象变量的地址，而引用则表示一个对象变量的别名。因此在程序中表示其对象变量时，前者要通过取内容运算符“*”，而后者可直接代表</a:t>
            </a:r>
            <a:r>
              <a:rPr lang="en-US" altLang="zh-CN" dirty="0"/>
              <a:t>.</a:t>
            </a:r>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p>
          <a:p>
            <a:pPr algn="just">
              <a:lnSpc>
                <a:spcPct val="110000"/>
              </a:lnSpc>
              <a:buNone/>
            </a:pPr>
            <a:r>
              <a:rPr lang="en-US" altLang="zh-CN" sz="2400" dirty="0">
                <a:solidFill>
                  <a:srgbClr val="0000FF"/>
                </a:solidFill>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   </a:t>
            </a: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*pa=&amp;a;  </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=a; </a:t>
            </a:r>
          </a:p>
          <a:p>
            <a:pPr algn="just">
              <a:lnSpc>
                <a:spcPct val="110000"/>
              </a:lnSpc>
              <a:buNone/>
            </a:pPr>
            <a:r>
              <a:rPr lang="en-US" altLang="zh-CN" sz="2400" dirty="0">
                <a:solidFill>
                  <a:srgbClr val="0000FF"/>
                </a:solidFill>
              </a:rPr>
              <a:t>     </a:t>
            </a:r>
            <a:r>
              <a:rPr lang="en-US" altLang="zh-CN" sz="2400" dirty="0"/>
              <a:t> </a:t>
            </a:r>
            <a:r>
              <a:rPr lang="zh-CN" altLang="en-US" sz="2400" dirty="0"/>
              <a:t>当要对</a:t>
            </a:r>
            <a:r>
              <a:rPr lang="en-US" altLang="zh-CN" sz="2400" dirty="0"/>
              <a:t>a</a:t>
            </a:r>
            <a:r>
              <a:rPr lang="zh-CN" altLang="en-US" sz="2400" dirty="0"/>
              <a:t>赋值123时，下述三个语句是等价的：</a:t>
            </a:r>
          </a:p>
          <a:p>
            <a:pPr algn="just">
              <a:lnSpc>
                <a:spcPct val="110000"/>
              </a:lnSpc>
              <a:buNone/>
            </a:pPr>
            <a:r>
              <a:rPr lang="en-US" altLang="zh-CN" sz="2400" dirty="0">
                <a:solidFill>
                  <a:srgbClr val="0000FF"/>
                </a:solidFill>
              </a:rPr>
              <a:t>	</a:t>
            </a:r>
            <a:r>
              <a:rPr lang="zh-CN" altLang="en-US" sz="2400" dirty="0">
                <a:solidFill>
                  <a:srgbClr val="0000FF"/>
                </a:solidFill>
              </a:rPr>
              <a:t>	</a:t>
            </a:r>
            <a:r>
              <a:rPr lang="en-US" altLang="zh-CN" sz="2400" b="1" dirty="0">
                <a:latin typeface="Courier New" pitchFamily="49" charset="0"/>
                <a:cs typeface="Courier New" pitchFamily="49" charset="0"/>
              </a:rPr>
              <a:t>a=123;    *pa=123;       </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=123;</a:t>
            </a:r>
            <a:endParaRPr lang="zh-CN" altLang="en-US" sz="2400" b="1" dirty="0" err="1">
              <a:latin typeface="Courier New" pitchFamily="49" charset="0"/>
              <a:cs typeface="Courier New" pitchFamily="49" charset="0"/>
            </a:endParaRPr>
          </a:p>
        </p:txBody>
      </p:sp>
      <p:sp>
        <p:nvSpPr>
          <p:cNvPr id="14" name="矩形 13">
            <a:hlinkClick r:id="rId3" action="ppaction://hlinksldjump"/>
            <a:extLst>
              <a:ext uri="{FF2B5EF4-FFF2-40B4-BE49-F238E27FC236}">
                <a16:creationId xmlns:a16="http://schemas.microsoft.com/office/drawing/2014/main" id="{0DF63DE1-DA73-4C2F-A727-42C65DE46C8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D71B27E2-BBC8-4870-86A8-FEE33EF71D7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9F30C817-C8DE-4C49-B374-89A07A00A75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1EA29656-29A4-41A4-A844-39C72C7B961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20" name="矩形 19">
            <a:hlinkClick r:id="" action="ppaction://noaction"/>
            <a:extLst>
              <a:ext uri="{FF2B5EF4-FFF2-40B4-BE49-F238E27FC236}">
                <a16:creationId xmlns:a16="http://schemas.microsoft.com/office/drawing/2014/main" id="{6D2EA8D2-0C8D-496E-8B59-B0B27DBEC83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21" name="矩形 20">
            <a:hlinkClick r:id="" action="ppaction://noaction"/>
            <a:extLst>
              <a:ext uri="{FF2B5EF4-FFF2-40B4-BE49-F238E27FC236}">
                <a16:creationId xmlns:a16="http://schemas.microsoft.com/office/drawing/2014/main" id="{0BE9BFB1-9F8F-467D-AC5D-25FCF550DEA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C0CC59ED-9D46-4231-96FF-CB05B8656EF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E9BBA940-481A-43E4-92AF-FEFCE9866AF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14932259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引用与指针的区别</a:t>
            </a:r>
          </a:p>
        </p:txBody>
      </p:sp>
      <p:sp>
        <p:nvSpPr>
          <p:cNvPr id="3" name="内容占位符 2"/>
          <p:cNvSpPr>
            <a:spLocks noGrp="1"/>
          </p:cNvSpPr>
          <p:nvPr>
            <p:ph idx="1"/>
          </p:nvPr>
        </p:nvSpPr>
        <p:spPr>
          <a:xfrm>
            <a:off x="457200" y="1844824"/>
            <a:ext cx="8507288" cy="4479776"/>
          </a:xfrm>
        </p:spPr>
        <p:txBody>
          <a:bodyPr/>
          <a:lstStyle/>
          <a:p>
            <a:r>
              <a:rPr lang="zh-CN" altLang="en-US" dirty="0"/>
              <a:t>指针是可变的，它可以指向变量</a:t>
            </a:r>
            <a:r>
              <a:rPr lang="en-US" altLang="zh-CN" dirty="0"/>
              <a:t>a，</a:t>
            </a:r>
            <a:r>
              <a:rPr lang="zh-CN" altLang="en-US" dirty="0"/>
              <a:t>也可以指向变量</a:t>
            </a:r>
            <a:r>
              <a:rPr lang="en-US" altLang="zh-CN" dirty="0"/>
              <a:t>b，</a:t>
            </a:r>
            <a:r>
              <a:rPr lang="zh-CN" altLang="en-US" dirty="0"/>
              <a:t>而</a:t>
            </a:r>
            <a:r>
              <a:rPr lang="zh-CN" altLang="en-US" dirty="0">
                <a:solidFill>
                  <a:srgbClr val="FF0000"/>
                </a:solidFill>
              </a:rPr>
              <a:t>引用则只能在建立时一次确定</a:t>
            </a:r>
            <a:r>
              <a:rPr lang="zh-CN" altLang="en-US" dirty="0"/>
              <a:t>（固定绑定在某一个变量上），不可改变。</a:t>
            </a:r>
            <a:endParaRPr lang="en-US" altLang="zh-CN" dirty="0"/>
          </a:p>
          <a:p>
            <a:pPr lvl="1">
              <a:buNone/>
            </a:pPr>
            <a:r>
              <a:rPr lang="en-US" altLang="zh-CN"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a,b</a:t>
            </a:r>
            <a:r>
              <a:rPr lang="en-US" altLang="zh-CN" b="1" dirty="0">
                <a:latin typeface="Courier New" pitchFamily="49" charset="0"/>
                <a:cs typeface="Courier New" pitchFamily="49" charset="0"/>
              </a:rPr>
              <a:t>=456; </a:t>
            </a:r>
            <a:r>
              <a:rPr lang="en-US" altLang="zh-CN" b="1" dirty="0" err="1">
                <a:latin typeface="Courier New" pitchFamily="49" charset="0"/>
                <a:cs typeface="Courier New" pitchFamily="49" charset="0"/>
              </a:rPr>
              <a:t>int</a:t>
            </a:r>
            <a:r>
              <a:rPr lang="en-US" altLang="zh-CN" b="1" dirty="0">
                <a:latin typeface="Courier New" pitchFamily="49" charset="0"/>
                <a:cs typeface="Courier New" pitchFamily="49" charset="0"/>
              </a:rPr>
              <a:t> *p=&amp;a; </a:t>
            </a:r>
            <a:r>
              <a:rPr lang="en-US" altLang="zh-CN" b="1" dirty="0" err="1">
                <a:latin typeface="Courier New" pitchFamily="49" charset="0"/>
                <a:cs typeface="Courier New" pitchFamily="49" charset="0"/>
              </a:rPr>
              <a:t>int</a:t>
            </a:r>
            <a:r>
              <a:rPr lang="en-US" altLang="zh-CN" b="1" dirty="0">
                <a:latin typeface="Courier New" pitchFamily="49" charset="0"/>
                <a:cs typeface="Courier New" pitchFamily="49" charset="0"/>
              </a:rPr>
              <a:t> &amp;</a:t>
            </a:r>
            <a:r>
              <a:rPr lang="en-US" altLang="zh-CN" b="1" dirty="0" err="1">
                <a:latin typeface="Courier New" pitchFamily="49" charset="0"/>
                <a:cs typeface="Courier New" pitchFamily="49" charset="0"/>
              </a:rPr>
              <a:t>ra</a:t>
            </a:r>
            <a:r>
              <a:rPr lang="en-US" altLang="zh-CN" b="1" dirty="0">
                <a:latin typeface="Courier New" pitchFamily="49" charset="0"/>
                <a:cs typeface="Courier New" pitchFamily="49" charset="0"/>
              </a:rPr>
              <a:t>=a;</a:t>
            </a:r>
          </a:p>
          <a:p>
            <a:pPr marL="914400" lvl="2" indent="0">
              <a:buNone/>
            </a:pPr>
            <a:r>
              <a:rPr lang="en-US" altLang="zh-CN" sz="2400" b="1" dirty="0">
                <a:latin typeface="Courier New" pitchFamily="49" charset="0"/>
                <a:cs typeface="Courier New" pitchFamily="49" charset="0"/>
              </a:rPr>
              <a:t>p=&amp;b;</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将变量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的地址赋给指针</a:t>
            </a:r>
            <a:r>
              <a:rPr lang="en-US" altLang="zh-CN" sz="2400" b="1" dirty="0">
                <a:solidFill>
                  <a:srgbClr val="007434"/>
                </a:solidFill>
                <a:latin typeface="Courier New" pitchFamily="49" charset="0"/>
                <a:cs typeface="Courier New" pitchFamily="49" charset="0"/>
              </a:rPr>
              <a:t>p</a:t>
            </a:r>
          </a:p>
          <a:p>
            <a:pPr marL="914400" lvl="2" indent="0">
              <a:buNone/>
            </a:pP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=b;</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将</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的值（即456）赋给了与</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绑定的变量</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以及引用</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本身，不是将变量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与引用变量</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绑定</a:t>
            </a:r>
            <a:r>
              <a:rPr lang="en-US" altLang="zh-CN" sz="2400" b="1" dirty="0">
                <a:solidFill>
                  <a:srgbClr val="007434"/>
                </a:solidFill>
                <a:latin typeface="Courier New" pitchFamily="49" charset="0"/>
                <a:cs typeface="Courier New" pitchFamily="49" charset="0"/>
              </a:rPr>
              <a:t>*/</a:t>
            </a:r>
          </a:p>
          <a:p>
            <a:pPr marL="914400" lvl="2" indent="0">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&amp;</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=b;</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不合法，为引用</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重新建立新的绑定关系则会导致出现一个编译错误（</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重定义，重复初始化）</a:t>
            </a:r>
            <a:r>
              <a:rPr lang="en-US" altLang="zh-CN" sz="2400" b="1" dirty="0">
                <a:solidFill>
                  <a:srgbClr val="007434"/>
                </a:solidFill>
                <a:latin typeface="Courier New" pitchFamily="49" charset="0"/>
                <a:cs typeface="Courier New" pitchFamily="49" charset="0"/>
              </a:rPr>
              <a:t>*/</a:t>
            </a:r>
            <a:endParaRPr lang="zh-CN" altLang="en-US" sz="2400" b="1" dirty="0">
              <a:solidFill>
                <a:srgbClr val="007434"/>
              </a:solidFill>
              <a:latin typeface="Courier New" pitchFamily="49" charset="0"/>
              <a:cs typeface="Courier New" pitchFamily="49" charset="0"/>
            </a:endParaRPr>
          </a:p>
        </p:txBody>
      </p:sp>
      <p:sp>
        <p:nvSpPr>
          <p:cNvPr id="14" name="矩形 13">
            <a:hlinkClick r:id="rId2" action="ppaction://hlinksldjump"/>
            <a:extLst>
              <a:ext uri="{FF2B5EF4-FFF2-40B4-BE49-F238E27FC236}">
                <a16:creationId xmlns:a16="http://schemas.microsoft.com/office/drawing/2014/main" id="{D681F47A-FB8A-4835-9234-202FEE184CB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9C85CDC0-B506-4539-998F-101DA6B8212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C07B3CCC-A734-409A-BC08-854FF2898C2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A4B096A4-219F-44D8-88F3-C217842A36D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18" name="矩形 17">
            <a:hlinkClick r:id="" action="ppaction://noaction"/>
            <a:extLst>
              <a:ext uri="{FF2B5EF4-FFF2-40B4-BE49-F238E27FC236}">
                <a16:creationId xmlns:a16="http://schemas.microsoft.com/office/drawing/2014/main" id="{35C538AD-5EA3-4631-8038-57EA5A5A820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19" name="矩形 18">
            <a:hlinkClick r:id="" action="ppaction://noaction"/>
            <a:extLst>
              <a:ext uri="{FF2B5EF4-FFF2-40B4-BE49-F238E27FC236}">
                <a16:creationId xmlns:a16="http://schemas.microsoft.com/office/drawing/2014/main" id="{290DC73B-69F4-42A5-8E4F-848C2AE54F7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4182F552-9E29-4620-86AE-185E3218D46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0C904ABE-8AD7-43E5-BDB5-EACF3A1D199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72032539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引用与指针的区别</a:t>
            </a:r>
            <a:endParaRPr lang="en-US" altLang="zh-CN" dirty="0"/>
          </a:p>
        </p:txBody>
      </p:sp>
      <p:sp>
        <p:nvSpPr>
          <p:cNvPr id="3" name="内容占位符 2"/>
          <p:cNvSpPr>
            <a:spLocks noGrp="1"/>
          </p:cNvSpPr>
          <p:nvPr>
            <p:ph idx="1"/>
          </p:nvPr>
        </p:nvSpPr>
        <p:spPr/>
        <p:txBody>
          <a:bodyPr/>
          <a:lstStyle/>
          <a:p>
            <a:r>
              <a:rPr lang="zh-CN" altLang="en-US" dirty="0"/>
              <a:t>由于引用本身不是一个独立的变量（它本身不具有独立的变量地址，使用的是与其绑定</a:t>
            </a:r>
            <a:r>
              <a:rPr lang="zh-CN" altLang="en-US"/>
              <a:t>的那个变量</a:t>
            </a:r>
            <a:r>
              <a:rPr lang="zh-CN" altLang="en-US" dirty="0"/>
              <a:t>的地址），所以，</a:t>
            </a:r>
            <a:r>
              <a:rPr lang="zh-CN" altLang="en-US" dirty="0">
                <a:solidFill>
                  <a:srgbClr val="FF0000"/>
                </a:solidFill>
              </a:rPr>
              <a:t>不能出现引用的引用，不能出现元素为引用的数组，也不能使用指向引用的指针</a:t>
            </a:r>
            <a:endParaRPr lang="en-US" altLang="zh-CN" dirty="0">
              <a:solidFill>
                <a:srgbClr val="FF0000"/>
              </a:solidFill>
            </a:endParaRPr>
          </a:p>
          <a:p>
            <a:r>
              <a:rPr lang="zh-CN" altLang="en-US" dirty="0"/>
              <a:t>指针是独立变量，可以出现指针的指针、可以出现元素为指针的数组，也可以说明对指针的引用</a:t>
            </a:r>
          </a:p>
        </p:txBody>
      </p:sp>
      <p:sp>
        <p:nvSpPr>
          <p:cNvPr id="13" name="矩形 12">
            <a:hlinkClick r:id="rId2" action="ppaction://hlinksldjump"/>
            <a:extLst>
              <a:ext uri="{FF2B5EF4-FFF2-40B4-BE49-F238E27FC236}">
                <a16:creationId xmlns:a16="http://schemas.microsoft.com/office/drawing/2014/main" id="{12FA1797-EEDA-4FC9-9084-A58FBC9468B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2DC8D70C-3ECB-46A0-956A-3C6A73ACBC4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7380A103-0C9C-4254-AFC1-0C026797390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4BB24531-ABAE-45E0-993F-8DF5AA0EE8E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17" name="矩形 16">
            <a:hlinkClick r:id="" action="ppaction://noaction"/>
            <a:extLst>
              <a:ext uri="{FF2B5EF4-FFF2-40B4-BE49-F238E27FC236}">
                <a16:creationId xmlns:a16="http://schemas.microsoft.com/office/drawing/2014/main" id="{B473B5CB-A2C8-4802-A6CB-826A42B9E0C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18" name="矩形 17">
            <a:hlinkClick r:id="" action="ppaction://noaction"/>
            <a:extLst>
              <a:ext uri="{FF2B5EF4-FFF2-40B4-BE49-F238E27FC236}">
                <a16:creationId xmlns:a16="http://schemas.microsoft.com/office/drawing/2014/main" id="{0541D887-09D7-4226-A950-2BB255E219F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FCB856CF-E1BA-4C8F-B59D-D88AD6A2E99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A05E9F5A-95EB-40C1-82D1-BB3DDAB2D0F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294956208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举例</a:t>
            </a:r>
            <a:r>
              <a:rPr lang="en-US" altLang="zh-CN" dirty="0"/>
              <a:t>】</a:t>
            </a:r>
            <a:endParaRPr lang="zh-CN" altLang="en-US" dirty="0"/>
          </a:p>
        </p:txBody>
      </p:sp>
      <p:sp>
        <p:nvSpPr>
          <p:cNvPr id="3" name="内容占位符 2"/>
          <p:cNvSpPr>
            <a:spLocks noGrp="1"/>
          </p:cNvSpPr>
          <p:nvPr>
            <p:ph idx="1"/>
          </p:nvPr>
        </p:nvSpPr>
        <p:spPr>
          <a:xfrm>
            <a:off x="457200" y="1844824"/>
            <a:ext cx="8543956" cy="4479776"/>
          </a:xfrm>
        </p:spPr>
        <p:txBody>
          <a:bodyPr/>
          <a:lstStyle/>
          <a:p>
            <a:pPr algn="just">
              <a:lnSpc>
                <a:spcPct val="110000"/>
              </a:lnSpc>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&amp;&amp;ref;</a:t>
            </a:r>
            <a:r>
              <a:rPr lang="en-US" altLang="zh-CN" sz="2800" b="1" dirty="0">
                <a:solidFill>
                  <a:schemeClr val="tx2"/>
                </a:solidFill>
                <a:latin typeface="Courier New" pitchFamily="49" charset="0"/>
                <a:cs typeface="Courier New" pitchFamily="49" charset="0"/>
              </a:rPr>
              <a:t> 	</a:t>
            </a:r>
            <a:r>
              <a:rPr lang="en-US" altLang="zh-CN" sz="2800" b="1" dirty="0">
                <a:solidFill>
                  <a:srgbClr val="007434"/>
                </a:solidFill>
                <a:latin typeface="Courier New" pitchFamily="49" charset="0"/>
                <a:cs typeface="Courier New" pitchFamily="49" charset="0"/>
              </a:rPr>
              <a:t>//</a:t>
            </a:r>
            <a:r>
              <a:rPr lang="zh-CN" altLang="en-US" sz="2800" b="1" dirty="0">
                <a:solidFill>
                  <a:srgbClr val="007434"/>
                </a:solidFill>
                <a:latin typeface="Courier New" pitchFamily="49" charset="0"/>
                <a:cs typeface="Courier New" pitchFamily="49" charset="0"/>
              </a:rPr>
              <a:t>右值引用，不是引用的引用</a:t>
            </a:r>
          </a:p>
          <a:p>
            <a:pPr algn="just">
              <a:lnSpc>
                <a:spcPct val="110000"/>
              </a:lnSpc>
              <a:buNone/>
            </a:pPr>
            <a:r>
              <a:rPr lang="zh-CN" altLang="en-US"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a:t>
            </a:r>
            <a:r>
              <a:rPr lang="en-US" altLang="zh-CN" sz="2800" b="1" dirty="0" err="1">
                <a:latin typeface="Courier New" pitchFamily="49" charset="0"/>
                <a:cs typeface="Courier New" pitchFamily="49" charset="0"/>
              </a:rPr>
              <a:t>refa</a:t>
            </a:r>
            <a:r>
              <a:rPr lang="en-US" altLang="zh-CN" sz="2800" b="1" dirty="0">
                <a:latin typeface="Courier New" pitchFamily="49" charset="0"/>
                <a:cs typeface="Courier New" pitchFamily="49" charset="0"/>
              </a:rPr>
              <a:t>[10];</a:t>
            </a:r>
          </a:p>
          <a:p>
            <a:pPr algn="just">
              <a:lnSpc>
                <a:spcPct val="110000"/>
              </a:lnSpc>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7434"/>
                </a:solidFill>
                <a:latin typeface="Courier New" pitchFamily="49" charset="0"/>
                <a:cs typeface="Courier New" pitchFamily="49" charset="0"/>
              </a:rPr>
              <a:t>//ERR! </a:t>
            </a:r>
            <a:r>
              <a:rPr lang="zh-CN" altLang="en-US" sz="2800" b="1" dirty="0">
                <a:solidFill>
                  <a:srgbClr val="007434"/>
                </a:solidFill>
                <a:latin typeface="Courier New" pitchFamily="49" charset="0"/>
                <a:cs typeface="Courier New" pitchFamily="49" charset="0"/>
              </a:rPr>
              <a:t>不能出现元素为引用的数组</a:t>
            </a:r>
          </a:p>
          <a:p>
            <a:pPr algn="just">
              <a:lnSpc>
                <a:spcPct val="110000"/>
              </a:lnSpc>
              <a:buNone/>
            </a:pPr>
            <a:r>
              <a:rPr lang="zh-CN" altLang="en-US"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a:t>
            </a:r>
            <a:r>
              <a:rPr lang="en-US" altLang="zh-CN" sz="2800" b="1" dirty="0" err="1">
                <a:latin typeface="Courier New" pitchFamily="49" charset="0"/>
                <a:cs typeface="Courier New" pitchFamily="49" charset="0"/>
              </a:rPr>
              <a:t>refp</a:t>
            </a:r>
            <a:r>
              <a:rPr lang="en-US" altLang="zh-CN" sz="2800" b="1" dirty="0">
                <a:latin typeface="Courier New" pitchFamily="49" charset="0"/>
                <a:cs typeface="Courier New" pitchFamily="49" charset="0"/>
              </a:rPr>
              <a:t>;</a:t>
            </a:r>
            <a:r>
              <a:rPr lang="en-US" altLang="zh-CN" sz="2800" b="1" dirty="0">
                <a:solidFill>
                  <a:schemeClr val="tx2"/>
                </a:solidFill>
                <a:latin typeface="Courier New" pitchFamily="49" charset="0"/>
                <a:cs typeface="Courier New" pitchFamily="49" charset="0"/>
              </a:rPr>
              <a:t>	</a:t>
            </a:r>
            <a:r>
              <a:rPr lang="en-US" altLang="zh-CN" sz="2800" b="1" dirty="0">
                <a:solidFill>
                  <a:srgbClr val="007434"/>
                </a:solidFill>
                <a:latin typeface="Courier New" pitchFamily="49" charset="0"/>
                <a:cs typeface="Courier New" pitchFamily="49" charset="0"/>
              </a:rPr>
              <a:t>//ERR! </a:t>
            </a:r>
            <a:r>
              <a:rPr lang="zh-CN" altLang="en-US" sz="2800" b="1" dirty="0">
                <a:solidFill>
                  <a:srgbClr val="007434"/>
                </a:solidFill>
                <a:latin typeface="Courier New" pitchFamily="49" charset="0"/>
                <a:cs typeface="Courier New" pitchFamily="49" charset="0"/>
              </a:rPr>
              <a:t>不能使用指向引用的指针</a:t>
            </a:r>
          </a:p>
          <a:p>
            <a:pPr algn="just">
              <a:lnSpc>
                <a:spcPct val="110000"/>
              </a:lnSpc>
              <a:buNone/>
            </a:pPr>
            <a:r>
              <a:rPr lang="zh-CN" altLang="en-US"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*pi, *&amp;</a:t>
            </a:r>
            <a:r>
              <a:rPr lang="en-US" altLang="zh-CN" sz="2800" b="1" dirty="0" err="1">
                <a:latin typeface="Courier New" pitchFamily="49" charset="0"/>
                <a:cs typeface="Courier New" pitchFamily="49" charset="0"/>
              </a:rPr>
              <a:t>pref</a:t>
            </a:r>
            <a:r>
              <a:rPr lang="en-US" altLang="zh-CN" sz="2800" b="1" dirty="0">
                <a:latin typeface="Courier New" pitchFamily="49" charset="0"/>
                <a:cs typeface="Courier New" pitchFamily="49" charset="0"/>
              </a:rPr>
              <a:t>=pi;</a:t>
            </a:r>
          </a:p>
          <a:p>
            <a:pPr algn="just">
              <a:lnSpc>
                <a:spcPct val="110000"/>
              </a:lnSpc>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7434"/>
                </a:solidFill>
                <a:latin typeface="Courier New" pitchFamily="49" charset="0"/>
                <a:cs typeface="Courier New" pitchFamily="49" charset="0"/>
              </a:rPr>
              <a:t>/*OK! </a:t>
            </a:r>
            <a:r>
              <a:rPr lang="zh-CN" altLang="en-US" sz="2800" b="1" dirty="0">
                <a:solidFill>
                  <a:srgbClr val="007434"/>
                </a:solidFill>
                <a:latin typeface="Courier New" pitchFamily="49" charset="0"/>
                <a:cs typeface="Courier New" pitchFamily="49" charset="0"/>
              </a:rPr>
              <a:t>可以说明对指针的引用，将引用</a:t>
            </a:r>
            <a:r>
              <a:rPr lang="en-US" altLang="zh-CN" sz="2800" b="1" dirty="0" err="1">
                <a:solidFill>
                  <a:srgbClr val="007434"/>
                </a:solidFill>
                <a:latin typeface="Courier New" pitchFamily="49" charset="0"/>
                <a:cs typeface="Courier New" pitchFamily="49" charset="0"/>
              </a:rPr>
              <a:t>pref</a:t>
            </a:r>
            <a:r>
              <a:rPr lang="zh-CN" altLang="en-US" sz="2800" b="1" dirty="0">
                <a:solidFill>
                  <a:srgbClr val="007434"/>
                </a:solidFill>
                <a:latin typeface="Courier New" pitchFamily="49" charset="0"/>
                <a:cs typeface="Courier New" pitchFamily="49" charset="0"/>
              </a:rPr>
              <a:t>与</a:t>
            </a:r>
            <a:r>
              <a:rPr lang="en-US" altLang="zh-CN" sz="2800" b="1" dirty="0" err="1">
                <a:solidFill>
                  <a:srgbClr val="007434"/>
                </a:solidFill>
                <a:latin typeface="Courier New" pitchFamily="49" charset="0"/>
                <a:cs typeface="Courier New" pitchFamily="49" charset="0"/>
              </a:rPr>
              <a:t>int</a:t>
            </a:r>
            <a:r>
              <a:rPr lang="en-US" altLang="zh-CN" sz="2800" b="1" dirty="0">
                <a:solidFill>
                  <a:srgbClr val="007434"/>
                </a:solidFill>
                <a:latin typeface="Courier New" pitchFamily="49" charset="0"/>
                <a:cs typeface="Courier New" pitchFamily="49" charset="0"/>
              </a:rPr>
              <a:t>*</a:t>
            </a:r>
            <a:r>
              <a:rPr lang="zh-CN" altLang="en-US" sz="2800" b="1" dirty="0">
                <a:solidFill>
                  <a:srgbClr val="007434"/>
                </a:solidFill>
                <a:latin typeface="Courier New" pitchFamily="49" charset="0"/>
                <a:cs typeface="Courier New" pitchFamily="49" charset="0"/>
              </a:rPr>
              <a:t>类型的指针变量</a:t>
            </a:r>
            <a:r>
              <a:rPr lang="en-US" altLang="zh-CN" sz="2800" b="1" dirty="0">
                <a:solidFill>
                  <a:srgbClr val="007434"/>
                </a:solidFill>
                <a:latin typeface="Courier New" pitchFamily="49" charset="0"/>
                <a:cs typeface="Courier New" pitchFamily="49" charset="0"/>
              </a:rPr>
              <a:t>pi</a:t>
            </a:r>
            <a:r>
              <a:rPr lang="zh-CN" altLang="en-US" sz="2800" b="1" dirty="0">
                <a:solidFill>
                  <a:srgbClr val="007434"/>
                </a:solidFill>
                <a:latin typeface="Courier New" pitchFamily="49" charset="0"/>
                <a:cs typeface="Courier New" pitchFamily="49" charset="0"/>
              </a:rPr>
              <a:t>进行了绑定</a:t>
            </a:r>
            <a:r>
              <a:rPr lang="en-US" altLang="zh-CN" sz="2800" b="1" dirty="0">
                <a:solidFill>
                  <a:srgbClr val="007434"/>
                </a:solidFill>
                <a:latin typeface="Courier New" pitchFamily="49" charset="0"/>
                <a:cs typeface="Courier New" pitchFamily="49" charset="0"/>
              </a:rPr>
              <a:t>*/</a:t>
            </a:r>
            <a:endParaRPr lang="zh-CN" altLang="en-US" sz="2800" b="1" dirty="0">
              <a:solidFill>
                <a:srgbClr val="007434"/>
              </a:solidFill>
              <a:latin typeface="Courier New" pitchFamily="49" charset="0"/>
              <a:cs typeface="Courier New" pitchFamily="49" charset="0"/>
            </a:endParaRPr>
          </a:p>
        </p:txBody>
      </p:sp>
      <p:sp>
        <p:nvSpPr>
          <p:cNvPr id="15" name="矩形 14">
            <a:hlinkClick r:id="rId2" action="ppaction://hlinksldjump"/>
            <a:extLst>
              <a:ext uri="{FF2B5EF4-FFF2-40B4-BE49-F238E27FC236}">
                <a16:creationId xmlns:a16="http://schemas.microsoft.com/office/drawing/2014/main" id="{28B15BC2-1FA1-47D8-86D9-EA5D78C5977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FD4A6122-C719-4D42-8ED8-F245A2A8F6A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3D3479D3-7E8F-4FDE-8C2D-638B1A6F8FE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E967F0A8-93B0-44EF-8B68-40FEF9F4692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19" name="矩形 18">
            <a:hlinkClick r:id="" action="ppaction://noaction"/>
            <a:extLst>
              <a:ext uri="{FF2B5EF4-FFF2-40B4-BE49-F238E27FC236}">
                <a16:creationId xmlns:a16="http://schemas.microsoft.com/office/drawing/2014/main" id="{4E9712C4-5C8D-40B9-9ECA-D4634501DCD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20" name="矩形 19">
            <a:hlinkClick r:id="" action="ppaction://noaction"/>
            <a:extLst>
              <a:ext uri="{FF2B5EF4-FFF2-40B4-BE49-F238E27FC236}">
                <a16:creationId xmlns:a16="http://schemas.microsoft.com/office/drawing/2014/main" id="{45E9ED76-6FE4-4879-BFBF-DF94016D1A0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CE9AD755-3B6C-464B-BD2F-150DEA378DD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907433B9-3945-47C8-A04E-622EFE5DA1A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319585640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6.17】</a:t>
            </a:r>
            <a:r>
              <a:rPr lang="zh-CN" altLang="en-US" dirty="0">
                <a:solidFill>
                  <a:srgbClr val="C00000"/>
                </a:solidFill>
              </a:rPr>
              <a:t>引用的建立及简单使用</a:t>
            </a:r>
            <a:endParaRPr lang="en-US" altLang="zh-CN" dirty="0">
              <a:solidFill>
                <a:srgbClr val="C00000"/>
              </a:solidFill>
            </a:endParaRPr>
          </a:p>
          <a:p>
            <a:pPr algn="just">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&lt;iostream&gt;</a:t>
            </a:r>
          </a:p>
          <a:p>
            <a:pPr algn="just">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=a;  </a:t>
            </a: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为引用，它是变量</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的“别名”</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*pa=&amp;a;</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&lt;&lt;"&amp;a ="&lt;&lt;&amp;a&lt;&lt;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为独立变量，具有独立地址</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&lt;&lt;"&amp;</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="&lt;&lt;&amp;</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是</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的“别名”，不具有独立地址</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&lt;&lt;"&amp;pa="&lt;&lt;&amp;pa&lt;&lt;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//pa</a:t>
            </a:r>
            <a:r>
              <a:rPr lang="zh-CN" altLang="en-US" sz="2400" b="1" dirty="0">
                <a:solidFill>
                  <a:srgbClr val="007434"/>
                </a:solidFill>
                <a:latin typeface="Courier New" pitchFamily="49" charset="0"/>
                <a:cs typeface="Courier New" pitchFamily="49" charset="0"/>
              </a:rPr>
              <a:t>为独立变量，具有独立地址</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a=123;</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对</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赋值123后，使</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及*</a:t>
            </a:r>
            <a:r>
              <a:rPr lang="en-US" altLang="zh-CN" sz="2400" b="1" dirty="0">
                <a:solidFill>
                  <a:srgbClr val="007434"/>
                </a:solidFill>
                <a:latin typeface="Courier New" pitchFamily="49" charset="0"/>
                <a:cs typeface="Courier New" pitchFamily="49" charset="0"/>
              </a:rPr>
              <a:t>pa</a:t>
            </a:r>
            <a:r>
              <a:rPr lang="zh-CN" altLang="en-US" sz="2400" b="1" dirty="0">
                <a:solidFill>
                  <a:srgbClr val="007434"/>
                </a:solidFill>
                <a:latin typeface="Courier New" pitchFamily="49" charset="0"/>
                <a:cs typeface="Courier New" pitchFamily="49" charset="0"/>
              </a:rPr>
              <a:t>的值都成为123</a:t>
            </a:r>
            <a:r>
              <a:rPr lang="zh-CN" altLang="en-US" sz="2400" dirty="0">
                <a:solidFill>
                  <a:srgbClr val="0000FF"/>
                </a:solidFill>
                <a:latin typeface="Courier New" pitchFamily="49" charset="0"/>
                <a:cs typeface="Courier New" pitchFamily="49" charset="0"/>
              </a:rPr>
              <a:t>	</a:t>
            </a:r>
            <a:endParaRPr lang="zh-CN" altLang="en-US" dirty="0"/>
          </a:p>
        </p:txBody>
      </p:sp>
      <p:sp>
        <p:nvSpPr>
          <p:cNvPr id="13" name="矩形 12">
            <a:hlinkClick r:id="rId2" action="ppaction://hlinksldjump"/>
            <a:extLst>
              <a:ext uri="{FF2B5EF4-FFF2-40B4-BE49-F238E27FC236}">
                <a16:creationId xmlns:a16="http://schemas.microsoft.com/office/drawing/2014/main" id="{39A5E9E1-DDD0-49D3-B59C-8EAAD06DC75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6DA0E9DF-CA4C-4396-842B-76336E6C2B6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221AC6A9-635A-4286-9F4F-435EF669849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E9118B32-869F-423A-9D92-F923680790A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17" name="矩形 16">
            <a:hlinkClick r:id="" action="ppaction://noaction"/>
            <a:extLst>
              <a:ext uri="{FF2B5EF4-FFF2-40B4-BE49-F238E27FC236}">
                <a16:creationId xmlns:a16="http://schemas.microsoft.com/office/drawing/2014/main" id="{5AF0A6E3-538F-46EE-BBF9-DB868891C17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18" name="矩形 17">
            <a:hlinkClick r:id="" action="ppaction://noaction"/>
            <a:extLst>
              <a:ext uri="{FF2B5EF4-FFF2-40B4-BE49-F238E27FC236}">
                <a16:creationId xmlns:a16="http://schemas.microsoft.com/office/drawing/2014/main" id="{85253724-A983-4258-88B6-02B76ED6FFE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468E1D3B-2619-4530-BD63-F74BB40CA37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E95D49B2-AC05-434C-B420-42FCEED3939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318287604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&lt;&lt;"a="&lt;&lt;a&lt;&lt;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&lt;&lt;"*pa="&lt;&lt;*pa&lt;&lt;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pa=456;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对*</a:t>
            </a:r>
            <a:r>
              <a:rPr lang="en-US" altLang="zh-CN" sz="2400" b="1" dirty="0">
                <a:solidFill>
                  <a:srgbClr val="007434"/>
                </a:solidFill>
                <a:latin typeface="Courier New" pitchFamily="49" charset="0"/>
                <a:cs typeface="Courier New" pitchFamily="49" charset="0"/>
              </a:rPr>
              <a:t>pa</a:t>
            </a:r>
            <a:r>
              <a:rPr lang="zh-CN" altLang="en-US" sz="2400" b="1" dirty="0">
                <a:solidFill>
                  <a:srgbClr val="007434"/>
                </a:solidFill>
                <a:latin typeface="Courier New" pitchFamily="49" charset="0"/>
                <a:cs typeface="Courier New" pitchFamily="49" charset="0"/>
              </a:rPr>
              <a:t>赋值456后，使</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及</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的值都成为456</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&lt;&lt;"a="&lt;&lt;a&lt;&lt;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&lt;&lt;"*pa="&lt;&lt;*pa&lt;&lt;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=789;</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对</a:t>
            </a:r>
            <a:r>
              <a:rPr lang="en-US" altLang="zh-CN" sz="2400" b="1" dirty="0" err="1">
                <a:solidFill>
                  <a:srgbClr val="007434"/>
                </a:solidFill>
                <a:latin typeface="Courier New" pitchFamily="49" charset="0"/>
                <a:cs typeface="Courier New" pitchFamily="49" charset="0"/>
              </a:rPr>
              <a:t>ra</a:t>
            </a:r>
            <a:r>
              <a:rPr lang="zh-CN" altLang="en-US" sz="2400" b="1" dirty="0">
                <a:solidFill>
                  <a:srgbClr val="007434"/>
                </a:solidFill>
                <a:latin typeface="Courier New" pitchFamily="49" charset="0"/>
                <a:cs typeface="Courier New" pitchFamily="49" charset="0"/>
              </a:rPr>
              <a:t>赋值789后，使</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及*</a:t>
            </a:r>
            <a:r>
              <a:rPr lang="en-US" altLang="zh-CN" sz="2400" b="1" dirty="0">
                <a:solidFill>
                  <a:srgbClr val="007434"/>
                </a:solidFill>
                <a:latin typeface="Courier New" pitchFamily="49" charset="0"/>
                <a:cs typeface="Courier New" pitchFamily="49" charset="0"/>
              </a:rPr>
              <a:t>pa</a:t>
            </a:r>
            <a:r>
              <a:rPr lang="zh-CN" altLang="en-US" sz="2400" b="1" dirty="0">
                <a:solidFill>
                  <a:srgbClr val="007434"/>
                </a:solidFill>
                <a:latin typeface="Courier New" pitchFamily="49" charset="0"/>
                <a:cs typeface="Courier New" pitchFamily="49" charset="0"/>
              </a:rPr>
              <a:t>的值都成为789</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&lt;&lt;"a="&lt;&lt;a&lt;&lt;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&lt;&lt;"*pa="&lt;&lt;*pa&lt;&lt;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20" name="矩形 19">
            <a:hlinkClick r:id="rId2" action="ppaction://hlinksldjump"/>
            <a:extLst>
              <a:ext uri="{FF2B5EF4-FFF2-40B4-BE49-F238E27FC236}">
                <a16:creationId xmlns:a16="http://schemas.microsoft.com/office/drawing/2014/main" id="{10388804-350D-4094-B715-4BD4D79AE0F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20883C84-C040-43F0-9D30-52BB07CCE98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0548C2BD-678F-4D7E-91A0-A24BFB96F84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18689F93-7916-4D2A-9D65-DA353DED2AA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24" name="矩形 23">
            <a:hlinkClick r:id="" action="ppaction://noaction"/>
            <a:extLst>
              <a:ext uri="{FF2B5EF4-FFF2-40B4-BE49-F238E27FC236}">
                <a16:creationId xmlns:a16="http://schemas.microsoft.com/office/drawing/2014/main" id="{AACC9722-9B02-4DF5-91F6-419E00FA322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25" name="矩形 24">
            <a:hlinkClick r:id="" action="ppaction://noaction"/>
            <a:extLst>
              <a:ext uri="{FF2B5EF4-FFF2-40B4-BE49-F238E27FC236}">
                <a16:creationId xmlns:a16="http://schemas.microsoft.com/office/drawing/2014/main" id="{01AB96A6-0EBA-4614-AF70-AB52E2207CA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6" name="矩形 25">
            <a:hlinkClick r:id="" action="ppaction://noaction"/>
            <a:extLst>
              <a:ext uri="{FF2B5EF4-FFF2-40B4-BE49-F238E27FC236}">
                <a16:creationId xmlns:a16="http://schemas.microsoft.com/office/drawing/2014/main" id="{91EEBC23-220C-4A0A-9918-297CEEB9E4B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7" name="矩形 26">
            <a:hlinkClick r:id="" action="ppaction://noaction"/>
            <a:extLst>
              <a:ext uri="{FF2B5EF4-FFF2-40B4-BE49-F238E27FC236}">
                <a16:creationId xmlns:a16="http://schemas.microsoft.com/office/drawing/2014/main" id="{FEC275E8-B073-4FFF-B231-7BD73FF6070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122122577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lgn="just">
              <a:spcBef>
                <a:spcPts val="0"/>
              </a:spcBef>
              <a:buNone/>
            </a:pPr>
            <a:r>
              <a:rPr lang="zh-CN" altLang="en-US" sz="2400" b="1" dirty="0">
                <a:latin typeface="Courier New" pitchFamily="49" charset="0"/>
                <a:cs typeface="Courier New" pitchFamily="49" charset="0"/>
              </a:rPr>
              <a:t>&amp;</a:t>
            </a:r>
            <a:r>
              <a:rPr lang="en-US" altLang="zh-CN" sz="2400" b="1" dirty="0">
                <a:latin typeface="Courier New" pitchFamily="49" charset="0"/>
                <a:cs typeface="Courier New" pitchFamily="49" charset="0"/>
              </a:rPr>
              <a:t>a =0065FDF4</a:t>
            </a:r>
          </a:p>
          <a:p>
            <a:pPr algn="just">
              <a:spcBef>
                <a:spcPts val="0"/>
              </a:spcBef>
              <a:buNone/>
            </a:pPr>
            <a:r>
              <a:rPr lang="en-US" altLang="zh-CN" sz="2400" b="1" dirty="0">
                <a:latin typeface="Courier New" pitchFamily="49" charset="0"/>
                <a:cs typeface="Courier New" pitchFamily="49" charset="0"/>
              </a:rPr>
              <a:t>&amp;ra=0065FDF4</a:t>
            </a:r>
          </a:p>
          <a:p>
            <a:pPr algn="just">
              <a:spcBef>
                <a:spcPts val="0"/>
              </a:spcBef>
              <a:buNone/>
            </a:pPr>
            <a:r>
              <a:rPr lang="en-US" altLang="zh-CN" sz="2400" b="1" dirty="0">
                <a:latin typeface="Courier New" pitchFamily="49" charset="0"/>
                <a:cs typeface="Courier New" pitchFamily="49" charset="0"/>
              </a:rPr>
              <a:t>&amp;pa=0065FDF0</a:t>
            </a:r>
          </a:p>
          <a:p>
            <a:pPr algn="just">
              <a:spcBef>
                <a:spcPts val="0"/>
              </a:spcBef>
              <a:buNone/>
            </a:pPr>
            <a:r>
              <a:rPr lang="en-US" altLang="zh-CN" sz="2400" b="1" dirty="0">
                <a:latin typeface="Courier New" pitchFamily="49" charset="0"/>
                <a:cs typeface="Courier New" pitchFamily="49" charset="0"/>
              </a:rPr>
              <a:t>a=123</a:t>
            </a:r>
          </a:p>
          <a:p>
            <a:pPr algn="just">
              <a:spcBef>
                <a:spcPts val="0"/>
              </a:spcBef>
              <a:buNone/>
            </a:pPr>
            <a:r>
              <a:rPr lang="en-US" altLang="zh-CN" sz="2400" b="1" dirty="0">
                <a:latin typeface="Courier New" pitchFamily="49" charset="0"/>
                <a:cs typeface="Courier New" pitchFamily="49" charset="0"/>
              </a:rPr>
              <a:t>*pa=123</a:t>
            </a:r>
          </a:p>
          <a:p>
            <a:pPr algn="just">
              <a:spcBef>
                <a:spcPts val="0"/>
              </a:spcBef>
              <a:buNone/>
            </a:pP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=123</a:t>
            </a:r>
          </a:p>
          <a:p>
            <a:pPr algn="just">
              <a:spcBef>
                <a:spcPts val="0"/>
              </a:spcBef>
              <a:buNone/>
            </a:pPr>
            <a:r>
              <a:rPr lang="en-US" altLang="zh-CN" sz="2400" b="1" dirty="0">
                <a:latin typeface="Courier New" pitchFamily="49" charset="0"/>
                <a:cs typeface="Courier New" pitchFamily="49" charset="0"/>
              </a:rPr>
              <a:t>a=456</a:t>
            </a:r>
          </a:p>
          <a:p>
            <a:pPr algn="just">
              <a:spcBef>
                <a:spcPts val="0"/>
              </a:spcBef>
              <a:buNone/>
            </a:pPr>
            <a:r>
              <a:rPr lang="en-US" altLang="zh-CN" sz="2400" b="1" dirty="0">
                <a:latin typeface="Courier New" pitchFamily="49" charset="0"/>
                <a:cs typeface="Courier New" pitchFamily="49" charset="0"/>
              </a:rPr>
              <a:t>*pa=456</a:t>
            </a:r>
          </a:p>
          <a:p>
            <a:pPr algn="just">
              <a:spcBef>
                <a:spcPts val="0"/>
              </a:spcBef>
              <a:buNone/>
            </a:pP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=456</a:t>
            </a:r>
          </a:p>
          <a:p>
            <a:pPr algn="just">
              <a:spcBef>
                <a:spcPts val="0"/>
              </a:spcBef>
              <a:buNone/>
            </a:pPr>
            <a:r>
              <a:rPr lang="en-US" altLang="zh-CN" sz="2400" b="1" dirty="0">
                <a:latin typeface="Courier New" pitchFamily="49" charset="0"/>
                <a:cs typeface="Courier New" pitchFamily="49" charset="0"/>
              </a:rPr>
              <a:t>a=789</a:t>
            </a:r>
          </a:p>
          <a:p>
            <a:pPr algn="just">
              <a:spcBef>
                <a:spcPts val="0"/>
              </a:spcBef>
              <a:buNone/>
            </a:pPr>
            <a:r>
              <a:rPr lang="en-US" altLang="zh-CN" sz="2400" b="1" dirty="0">
                <a:latin typeface="Courier New" pitchFamily="49" charset="0"/>
                <a:cs typeface="Courier New" pitchFamily="49" charset="0"/>
              </a:rPr>
              <a:t>*pa=789</a:t>
            </a:r>
          </a:p>
          <a:p>
            <a:pPr algn="just">
              <a:spcBef>
                <a:spcPts val="0"/>
              </a:spcBef>
              <a:buNone/>
            </a:pPr>
            <a:r>
              <a:rPr lang="en-US" altLang="zh-CN" sz="2400" b="1" dirty="0" err="1">
                <a:latin typeface="Courier New" pitchFamily="49" charset="0"/>
                <a:cs typeface="Courier New" pitchFamily="49" charset="0"/>
              </a:rPr>
              <a:t>ra</a:t>
            </a:r>
            <a:r>
              <a:rPr lang="en-US" altLang="zh-CN" sz="2400" b="1" dirty="0">
                <a:latin typeface="Courier New" pitchFamily="49" charset="0"/>
                <a:cs typeface="Courier New" pitchFamily="49" charset="0"/>
              </a:rPr>
              <a:t>=789</a:t>
            </a:r>
            <a:endParaRPr lang="zh-CN" altLang="en-US" sz="2400" b="1" dirty="0">
              <a:latin typeface="Courier New" pitchFamily="49" charset="0"/>
              <a:cs typeface="Courier New" pitchFamily="49" charset="0"/>
            </a:endParaRPr>
          </a:p>
        </p:txBody>
      </p:sp>
      <p:sp>
        <p:nvSpPr>
          <p:cNvPr id="20" name="矩形 19">
            <a:hlinkClick r:id="rId2" action="ppaction://hlinksldjump"/>
            <a:extLst>
              <a:ext uri="{FF2B5EF4-FFF2-40B4-BE49-F238E27FC236}">
                <a16:creationId xmlns:a16="http://schemas.microsoft.com/office/drawing/2014/main" id="{5752EFDB-DD15-4D98-858A-3D866C7C359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50A696A7-DDCB-43D2-ADE2-D8E5EFA2DE9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D91D2F3F-D7CD-409F-957B-4B9D81E2064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52E3B8C8-2A23-4017-8ACD-F3C8CDAB467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24" name="矩形 23">
            <a:hlinkClick r:id="" action="ppaction://noaction"/>
            <a:extLst>
              <a:ext uri="{FF2B5EF4-FFF2-40B4-BE49-F238E27FC236}">
                <a16:creationId xmlns:a16="http://schemas.microsoft.com/office/drawing/2014/main" id="{04D50463-D03B-4746-9208-0D13E2263C2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25" name="矩形 24">
            <a:hlinkClick r:id="" action="ppaction://noaction"/>
            <a:extLst>
              <a:ext uri="{FF2B5EF4-FFF2-40B4-BE49-F238E27FC236}">
                <a16:creationId xmlns:a16="http://schemas.microsoft.com/office/drawing/2014/main" id="{F2F0205C-DA29-47DA-9DBB-C2F8A203780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6" name="矩形 25">
            <a:hlinkClick r:id="" action="ppaction://noaction"/>
            <a:extLst>
              <a:ext uri="{FF2B5EF4-FFF2-40B4-BE49-F238E27FC236}">
                <a16:creationId xmlns:a16="http://schemas.microsoft.com/office/drawing/2014/main" id="{DD16BE6B-C293-487A-9710-E4D58751A74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7" name="矩形 26">
            <a:hlinkClick r:id="" action="ppaction://noaction"/>
            <a:extLst>
              <a:ext uri="{FF2B5EF4-FFF2-40B4-BE49-F238E27FC236}">
                <a16:creationId xmlns:a16="http://schemas.microsoft.com/office/drawing/2014/main" id="{F6CB2419-6BA0-4171-92D6-3AE55C65DB2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398713900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B5A1182-1667-4E7B-966B-2C8FDFE79654}"/>
              </a:ext>
            </a:extLst>
          </p:cNvPr>
          <p:cNvSpPr>
            <a:spLocks noGrp="1"/>
          </p:cNvSpPr>
          <p:nvPr>
            <p:ph idx="1"/>
          </p:nvPr>
        </p:nvSpPr>
        <p:spPr/>
        <p:txBody>
          <a:bodyPr/>
          <a:lstStyle/>
          <a:p>
            <a:r>
              <a:rPr lang="zh-CN" altLang="en-US" dirty="0"/>
              <a:t>右值一般是指临时值，不能作为“左值”的值</a:t>
            </a:r>
            <a:endParaRPr lang="en-US" altLang="zh-CN" dirty="0"/>
          </a:p>
          <a:p>
            <a:pPr lvl="1"/>
            <a:r>
              <a:rPr lang="zh-CN" altLang="en-US" dirty="0"/>
              <a:t>字面值常量</a:t>
            </a:r>
            <a:endParaRPr lang="en-US" altLang="zh-CN" dirty="0"/>
          </a:p>
          <a:p>
            <a:pPr lvl="1"/>
            <a:r>
              <a:rPr lang="zh-CN" altLang="en-US" dirty="0"/>
              <a:t>返回类型非引用的函数调用表达式</a:t>
            </a:r>
            <a:endParaRPr lang="en-US" altLang="zh-CN" dirty="0"/>
          </a:p>
          <a:p>
            <a:pPr lvl="1"/>
            <a:r>
              <a:rPr lang="zh-CN" altLang="en-US" dirty="0"/>
              <a:t>算术运算、关系运算等其它运算表达式</a:t>
            </a:r>
            <a:endParaRPr lang="en-US" altLang="zh-CN" dirty="0"/>
          </a:p>
          <a:p>
            <a:pPr lvl="1"/>
            <a:endParaRPr lang="en-US" altLang="zh-CN" dirty="0"/>
          </a:p>
          <a:p>
            <a:pPr lvl="1"/>
            <a:endParaRPr lang="en-US" altLang="zh-CN" dirty="0"/>
          </a:p>
          <a:p>
            <a:endParaRPr lang="en-US" altLang="zh-CN" dirty="0"/>
          </a:p>
          <a:p>
            <a:r>
              <a:rPr lang="zh-CN" altLang="en-US" dirty="0"/>
              <a:t>右值无法寻址，在相关语句完成后，存储右值临时值的内存被立即收回</a:t>
            </a:r>
          </a:p>
        </p:txBody>
      </p:sp>
      <p:sp>
        <p:nvSpPr>
          <p:cNvPr id="3" name="标题 2">
            <a:extLst>
              <a:ext uri="{FF2B5EF4-FFF2-40B4-BE49-F238E27FC236}">
                <a16:creationId xmlns:a16="http://schemas.microsoft.com/office/drawing/2014/main" id="{2D70ED6A-392D-4A1D-A065-369F63AFD5CE}"/>
              </a:ext>
            </a:extLst>
          </p:cNvPr>
          <p:cNvSpPr>
            <a:spLocks noGrp="1"/>
          </p:cNvSpPr>
          <p:nvPr>
            <p:ph type="title"/>
          </p:nvPr>
        </p:nvSpPr>
        <p:spPr/>
        <p:txBody>
          <a:bodyPr/>
          <a:lstStyle/>
          <a:p>
            <a:r>
              <a:rPr lang="zh-CN" altLang="en-US"/>
              <a:t>右值引用</a:t>
            </a:r>
          </a:p>
        </p:txBody>
      </p:sp>
      <p:sp>
        <p:nvSpPr>
          <p:cNvPr id="4" name="文本框 3">
            <a:extLst>
              <a:ext uri="{FF2B5EF4-FFF2-40B4-BE49-F238E27FC236}">
                <a16:creationId xmlns:a16="http://schemas.microsoft.com/office/drawing/2014/main" id="{58065B83-BBAB-4C6B-B480-58802D821803}"/>
              </a:ext>
            </a:extLst>
          </p:cNvPr>
          <p:cNvSpPr txBox="1"/>
          <p:nvPr/>
        </p:nvSpPr>
        <p:spPr>
          <a:xfrm>
            <a:off x="2251588" y="3952567"/>
            <a:ext cx="4060722" cy="1015663"/>
          </a:xfrm>
          <a:prstGeom prst="rect">
            <a:avLst/>
          </a:prstGeom>
          <a:noFill/>
        </p:spPr>
        <p:txBody>
          <a:bodyPr wrap="square" rtlCol="0">
            <a:spAutoFit/>
          </a:bodyPr>
          <a:lstStyle/>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 = 1, b=2;</a:t>
            </a: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c = std::abs(a-b);</a:t>
            </a: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d = </a:t>
            </a:r>
            <a:r>
              <a:rPr lang="en-US" altLang="zh-CN" sz="2000" b="1" dirty="0" err="1">
                <a:latin typeface="Courier New" panose="02070309020205020404" pitchFamily="49" charset="0"/>
                <a:cs typeface="Courier New" panose="02070309020205020404" pitchFamily="49" charset="0"/>
              </a:rPr>
              <a:t>a+b</a:t>
            </a: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7" name="矩形 6">
            <a:hlinkClick r:id="rId2" action="ppaction://hlinksldjump"/>
            <a:extLst>
              <a:ext uri="{FF2B5EF4-FFF2-40B4-BE49-F238E27FC236}">
                <a16:creationId xmlns:a16="http://schemas.microsoft.com/office/drawing/2014/main" id="{CB187DAF-DB92-46C4-895B-CFC4AB9FEF8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8" name="矩形 7">
            <a:hlinkClick r:id="" action="ppaction://noaction"/>
            <a:extLst>
              <a:ext uri="{FF2B5EF4-FFF2-40B4-BE49-F238E27FC236}">
                <a16:creationId xmlns:a16="http://schemas.microsoft.com/office/drawing/2014/main" id="{BAAEE115-E0D5-4977-AA0D-EF86F5F5CAA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 action="ppaction://noaction"/>
            <a:extLst>
              <a:ext uri="{FF2B5EF4-FFF2-40B4-BE49-F238E27FC236}">
                <a16:creationId xmlns:a16="http://schemas.microsoft.com/office/drawing/2014/main" id="{22740942-AC57-478F-A936-A430C054C72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2" name="矩形 11">
            <a:hlinkClick r:id="" action="ppaction://noaction"/>
            <a:extLst>
              <a:ext uri="{FF2B5EF4-FFF2-40B4-BE49-F238E27FC236}">
                <a16:creationId xmlns:a16="http://schemas.microsoft.com/office/drawing/2014/main" id="{AD48D072-90E5-47E9-99AF-C1F93D48A36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13" name="矩形 12">
            <a:hlinkClick r:id="" action="ppaction://noaction"/>
            <a:extLst>
              <a:ext uri="{FF2B5EF4-FFF2-40B4-BE49-F238E27FC236}">
                <a16:creationId xmlns:a16="http://schemas.microsoft.com/office/drawing/2014/main" id="{DFD27E83-7056-4C91-BB85-331F74987C5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14" name="矩形 13">
            <a:hlinkClick r:id="" action="ppaction://noaction"/>
            <a:extLst>
              <a:ext uri="{FF2B5EF4-FFF2-40B4-BE49-F238E27FC236}">
                <a16:creationId xmlns:a16="http://schemas.microsoft.com/office/drawing/2014/main" id="{29225C89-9E5B-48E1-8C74-1BE313B7615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7C99BCDF-D8E1-4019-A843-4C5B7C94DF04}"/>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3DF6C062-4496-472F-93D0-EF595C381AC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310728196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D40B27E-981E-479E-966B-D9EFEC092A6E}"/>
              </a:ext>
            </a:extLst>
          </p:cNvPr>
          <p:cNvSpPr>
            <a:spLocks noGrp="1"/>
          </p:cNvSpPr>
          <p:nvPr>
            <p:ph idx="1"/>
          </p:nvPr>
        </p:nvSpPr>
        <p:spPr/>
        <p:txBody>
          <a:bodyPr/>
          <a:lstStyle/>
          <a:p>
            <a:r>
              <a:rPr lang="zh-CN" altLang="en-US" dirty="0"/>
              <a:t>右值引用绑定一个右值表达式，可以延长所谓临时值的生存期</a:t>
            </a:r>
            <a:endParaRPr lang="en-US" altLang="zh-CN" dirty="0"/>
          </a:p>
          <a:p>
            <a:pPr lvl="1"/>
            <a:r>
              <a:rPr lang="zh-CN" altLang="en-US" dirty="0"/>
              <a:t>右值引用还在其作用域内，用于所谓右值（临时值）的内存就不会被回收</a:t>
            </a:r>
          </a:p>
        </p:txBody>
      </p:sp>
      <p:sp>
        <p:nvSpPr>
          <p:cNvPr id="3" name="标题 2">
            <a:extLst>
              <a:ext uri="{FF2B5EF4-FFF2-40B4-BE49-F238E27FC236}">
                <a16:creationId xmlns:a16="http://schemas.microsoft.com/office/drawing/2014/main" id="{AA85DD88-13D2-4FCA-A36C-D73A78A32A4B}"/>
              </a:ext>
            </a:extLst>
          </p:cNvPr>
          <p:cNvSpPr>
            <a:spLocks noGrp="1"/>
          </p:cNvSpPr>
          <p:nvPr>
            <p:ph type="title"/>
          </p:nvPr>
        </p:nvSpPr>
        <p:spPr/>
        <p:txBody>
          <a:bodyPr/>
          <a:lstStyle/>
          <a:p>
            <a:r>
              <a:rPr lang="zh-CN" altLang="en-US" dirty="0"/>
              <a:t>右值引用</a:t>
            </a:r>
          </a:p>
        </p:txBody>
      </p:sp>
      <p:sp>
        <p:nvSpPr>
          <p:cNvPr id="4" name="文本框 3">
            <a:extLst>
              <a:ext uri="{FF2B5EF4-FFF2-40B4-BE49-F238E27FC236}">
                <a16:creationId xmlns:a16="http://schemas.microsoft.com/office/drawing/2014/main" id="{FAAE9232-8DFB-4811-9B02-DB58D927AE65}"/>
              </a:ext>
            </a:extLst>
          </p:cNvPr>
          <p:cNvSpPr txBox="1"/>
          <p:nvPr/>
        </p:nvSpPr>
        <p:spPr>
          <a:xfrm>
            <a:off x="1238864" y="3814915"/>
            <a:ext cx="6764593" cy="1631216"/>
          </a:xfrm>
          <a:prstGeom prst="rect">
            <a:avLst/>
          </a:prstGeom>
          <a:noFill/>
        </p:spPr>
        <p:txBody>
          <a:bodyPr wrap="square" rtlCol="0">
            <a:spAutoFit/>
          </a:bodyPr>
          <a:lstStyle/>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count{5};</a:t>
            </a: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&amp;&amp;</a:t>
            </a:r>
            <a:r>
              <a:rPr lang="en-US" altLang="zh-CN" sz="2000" b="1" dirty="0" err="1">
                <a:latin typeface="Courier New" panose="02070309020205020404" pitchFamily="49" charset="0"/>
                <a:cs typeface="Courier New" panose="02070309020205020404" pitchFamily="49" charset="0"/>
              </a:rPr>
              <a:t>rtemp</a:t>
            </a:r>
            <a:r>
              <a:rPr lang="en-US" altLang="zh-CN" sz="2000" b="1" dirty="0">
                <a:latin typeface="Courier New" panose="02070309020205020404" pitchFamily="49" charset="0"/>
                <a:cs typeface="Courier New" panose="02070309020205020404" pitchFamily="49" charset="0"/>
              </a:rPr>
              <a:t> {count+3};</a:t>
            </a:r>
            <a:r>
              <a:rPr lang="en-US" altLang="zh-CN" sz="2000" b="1" dirty="0">
                <a:solidFill>
                  <a:srgbClr val="008000"/>
                </a:solidFill>
                <a:latin typeface="Courier New" panose="02070309020205020404" pitchFamily="49" charset="0"/>
                <a:cs typeface="Courier New" panose="02070309020205020404" pitchFamily="49" charset="0"/>
              </a:rPr>
              <a:t>//</a:t>
            </a:r>
            <a:r>
              <a:rPr lang="en-US" altLang="zh-CN" sz="2000" b="1" dirty="0" err="1">
                <a:solidFill>
                  <a:srgbClr val="008000"/>
                </a:solidFill>
                <a:latin typeface="Courier New" panose="02070309020205020404" pitchFamily="49" charset="0"/>
                <a:cs typeface="Courier New" panose="02070309020205020404" pitchFamily="49" charset="0"/>
              </a:rPr>
              <a:t>rtemp</a:t>
            </a:r>
            <a:r>
              <a:rPr lang="zh-CN" altLang="en-US" sz="2000" b="1" dirty="0">
                <a:solidFill>
                  <a:srgbClr val="008000"/>
                </a:solidFill>
                <a:latin typeface="Courier New" panose="02070309020205020404" pitchFamily="49" charset="0"/>
                <a:cs typeface="Courier New" panose="02070309020205020404" pitchFamily="49" charset="0"/>
              </a:rPr>
              <a:t>是右值引用</a:t>
            </a:r>
            <a:endParaRPr lang="en-US" altLang="zh-CN" sz="2000" b="1" dirty="0">
              <a:solidFill>
                <a:srgbClr val="008000"/>
              </a:solidFill>
              <a:latin typeface="Courier New" panose="02070309020205020404" pitchFamily="49" charset="0"/>
              <a:cs typeface="Courier New" panose="02070309020205020404" pitchFamily="49" charset="0"/>
            </a:endParaRPr>
          </a:p>
          <a:p>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rtemp</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p>
          <a:p>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&amp;</a:t>
            </a:r>
            <a:r>
              <a:rPr lang="en-US" altLang="zh-CN" sz="2000" b="1" dirty="0" err="1">
                <a:latin typeface="Courier New" panose="02070309020205020404" pitchFamily="49" charset="0"/>
                <a:cs typeface="Courier New" panose="02070309020205020404" pitchFamily="49" charset="0"/>
              </a:rPr>
              <a:t>rcount</a:t>
            </a:r>
            <a:r>
              <a:rPr lang="en-US" altLang="zh-CN" sz="2000" b="1" dirty="0">
                <a:latin typeface="Courier New" panose="02070309020205020404" pitchFamily="49" charset="0"/>
                <a:cs typeface="Courier New" panose="02070309020205020404" pitchFamily="49" charset="0"/>
              </a:rPr>
              <a:t>{count};</a:t>
            </a:r>
          </a:p>
          <a:p>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rcount</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8" name="矩形 7">
            <a:hlinkClick r:id="rId2" action="ppaction://hlinksldjump"/>
            <a:extLst>
              <a:ext uri="{FF2B5EF4-FFF2-40B4-BE49-F238E27FC236}">
                <a16:creationId xmlns:a16="http://schemas.microsoft.com/office/drawing/2014/main" id="{6751F7A9-C888-404F-94FC-0616D55C333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9" name="矩形 8">
            <a:hlinkClick r:id="" action="ppaction://noaction"/>
            <a:extLst>
              <a:ext uri="{FF2B5EF4-FFF2-40B4-BE49-F238E27FC236}">
                <a16:creationId xmlns:a16="http://schemas.microsoft.com/office/drawing/2014/main" id="{67790F75-0031-4235-B19F-975C7248BDC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0" name="矩形 9">
            <a:hlinkClick r:id="" action="ppaction://noaction"/>
            <a:extLst>
              <a:ext uri="{FF2B5EF4-FFF2-40B4-BE49-F238E27FC236}">
                <a16:creationId xmlns:a16="http://schemas.microsoft.com/office/drawing/2014/main" id="{787C953F-98C6-4D97-9856-9219FD38570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 action="ppaction://noaction"/>
            <a:extLst>
              <a:ext uri="{FF2B5EF4-FFF2-40B4-BE49-F238E27FC236}">
                <a16:creationId xmlns:a16="http://schemas.microsoft.com/office/drawing/2014/main" id="{1DCBEB48-1748-4283-8DC5-2861025E662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p>
        </p:txBody>
      </p:sp>
      <p:sp>
        <p:nvSpPr>
          <p:cNvPr id="12" name="矩形 11">
            <a:hlinkClick r:id="" action="ppaction://noaction"/>
            <a:extLst>
              <a:ext uri="{FF2B5EF4-FFF2-40B4-BE49-F238E27FC236}">
                <a16:creationId xmlns:a16="http://schemas.microsoft.com/office/drawing/2014/main" id="{6290BBAF-20E9-4D06-9D53-8BE45F3E9A1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引用类型</a:t>
            </a:r>
          </a:p>
        </p:txBody>
      </p:sp>
      <p:sp>
        <p:nvSpPr>
          <p:cNvPr id="13" name="矩形 12">
            <a:hlinkClick r:id="" action="ppaction://noaction"/>
            <a:extLst>
              <a:ext uri="{FF2B5EF4-FFF2-40B4-BE49-F238E27FC236}">
                <a16:creationId xmlns:a16="http://schemas.microsoft.com/office/drawing/2014/main" id="{96B17607-3D33-47DE-A181-9F06817BBC4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引用变量</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FE769FB1-5FF3-4B10-8CA3-EDFFEAD695E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ea typeface="黑体" panose="02010609060101010101" pitchFamily="49" charset="-122"/>
                <a:cs typeface="Courier New" pitchFamily="49" charset="0"/>
              </a:rPr>
              <a:t>引用与指针的区别</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E27CA936-A780-41A7-A92A-446E2DAD319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右值引用</a:t>
            </a:r>
          </a:p>
        </p:txBody>
      </p:sp>
    </p:spTree>
    <p:extLst>
      <p:ext uri="{BB962C8B-B14F-4D97-AF65-F5344CB8AC3E}">
        <p14:creationId xmlns:p14="http://schemas.microsoft.com/office/powerpoint/2010/main" val="79413172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C5DF3DF-2367-46DF-A9ED-5E190CE2C8B6}"/>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已知：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m=10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下列表示引用的方法中，正确的是（      ）</a:t>
            </a:r>
          </a:p>
        </p:txBody>
      </p:sp>
      <p:sp>
        <p:nvSpPr>
          <p:cNvPr id="7" name="文本框 6">
            <a:extLst>
              <a:ext uri="{FF2B5EF4-FFF2-40B4-BE49-F238E27FC236}">
                <a16:creationId xmlns:a16="http://schemas.microsoft.com/office/drawing/2014/main" id="{484838EE-DFE6-443A-9550-FF0B430F8907}"/>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&amp;x=m;</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30A11ADA-E508-4CBA-A2C5-1791ACD917D1}"/>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&amp;x=10;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175766F4-1695-4B88-B180-CD9BCAD639C3}"/>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&amp;x;</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C05D6189-C534-422A-A62D-E9D303538DAB}"/>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float &amp;t=&amp;m;</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84F1048-71F8-4F46-8E7B-C3B3893FF75F}"/>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BAE7999D-2C8E-4F21-B82C-F05E001E31F0}"/>
              </a:ext>
            </a:extLst>
          </p:cNvPr>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30904B1E-DD46-4474-9D25-8A834EE7DB22}"/>
              </a:ext>
            </a:extLst>
          </p:cNvPr>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0CFD6651-9DD8-40F3-AC85-0E8A9CF7DED7}"/>
              </a:ext>
            </a:extLst>
          </p:cNvPr>
          <p:cNvSpPr>
            <a:spLocks noChangeAspect="1"/>
          </p:cNvSpPr>
          <p:nvPr>
            <p:custDataLst>
              <p:tags r:id="rId10"/>
            </p:custDataLst>
          </p:nvPr>
        </p:nvSpPr>
        <p:spPr>
          <a:xfrm>
            <a:off x="1114425" y="54221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58A76E87-D652-4C9D-B7E8-939E5ECD66EB}"/>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BC9F25BA-8C18-4783-A1FF-7A9CD7FC2D8F}"/>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DDA15F3C-8F00-4D40-BC5C-E89CCEE5E611}"/>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B4C8BFE2-3BAA-4612-B13C-D731E3B07284}"/>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95952469-9D08-45D8-8D0F-1A4E09EEB647}"/>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11040AE6-ED51-49C7-B0E3-907285323E3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250959A0-816A-42B0-97BD-183966CD0CC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96138845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五边形 38"/>
          <p:cNvSpPr/>
          <p:nvPr/>
        </p:nvSpPr>
        <p:spPr bwMode="auto">
          <a:xfrm flipH="1">
            <a:off x="2041525" y="2333525"/>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 name="组合 34"/>
          <p:cNvGrpSpPr>
            <a:grpSpLocks/>
          </p:cNvGrpSpPr>
          <p:nvPr/>
        </p:nvGrpSpPr>
        <p:grpSpPr bwMode="auto">
          <a:xfrm>
            <a:off x="1641600" y="1397421"/>
            <a:ext cx="5356225" cy="1735606"/>
            <a:chOff x="1643042" y="3196754"/>
            <a:chExt cx="5356246" cy="1735614"/>
          </a:xfrm>
        </p:grpSpPr>
        <p:sp>
          <p:nvSpPr>
            <p:cNvPr id="25" name="五边形 24"/>
            <p:cNvSpPr/>
            <p:nvPr/>
          </p:nvSpPr>
          <p:spPr bwMode="auto">
            <a:xfrm flipH="1">
              <a:off x="2041506" y="319675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7"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8"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532726"/>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动态内存分配</a:t>
            </a:r>
          </a:p>
        </p:txBody>
      </p:sp>
      <p:sp>
        <p:nvSpPr>
          <p:cNvPr id="44" name="TextBox 43"/>
          <p:cNvSpPr txBox="1"/>
          <p:nvPr/>
        </p:nvSpPr>
        <p:spPr>
          <a:xfrm>
            <a:off x="2627784" y="246883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引用类型</a:t>
            </a:r>
          </a:p>
        </p:txBody>
      </p:sp>
      <p:sp>
        <p:nvSpPr>
          <p:cNvPr id="56" name="五边形 24">
            <a:extLst>
              <a:ext uri="{FF2B5EF4-FFF2-40B4-BE49-F238E27FC236}">
                <a16:creationId xmlns:a16="http://schemas.microsoft.com/office/drawing/2014/main" id="{FED05CB3-5CEA-4A17-ACBB-196D029650F8}"/>
              </a:ext>
            </a:extLst>
          </p:cNvPr>
          <p:cNvSpPr/>
          <p:nvPr/>
        </p:nvSpPr>
        <p:spPr bwMode="auto">
          <a:xfrm flipH="1">
            <a:off x="2040062" y="3297031"/>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7" name="组合 28">
            <a:extLst>
              <a:ext uri="{FF2B5EF4-FFF2-40B4-BE49-F238E27FC236}">
                <a16:creationId xmlns:a16="http://schemas.microsoft.com/office/drawing/2014/main" id="{92A6E709-64FC-4CCC-9329-2468ABE66C19}"/>
              </a:ext>
            </a:extLst>
          </p:cNvPr>
          <p:cNvGrpSpPr>
            <a:grpSpLocks/>
          </p:cNvGrpSpPr>
          <p:nvPr/>
        </p:nvGrpSpPr>
        <p:grpSpPr bwMode="auto">
          <a:xfrm>
            <a:off x="1641600" y="3293855"/>
            <a:ext cx="792162" cy="788988"/>
            <a:chOff x="854055" y="1643050"/>
            <a:chExt cx="792165" cy="788992"/>
          </a:xfrm>
        </p:grpSpPr>
        <p:sp>
          <p:nvSpPr>
            <p:cNvPr id="58" name="椭圆 57">
              <a:extLst>
                <a:ext uri="{FF2B5EF4-FFF2-40B4-BE49-F238E27FC236}">
                  <a16:creationId xmlns:a16="http://schemas.microsoft.com/office/drawing/2014/main" id="{22DC169D-C390-478B-8BBC-D93E59654E6C}"/>
                </a:ext>
              </a:extLst>
            </p:cNvPr>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9" name="图片 22" descr="NANKAI.png">
              <a:extLst>
                <a:ext uri="{FF2B5EF4-FFF2-40B4-BE49-F238E27FC236}">
                  <a16:creationId xmlns:a16="http://schemas.microsoft.com/office/drawing/2014/main" id="{35F8353D-86A1-4766-8B25-F2FDB6686D8F}"/>
                </a:ext>
              </a:extLst>
            </p:cNvPr>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sp>
        <p:nvSpPr>
          <p:cNvPr id="60" name="TextBox 43">
            <a:extLst>
              <a:ext uri="{FF2B5EF4-FFF2-40B4-BE49-F238E27FC236}">
                <a16:creationId xmlns:a16="http://schemas.microsoft.com/office/drawing/2014/main" id="{BFA098CC-7573-42CB-B4C8-4BC237FAB003}"/>
              </a:ext>
            </a:extLst>
          </p:cNvPr>
          <p:cNvSpPr txBox="1"/>
          <p:nvPr/>
        </p:nvSpPr>
        <p:spPr>
          <a:xfrm>
            <a:off x="2627784" y="3418642"/>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引用与函数</a:t>
            </a:r>
          </a:p>
        </p:txBody>
      </p:sp>
      <p:sp>
        <p:nvSpPr>
          <p:cNvPr id="26" name="矩形 25">
            <a:hlinkClick r:id="rId4" action="ppaction://hlinksldjump"/>
            <a:extLst>
              <a:ext uri="{FF2B5EF4-FFF2-40B4-BE49-F238E27FC236}">
                <a16:creationId xmlns:a16="http://schemas.microsoft.com/office/drawing/2014/main" id="{63649E43-4AA9-45D3-B215-D8D0C72BE14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7" name="矩形 26">
            <a:hlinkClick r:id="" action="ppaction://noaction"/>
            <a:extLst>
              <a:ext uri="{FF2B5EF4-FFF2-40B4-BE49-F238E27FC236}">
                <a16:creationId xmlns:a16="http://schemas.microsoft.com/office/drawing/2014/main" id="{76ECAF5E-BA28-4A73-BE6E-7A0BA11518A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8" name="矩形 27">
            <a:hlinkClick r:id="" action="ppaction://noaction"/>
            <a:extLst>
              <a:ext uri="{FF2B5EF4-FFF2-40B4-BE49-F238E27FC236}">
                <a16:creationId xmlns:a16="http://schemas.microsoft.com/office/drawing/2014/main" id="{19A5102B-1FE2-44A3-B2A7-1F8C047B8F3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9" name="矩形 28">
            <a:hlinkClick r:id="" action="ppaction://noaction"/>
            <a:extLst>
              <a:ext uri="{FF2B5EF4-FFF2-40B4-BE49-F238E27FC236}">
                <a16:creationId xmlns:a16="http://schemas.microsoft.com/office/drawing/2014/main" id="{D5D0C32A-FC7E-4763-8299-DCB5F3495BA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30" name="矩形 29">
            <a:hlinkClick r:id="" action="ppaction://noaction"/>
            <a:extLst>
              <a:ext uri="{FF2B5EF4-FFF2-40B4-BE49-F238E27FC236}">
                <a16:creationId xmlns:a16="http://schemas.microsoft.com/office/drawing/2014/main" id="{10232265-9DCF-43C4-AE94-CD8C1C1625A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31" name="矩形 30">
            <a:hlinkClick r:id="" action="ppaction://noaction"/>
            <a:extLst>
              <a:ext uri="{FF2B5EF4-FFF2-40B4-BE49-F238E27FC236}">
                <a16:creationId xmlns:a16="http://schemas.microsoft.com/office/drawing/2014/main" id="{E957C9CD-FEF0-4038-98D9-750082E1152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32" name="矩形 31">
            <a:hlinkClick r:id="" action="ppaction://noaction"/>
            <a:extLst>
              <a:ext uri="{FF2B5EF4-FFF2-40B4-BE49-F238E27FC236}">
                <a16:creationId xmlns:a16="http://schemas.microsoft.com/office/drawing/2014/main" id="{5992A191-5EC4-4BBB-9F8F-416A9D1020C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33" name="矩形 32">
            <a:hlinkClick r:id="" action="ppaction://noaction"/>
            <a:extLst>
              <a:ext uri="{FF2B5EF4-FFF2-40B4-BE49-F238E27FC236}">
                <a16:creationId xmlns:a16="http://schemas.microsoft.com/office/drawing/2014/main" id="{7AD34EC4-88E6-4D43-AA61-6414D59076B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46085974"/>
      </p:ext>
    </p:extLst>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8" name="TextBox 8">
            <a:extLst>
              <a:ext uri="{FF2B5EF4-FFF2-40B4-BE49-F238E27FC236}">
                <a16:creationId xmlns:a16="http://schemas.microsoft.com/office/drawing/2014/main" id="{E7A1F597-EDF5-4A8D-BA3D-EF3CEB7E8CDA}"/>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0" name="图片 9">
            <a:extLst>
              <a:ext uri="{FF2B5EF4-FFF2-40B4-BE49-F238E27FC236}">
                <a16:creationId xmlns:a16="http://schemas.microsoft.com/office/drawing/2014/main" id="{DCFF15A1-957D-43E9-A872-D685DBEBDBC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2" name="图片 11">
            <a:extLst>
              <a:ext uri="{FF2B5EF4-FFF2-40B4-BE49-F238E27FC236}">
                <a16:creationId xmlns:a16="http://schemas.microsoft.com/office/drawing/2014/main" id="{99660287-62B2-4403-A81C-03E52039090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
        <p:nvSpPr>
          <p:cNvPr id="3" name="标题 2">
            <a:extLst>
              <a:ext uri="{FF2B5EF4-FFF2-40B4-BE49-F238E27FC236}">
                <a16:creationId xmlns:a16="http://schemas.microsoft.com/office/drawing/2014/main" id="{1EB814AA-2165-402E-B6F7-26655A0A1B1E}"/>
              </a:ext>
            </a:extLst>
          </p:cNvPr>
          <p:cNvSpPr>
            <a:spLocks noGrp="1"/>
          </p:cNvSpPr>
          <p:nvPr>
            <p:ph type="ctrTitle"/>
          </p:nvPr>
        </p:nvSpPr>
        <p:spPr/>
        <p:txBody>
          <a:bodyPr/>
          <a:lstStyle/>
          <a:p>
            <a:r>
              <a:rPr lang="zh-CN" altLang="en-US" dirty="0"/>
              <a:t>引用参数</a:t>
            </a:r>
          </a:p>
        </p:txBody>
      </p:sp>
    </p:spTree>
    <p:extLst>
      <p:ext uri="{BB962C8B-B14F-4D97-AF65-F5344CB8AC3E}">
        <p14:creationId xmlns:p14="http://schemas.microsoft.com/office/powerpoint/2010/main" val="2671466440"/>
      </p:ext>
    </p:extLst>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p>
        </p:txBody>
      </p:sp>
      <p:sp>
        <p:nvSpPr>
          <p:cNvPr id="3" name="内容占位符 2"/>
          <p:cNvSpPr>
            <a:spLocks noGrp="1"/>
          </p:cNvSpPr>
          <p:nvPr>
            <p:ph idx="1"/>
          </p:nvPr>
        </p:nvSpPr>
        <p:spPr>
          <a:xfrm>
            <a:off x="457200" y="1844824"/>
            <a:ext cx="8153400" cy="4656010"/>
          </a:xfrm>
        </p:spPr>
        <p:txBody>
          <a:bodyPr/>
          <a:lstStyle/>
          <a:p>
            <a:r>
              <a:rPr lang="zh-CN" altLang="en-US" dirty="0"/>
              <a:t>变量的引用作为函数的形式参数</a:t>
            </a:r>
            <a:endParaRPr lang="en-US" altLang="zh-CN" dirty="0"/>
          </a:p>
          <a:p>
            <a:pPr lvl="1"/>
            <a:r>
              <a:rPr lang="zh-CN" altLang="en-US" dirty="0"/>
              <a:t>引用形参</a:t>
            </a:r>
            <a:r>
              <a:rPr lang="en-US" altLang="zh-CN" dirty="0"/>
              <a:t>——</a:t>
            </a:r>
            <a:r>
              <a:rPr lang="zh-CN" altLang="en-US" dirty="0"/>
              <a:t>在形参表中将参数说明为引用类型</a:t>
            </a:r>
            <a:endParaRPr lang="en-US" altLang="zh-CN" dirty="0"/>
          </a:p>
          <a:p>
            <a:pPr lvl="2"/>
            <a:r>
              <a:rPr lang="zh-CN" altLang="en-US" dirty="0"/>
              <a:t>为变量起“别名”</a:t>
            </a:r>
            <a:endParaRPr lang="en-US" altLang="zh-CN" dirty="0"/>
          </a:p>
          <a:p>
            <a:pPr lvl="3"/>
            <a:r>
              <a:rPr lang="zh-CN" altLang="en-US" dirty="0"/>
              <a:t>在作为形参的变量前加符号“</a:t>
            </a:r>
            <a:r>
              <a:rPr lang="en-US" altLang="zh-CN" dirty="0"/>
              <a:t>&amp;</a:t>
            </a:r>
            <a:r>
              <a:rPr lang="zh-CN" altLang="en-US" dirty="0"/>
              <a:t>”</a:t>
            </a:r>
            <a:endParaRPr lang="en-US" altLang="zh-CN" dirty="0"/>
          </a:p>
          <a:p>
            <a:pPr lvl="2"/>
            <a:r>
              <a:rPr lang="zh-CN" altLang="en-US" dirty="0"/>
              <a:t>与实参的内存地址相同</a:t>
            </a:r>
            <a:endParaRPr lang="en-US" altLang="zh-CN" dirty="0"/>
          </a:p>
          <a:p>
            <a:pPr lvl="1"/>
            <a:r>
              <a:rPr lang="zh-CN" altLang="en-US" dirty="0"/>
              <a:t>需要</a:t>
            </a:r>
            <a:r>
              <a:rPr lang="zh-CN" altLang="en-US" dirty="0">
                <a:solidFill>
                  <a:srgbClr val="C00000"/>
                </a:solidFill>
              </a:rPr>
              <a:t>在函数中改变实参值并将变化反映到主调函数</a:t>
            </a:r>
            <a:r>
              <a:rPr lang="zh-CN" altLang="en-US" dirty="0"/>
              <a:t>的时候，用作为实参的变量引用是一种方法</a:t>
            </a:r>
            <a:endParaRPr lang="en-US" altLang="zh-CN" dirty="0"/>
          </a:p>
          <a:p>
            <a:pPr lvl="2"/>
            <a:r>
              <a:rPr lang="zh-CN" altLang="en-US" dirty="0"/>
              <a:t>还可以用指针做形参操作变量地址</a:t>
            </a:r>
            <a:endParaRPr lang="en-US" altLang="zh-CN" dirty="0"/>
          </a:p>
        </p:txBody>
      </p:sp>
      <p:sp>
        <p:nvSpPr>
          <p:cNvPr id="13" name="矩形 12">
            <a:hlinkClick r:id="rId2" action="ppaction://hlinksldjump"/>
            <a:extLst>
              <a:ext uri="{FF2B5EF4-FFF2-40B4-BE49-F238E27FC236}">
                <a16:creationId xmlns:a16="http://schemas.microsoft.com/office/drawing/2014/main" id="{0A5AD9DE-2C3E-443F-9679-06A9D02AEA2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1B807158-2CE8-471A-BC39-F5261056321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78866288-D120-450B-9BB2-AA1FDAD6211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B4E74DF0-0E40-45D6-BD7C-97FCB6E6682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0AA62B49-A7E3-476B-B4F8-8E88F64E24A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9" name="矩形 18">
            <a:hlinkClick r:id="" action="ppaction://noaction"/>
            <a:extLst>
              <a:ext uri="{FF2B5EF4-FFF2-40B4-BE49-F238E27FC236}">
                <a16:creationId xmlns:a16="http://schemas.microsoft.com/office/drawing/2014/main" id="{4F46F297-668A-4E4D-980C-85CBA11C257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0584D51D-FF74-4305-91E5-713F2B8682F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EF11EBBC-9047-472E-B19C-ECE4DC58B82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5849542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p>
        </p:txBody>
      </p:sp>
      <p:sp>
        <p:nvSpPr>
          <p:cNvPr id="3" name="内容占位符 2"/>
          <p:cNvSpPr>
            <a:spLocks noGrp="1"/>
          </p:cNvSpPr>
          <p:nvPr>
            <p:ph idx="1"/>
          </p:nvPr>
        </p:nvSpPr>
        <p:spPr/>
        <p:txBody>
          <a:bodyPr/>
          <a:lstStyle/>
          <a:p>
            <a:r>
              <a:rPr lang="zh-CN" altLang="en-US" dirty="0"/>
              <a:t>引用形参</a:t>
            </a:r>
            <a:endParaRPr lang="en-US" altLang="zh-CN" dirty="0"/>
          </a:p>
          <a:p>
            <a:pPr lvl="1"/>
            <a:r>
              <a:rPr lang="zh-CN" altLang="en-US" dirty="0"/>
              <a:t>函数定义的参数表中，名字前加上符号＆的参数为引用形参。</a:t>
            </a:r>
            <a:r>
              <a:rPr lang="zh-CN" altLang="en-US" dirty="0">
                <a:solidFill>
                  <a:srgbClr val="C00000"/>
                </a:solidFill>
              </a:rPr>
              <a:t>例如</a:t>
            </a:r>
            <a:endParaRPr lang="en-US" altLang="zh-CN" dirty="0">
              <a:solidFill>
                <a:srgbClr val="C00000"/>
              </a:solidFill>
            </a:endParaRPr>
          </a:p>
          <a:p>
            <a:pPr marL="457200" lvl="1" indent="0" algn="ctr">
              <a:buNone/>
            </a:pP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swap(</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&amp;a</a:t>
            </a:r>
            <a:r>
              <a:rPr lang="zh-CN" altLang="en-US" b="1" dirty="0">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&amp;b);</a:t>
            </a:r>
          </a:p>
          <a:p>
            <a:pPr lvl="1"/>
            <a:r>
              <a:rPr lang="zh-CN" altLang="en-US" dirty="0"/>
              <a:t>引用形参在调用过程中的参数传递机制</a:t>
            </a:r>
          </a:p>
          <a:p>
            <a:pPr lvl="2"/>
            <a:r>
              <a:rPr lang="zh-CN" altLang="en-US" dirty="0"/>
              <a:t>函数的调用语句中对应于引用形参的实参必须是同一类型的变量，</a:t>
            </a:r>
            <a:r>
              <a:rPr lang="zh-CN" altLang="en-US" dirty="0">
                <a:solidFill>
                  <a:srgbClr val="C00000"/>
                </a:solidFill>
              </a:rPr>
              <a:t>非变量的表达式则不允许</a:t>
            </a:r>
            <a:r>
              <a:rPr lang="zh-CN" altLang="en-US" dirty="0"/>
              <a:t>。</a:t>
            </a:r>
          </a:p>
          <a:p>
            <a:pPr lvl="2"/>
            <a:r>
              <a:rPr lang="zh-CN" altLang="en-US" dirty="0"/>
              <a:t>参数传递的内容不是实参的值，而是实参的别名（也可以理解为传递实参的地址），其实际的效果是令对应的引用形参在调用过程中，作为一个变量名</a:t>
            </a:r>
            <a:r>
              <a:rPr lang="zh-CN" altLang="en-US" dirty="0">
                <a:solidFill>
                  <a:srgbClr val="FF0000"/>
                </a:solidFill>
              </a:rPr>
              <a:t>绑定</a:t>
            </a:r>
            <a:r>
              <a:rPr lang="zh-CN" altLang="en-US" dirty="0"/>
              <a:t>作为实参的这个变量，</a:t>
            </a:r>
            <a:r>
              <a:rPr lang="zh-CN" altLang="en-US" dirty="0">
                <a:solidFill>
                  <a:srgbClr val="C00000"/>
                </a:solidFill>
              </a:rPr>
              <a:t>在引用调用过程中并不创建新的参数变量</a:t>
            </a:r>
            <a:r>
              <a:rPr lang="zh-CN" altLang="en-US" dirty="0"/>
              <a:t>。</a:t>
            </a:r>
            <a:r>
              <a:rPr lang="zh-CN" altLang="en-US" dirty="0">
                <a:solidFill>
                  <a:srgbClr val="00B050"/>
                </a:solidFill>
              </a:rPr>
              <a:t>这一点有别于赋值调用</a:t>
            </a:r>
            <a:endParaRPr lang="zh-CN" altLang="en-US" dirty="0"/>
          </a:p>
        </p:txBody>
      </p:sp>
      <p:sp>
        <p:nvSpPr>
          <p:cNvPr id="13" name="矩形 12">
            <a:hlinkClick r:id="rId2" action="ppaction://hlinksldjump"/>
            <a:extLst>
              <a:ext uri="{FF2B5EF4-FFF2-40B4-BE49-F238E27FC236}">
                <a16:creationId xmlns:a16="http://schemas.microsoft.com/office/drawing/2014/main" id="{12D7DCA8-4135-4E1E-AB0F-BFBD4062E6D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A2B91846-97EB-4500-A9A9-9EC31DAE14A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4FB52B00-F0C8-40D9-AB27-97F9082F423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2094DCBF-3A8E-4E8C-B974-6022A73FEE4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066FE697-C5CF-4E62-85EE-76FE870FD9F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9" name="矩形 18">
            <a:hlinkClick r:id="" action="ppaction://noaction"/>
            <a:extLst>
              <a:ext uri="{FF2B5EF4-FFF2-40B4-BE49-F238E27FC236}">
                <a16:creationId xmlns:a16="http://schemas.microsoft.com/office/drawing/2014/main" id="{7A871C2A-6105-4353-95A3-09022C146E5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CA9D27FD-6AFE-4678-ADC4-6F5F4FE4B5C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77354E84-067C-4348-AB12-D384906CA87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34993768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p:txBody>
          <a:bodyPr/>
          <a:lstStyle/>
          <a:p>
            <a:pPr lvl="1"/>
            <a:r>
              <a:rPr lang="zh-CN" altLang="en-US" dirty="0"/>
              <a:t>在函数体程序块的运行中，引用形参的每次出现，由于它现在已经是指向实参变量，因此相当于全用实参变量所代替。即起到了所谓的“换名”的作用。</a:t>
            </a:r>
          </a:p>
          <a:p>
            <a:pPr lvl="1"/>
            <a:r>
              <a:rPr lang="zh-CN" altLang="en-US" dirty="0"/>
              <a:t>在函数体程序运行结束，控制转回调用点时，该引用形参与实参变量的对应关系也就终止了。但是在调用过程中对于这个实参变量的所有处理和操作的结果，却保留下来。</a:t>
            </a:r>
            <a:r>
              <a:rPr lang="zh-CN" altLang="en-US" dirty="0">
                <a:solidFill>
                  <a:srgbClr val="00B050"/>
                </a:solidFill>
              </a:rPr>
              <a:t>这一点也是区别于赋值调用的</a:t>
            </a:r>
            <a:r>
              <a:rPr lang="zh-CN" altLang="en-US" dirty="0"/>
              <a:t>  </a:t>
            </a:r>
          </a:p>
          <a:p>
            <a:pPr lvl="1"/>
            <a:endParaRPr lang="zh-CN" altLang="en-US" dirty="0"/>
          </a:p>
        </p:txBody>
      </p:sp>
      <p:sp>
        <p:nvSpPr>
          <p:cNvPr id="14" name="矩形 13">
            <a:hlinkClick r:id="rId2" action="ppaction://hlinksldjump"/>
            <a:extLst>
              <a:ext uri="{FF2B5EF4-FFF2-40B4-BE49-F238E27FC236}">
                <a16:creationId xmlns:a16="http://schemas.microsoft.com/office/drawing/2014/main" id="{26574C4E-75A4-4976-AB9B-12E1E373D44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D6C19095-FC50-481B-80EF-B6E572F3A61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F20DCEBA-FBAC-4376-8843-73B48342A81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00E9DE0E-5F4B-493A-B722-675899DF559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55D7A430-10D8-44F1-8C6C-D145FEC16CF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9" name="矩形 18">
            <a:hlinkClick r:id="" action="ppaction://noaction"/>
            <a:extLst>
              <a:ext uri="{FF2B5EF4-FFF2-40B4-BE49-F238E27FC236}">
                <a16:creationId xmlns:a16="http://schemas.microsoft.com/office/drawing/2014/main" id="{9909E518-6332-4F90-9237-75E5AC7C2D0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0E468EAE-9D83-461F-BC3A-DBD95B6E4AA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961DD79B-391D-4631-822E-F2043B22098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13198694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a:xfrm>
            <a:off x="457200" y="1916832"/>
            <a:ext cx="8401080" cy="4407768"/>
          </a:xfrm>
        </p:spPr>
        <p:txBody>
          <a:bodyPr/>
          <a:lstStyle/>
          <a:p>
            <a:r>
              <a:rPr lang="zh-CN" altLang="en-US" dirty="0"/>
              <a:t>设计函数在下面两种情形时，建议采用引用参数 </a:t>
            </a:r>
            <a:endParaRPr lang="en-US" altLang="zh-CN" dirty="0"/>
          </a:p>
          <a:p>
            <a:pPr lvl="1"/>
            <a:r>
              <a:rPr lang="zh-CN" altLang="en-US" dirty="0"/>
              <a:t>需要改变某些实参的值，并反映在主调函数中（上述函数</a:t>
            </a:r>
            <a:r>
              <a:rPr lang="en-US" altLang="zh-CN" dirty="0"/>
              <a:t>swap </a:t>
            </a:r>
            <a:r>
              <a:rPr lang="zh-CN" altLang="en-US" dirty="0"/>
              <a:t>就是一例）</a:t>
            </a:r>
            <a:endParaRPr lang="en-US" altLang="zh-CN" dirty="0"/>
          </a:p>
          <a:p>
            <a:pPr lvl="1"/>
            <a:r>
              <a:rPr lang="zh-CN" altLang="en-US" dirty="0"/>
              <a:t>对于占内存较多的数据参数，为了不另建新的参数变量以节省内存</a:t>
            </a:r>
            <a:endParaRPr lang="en-US" altLang="zh-CN" dirty="0"/>
          </a:p>
          <a:p>
            <a:pPr lvl="2"/>
            <a:r>
              <a:rPr lang="zh-CN" altLang="en-US" dirty="0"/>
              <a:t>为了保证实参不在函数中被修改，可在形参说明中加上</a:t>
            </a:r>
            <a:r>
              <a:rPr lang="en-US" altLang="zh-CN" dirty="0"/>
              <a:t>const </a:t>
            </a:r>
            <a:r>
              <a:rPr lang="zh-CN" altLang="en-US" dirty="0"/>
              <a:t>说明，例如：</a:t>
            </a:r>
            <a:r>
              <a:rPr lang="en-US" altLang="zh-CN" dirty="0"/>
              <a:t> </a:t>
            </a:r>
          </a:p>
          <a:p>
            <a:pPr lvl="2">
              <a:buNone/>
            </a:pPr>
            <a:r>
              <a:rPr lang="en-US" altLang="zh-CN" sz="2000" b="1" dirty="0">
                <a:solidFill>
                  <a:schemeClr val="tx2"/>
                </a:solidFill>
                <a:latin typeface="Courier New" pitchFamily="49" charset="0"/>
                <a:cs typeface="Courier New" pitchFamily="49" charset="0"/>
              </a:rPr>
              <a:t>complex add(</a:t>
            </a:r>
            <a:r>
              <a:rPr lang="en-US" altLang="zh-CN" sz="2000" b="1" dirty="0" err="1">
                <a:solidFill>
                  <a:srgbClr val="0000FF"/>
                </a:solidFill>
                <a:latin typeface="Courier New" pitchFamily="49" charset="0"/>
                <a:cs typeface="Courier New" pitchFamily="49" charset="0"/>
              </a:rPr>
              <a:t>const</a:t>
            </a:r>
            <a:r>
              <a:rPr lang="en-US" altLang="zh-CN" sz="2000" b="1" dirty="0">
                <a:solidFill>
                  <a:schemeClr val="tx2"/>
                </a:solidFill>
                <a:latin typeface="Courier New" pitchFamily="49" charset="0"/>
                <a:cs typeface="Courier New" pitchFamily="49" charset="0"/>
              </a:rPr>
              <a:t> complex&amp;</a:t>
            </a: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a</a:t>
            </a:r>
            <a:r>
              <a:rPr lang="zh-CN" altLang="en-US"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const</a:t>
            </a:r>
            <a:r>
              <a:rPr lang="en-US" altLang="zh-CN" sz="2000" b="1" dirty="0">
                <a:solidFill>
                  <a:schemeClr val="tx2"/>
                </a:solidFill>
                <a:latin typeface="Courier New" pitchFamily="49" charset="0"/>
                <a:cs typeface="Courier New" pitchFamily="49" charset="0"/>
              </a:rPr>
              <a:t> complex&amp;</a:t>
            </a: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b);</a:t>
            </a:r>
          </a:p>
          <a:p>
            <a:pPr lvl="3"/>
            <a:r>
              <a:rPr lang="zh-CN" altLang="en-US" dirty="0"/>
              <a:t>而对于赋值形参，则无此必要。</a:t>
            </a:r>
          </a:p>
        </p:txBody>
      </p:sp>
      <p:sp>
        <p:nvSpPr>
          <p:cNvPr id="14" name="矩形 13">
            <a:hlinkClick r:id="rId2" action="ppaction://hlinksldjump"/>
            <a:extLst>
              <a:ext uri="{FF2B5EF4-FFF2-40B4-BE49-F238E27FC236}">
                <a16:creationId xmlns:a16="http://schemas.microsoft.com/office/drawing/2014/main" id="{F923AD4F-2B5D-400B-9DCC-C31E0C487C8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78351999-DD71-4AE0-8DDB-DC45E387F8F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4CC55117-EF6C-4922-A089-2236B3B325E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2DCDF486-9CD9-482A-89F2-6FE2A7E7A97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96BBD625-D3E0-4FA5-AD71-F936F87F153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9" name="矩形 18">
            <a:hlinkClick r:id="" action="ppaction://noaction"/>
            <a:extLst>
              <a:ext uri="{FF2B5EF4-FFF2-40B4-BE49-F238E27FC236}">
                <a16:creationId xmlns:a16="http://schemas.microsoft.com/office/drawing/2014/main" id="{3FEE8A43-BAC4-4E06-8190-146F7D4FCFC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629C29D3-568A-4B0C-B85F-6D41BEF60BE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060FB73C-BA6C-46D1-9488-540D18C536A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15975620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6.18】</a:t>
            </a:r>
            <a:r>
              <a:rPr lang="zh-CN" altLang="en-US" dirty="0">
                <a:solidFill>
                  <a:srgbClr val="C00000"/>
                </a:solidFill>
              </a:rPr>
              <a:t>分析程序的运行结果</a:t>
            </a:r>
            <a:endParaRPr lang="en-US" altLang="zh-CN" dirty="0">
              <a:solidFill>
                <a:srgbClr val="C00000"/>
              </a:solidFill>
            </a:endParaRPr>
          </a:p>
          <a:p>
            <a:pPr>
              <a:spcBef>
                <a:spcPts val="0"/>
              </a:spcBef>
              <a:buNone/>
            </a:pPr>
            <a:endParaRPr lang="en-US" altLang="zh-CN" sz="2000" b="1" dirty="0">
              <a:solidFill>
                <a:srgbClr val="0000FF"/>
              </a:solidFill>
              <a:latin typeface="Courier New" pitchFamily="49" charset="0"/>
              <a:cs typeface="Courier New" pitchFamily="49" charset="0"/>
            </a:endParaRPr>
          </a:p>
          <a:p>
            <a:pPr>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&lt;iostream&gt;</a:t>
            </a:r>
          </a:p>
          <a:p>
            <a:pPr>
              <a:spcBef>
                <a:spcPts val="0"/>
              </a:spcBef>
              <a:buNone/>
            </a:pPr>
            <a:r>
              <a:rPr lang="en-US" altLang="zh-CN" sz="2000" b="1" dirty="0">
                <a:latin typeface="Courier New" pitchFamily="49" charset="0"/>
                <a:cs typeface="Courier New" pitchFamily="49" charset="0"/>
              </a:rPr>
              <a:t>using namespace std;</a:t>
            </a:r>
          </a:p>
          <a:p>
            <a:pPr>
              <a:spcBef>
                <a:spcPts val="0"/>
              </a:spcBef>
              <a:buNone/>
            </a:pPr>
            <a:endParaRPr lang="en-US" altLang="zh-CN" sz="2000" b="1" dirty="0">
              <a:latin typeface="Courier New" pitchFamily="49" charset="0"/>
              <a:cs typeface="Courier New" pitchFamily="49" charset="0"/>
            </a:endParaRP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swap1(</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p1, </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p2){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交换指针所指变量的值</a:t>
            </a:r>
          </a:p>
          <a:p>
            <a:pPr>
              <a:spcBef>
                <a:spcPts val="0"/>
              </a:spcBef>
              <a:buNone/>
            </a:pPr>
            <a:r>
              <a:rPr lang="zh-CN" altLang="en-US"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spcBef>
                <a:spcPts val="0"/>
              </a:spcBef>
              <a:buNone/>
            </a:pPr>
            <a:r>
              <a:rPr lang="en-US" altLang="zh-CN" sz="2000" b="1" dirty="0">
                <a:latin typeface="Courier New" pitchFamily="49" charset="0"/>
                <a:cs typeface="Courier New" pitchFamily="49" charset="0"/>
              </a:rPr>
              <a:t>	temp = *p1; </a:t>
            </a:r>
          </a:p>
          <a:p>
            <a:pPr>
              <a:spcBef>
                <a:spcPts val="0"/>
              </a:spcBef>
              <a:buNone/>
            </a:pPr>
            <a:r>
              <a:rPr lang="en-US" altLang="zh-CN" sz="2000" b="1" dirty="0">
                <a:latin typeface="Courier New" pitchFamily="49" charset="0"/>
                <a:cs typeface="Courier New" pitchFamily="49" charset="0"/>
              </a:rPr>
              <a:t>	*p1 = *p2; </a:t>
            </a:r>
          </a:p>
          <a:p>
            <a:pPr>
              <a:spcBef>
                <a:spcPts val="0"/>
              </a:spcBef>
              <a:buNone/>
            </a:pPr>
            <a:r>
              <a:rPr lang="en-US" altLang="zh-CN" sz="2000" b="1" dirty="0">
                <a:latin typeface="Courier New" pitchFamily="49" charset="0"/>
                <a:cs typeface="Courier New" pitchFamily="49" charset="0"/>
              </a:rPr>
              <a:t>	*p2 = temp; </a:t>
            </a:r>
          </a:p>
          <a:p>
            <a:pPr>
              <a:spcBef>
                <a:spcPts val="0"/>
              </a:spcBef>
              <a:buNone/>
            </a:pPr>
            <a:r>
              <a:rPr lang="en-US" altLang="zh-CN" sz="2000" b="1" dirty="0">
                <a:latin typeface="Courier New" pitchFamily="49" charset="0"/>
                <a:cs typeface="Courier New" pitchFamily="49" charset="0"/>
              </a:rPr>
              <a:t>}  </a:t>
            </a:r>
            <a:endParaRPr lang="zh-CN" altLang="en-US" sz="2000" b="1" dirty="0">
              <a:latin typeface="Courier New" pitchFamily="49" charset="0"/>
              <a:cs typeface="Courier New" pitchFamily="49" charset="0"/>
            </a:endParaRPr>
          </a:p>
          <a:p>
            <a:pPr>
              <a:spcBef>
                <a:spcPts val="0"/>
              </a:spcBef>
              <a:buNone/>
            </a:pPr>
            <a:endParaRPr lang="en-US" altLang="zh-CN" sz="2000" b="1" dirty="0">
              <a:latin typeface="Courier New" pitchFamily="49" charset="0"/>
              <a:cs typeface="Courier New" pitchFamily="49" charset="0"/>
            </a:endParaRPr>
          </a:p>
        </p:txBody>
      </p:sp>
      <p:sp>
        <p:nvSpPr>
          <p:cNvPr id="13" name="矩形 12">
            <a:hlinkClick r:id="rId2" action="ppaction://hlinksldjump"/>
            <a:extLst>
              <a:ext uri="{FF2B5EF4-FFF2-40B4-BE49-F238E27FC236}">
                <a16:creationId xmlns:a16="http://schemas.microsoft.com/office/drawing/2014/main" id="{FCAABE05-FD70-4A6D-A4DC-0E1121F927C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4FA8774E-7DDA-452C-816A-5F0F437C687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1C3F31C5-1719-4599-ABF4-71712E7E0C8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C8D00FE3-6631-47A8-9C8B-865C6AB823F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A629ACF9-2516-4707-B2F1-6D8C47C34B0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20" name="矩形 19">
            <a:hlinkClick r:id="" action="ppaction://noaction"/>
            <a:extLst>
              <a:ext uri="{FF2B5EF4-FFF2-40B4-BE49-F238E27FC236}">
                <a16:creationId xmlns:a16="http://schemas.microsoft.com/office/drawing/2014/main" id="{118DE5D1-492C-4060-B982-6BFFACF4F39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4DCAA786-6238-4407-9476-997D88C0C91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E4A01A86-8260-4D50-98C2-4A7BE0AE932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43025080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BDF7EF02-BDEF-4018-BF93-68DC6867572A}"/>
              </a:ext>
            </a:extLst>
          </p:cNvPr>
          <p:cNvSpPr/>
          <p:nvPr/>
        </p:nvSpPr>
        <p:spPr>
          <a:xfrm>
            <a:off x="665545" y="1360932"/>
            <a:ext cx="8050192" cy="1595052"/>
          </a:xfrm>
          <a:prstGeom prst="rect">
            <a:avLst/>
          </a:prstGeom>
        </p:spPr>
        <p:txBody>
          <a:bodyPr wrap="square">
            <a:spAutoFit/>
          </a:bodyPr>
          <a:lstStyle/>
          <a:p>
            <a:pPr>
              <a:lnSpc>
                <a:spcPct val="90000"/>
              </a:lnSpc>
              <a:spcBef>
                <a:spcPts val="0"/>
              </a:spcBef>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swap12(</a:t>
            </a:r>
            <a:r>
              <a:rPr lang="en-US" altLang="zh-CN" b="1" dirty="0">
                <a:solidFill>
                  <a:srgbClr val="0000FF"/>
                </a:solidFill>
                <a:latin typeface="Courier New" pitchFamily="49" charset="0"/>
                <a:cs typeface="Courier New" pitchFamily="49" charset="0"/>
              </a:rPr>
              <a:t>int </a:t>
            </a:r>
            <a:r>
              <a:rPr lang="en-US" altLang="zh-CN" b="1" dirty="0">
                <a:latin typeface="Courier New" pitchFamily="49" charset="0"/>
                <a:cs typeface="Courier New" pitchFamily="49" charset="0"/>
              </a:rPr>
              <a:t>*p1,</a:t>
            </a:r>
            <a:r>
              <a:rPr lang="en-US" altLang="zh-CN" b="1" dirty="0">
                <a:solidFill>
                  <a:srgbClr val="0000FF"/>
                </a:solidFill>
                <a:latin typeface="Courier New" pitchFamily="49" charset="0"/>
                <a:cs typeface="Courier New" pitchFamily="49" charset="0"/>
              </a:rPr>
              <a:t>int </a:t>
            </a:r>
            <a:r>
              <a:rPr lang="en-US" altLang="zh-CN" b="1" dirty="0">
                <a:latin typeface="Courier New" pitchFamily="49" charset="0"/>
                <a:cs typeface="Courier New" pitchFamily="49" charset="0"/>
              </a:rPr>
              <a:t>*p2){</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交换形参指针“局部空间”的值</a:t>
            </a:r>
          </a:p>
          <a:p>
            <a:pPr>
              <a:lnSpc>
                <a:spcPct val="90000"/>
              </a:lnSpc>
              <a:spcBef>
                <a:spcPts val="0"/>
              </a:spcBef>
              <a:buNone/>
            </a:pPr>
            <a:r>
              <a:rPr lang="zh-CN" altLang="en-US"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*temp;</a:t>
            </a:r>
          </a:p>
          <a:p>
            <a:pPr>
              <a:lnSpc>
                <a:spcPct val="90000"/>
              </a:lnSpc>
              <a:spcBef>
                <a:spcPts val="0"/>
              </a:spcBef>
              <a:buNone/>
            </a:pPr>
            <a:r>
              <a:rPr lang="en-US" altLang="zh-CN" b="1" dirty="0">
                <a:latin typeface="Courier New" pitchFamily="49" charset="0"/>
                <a:cs typeface="Courier New" pitchFamily="49" charset="0"/>
              </a:rPr>
              <a:t>	temp = p1;</a:t>
            </a:r>
          </a:p>
          <a:p>
            <a:pPr>
              <a:lnSpc>
                <a:spcPct val="90000"/>
              </a:lnSpc>
              <a:spcBef>
                <a:spcPts val="0"/>
              </a:spcBef>
              <a:buNone/>
            </a:pPr>
            <a:r>
              <a:rPr lang="en-US" altLang="zh-CN" b="1" dirty="0">
                <a:latin typeface="Courier New" pitchFamily="49" charset="0"/>
                <a:cs typeface="Courier New" pitchFamily="49" charset="0"/>
              </a:rPr>
              <a:t>	p1 = p2;</a:t>
            </a:r>
          </a:p>
          <a:p>
            <a:pPr>
              <a:lnSpc>
                <a:spcPct val="90000"/>
              </a:lnSpc>
              <a:spcBef>
                <a:spcPts val="0"/>
              </a:spcBef>
              <a:buNone/>
            </a:pPr>
            <a:r>
              <a:rPr lang="en-US" altLang="zh-CN" b="1" dirty="0">
                <a:latin typeface="Courier New" pitchFamily="49" charset="0"/>
                <a:cs typeface="Courier New" pitchFamily="49" charset="0"/>
              </a:rPr>
              <a:t>	p2 = temp; </a:t>
            </a:r>
          </a:p>
          <a:p>
            <a:pPr>
              <a:lnSpc>
                <a:spcPct val="90000"/>
              </a:lnSpc>
              <a:spcBef>
                <a:spcPts val="0"/>
              </a:spcBef>
              <a:buNone/>
            </a:pPr>
            <a:r>
              <a:rPr lang="en-US" altLang="zh-CN" b="1" dirty="0">
                <a:latin typeface="Courier New" pitchFamily="49" charset="0"/>
                <a:cs typeface="Courier New" pitchFamily="49" charset="0"/>
              </a:rPr>
              <a:t>}  </a:t>
            </a:r>
          </a:p>
        </p:txBody>
      </p:sp>
      <p:sp>
        <p:nvSpPr>
          <p:cNvPr id="15" name="矩形 14">
            <a:hlinkClick r:id="rId2" action="ppaction://hlinksldjump"/>
            <a:extLst>
              <a:ext uri="{FF2B5EF4-FFF2-40B4-BE49-F238E27FC236}">
                <a16:creationId xmlns:a16="http://schemas.microsoft.com/office/drawing/2014/main" id="{1519E679-38C4-40F2-8566-3F4BA14313B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3E246014-C132-4253-8BF2-9B875C23495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63AC354A-F34E-439E-84DB-3AFD8CE9844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AA939C58-BBA7-4A9E-9AF0-2580F041FAB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D9DB58FF-BA53-4EEA-A59F-FBFE1A62687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20" name="矩形 19">
            <a:hlinkClick r:id="" action="ppaction://noaction"/>
            <a:extLst>
              <a:ext uri="{FF2B5EF4-FFF2-40B4-BE49-F238E27FC236}">
                <a16:creationId xmlns:a16="http://schemas.microsoft.com/office/drawing/2014/main" id="{5A07711B-DE48-4CA0-8567-D0C0A6DD59E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32BE91D4-12FD-4DC9-B087-0284A87D2FB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129FE0DD-0295-4875-9ED6-2C9E9CF298B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14907274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F538FE3E-72F3-47F4-A4F3-1DCE4D18B790}"/>
              </a:ext>
            </a:extLst>
          </p:cNvPr>
          <p:cNvSpPr/>
          <p:nvPr/>
        </p:nvSpPr>
        <p:spPr>
          <a:xfrm>
            <a:off x="500063" y="1384081"/>
            <a:ext cx="8215674" cy="1595052"/>
          </a:xfrm>
          <a:prstGeom prst="rect">
            <a:avLst/>
          </a:prstGeom>
        </p:spPr>
        <p:txBody>
          <a:bodyPr wrap="square">
            <a:spAutoFit/>
          </a:bodyPr>
          <a:lstStyle/>
          <a:p>
            <a:pPr>
              <a:lnSpc>
                <a:spcPct val="90000"/>
              </a:lnSpc>
              <a:spcBef>
                <a:spcPts val="0"/>
              </a:spcBef>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swap2(</a:t>
            </a:r>
            <a:r>
              <a:rPr lang="en-US" altLang="zh-CN" b="1" dirty="0">
                <a:solidFill>
                  <a:srgbClr val="0000FF"/>
                </a:solidFill>
                <a:latin typeface="Courier New" pitchFamily="49" charset="0"/>
                <a:cs typeface="Courier New" pitchFamily="49" charset="0"/>
              </a:rPr>
              <a:t>int </a:t>
            </a:r>
            <a:r>
              <a:rPr lang="en-US" altLang="zh-CN" b="1" dirty="0">
                <a:latin typeface="Courier New" pitchFamily="49" charset="0"/>
                <a:cs typeface="Courier New" pitchFamily="49" charset="0"/>
              </a:rPr>
              <a:t>&amp;a, </a:t>
            </a:r>
            <a:r>
              <a:rPr lang="en-US" altLang="zh-CN" b="1" dirty="0">
                <a:solidFill>
                  <a:srgbClr val="0000FF"/>
                </a:solidFill>
                <a:latin typeface="Courier New" pitchFamily="49" charset="0"/>
                <a:cs typeface="Courier New" pitchFamily="49" charset="0"/>
              </a:rPr>
              <a:t> int </a:t>
            </a:r>
            <a:r>
              <a:rPr lang="en-US" altLang="zh-CN" b="1" dirty="0">
                <a:latin typeface="Courier New" pitchFamily="49" charset="0"/>
                <a:cs typeface="Courier New" pitchFamily="49" charset="0"/>
              </a:rPr>
              <a:t>&amp;b){</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交换引用变量的值</a:t>
            </a:r>
          </a:p>
          <a:p>
            <a:pPr>
              <a:lnSpc>
                <a:spcPct val="90000"/>
              </a:lnSpc>
              <a:spcBef>
                <a:spcPts val="0"/>
              </a:spcBef>
              <a:buNone/>
            </a:pPr>
            <a:r>
              <a:rPr lang="zh-CN" altLang="en-US"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temp;</a:t>
            </a:r>
          </a:p>
          <a:p>
            <a:pPr>
              <a:lnSpc>
                <a:spcPct val="90000"/>
              </a:lnSpc>
              <a:spcBef>
                <a:spcPts val="0"/>
              </a:spcBef>
              <a:buNone/>
            </a:pPr>
            <a:r>
              <a:rPr lang="en-US" altLang="zh-CN" b="1" dirty="0">
                <a:latin typeface="Courier New" pitchFamily="49" charset="0"/>
                <a:cs typeface="Courier New" pitchFamily="49" charset="0"/>
              </a:rPr>
              <a:t>	temp = a;</a:t>
            </a:r>
          </a:p>
          <a:p>
            <a:pPr>
              <a:lnSpc>
                <a:spcPct val="90000"/>
              </a:lnSpc>
              <a:spcBef>
                <a:spcPts val="0"/>
              </a:spcBef>
              <a:buNone/>
            </a:pPr>
            <a:r>
              <a:rPr lang="en-US" altLang="zh-CN" b="1" dirty="0">
                <a:latin typeface="Courier New" pitchFamily="49" charset="0"/>
                <a:cs typeface="Courier New" pitchFamily="49" charset="0"/>
              </a:rPr>
              <a:t>	a = b;</a:t>
            </a:r>
          </a:p>
          <a:p>
            <a:pPr>
              <a:lnSpc>
                <a:spcPct val="90000"/>
              </a:lnSpc>
              <a:spcBef>
                <a:spcPts val="0"/>
              </a:spcBef>
              <a:buNone/>
            </a:pPr>
            <a:r>
              <a:rPr lang="en-US" altLang="zh-CN" b="1" dirty="0">
                <a:latin typeface="Courier New" pitchFamily="49" charset="0"/>
                <a:cs typeface="Courier New" pitchFamily="49" charset="0"/>
              </a:rPr>
              <a:t>	b = temp; </a:t>
            </a:r>
          </a:p>
          <a:p>
            <a:pPr>
              <a:lnSpc>
                <a:spcPct val="90000"/>
              </a:lnSpc>
              <a:spcBef>
                <a:spcPts val="0"/>
              </a:spcBef>
              <a:buNone/>
            </a:pPr>
            <a:r>
              <a:rPr lang="en-US" altLang="zh-CN" b="1" dirty="0">
                <a:latin typeface="Courier New" pitchFamily="49" charset="0"/>
                <a:cs typeface="Courier New" pitchFamily="49" charset="0"/>
              </a:rPr>
              <a:t>}</a:t>
            </a:r>
          </a:p>
        </p:txBody>
      </p:sp>
      <p:sp>
        <p:nvSpPr>
          <p:cNvPr id="13" name="矩形 12">
            <a:hlinkClick r:id="rId2" action="ppaction://hlinksldjump"/>
            <a:extLst>
              <a:ext uri="{FF2B5EF4-FFF2-40B4-BE49-F238E27FC236}">
                <a16:creationId xmlns:a16="http://schemas.microsoft.com/office/drawing/2014/main" id="{91124C51-91FC-4120-8F08-5F98284A688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CE5A78A1-4D96-453C-962B-C239CD01D63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CF6D847D-56D1-46CF-B294-656F9B96D99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50900C28-D153-41E6-8043-069D61A78BA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795FF5D9-ABD3-442F-93D7-A0F0E7B619C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9" name="矩形 18">
            <a:hlinkClick r:id="" action="ppaction://noaction"/>
            <a:extLst>
              <a:ext uri="{FF2B5EF4-FFF2-40B4-BE49-F238E27FC236}">
                <a16:creationId xmlns:a16="http://schemas.microsoft.com/office/drawing/2014/main" id="{1875B1BE-E44C-4FA2-A82B-635010B4F72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6A4B7106-001A-4C66-A2DE-40DAC6B6FE5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C2186EDD-4788-4A00-8D81-BB18CE241FF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16806222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0800" y="1296000"/>
            <a:ext cx="8543956" cy="5061958"/>
          </a:xfrm>
        </p:spPr>
        <p:txBody>
          <a:bodyPr/>
          <a:lstStyle/>
          <a:p>
            <a:pPr>
              <a:lnSpc>
                <a:spcPct val="90000"/>
              </a:lnSpc>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swap3 (</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x,  </a:t>
            </a:r>
            <a:r>
              <a:rPr lang="en-US" altLang="zh-CN" sz="2000" b="1" dirty="0">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y){</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交换赋值参数“局部空间”的值</a:t>
            </a:r>
          </a:p>
          <a:p>
            <a:pPr>
              <a:lnSpc>
                <a:spcPct val="90000"/>
              </a:lnSpc>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lnSpc>
                <a:spcPct val="90000"/>
              </a:lnSpc>
              <a:spcBef>
                <a:spcPts val="0"/>
              </a:spcBef>
              <a:buNone/>
            </a:pPr>
            <a:r>
              <a:rPr lang="en-US" altLang="zh-CN" sz="2000" b="1" dirty="0">
                <a:latin typeface="Courier New" pitchFamily="49" charset="0"/>
                <a:cs typeface="Courier New" pitchFamily="49" charset="0"/>
              </a:rPr>
              <a:t>	temp = x; </a:t>
            </a:r>
          </a:p>
          <a:p>
            <a:pPr>
              <a:lnSpc>
                <a:spcPct val="90000"/>
              </a:lnSpc>
              <a:spcBef>
                <a:spcPts val="0"/>
              </a:spcBef>
              <a:buNone/>
            </a:pPr>
            <a:r>
              <a:rPr lang="en-US" altLang="zh-CN" sz="2000" b="1" dirty="0">
                <a:latin typeface="Courier New" pitchFamily="49" charset="0"/>
                <a:cs typeface="Courier New" pitchFamily="49" charset="0"/>
              </a:rPr>
              <a:t>	x = y;</a:t>
            </a:r>
          </a:p>
          <a:p>
            <a:pPr>
              <a:lnSpc>
                <a:spcPct val="90000"/>
              </a:lnSpc>
              <a:spcBef>
                <a:spcPts val="0"/>
              </a:spcBef>
              <a:buNone/>
            </a:pPr>
            <a:r>
              <a:rPr lang="en-US" altLang="zh-CN" sz="2000" b="1" dirty="0">
                <a:latin typeface="Courier New" pitchFamily="49" charset="0"/>
                <a:cs typeface="Courier New" pitchFamily="49" charset="0"/>
              </a:rPr>
              <a:t>	y = temp; </a:t>
            </a:r>
          </a:p>
          <a:p>
            <a:pPr>
              <a:lnSpc>
                <a:spcPct val="90000"/>
              </a:lnSpc>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12" name="矩形 11">
            <a:hlinkClick r:id="rId2" action="ppaction://hlinksldjump"/>
            <a:extLst>
              <a:ext uri="{FF2B5EF4-FFF2-40B4-BE49-F238E27FC236}">
                <a16:creationId xmlns:a16="http://schemas.microsoft.com/office/drawing/2014/main" id="{A7A2D09F-372A-4CBB-BB36-2AC8B96B19B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2DECBA34-5DDB-4995-B414-76AB9A4E14A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C2D2E287-5AE9-4782-8028-E892FBDCE3D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04245621-9145-4D10-B82C-D6CD8699404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AD7B6CDC-F98F-4F04-80BD-F6C564F277C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7" name="矩形 16">
            <a:hlinkClick r:id="" action="ppaction://noaction"/>
            <a:extLst>
              <a:ext uri="{FF2B5EF4-FFF2-40B4-BE49-F238E27FC236}">
                <a16:creationId xmlns:a16="http://schemas.microsoft.com/office/drawing/2014/main" id="{5D035E66-0385-4187-B7A1-54E1F6F0372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251B66D9-962D-4E75-9C59-B7322B0614C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CAC374DC-948A-49A7-BC6C-4804008E152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36106405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640ABE-2378-4F05-8278-764BFAFE4E2E}"/>
              </a:ext>
            </a:extLst>
          </p:cNvPr>
          <p:cNvSpPr/>
          <p:nvPr/>
        </p:nvSpPr>
        <p:spPr>
          <a:xfrm>
            <a:off x="303835" y="816030"/>
            <a:ext cx="8536330" cy="5909310"/>
          </a:xfrm>
          <a:prstGeom prst="rect">
            <a:avLst/>
          </a:prstGeom>
        </p:spPr>
        <p:txBody>
          <a:bodyPr wrap="square">
            <a:spAutoFit/>
          </a:bodyPr>
          <a:lstStyle/>
          <a:p>
            <a:pPr>
              <a:spcBef>
                <a:spcPts val="0"/>
              </a:spcBef>
              <a:buNone/>
            </a:pPr>
            <a:r>
              <a:rPr lang="en-US" altLang="zh-CN" b="1" dirty="0">
                <a:solidFill>
                  <a:srgbClr val="0000FF"/>
                </a:solidFill>
                <a:latin typeface="Courier New" pitchFamily="49" charset="0"/>
                <a:cs typeface="Courier New" pitchFamily="49" charset="0"/>
              </a:rPr>
              <a:t>void</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main(){</a:t>
            </a:r>
          </a:p>
          <a:p>
            <a:pPr>
              <a:spcBef>
                <a:spcPts val="0"/>
              </a:spcBef>
              <a:buNone/>
            </a:pPr>
            <a:r>
              <a:rPr lang="en-US" altLang="zh-CN" b="1" dirty="0">
                <a:solidFill>
                  <a:srgbClr val="0000FF"/>
                </a:solidFill>
                <a:latin typeface="Courier New" pitchFamily="49" charset="0"/>
                <a:cs typeface="Courier New" pitchFamily="49" charset="0"/>
              </a:rPr>
              <a:t>   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a1=11, a2=22;</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&lt;&lt;"before swap1 =&gt; a1,a2 = "&lt;&lt;a1&lt;&lt;"  "&lt;&lt;a2&lt;&lt;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spcBef>
                <a:spcPts val="0"/>
              </a:spcBef>
              <a:buNone/>
            </a:pPr>
            <a:r>
              <a:rPr lang="en-US" altLang="zh-CN" b="1" dirty="0">
                <a:latin typeface="Courier New" pitchFamily="49" charset="0"/>
                <a:cs typeface="Courier New" pitchFamily="49" charset="0"/>
              </a:rPr>
              <a:t>   swap1(&amp;a1, &amp;a2);</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&lt;&lt;"after swap1 =&gt; a1,a2 = "&lt;&lt;a1&lt;&lt;"  "&lt;&lt;a2&lt;&lt;</a:t>
            </a:r>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n\n"; </a:t>
            </a:r>
          </a:p>
          <a:p>
            <a:pPr>
              <a:spcBef>
                <a:spcPts val="0"/>
              </a:spcBef>
              <a:buNone/>
            </a:pPr>
            <a:endParaRPr lang="en-US" altLang="zh-CN" b="1" dirty="0">
              <a:latin typeface="Courier New" pitchFamily="49" charset="0"/>
              <a:cs typeface="Courier New" pitchFamily="49" charset="0"/>
            </a:endParaRPr>
          </a:p>
          <a:p>
            <a:pPr>
              <a:spcBef>
                <a:spcPts val="0"/>
              </a:spcBef>
              <a:buNone/>
            </a:pP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b1=11, b2=22;</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&lt;&lt;"before swap12 =&gt; b1,b2 = "&lt;&lt;b1&lt;&lt;"  "&lt;&lt;b2&lt;&lt;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spcBef>
                <a:spcPts val="0"/>
              </a:spcBef>
              <a:buNone/>
            </a:pPr>
            <a:r>
              <a:rPr lang="en-US" altLang="zh-CN" b="1" dirty="0">
                <a:latin typeface="Courier New" pitchFamily="49" charset="0"/>
                <a:cs typeface="Courier New" pitchFamily="49" charset="0"/>
              </a:rPr>
              <a:t>   swap12(&amp;b1, &amp;b2);</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&lt;&lt;"after swap12 =&gt; b1,b2 = "&lt;&lt;b1&lt;&lt;"  "&lt;&lt;b2&lt;&lt;"\n\n";</a:t>
            </a:r>
          </a:p>
          <a:p>
            <a:pPr>
              <a:spcBef>
                <a:spcPts val="0"/>
              </a:spcBef>
              <a:buNone/>
            </a:pPr>
            <a:endParaRPr lang="en-US" altLang="zh-CN" b="1" dirty="0">
              <a:latin typeface="Courier New" pitchFamily="49" charset="0"/>
              <a:cs typeface="Courier New" pitchFamily="49" charset="0"/>
            </a:endParaRPr>
          </a:p>
          <a:p>
            <a:pPr>
              <a:spcBef>
                <a:spcPts val="0"/>
              </a:spcBef>
              <a:buNone/>
            </a:pP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c1=33, c2=44;</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&lt;&lt;"before swap2 =&gt; c1,c2 = "&lt;&lt;c1&lt;&lt;"  "&lt;&lt;c2&lt;&lt;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spcBef>
                <a:spcPts val="0"/>
              </a:spcBef>
              <a:buNone/>
            </a:pPr>
            <a:r>
              <a:rPr lang="en-US" altLang="zh-CN" b="1" dirty="0">
                <a:latin typeface="Courier New" pitchFamily="49" charset="0"/>
                <a:cs typeface="Courier New" pitchFamily="49" charset="0"/>
              </a:rPr>
              <a:t>   swap2(c1, c2);</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&lt;&lt;"after swap2 =&gt; c1,c2 = "&lt;&lt;c1&lt;&lt;"  "&lt;&lt;c2&lt;&lt;"\n\n";</a:t>
            </a:r>
          </a:p>
          <a:p>
            <a:pPr>
              <a:spcBef>
                <a:spcPts val="0"/>
              </a:spcBef>
              <a:buNone/>
            </a:pPr>
            <a:endParaRPr lang="en-US" altLang="zh-CN" b="1" dirty="0">
              <a:latin typeface="Courier New" pitchFamily="49" charset="0"/>
              <a:cs typeface="Courier New" pitchFamily="49" charset="0"/>
            </a:endParaRPr>
          </a:p>
          <a:p>
            <a:pPr>
              <a:spcBef>
                <a:spcPts val="0"/>
              </a:spcBef>
              <a:buNone/>
            </a:pPr>
            <a:r>
              <a:rPr lang="en-US" altLang="zh-CN" b="1" dirty="0">
                <a:solidFill>
                  <a:srgbClr val="0000FF"/>
                </a:solidFill>
                <a:latin typeface="Courier New" pitchFamily="49" charset="0"/>
                <a:cs typeface="Courier New" pitchFamily="49" charset="0"/>
              </a:rPr>
              <a:t>   int </a:t>
            </a:r>
            <a:r>
              <a:rPr lang="en-US" altLang="zh-CN" b="1" dirty="0">
                <a:latin typeface="Courier New" pitchFamily="49" charset="0"/>
                <a:cs typeface="Courier New" pitchFamily="49" charset="0"/>
              </a:rPr>
              <a:t>d1=55, d2=66;</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&lt;&lt;"before swap3 =&gt; d1,d2 = "&lt;&lt;d1&lt;&lt;"  "&lt;&lt;d2&lt;&lt;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spcBef>
                <a:spcPts val="0"/>
              </a:spcBef>
              <a:buNone/>
            </a:pPr>
            <a:r>
              <a:rPr lang="en-US" altLang="zh-CN" b="1" dirty="0">
                <a:latin typeface="Courier New" pitchFamily="49" charset="0"/>
                <a:cs typeface="Courier New" pitchFamily="49" charset="0"/>
              </a:rPr>
              <a:t>   swap3(d1, d2);</a:t>
            </a:r>
          </a:p>
          <a:p>
            <a:pPr>
              <a:spcBef>
                <a:spcPts val="0"/>
              </a:spcBef>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&lt;&lt;"after swap3 =&gt; d1,d2 = "&lt;&lt;d1&lt;&lt;"  "&lt;&lt;d2&lt;&lt;"\n\n";</a:t>
            </a:r>
          </a:p>
          <a:p>
            <a:pPr>
              <a:spcBef>
                <a:spcPts val="0"/>
              </a:spcBef>
              <a:buNone/>
            </a:pPr>
            <a:r>
              <a:rPr lang="en-US" altLang="zh-CN" b="1" dirty="0">
                <a:latin typeface="Courier New" pitchFamily="49" charset="0"/>
                <a:cs typeface="Courier New" pitchFamily="49" charset="0"/>
              </a:rPr>
              <a:t>}</a:t>
            </a:r>
          </a:p>
        </p:txBody>
      </p:sp>
      <p:sp>
        <p:nvSpPr>
          <p:cNvPr id="7" name="矩形 6">
            <a:hlinkClick r:id="rId2" action="ppaction://hlinksldjump"/>
            <a:extLst>
              <a:ext uri="{FF2B5EF4-FFF2-40B4-BE49-F238E27FC236}">
                <a16:creationId xmlns:a16="http://schemas.microsoft.com/office/drawing/2014/main" id="{4CE1A30C-FB59-41DC-81B2-5309B6A7DF3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8" name="矩形 7">
            <a:hlinkClick r:id="" action="ppaction://noaction"/>
            <a:extLst>
              <a:ext uri="{FF2B5EF4-FFF2-40B4-BE49-F238E27FC236}">
                <a16:creationId xmlns:a16="http://schemas.microsoft.com/office/drawing/2014/main" id="{5F83D7A0-1F02-4838-A25D-5E5AD40F969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9" name="矩形 8">
            <a:hlinkClick r:id="" action="ppaction://noaction"/>
            <a:extLst>
              <a:ext uri="{FF2B5EF4-FFF2-40B4-BE49-F238E27FC236}">
                <a16:creationId xmlns:a16="http://schemas.microsoft.com/office/drawing/2014/main" id="{7E34CD88-4F03-4D64-83D3-CA29D95E5E8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0" name="矩形 9">
            <a:hlinkClick r:id="" action="ppaction://noaction"/>
            <a:extLst>
              <a:ext uri="{FF2B5EF4-FFF2-40B4-BE49-F238E27FC236}">
                <a16:creationId xmlns:a16="http://schemas.microsoft.com/office/drawing/2014/main" id="{B74C92AF-7AB1-4115-99C1-404B8290594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1" name="矩形 10">
            <a:hlinkClick r:id="" action="ppaction://noaction"/>
            <a:extLst>
              <a:ext uri="{FF2B5EF4-FFF2-40B4-BE49-F238E27FC236}">
                <a16:creationId xmlns:a16="http://schemas.microsoft.com/office/drawing/2014/main" id="{44A46726-21F0-4B26-AF48-4E039D638FC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2" name="矩形 11">
            <a:hlinkClick r:id="" action="ppaction://noaction"/>
            <a:extLst>
              <a:ext uri="{FF2B5EF4-FFF2-40B4-BE49-F238E27FC236}">
                <a16:creationId xmlns:a16="http://schemas.microsoft.com/office/drawing/2014/main" id="{F05370FD-3098-42B0-B983-CDE7F8B8DAD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970ADFDA-2E0F-42AA-AE8E-BD1E48F3F1C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DBDD4544-5D8F-4C1D-BDAE-4A950951BEF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6103882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40768"/>
            <a:ext cx="8229600" cy="4500562"/>
          </a:xfrm>
        </p:spPr>
        <p:txBody>
          <a:bodyPr/>
          <a:lstStyle/>
          <a:p>
            <a:pPr marL="0" indent="0">
              <a:buNone/>
            </a:pPr>
            <a:r>
              <a:rPr lang="zh-CN" altLang="en-US" sz="2800" b="1" dirty="0">
                <a:solidFill>
                  <a:schemeClr val="accent6">
                    <a:lumMod val="75000"/>
                  </a:schemeClr>
                </a:solidFill>
              </a:rPr>
              <a:t>程序执行后的显示结果如下：</a:t>
            </a:r>
          </a:p>
          <a:p>
            <a:pPr>
              <a:lnSpc>
                <a:spcPct val="70000"/>
              </a:lnSpc>
              <a:buNone/>
            </a:pPr>
            <a:endParaRPr lang="en-US" altLang="zh-CN" sz="2400" b="1" dirty="0">
              <a:solidFill>
                <a:schemeClr val="accent6">
                  <a:lumMod val="75000"/>
                </a:schemeClr>
              </a:solidFill>
              <a:latin typeface="Courier New" pitchFamily="49" charset="0"/>
              <a:cs typeface="Courier New" pitchFamily="49" charset="0"/>
            </a:endParaRPr>
          </a:p>
          <a:p>
            <a:pPr>
              <a:lnSpc>
                <a:spcPct val="70000"/>
              </a:lnSpc>
              <a:buNone/>
            </a:pPr>
            <a:r>
              <a:rPr lang="en-US" altLang="zh-CN" sz="2400" b="1" dirty="0">
                <a:latin typeface="Courier New" pitchFamily="49" charset="0"/>
                <a:cs typeface="Courier New" pitchFamily="49" charset="0"/>
              </a:rPr>
              <a:t>before swap1 =&gt; b1,b2 = 11  22</a:t>
            </a:r>
          </a:p>
          <a:p>
            <a:pPr>
              <a:lnSpc>
                <a:spcPct val="70000"/>
              </a:lnSpc>
              <a:buNone/>
            </a:pPr>
            <a:r>
              <a:rPr lang="en-US" altLang="zh-CN" sz="2400" b="1" dirty="0">
                <a:latin typeface="Courier New" pitchFamily="49" charset="0"/>
                <a:cs typeface="Courier New" pitchFamily="49" charset="0"/>
              </a:rPr>
              <a:t>after swap1 =&gt; b1,b2 = 22  11</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swap12 =&gt; b1,b2 = 11  22</a:t>
            </a:r>
          </a:p>
          <a:p>
            <a:pPr>
              <a:lnSpc>
                <a:spcPct val="70000"/>
              </a:lnSpc>
              <a:buNone/>
            </a:pPr>
            <a:r>
              <a:rPr lang="en-US" altLang="zh-CN" sz="2400" b="1" dirty="0">
                <a:latin typeface="Courier New" pitchFamily="49" charset="0"/>
                <a:cs typeface="Courier New" pitchFamily="49" charset="0"/>
              </a:rPr>
              <a:t>after swap12 =&gt; b1,b2 = 11  22</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swap2 =&gt; c1,c2 = 33  44</a:t>
            </a:r>
          </a:p>
          <a:p>
            <a:pPr>
              <a:lnSpc>
                <a:spcPct val="70000"/>
              </a:lnSpc>
              <a:buNone/>
            </a:pPr>
            <a:r>
              <a:rPr lang="en-US" altLang="zh-CN" sz="2400" b="1" dirty="0">
                <a:latin typeface="Courier New" pitchFamily="49" charset="0"/>
                <a:cs typeface="Courier New" pitchFamily="49" charset="0"/>
              </a:rPr>
              <a:t>after swap2 =&gt; c1,c2 = 44  33</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swap3 =&gt; d1,d2 = 55  66</a:t>
            </a:r>
          </a:p>
          <a:p>
            <a:pPr>
              <a:lnSpc>
                <a:spcPct val="70000"/>
              </a:lnSpc>
              <a:buNone/>
            </a:pPr>
            <a:r>
              <a:rPr lang="en-US" altLang="zh-CN" sz="2400" b="1" dirty="0">
                <a:latin typeface="Courier New" pitchFamily="49" charset="0"/>
                <a:cs typeface="Courier New" pitchFamily="49" charset="0"/>
              </a:rPr>
              <a:t>after swap3 =&gt; d1,d2 = 55  66</a:t>
            </a:r>
            <a:endParaRPr lang="zh-CN" altLang="en-US" b="1" dirty="0">
              <a:latin typeface="Courier New" pitchFamily="49" charset="0"/>
              <a:cs typeface="Courier New" pitchFamily="49" charset="0"/>
            </a:endParaRPr>
          </a:p>
        </p:txBody>
      </p:sp>
      <p:sp>
        <p:nvSpPr>
          <p:cNvPr id="13" name="矩形 12">
            <a:hlinkClick r:id="rId2" action="ppaction://hlinksldjump"/>
            <a:extLst>
              <a:ext uri="{FF2B5EF4-FFF2-40B4-BE49-F238E27FC236}">
                <a16:creationId xmlns:a16="http://schemas.microsoft.com/office/drawing/2014/main" id="{ADD10D52-A5D7-43E7-9D22-EFB100E6A59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82306651-262B-474C-9DA8-073215EA2D7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F701457B-9996-426C-BF25-7D9EDC92456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17220988-1E0A-4055-A614-D2A394F41D3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E71EEBEE-1959-47F6-AAD5-4DA1B6E6733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引用参数</a:t>
            </a:r>
          </a:p>
        </p:txBody>
      </p:sp>
      <p:sp>
        <p:nvSpPr>
          <p:cNvPr id="18" name="矩形 17">
            <a:hlinkClick r:id="" action="ppaction://noaction"/>
            <a:extLst>
              <a:ext uri="{FF2B5EF4-FFF2-40B4-BE49-F238E27FC236}">
                <a16:creationId xmlns:a16="http://schemas.microsoft.com/office/drawing/2014/main" id="{9A8F94E3-4731-4B1D-88AC-A38121E8E67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BA92E2C8-AA73-41AE-8282-C449E0092BB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E4D055C9-1434-49B4-BB0A-2AF2E01DE95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613896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78EA1FE-D36A-4D61-BAD8-D607388EC326}"/>
              </a:ext>
            </a:extLst>
          </p:cNvPr>
          <p:cNvSpPr txBox="1"/>
          <p:nvPr>
            <p:custDataLst>
              <p:tags r:id="rId2"/>
            </p:custDataLst>
          </p:nvPr>
        </p:nvSpPr>
        <p:spPr>
          <a:xfrm>
            <a:off x="914400" y="963077"/>
            <a:ext cx="7975600" cy="2143125"/>
          </a:xfrm>
          <a:prstGeom prst="rect">
            <a:avLst/>
          </a:prstGeom>
          <a:noFill/>
        </p:spPr>
        <p:txBody>
          <a:bodyPr vert="horz" wrap="square" rtlCol="0" anchor="ctr" anchorCtr="0">
            <a:noAutofit/>
          </a:bodyPr>
          <a:lstStyle/>
          <a:p>
            <a:r>
              <a:rPr lang="zh-CN" altLang="zh-CN" sz="2600" dirty="0">
                <a:solidFill>
                  <a:srgbClr val="000000"/>
                </a:solidFill>
                <a:latin typeface="Microsoft Yahei" panose="020B0503020204020204" pitchFamily="34" charset="-122"/>
                <a:ea typeface="Microsoft Yahei" panose="020B0503020204020204" pitchFamily="34" charset="-122"/>
              </a:rPr>
              <a:t>已知函数</a:t>
            </a:r>
            <a:r>
              <a:rPr lang="en-US" altLang="zh-CN" sz="2600" dirty="0">
                <a:solidFill>
                  <a:srgbClr val="000000"/>
                </a:solidFill>
                <a:latin typeface="Microsoft Yahei" panose="020B0503020204020204" pitchFamily="34" charset="-122"/>
                <a:ea typeface="Microsoft Yahei" panose="020B0503020204020204" pitchFamily="34" charset="-122"/>
              </a:rPr>
              <a:t>f</a:t>
            </a:r>
            <a:r>
              <a:rPr lang="zh-CN" altLang="zh-CN" sz="2600" dirty="0">
                <a:solidFill>
                  <a:srgbClr val="000000"/>
                </a:solidFill>
                <a:latin typeface="Microsoft Yahei" panose="020B0503020204020204" pitchFamily="34" charset="-122"/>
                <a:ea typeface="Microsoft Yahei" panose="020B0503020204020204" pitchFamily="34" charset="-122"/>
              </a:rPr>
              <a:t>的原型为：</a:t>
            </a:r>
          </a:p>
          <a:p>
            <a:r>
              <a:rPr lang="en-US" altLang="zh-CN" sz="2600" dirty="0">
                <a:solidFill>
                  <a:srgbClr val="000000"/>
                </a:solidFill>
                <a:latin typeface="Microsoft Yahei" panose="020B0503020204020204" pitchFamily="34" charset="-122"/>
                <a:ea typeface="Microsoft Yahei" panose="020B0503020204020204" pitchFamily="34" charset="-122"/>
              </a:rPr>
              <a:t>void f (int &amp;a, char *b);</a:t>
            </a:r>
            <a:endParaRPr lang="zh-CN" altLang="zh-CN" sz="2600" dirty="0">
              <a:solidFill>
                <a:srgbClr val="000000"/>
              </a:solidFill>
              <a:latin typeface="Microsoft Yahei" panose="020B0503020204020204" pitchFamily="34" charset="-122"/>
              <a:ea typeface="Microsoft Yahei" panose="020B0503020204020204" pitchFamily="34" charset="-122"/>
            </a:endParaRPr>
          </a:p>
          <a:p>
            <a:r>
              <a:rPr lang="zh-CN" altLang="zh-CN" sz="2600" dirty="0">
                <a:solidFill>
                  <a:srgbClr val="000000"/>
                </a:solidFill>
                <a:latin typeface="Microsoft Yahei" panose="020B0503020204020204" pitchFamily="34" charset="-122"/>
                <a:ea typeface="Microsoft Yahei" panose="020B0503020204020204" pitchFamily="34" charset="-122"/>
              </a:rPr>
              <a:t>变量</a:t>
            </a:r>
            <a:r>
              <a:rPr lang="en-US" altLang="zh-CN" sz="2600" dirty="0">
                <a:solidFill>
                  <a:srgbClr val="000000"/>
                </a:solidFill>
                <a:latin typeface="Microsoft Yahei" panose="020B0503020204020204" pitchFamily="34" charset="-122"/>
                <a:ea typeface="Microsoft Yahei" panose="020B0503020204020204" pitchFamily="34" charset="-122"/>
              </a:rPr>
              <a:t>s</a:t>
            </a:r>
            <a:r>
              <a:rPr lang="zh-CN" altLang="zh-CN" sz="2600" dirty="0">
                <a:solidFill>
                  <a:srgbClr val="000000"/>
                </a:solidFill>
                <a:latin typeface="Microsoft Yahei" panose="020B0503020204020204" pitchFamily="34" charset="-122"/>
                <a:ea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rPr>
              <a:t>t</a:t>
            </a:r>
            <a:r>
              <a:rPr lang="zh-CN" altLang="zh-CN" sz="2600" dirty="0">
                <a:solidFill>
                  <a:srgbClr val="000000"/>
                </a:solidFill>
                <a:latin typeface="Microsoft Yahei" panose="020B0503020204020204" pitchFamily="34" charset="-122"/>
                <a:ea typeface="Microsoft Yahei" panose="020B0503020204020204" pitchFamily="34" charset="-122"/>
              </a:rPr>
              <a:t>的定义是：</a:t>
            </a:r>
            <a:r>
              <a:rPr lang="en-US" altLang="zh-CN" sz="2600" dirty="0">
                <a:solidFill>
                  <a:srgbClr val="000000"/>
                </a:solidFill>
                <a:latin typeface="Microsoft Yahei" panose="020B0503020204020204" pitchFamily="34" charset="-122"/>
                <a:ea typeface="Microsoft Yahei" panose="020B0503020204020204" pitchFamily="34" charset="-122"/>
              </a:rPr>
              <a:t>int s;  char t[ ]="ABCD";</a:t>
            </a:r>
            <a:endParaRPr lang="zh-CN" altLang="zh-CN" sz="2600" dirty="0">
              <a:solidFill>
                <a:srgbClr val="000000"/>
              </a:solidFill>
              <a:latin typeface="Microsoft Yahei" panose="020B0503020204020204" pitchFamily="34" charset="-122"/>
              <a:ea typeface="Microsoft Yahei" panose="020B0503020204020204" pitchFamily="34" charset="-122"/>
            </a:endParaRPr>
          </a:p>
          <a:p>
            <a:r>
              <a:rPr lang="zh-CN" altLang="zh-CN" sz="2600" dirty="0">
                <a:solidFill>
                  <a:srgbClr val="000000"/>
                </a:solidFill>
                <a:latin typeface="Microsoft Yahei" panose="020B0503020204020204" pitchFamily="34" charset="-122"/>
                <a:ea typeface="Microsoft Yahei" panose="020B0503020204020204" pitchFamily="34" charset="-122"/>
              </a:rPr>
              <a:t>把</a:t>
            </a:r>
            <a:r>
              <a:rPr lang="en-US" altLang="zh-CN" sz="2600" dirty="0">
                <a:solidFill>
                  <a:srgbClr val="000000"/>
                </a:solidFill>
                <a:latin typeface="Microsoft Yahei" panose="020B0503020204020204" pitchFamily="34" charset="-122"/>
                <a:ea typeface="Microsoft Yahei" panose="020B0503020204020204" pitchFamily="34" charset="-122"/>
              </a:rPr>
              <a:t>s</a:t>
            </a:r>
            <a:r>
              <a:rPr lang="zh-CN" altLang="zh-CN" sz="2600" dirty="0">
                <a:solidFill>
                  <a:srgbClr val="000000"/>
                </a:solidFill>
                <a:latin typeface="Microsoft Yahei" panose="020B0503020204020204" pitchFamily="34" charset="-122"/>
                <a:ea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rPr>
              <a:t>t</a:t>
            </a:r>
            <a:r>
              <a:rPr lang="zh-CN" altLang="zh-CN" sz="2600" dirty="0">
                <a:solidFill>
                  <a:srgbClr val="000000"/>
                </a:solidFill>
                <a:latin typeface="Microsoft Yahei" panose="020B0503020204020204" pitchFamily="34" charset="-122"/>
                <a:ea typeface="Microsoft Yahei" panose="020B0503020204020204" pitchFamily="34" charset="-122"/>
              </a:rPr>
              <a:t>分别作为第一参数和第二参数来调用函数</a:t>
            </a:r>
            <a:r>
              <a:rPr lang="en-US" altLang="zh-CN" sz="2600" dirty="0">
                <a:solidFill>
                  <a:srgbClr val="000000"/>
                </a:solidFill>
                <a:latin typeface="Microsoft Yahei" panose="020B0503020204020204" pitchFamily="34" charset="-122"/>
                <a:ea typeface="Microsoft Yahei" panose="020B0503020204020204" pitchFamily="34" charset="-122"/>
              </a:rPr>
              <a:t>f</a:t>
            </a:r>
            <a:r>
              <a:rPr lang="zh-CN" altLang="zh-CN" sz="2600" dirty="0">
                <a:solidFill>
                  <a:srgbClr val="000000"/>
                </a:solidFill>
                <a:latin typeface="Microsoft Yahei" panose="020B0503020204020204" pitchFamily="34" charset="-122"/>
                <a:ea typeface="Microsoft Yahei" panose="020B0503020204020204" pitchFamily="34" charset="-122"/>
              </a:rPr>
              <a:t>，正确的调用语句是</a:t>
            </a:r>
            <a:r>
              <a:rPr lang="en-US" altLang="zh-CN" sz="2600" dirty="0">
                <a:solidFill>
                  <a:srgbClr val="000000"/>
                </a:solidFill>
                <a:latin typeface="Microsoft Yahei" panose="020B0503020204020204" pitchFamily="34" charset="-122"/>
                <a:ea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21459185-88CC-4641-9399-08A59E6C312B}"/>
              </a:ext>
            </a:extLst>
          </p:cNvPr>
          <p:cNvSpPr txBox="1"/>
          <p:nvPr>
            <p:custDataLst>
              <p:tags r:id="rId3"/>
            </p:custDataLst>
          </p:nvPr>
        </p:nvSpPr>
        <p:spPr>
          <a:xfrm>
            <a:off x="1828800" y="318798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f(&amp;s, &amp;t);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CBAC0277-6107-48F2-8AE5-3CD536E3A4A3}"/>
              </a:ext>
            </a:extLst>
          </p:cNvPr>
          <p:cNvSpPr txBox="1"/>
          <p:nvPr>
            <p:custDataLst>
              <p:tags r:id="rId4"/>
            </p:custDataLst>
          </p:nvPr>
        </p:nvSpPr>
        <p:spPr>
          <a:xfrm>
            <a:off x="1828800" y="404523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f(&amp;s, 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a:extLst>
              <a:ext uri="{FF2B5EF4-FFF2-40B4-BE49-F238E27FC236}">
                <a16:creationId xmlns:a16="http://schemas.microsoft.com/office/drawing/2014/main" id="{79D03942-3145-4041-9B22-AB53BC54055C}"/>
              </a:ext>
            </a:extLst>
          </p:cNvPr>
          <p:cNvSpPr txBox="1"/>
          <p:nvPr>
            <p:custDataLst>
              <p:tags r:id="rId5"/>
            </p:custDataLst>
          </p:nvPr>
        </p:nvSpPr>
        <p:spPr>
          <a:xfrm>
            <a:off x="1828800" y="490248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f(s, 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B6EA250F-F408-42EC-B0F7-7D88A5EBFA34}"/>
              </a:ext>
            </a:extLst>
          </p:cNvPr>
          <p:cNvSpPr txBox="1"/>
          <p:nvPr>
            <p:custDataLst>
              <p:tags r:id="rId6"/>
            </p:custDataLst>
          </p:nvPr>
        </p:nvSpPr>
        <p:spPr>
          <a:xfrm>
            <a:off x="1828800" y="575973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f(s, &amp;t);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69ECEE8-9C15-4F6C-BF28-4DE317F43D28}"/>
              </a:ext>
            </a:extLst>
          </p:cNvPr>
          <p:cNvSpPr>
            <a:spLocks noChangeAspect="1"/>
          </p:cNvSpPr>
          <p:nvPr>
            <p:custDataLst>
              <p:tags r:id="rId7"/>
            </p:custDataLst>
          </p:nvPr>
        </p:nvSpPr>
        <p:spPr>
          <a:xfrm>
            <a:off x="1114425" y="325227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BCE7812-1463-4FFD-A2C9-E8981D4881FF}"/>
              </a:ext>
            </a:extLst>
          </p:cNvPr>
          <p:cNvSpPr>
            <a:spLocks noChangeAspect="1"/>
          </p:cNvSpPr>
          <p:nvPr>
            <p:custDataLst>
              <p:tags r:id="rId8"/>
            </p:custDataLst>
          </p:nvPr>
        </p:nvSpPr>
        <p:spPr>
          <a:xfrm>
            <a:off x="1114425" y="410952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2943E38B-1635-4A15-A14C-45B210F9FD3C}"/>
              </a:ext>
            </a:extLst>
          </p:cNvPr>
          <p:cNvSpPr>
            <a:spLocks noChangeAspect="1"/>
          </p:cNvSpPr>
          <p:nvPr>
            <p:custDataLst>
              <p:tags r:id="rId9"/>
            </p:custDataLst>
          </p:nvPr>
        </p:nvSpPr>
        <p:spPr>
          <a:xfrm>
            <a:off x="1114425" y="496677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34AA67FB-611D-4202-9638-2F036DA55DC3}"/>
              </a:ext>
            </a:extLst>
          </p:cNvPr>
          <p:cNvSpPr>
            <a:spLocks noChangeAspect="1"/>
          </p:cNvSpPr>
          <p:nvPr>
            <p:custDataLst>
              <p:tags r:id="rId10"/>
            </p:custDataLst>
          </p:nvPr>
        </p:nvSpPr>
        <p:spPr>
          <a:xfrm>
            <a:off x="1114425" y="582402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5785E510-3AEA-4003-B8B6-41E3501C2FAA}"/>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95EE28BA-06DA-492A-8C7A-2FE38201B2CB}"/>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8A99F28F-E647-4C93-9B86-1AF7A3DE7D25}"/>
                </a:ext>
              </a:extLst>
            </p:cNvPr>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BEA1EA8F-6D2B-401A-AA73-5FE6CA930E70}"/>
                </a:ext>
              </a:extLst>
            </p:cNvPr>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0E907A81-EBB4-4475-9B49-6AB9AD1B86FE}"/>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01A3D8EC-9C0B-4BDC-991D-E5D6B7E38EB9}"/>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49B2FCE9-73FC-44B4-A18E-8A62DDCB6871}"/>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00427192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5" name="标题 4">
            <a:extLst>
              <a:ext uri="{FF2B5EF4-FFF2-40B4-BE49-F238E27FC236}">
                <a16:creationId xmlns:a16="http://schemas.microsoft.com/office/drawing/2014/main" id="{08AF32B9-F596-472B-B75D-2C333B59BC68}"/>
              </a:ext>
            </a:extLst>
          </p:cNvPr>
          <p:cNvSpPr>
            <a:spLocks noGrp="1"/>
          </p:cNvSpPr>
          <p:nvPr>
            <p:ph type="ctrTitle"/>
          </p:nvPr>
        </p:nvSpPr>
        <p:spPr/>
        <p:txBody>
          <a:bodyPr/>
          <a:lstStyle/>
          <a:p>
            <a:r>
              <a:rPr lang="zh-CN" altLang="en-US" dirty="0"/>
              <a:t>函数返回引用</a:t>
            </a:r>
          </a:p>
        </p:txBody>
      </p:sp>
      <p:sp>
        <p:nvSpPr>
          <p:cNvPr id="10" name="TextBox 8">
            <a:extLst>
              <a:ext uri="{FF2B5EF4-FFF2-40B4-BE49-F238E27FC236}">
                <a16:creationId xmlns:a16="http://schemas.microsoft.com/office/drawing/2014/main" id="{7D55CBDC-09B5-48EC-868D-DC7B99715AB8}"/>
              </a:ext>
            </a:extLst>
          </p:cNvPr>
          <p:cNvSpPr txBox="1">
            <a:spLocks noChangeArrowheads="1"/>
          </p:cNvSpPr>
          <p:nvPr/>
        </p:nvSpPr>
        <p:spPr bwMode="auto">
          <a:xfrm>
            <a:off x="6071708" y="967080"/>
            <a:ext cx="2949846" cy="461665"/>
          </a:xfrm>
          <a:prstGeom prst="rect">
            <a:avLst/>
          </a:prstGeom>
          <a:noFill/>
          <a:ln w="9525">
            <a:noFill/>
            <a:miter lim="800000"/>
            <a:headEnd/>
            <a:tailEnd/>
          </a:ln>
        </p:spPr>
        <p:txBody>
          <a:bodyPr wrap="none">
            <a:spAutoFit/>
          </a:bodyPr>
          <a:lstStyle/>
          <a:p>
            <a:r>
              <a:rPr lang="en-US" altLang="zh-CN" sz="2400" b="1" dirty="0">
                <a:solidFill>
                  <a:schemeClr val="bg1"/>
                </a:solidFill>
                <a:latin typeface="Courier New" panose="02070309020205020404" pitchFamily="49" charset="0"/>
                <a:ea typeface="华文琥珀" pitchFamily="2" charset="-122"/>
                <a:cs typeface="Courier New" panose="02070309020205020404" pitchFamily="49" charset="0"/>
              </a:rPr>
              <a:t>C++ Programming</a:t>
            </a:r>
            <a:endParaRPr lang="zh-CN" altLang="en-US" sz="2400" b="1" dirty="0">
              <a:solidFill>
                <a:schemeClr val="bg1"/>
              </a:solidFill>
              <a:latin typeface="Courier New" panose="02070309020205020404" pitchFamily="49" charset="0"/>
              <a:ea typeface="华文琥珀" pitchFamily="2" charset="-122"/>
              <a:cs typeface="Courier New" panose="02070309020205020404" pitchFamily="49" charset="0"/>
            </a:endParaRPr>
          </a:p>
        </p:txBody>
      </p:sp>
      <p:pic>
        <p:nvPicPr>
          <p:cNvPr id="12" name="图片 11">
            <a:extLst>
              <a:ext uri="{FF2B5EF4-FFF2-40B4-BE49-F238E27FC236}">
                <a16:creationId xmlns:a16="http://schemas.microsoft.com/office/drawing/2014/main" id="{78FEFDBB-86A1-469D-9107-50714EBEFD8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81926878-2EBF-4290-91DE-9CC9B48CF9C1}"/>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2804670758"/>
      </p:ext>
    </p:extLst>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函数返回引用</a:t>
            </a:r>
          </a:p>
        </p:txBody>
      </p:sp>
      <p:sp>
        <p:nvSpPr>
          <p:cNvPr id="3" name="内容占位符 2"/>
          <p:cNvSpPr>
            <a:spLocks noGrp="1"/>
          </p:cNvSpPr>
          <p:nvPr>
            <p:ph idx="1"/>
          </p:nvPr>
        </p:nvSpPr>
        <p:spPr>
          <a:xfrm>
            <a:off x="515890" y="1851037"/>
            <a:ext cx="8031266" cy="4500562"/>
          </a:xfrm>
        </p:spPr>
        <p:txBody>
          <a:bodyPr/>
          <a:lstStyle/>
          <a:p>
            <a:r>
              <a:rPr lang="zh-CN" altLang="en-US" dirty="0"/>
              <a:t>非引用型的函数通常仅返回一个值，而若把函数的返回类型说明为引用类型时，则这个函数除返回一个值外，而且还返回了</a:t>
            </a:r>
            <a:r>
              <a:rPr lang="zh-CN" altLang="en-US" dirty="0">
                <a:solidFill>
                  <a:srgbClr val="FF0000"/>
                </a:solidFill>
              </a:rPr>
              <a:t>该返回值</a:t>
            </a:r>
            <a:r>
              <a:rPr lang="zh-CN" altLang="en-US" dirty="0"/>
              <a:t>的“别名”</a:t>
            </a:r>
            <a:endParaRPr lang="en-US" altLang="zh-CN" dirty="0"/>
          </a:p>
          <a:p>
            <a:pPr lvl="1"/>
            <a:r>
              <a:rPr lang="zh-CN" altLang="en-US" dirty="0"/>
              <a:t>该函数调用的结果还可以被赋值（调用结果可以作左值），相当于对返回值进行赋值。</a:t>
            </a:r>
          </a:p>
        </p:txBody>
      </p:sp>
      <p:sp>
        <p:nvSpPr>
          <p:cNvPr id="16" name="矩形 15">
            <a:hlinkClick r:id="rId2" action="ppaction://hlinksldjump"/>
            <a:extLst>
              <a:ext uri="{FF2B5EF4-FFF2-40B4-BE49-F238E27FC236}">
                <a16:creationId xmlns:a16="http://schemas.microsoft.com/office/drawing/2014/main" id="{04F96E09-89AC-4EF6-9AB6-8F2ED75DA22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54674558-43E6-47A8-BFEF-D0F02ADAD86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7EE54D05-7D80-41DB-B64C-CAF49DD2643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D97CDB32-1757-4BDA-94E5-4F60BF0D894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B0A5CB7F-E96B-4909-A11D-0D815D37CC5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引用参数</a:t>
            </a:r>
          </a:p>
        </p:txBody>
      </p:sp>
      <p:sp>
        <p:nvSpPr>
          <p:cNvPr id="21" name="矩形 20">
            <a:hlinkClick r:id="" action="ppaction://noaction"/>
            <a:extLst>
              <a:ext uri="{FF2B5EF4-FFF2-40B4-BE49-F238E27FC236}">
                <a16:creationId xmlns:a16="http://schemas.microsoft.com/office/drawing/2014/main" id="{06218BB2-C89E-4C43-8659-E4BFECF5B66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7C2656EB-FD6D-4DA0-AFDB-6613315454C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0B7FCF47-1C6F-4C5C-91E2-49979FD76EC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91541303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052736"/>
            <a:ext cx="8472518" cy="502920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6.19】</a:t>
            </a:r>
            <a:r>
              <a:rPr lang="zh-CN" altLang="en-US" dirty="0">
                <a:solidFill>
                  <a:srgbClr val="C00000"/>
                </a:solidFill>
              </a:rPr>
              <a:t>函数返回值做左值举例</a:t>
            </a:r>
            <a:endParaRPr lang="en-US" altLang="zh-CN" dirty="0">
              <a:solidFill>
                <a:srgbClr val="C00000"/>
              </a:solidFill>
            </a:endParaRPr>
          </a:p>
          <a:p>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&lt;iostream&gt;</a:t>
            </a:r>
          </a:p>
          <a:p>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lgn="just">
              <a:spcBef>
                <a:spcPts val="0"/>
              </a:spcBef>
              <a:buNone/>
            </a:pPr>
            <a:r>
              <a:rPr lang="en-US" altLang="zh-CN" sz="2400" b="1" dirty="0">
                <a:solidFill>
                  <a:srgbClr val="0000FF"/>
                </a:solidFill>
                <a:latin typeface="Courier New" pitchFamily="49" charset="0"/>
                <a:cs typeface="Courier New" pitchFamily="49" charset="0"/>
              </a:rPr>
              <a:t>	int</a:t>
            </a:r>
            <a:r>
              <a:rPr lang="en-US" altLang="zh-CN" sz="2400" b="1" dirty="0">
                <a:solidFill>
                  <a:srgbClr val="FF3300"/>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&amp;m,</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&amp;n)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返回值类型为引用类型</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(m&gt;n)</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m;</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n;</a:t>
            </a:r>
          </a:p>
          <a:p>
            <a:pPr algn="just">
              <a:spcBef>
                <a:spcPts val="0"/>
              </a:spcBef>
              <a:buNone/>
            </a:pPr>
            <a:r>
              <a:rPr lang="en-US" altLang="zh-CN" sz="2400" b="1" dirty="0">
                <a:latin typeface="Courier New" pitchFamily="49" charset="0"/>
                <a:cs typeface="Courier New" pitchFamily="49" charset="0"/>
              </a:rPr>
              <a:t>	 }</a:t>
            </a:r>
          </a:p>
          <a:p>
            <a:pPr algn="just">
              <a:spcBef>
                <a:spcPts val="0"/>
              </a:spcBef>
              <a:buNone/>
            </a:pPr>
            <a:r>
              <a:rPr lang="en-US" altLang="zh-CN" sz="2400" dirty="0">
                <a:solidFill>
                  <a:srgbClr val="0000FF"/>
                </a:solidFill>
                <a:latin typeface="Courier New" pitchFamily="49" charset="0"/>
                <a:cs typeface="Courier New" pitchFamily="49" charset="0"/>
              </a:rPr>
              <a:t>  </a:t>
            </a:r>
            <a:r>
              <a:rPr lang="en-US" altLang="zh-CN" sz="2400" dirty="0">
                <a:solidFill>
                  <a:srgbClr val="007434"/>
                </a:solidFill>
                <a:latin typeface="Courier New" pitchFamily="49" charset="0"/>
                <a:cs typeface="Courier New" pitchFamily="49" charset="0"/>
              </a:rPr>
              <a:t>//</a:t>
            </a:r>
            <a:r>
              <a:rPr lang="zh-CN" altLang="en-US" sz="2400" dirty="0">
                <a:solidFill>
                  <a:srgbClr val="007434"/>
                </a:solidFill>
                <a:latin typeface="Courier New" pitchFamily="49" charset="0"/>
                <a:cs typeface="Courier New" pitchFamily="49" charset="0"/>
              </a:rPr>
              <a:t>由于函数类型为引用，返回的必须是</a:t>
            </a:r>
            <a:r>
              <a:rPr lang="zh-CN" altLang="en-US" sz="2400" dirty="0">
                <a:solidFill>
                  <a:srgbClr val="C00000"/>
                </a:solidFill>
                <a:latin typeface="Courier New" pitchFamily="49" charset="0"/>
                <a:cs typeface="Courier New" pitchFamily="49" charset="0"/>
              </a:rPr>
              <a:t>变量</a:t>
            </a:r>
            <a:r>
              <a:rPr lang="zh-CN" altLang="en-US" sz="2400" dirty="0">
                <a:solidFill>
                  <a:srgbClr val="007434"/>
                </a:solidFill>
                <a:latin typeface="Courier New" pitchFamily="49" charset="0"/>
                <a:cs typeface="Courier New" pitchFamily="49" charset="0"/>
              </a:rPr>
              <a:t>（可作左值）</a:t>
            </a:r>
            <a:endParaRPr lang="en-US" altLang="zh-CN" sz="2400" dirty="0">
              <a:solidFill>
                <a:srgbClr val="007434"/>
              </a:solidFill>
              <a:latin typeface="Courier New" pitchFamily="49" charset="0"/>
              <a:cs typeface="Courier New" pitchFamily="49" charset="0"/>
            </a:endParaRPr>
          </a:p>
          <a:p>
            <a:pPr algn="just">
              <a:spcBef>
                <a:spcPts val="0"/>
              </a:spcBef>
              <a:buNone/>
            </a:pPr>
            <a:r>
              <a:rPr lang="en-US" altLang="zh-CN" sz="2400" dirty="0">
                <a:solidFill>
                  <a:srgbClr val="007434"/>
                </a:solidFill>
                <a:latin typeface="Courier New" pitchFamily="49" charset="0"/>
                <a:cs typeface="Courier New" pitchFamily="49" charset="0"/>
              </a:rPr>
              <a:t>	//</a:t>
            </a:r>
            <a:r>
              <a:rPr lang="zh-CN" altLang="en-US" sz="2400" dirty="0">
                <a:solidFill>
                  <a:srgbClr val="007434"/>
                </a:solidFill>
                <a:latin typeface="Courier New" pitchFamily="49" charset="0"/>
                <a:cs typeface="Courier New" pitchFamily="49" charset="0"/>
              </a:rPr>
              <a:t>函数</a:t>
            </a:r>
            <a:r>
              <a:rPr lang="en-US" altLang="zh-CN" sz="2400" dirty="0" err="1">
                <a:solidFill>
                  <a:srgbClr val="007434"/>
                </a:solidFill>
                <a:latin typeface="Courier New" pitchFamily="49" charset="0"/>
                <a:cs typeface="Courier New" pitchFamily="49" charset="0"/>
              </a:rPr>
              <a:t>maxr</a:t>
            </a:r>
            <a:r>
              <a:rPr lang="zh-CN" altLang="en-US" sz="2400" dirty="0">
                <a:solidFill>
                  <a:srgbClr val="007434"/>
                </a:solidFill>
                <a:latin typeface="Courier New" pitchFamily="49" charset="0"/>
                <a:cs typeface="Courier New" pitchFamily="49" charset="0"/>
              </a:rPr>
              <a:t>调用表达式是返回值</a:t>
            </a:r>
            <a:r>
              <a:rPr lang="en-US" altLang="zh-CN" sz="2400" dirty="0">
                <a:solidFill>
                  <a:srgbClr val="007434"/>
                </a:solidFill>
                <a:latin typeface="Courier New" pitchFamily="49" charset="0"/>
                <a:cs typeface="Courier New" pitchFamily="49" charset="0"/>
              </a:rPr>
              <a:t>m</a:t>
            </a:r>
            <a:r>
              <a:rPr lang="zh-CN" altLang="en-US" sz="2400" dirty="0">
                <a:solidFill>
                  <a:srgbClr val="007434"/>
                </a:solidFill>
                <a:latin typeface="Courier New" pitchFamily="49" charset="0"/>
                <a:cs typeface="Courier New" pitchFamily="49" charset="0"/>
              </a:rPr>
              <a:t>或者</a:t>
            </a:r>
            <a:r>
              <a:rPr lang="en-US" altLang="zh-CN" sz="2400" dirty="0">
                <a:solidFill>
                  <a:srgbClr val="007434"/>
                </a:solidFill>
                <a:latin typeface="Courier New" pitchFamily="49" charset="0"/>
                <a:cs typeface="Courier New" pitchFamily="49" charset="0"/>
              </a:rPr>
              <a:t>n</a:t>
            </a:r>
            <a:r>
              <a:rPr lang="zh-CN" altLang="en-US" sz="2400" dirty="0">
                <a:solidFill>
                  <a:srgbClr val="007434"/>
                </a:solidFill>
                <a:latin typeface="Courier New" pitchFamily="49" charset="0"/>
                <a:cs typeface="Courier New" pitchFamily="49" charset="0"/>
              </a:rPr>
              <a:t>（也就是形参）</a:t>
            </a:r>
            <a:endParaRPr lang="en-US" altLang="zh-CN" sz="2400" dirty="0">
              <a:solidFill>
                <a:srgbClr val="007434"/>
              </a:solidFill>
              <a:latin typeface="Courier New" pitchFamily="49" charset="0"/>
              <a:cs typeface="Courier New" pitchFamily="49" charset="0"/>
            </a:endParaRPr>
          </a:p>
          <a:p>
            <a:pPr algn="just">
              <a:spcBef>
                <a:spcPts val="0"/>
              </a:spcBef>
              <a:buNone/>
            </a:pPr>
            <a:r>
              <a:rPr lang="en-US" altLang="zh-CN" sz="2400" dirty="0">
                <a:solidFill>
                  <a:srgbClr val="007434"/>
                </a:solidFill>
                <a:latin typeface="Courier New" pitchFamily="49" charset="0"/>
                <a:cs typeface="Courier New" pitchFamily="49" charset="0"/>
              </a:rPr>
              <a:t>	//</a:t>
            </a:r>
            <a:r>
              <a:rPr lang="zh-CN" altLang="en-US" sz="2400" dirty="0">
                <a:solidFill>
                  <a:srgbClr val="007434"/>
                </a:solidFill>
                <a:latin typeface="Courier New" pitchFamily="49" charset="0"/>
                <a:cs typeface="Courier New" pitchFamily="49" charset="0"/>
              </a:rPr>
              <a:t>的引用，同时也是</a:t>
            </a:r>
            <a:r>
              <a:rPr lang="en-US" altLang="zh-CN" sz="2400" dirty="0">
                <a:solidFill>
                  <a:srgbClr val="007434"/>
                </a:solidFill>
                <a:latin typeface="Courier New" pitchFamily="49" charset="0"/>
                <a:cs typeface="Courier New" pitchFamily="49" charset="0"/>
              </a:rPr>
              <a:t>m</a:t>
            </a:r>
            <a:r>
              <a:rPr lang="zh-CN" altLang="en-US" sz="2400" dirty="0">
                <a:solidFill>
                  <a:srgbClr val="007434"/>
                </a:solidFill>
                <a:latin typeface="Courier New" pitchFamily="49" charset="0"/>
                <a:cs typeface="Courier New" pitchFamily="49" charset="0"/>
              </a:rPr>
              <a:t>和</a:t>
            </a:r>
            <a:r>
              <a:rPr lang="en-US" altLang="zh-CN" sz="2400" dirty="0">
                <a:solidFill>
                  <a:srgbClr val="007434"/>
                </a:solidFill>
                <a:latin typeface="Courier New" pitchFamily="49" charset="0"/>
                <a:cs typeface="Courier New" pitchFamily="49" charset="0"/>
              </a:rPr>
              <a:t>n</a:t>
            </a:r>
            <a:r>
              <a:rPr lang="zh-CN" altLang="en-US" sz="2400" dirty="0">
                <a:solidFill>
                  <a:srgbClr val="007434"/>
                </a:solidFill>
                <a:latin typeface="Courier New" pitchFamily="49" charset="0"/>
                <a:cs typeface="Courier New" pitchFamily="49" charset="0"/>
              </a:rPr>
              <a:t>对应实参的引用</a:t>
            </a:r>
          </a:p>
        </p:txBody>
      </p:sp>
      <p:sp>
        <p:nvSpPr>
          <p:cNvPr id="13" name="矩形 12">
            <a:hlinkClick r:id="rId3" action="ppaction://hlinksldjump"/>
            <a:extLst>
              <a:ext uri="{FF2B5EF4-FFF2-40B4-BE49-F238E27FC236}">
                <a16:creationId xmlns:a16="http://schemas.microsoft.com/office/drawing/2014/main" id="{C1C283A0-31FF-4FD6-B21E-212A2D1542C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345C4EC1-02D2-44E7-BE22-7D46EB49AAE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596F9DC4-0070-4924-9FCD-F5F3E2C0369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44745FF9-B2FE-421F-8099-912E340DEDC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BFC0E848-B7AC-4316-9F51-40069F50186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引用参数</a:t>
            </a:r>
          </a:p>
        </p:txBody>
      </p:sp>
      <p:sp>
        <p:nvSpPr>
          <p:cNvPr id="18" name="矩形 17">
            <a:hlinkClick r:id="" action="ppaction://noaction"/>
            <a:extLst>
              <a:ext uri="{FF2B5EF4-FFF2-40B4-BE49-F238E27FC236}">
                <a16:creationId xmlns:a16="http://schemas.microsoft.com/office/drawing/2014/main" id="{56C62AA6-BA3C-424C-B290-54FF815E037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930DFBCA-1DFB-4BDF-AD56-F9E57709C1E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CA32425F-7316-42A3-9608-78F01F155FD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7942681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0253" y="1412776"/>
            <a:ext cx="8229600" cy="4500562"/>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a:spcBef>
                <a:spcPts val="0"/>
              </a:spcBef>
              <a:buNone/>
            </a:pP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a=2, b=4, c;</a:t>
            </a:r>
          </a:p>
          <a:p>
            <a:pPr algn="just">
              <a:spcBef>
                <a:spcPts val="0"/>
              </a:spcBef>
              <a:buNone/>
            </a:pPr>
            <a:r>
              <a:rPr lang="en-US" altLang="zh-CN" sz="2400" b="1" dirty="0">
                <a:latin typeface="Courier New" pitchFamily="49" charset="0"/>
                <a:cs typeface="Courier New" pitchFamily="49" charset="0"/>
              </a:rPr>
              <a:t>		c=</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一般性调用，使</a:t>
            </a:r>
            <a:r>
              <a:rPr lang="en-US" altLang="zh-CN" sz="2400" b="1" dirty="0">
                <a:solidFill>
                  <a:srgbClr val="007434"/>
                </a:solidFill>
                <a:latin typeface="Courier New" pitchFamily="49" charset="0"/>
                <a:cs typeface="Courier New" pitchFamily="49" charset="0"/>
              </a:rPr>
              <a:t>c</a:t>
            </a:r>
            <a:r>
              <a:rPr lang="zh-CN" altLang="en-US" sz="2400" b="1" dirty="0">
                <a:solidFill>
                  <a:srgbClr val="007434"/>
                </a:solidFill>
                <a:latin typeface="Courier New" pitchFamily="49" charset="0"/>
                <a:cs typeface="Courier New" pitchFamily="49" charset="0"/>
              </a:rPr>
              <a:t>值为4</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)=88;</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函数调用结果相当于变量</a:t>
            </a:r>
            <a:r>
              <a:rPr lang="en-US" altLang="zh-CN" sz="2400" b="1" dirty="0">
                <a:solidFill>
                  <a:srgbClr val="007434"/>
                </a:solidFill>
                <a:latin typeface="Courier New" pitchFamily="49" charset="0"/>
                <a:cs typeface="Courier New" pitchFamily="49" charset="0"/>
              </a:rPr>
              <a:t>b		</a:t>
            </a:r>
            <a:r>
              <a:rPr lang="zh-CN" altLang="en-US" sz="2400" b="1" dirty="0">
                <a:solidFill>
                  <a:srgbClr val="007434"/>
                </a:solidFill>
                <a:latin typeface="Courier New" pitchFamily="49" charset="0"/>
                <a:cs typeface="Courier New" pitchFamily="49" charset="0"/>
              </a:rPr>
              <a:t>的“别名”，可以作左值! 使</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值变为88</a:t>
            </a:r>
            <a:r>
              <a:rPr lang="en-US" altLang="zh-CN" sz="2400" b="1" dirty="0">
                <a:solidFill>
                  <a:srgbClr val="007434"/>
                </a:solidFill>
                <a:latin typeface="Courier New" pitchFamily="49" charset="0"/>
                <a:cs typeface="Courier New" pitchFamily="49" charset="0"/>
              </a:rPr>
              <a:t>*/</a:t>
            </a:r>
            <a:endParaRPr lang="zh-CN" altLang="en-US" sz="2400" b="1" dirty="0">
              <a:solidFill>
                <a:srgbClr val="007434"/>
              </a:solidFill>
              <a:latin typeface="Courier New" pitchFamily="49" charset="0"/>
              <a:cs typeface="Courier New" pitchFamily="49" charset="0"/>
            </a:endParaRP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函数调用结果相当于变量</a:t>
            </a:r>
            <a:r>
              <a:rPr lang="en-US" altLang="zh-CN" sz="2400" b="1" dirty="0">
                <a:solidFill>
                  <a:srgbClr val="007434"/>
                </a:solidFill>
                <a:latin typeface="Courier New" pitchFamily="49" charset="0"/>
                <a:cs typeface="Courier New" pitchFamily="49" charset="0"/>
              </a:rPr>
              <a:t>b		</a:t>
            </a:r>
            <a:r>
              <a:rPr lang="zh-CN" altLang="en-US" sz="2400" b="1" dirty="0">
                <a:solidFill>
                  <a:srgbClr val="007434"/>
                </a:solidFill>
                <a:latin typeface="Courier New" pitchFamily="49" charset="0"/>
                <a:cs typeface="Courier New" pitchFamily="49" charset="0"/>
              </a:rPr>
              <a:t>的“别名”，可以作左值! 使</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值增加1</a:t>
            </a:r>
            <a:r>
              <a:rPr lang="en-US" altLang="zh-CN" sz="2400" b="1" dirty="0">
                <a:solidFill>
                  <a:srgbClr val="007434"/>
                </a:solidFill>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0;</a:t>
            </a:r>
          </a:p>
          <a:p>
            <a:pPr algn="just">
              <a:spcBef>
                <a:spcPts val="0"/>
              </a:spcBef>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p:txBody>
      </p:sp>
      <p:sp>
        <p:nvSpPr>
          <p:cNvPr id="13" name="矩形 12">
            <a:hlinkClick r:id="rId2" action="ppaction://hlinksldjump"/>
            <a:extLst>
              <a:ext uri="{FF2B5EF4-FFF2-40B4-BE49-F238E27FC236}">
                <a16:creationId xmlns:a16="http://schemas.microsoft.com/office/drawing/2014/main" id="{935458A0-3135-40A3-B0FE-85CCB37A83B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6D376674-06EC-4215-8B3A-6EFA06C7B46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42A98647-7656-4C4B-8CBA-BB87FE3DD16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173F1CB9-C33D-4860-B98D-7C9EB0220E0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4EF0ACC2-56E7-422F-A580-C532239749D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引用参数</a:t>
            </a:r>
          </a:p>
        </p:txBody>
      </p:sp>
      <p:sp>
        <p:nvSpPr>
          <p:cNvPr id="20" name="矩形 19">
            <a:hlinkClick r:id="" action="ppaction://noaction"/>
            <a:extLst>
              <a:ext uri="{FF2B5EF4-FFF2-40B4-BE49-F238E27FC236}">
                <a16:creationId xmlns:a16="http://schemas.microsoft.com/office/drawing/2014/main" id="{2A4E4B59-217A-4846-AFC9-290176CB4E9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93D5C65E-809E-4CED-9339-C09C8C7F828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9BFB0183-2094-4C81-A84C-DFAE6FEEC24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2854329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6.20】</a:t>
            </a:r>
            <a:r>
              <a:rPr lang="zh-CN" altLang="en-US" dirty="0">
                <a:solidFill>
                  <a:srgbClr val="C00000"/>
                </a:solidFill>
              </a:rPr>
              <a:t>引用参数及返回引用的函数</a:t>
            </a:r>
            <a:endParaRPr lang="en-US" altLang="zh-CN" dirty="0">
              <a:solidFill>
                <a:srgbClr val="C00000"/>
              </a:solidFill>
            </a:endParaRPr>
          </a:p>
          <a:p>
            <a:pPr lvl="1"/>
            <a:r>
              <a:rPr lang="zh-CN" altLang="en-US" dirty="0"/>
              <a:t>二形参均为引用参数，函数的返回类型也为引用，且返回的是某一个引用参数，可达到作为左值的目的，起到了一个独立变量的作用</a:t>
            </a:r>
            <a:endParaRPr lang="en-US" altLang="zh-CN" dirty="0"/>
          </a:p>
          <a:p>
            <a:pPr algn="just">
              <a:lnSpc>
                <a:spcPct val="85000"/>
              </a:lnSpc>
              <a:spcBef>
                <a:spcPts val="0"/>
              </a:spcBef>
              <a:buNone/>
            </a:pPr>
            <a:endParaRPr lang="en-US" altLang="zh-CN" sz="2400" dirty="0">
              <a:solidFill>
                <a:schemeClr val="tx2"/>
              </a:solidFill>
              <a:latin typeface="Courier New" pitchFamily="49" charset="0"/>
              <a:cs typeface="Courier New" pitchFamily="49" charset="0"/>
            </a:endParaRPr>
          </a:p>
          <a:p>
            <a:pPr algn="just">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&lt;iostream&gt;</a:t>
            </a:r>
          </a:p>
          <a:p>
            <a:pPr algn="just">
              <a:spcBef>
                <a:spcPts val="0"/>
              </a:spcBef>
              <a:buNone/>
            </a:pPr>
            <a:r>
              <a:rPr lang="en-US" altLang="zh-CN" sz="2400" b="1" dirty="0">
                <a:solidFill>
                  <a:srgbClr val="0000FF"/>
                </a:solidFill>
                <a:latin typeface="Courier New" pitchFamily="49" charset="0"/>
                <a:cs typeface="Courier New" pitchFamily="49" charset="0"/>
              </a:rPr>
              <a:t>using</a:t>
            </a:r>
            <a:r>
              <a:rPr lang="en-US" altLang="zh-CN" sz="2400" b="1" dirty="0">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namespace</a:t>
            </a:r>
            <a:r>
              <a:rPr lang="en-US" altLang="zh-CN" sz="2400" b="1" dirty="0">
                <a:latin typeface="Courier New" pitchFamily="49" charset="0"/>
                <a:cs typeface="Courier New" pitchFamily="49" charset="0"/>
              </a:rPr>
              <a:t> std;</a:t>
            </a:r>
          </a:p>
          <a:p>
            <a:pPr algn="just">
              <a:spcBef>
                <a:spcPts val="0"/>
              </a:spcBef>
              <a:buNone/>
            </a:pPr>
            <a:r>
              <a:rPr lang="en-US" altLang="zh-CN" sz="2400" b="1" dirty="0">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&amp;m,</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&amp;n)</a:t>
            </a:r>
          </a:p>
          <a:p>
            <a:pPr algn="just">
              <a:spcBef>
                <a:spcPts val="0"/>
              </a:spcBef>
              <a:buNone/>
            </a:pPr>
            <a:r>
              <a:rPr lang="zh-CN" altLang="en-US" sz="2400" b="1" dirty="0">
                <a:latin typeface="Courier New" pitchFamily="49" charset="0"/>
                <a:cs typeface="Courier New" pitchFamily="49" charset="0"/>
              </a:rPr>
              <a:t>{</a:t>
            </a:r>
          </a:p>
          <a:p>
            <a:pPr algn="just">
              <a:spcBef>
                <a:spcPts val="0"/>
              </a:spcBef>
              <a:buNone/>
            </a:pPr>
            <a:r>
              <a:rPr lang="zh-CN" altLang="en-US" sz="2400" b="1" dirty="0">
                <a:latin typeface="Courier New" pitchFamily="49" charset="0"/>
                <a:cs typeface="Courier New" pitchFamily="49" charset="0"/>
              </a:rPr>
              <a:t>    </a:t>
            </a:r>
            <a:r>
              <a:rPr lang="en-US" altLang="zh-CN" sz="2400" b="1" dirty="0">
                <a:latin typeface="Courier New" pitchFamily="49" charset="0"/>
                <a:cs typeface="Courier New" pitchFamily="49" charset="0"/>
              </a:rPr>
              <a:t>if(m&gt;n)</a:t>
            </a:r>
          </a:p>
          <a:p>
            <a:pPr algn="just">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返回变量（可作左值）</a:t>
            </a:r>
          </a:p>
          <a:p>
            <a:pPr algn="just">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lgn="just">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17" name="矩形 16">
            <a:hlinkClick r:id="rId3" action="ppaction://hlinksldjump"/>
            <a:extLst>
              <a:ext uri="{FF2B5EF4-FFF2-40B4-BE49-F238E27FC236}">
                <a16:creationId xmlns:a16="http://schemas.microsoft.com/office/drawing/2014/main" id="{F0083B7C-9A8E-46E8-948A-43AC791B391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9571E156-8EAC-4EE5-A508-10D29C941AB0}"/>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110C70ED-8C7F-4F45-8947-E3209CD5141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0" name="矩形 19">
            <a:hlinkClick r:id="" action="ppaction://noaction"/>
            <a:extLst>
              <a:ext uri="{FF2B5EF4-FFF2-40B4-BE49-F238E27FC236}">
                <a16:creationId xmlns:a16="http://schemas.microsoft.com/office/drawing/2014/main" id="{3407A828-8E74-4033-8F44-0AB6045384C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76F2A6D1-4D73-428F-86FD-FCD329A9799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引用参数</a:t>
            </a:r>
          </a:p>
        </p:txBody>
      </p:sp>
      <p:sp>
        <p:nvSpPr>
          <p:cNvPr id="22" name="矩形 21">
            <a:hlinkClick r:id="" action="ppaction://noaction"/>
            <a:extLst>
              <a:ext uri="{FF2B5EF4-FFF2-40B4-BE49-F238E27FC236}">
                <a16:creationId xmlns:a16="http://schemas.microsoft.com/office/drawing/2014/main" id="{0AB0FCDE-305F-44AD-A2BE-A1740AC67D8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3" name="矩形 22">
            <a:hlinkClick r:id="" action="ppaction://noaction"/>
            <a:extLst>
              <a:ext uri="{FF2B5EF4-FFF2-40B4-BE49-F238E27FC236}">
                <a16:creationId xmlns:a16="http://schemas.microsoft.com/office/drawing/2014/main" id="{D9E9E22D-7C20-4020-90FE-EAB55BD7B29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4" name="矩形 23">
            <a:hlinkClick r:id="" action="ppaction://noaction"/>
            <a:extLst>
              <a:ext uri="{FF2B5EF4-FFF2-40B4-BE49-F238E27FC236}">
                <a16:creationId xmlns:a16="http://schemas.microsoft.com/office/drawing/2014/main" id="{04F98658-BE04-4197-A08F-E1497B3B022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83016962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60" y="1052736"/>
            <a:ext cx="8858280" cy="5348310"/>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a=3, b=5, c=0;</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5, 0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c=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（以及</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的值）</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5, 5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)=2;</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，而后为</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重新赋值</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2, 5</a:t>
            </a:r>
          </a:p>
          <a:p>
            <a:pPr algn="just">
              <a:lnSpc>
                <a:spcPct val="90000"/>
              </a:lnSpc>
              <a:spcBef>
                <a:spcPts val="0"/>
              </a:spcBef>
              <a:buNone/>
            </a:pPr>
            <a:r>
              <a:rPr lang="en-US" altLang="zh-CN" sz="2400" b="1" dirty="0">
                <a:solidFill>
                  <a:srgbClr val="0000FF"/>
                </a:solidFill>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，而后实现</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值加1</a:t>
            </a:r>
          </a:p>
          <a:p>
            <a:pPr algn="just">
              <a:lnSpc>
                <a:spcPct val="90000"/>
              </a:lnSpc>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4</a:t>
            </a:r>
            <a:r>
              <a:rPr lang="en-US" altLang="zh-CN" sz="2400" b="1">
                <a:solidFill>
                  <a:srgbClr val="007434"/>
                </a:solidFill>
                <a:latin typeface="Courier New" pitchFamily="49" charset="0"/>
                <a:cs typeface="Courier New" pitchFamily="49" charset="0"/>
              </a:rPr>
              <a:t>, 2, </a:t>
            </a:r>
            <a:r>
              <a:rPr lang="en-US" altLang="zh-CN" sz="2400" b="1" dirty="0">
                <a:solidFill>
                  <a:srgbClr val="007434"/>
                </a:solidFill>
                <a:latin typeface="Courier New" pitchFamily="49" charset="0"/>
                <a:cs typeface="Courier New" pitchFamily="49" charset="0"/>
              </a:rPr>
              <a:t>5</a:t>
            </a:r>
          </a:p>
          <a:p>
            <a:pPr algn="just">
              <a:lnSpc>
                <a:spcPct val="90000"/>
              </a:lnSpc>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15" name="矩形 14">
            <a:hlinkClick r:id="rId2" action="ppaction://hlinksldjump"/>
            <a:extLst>
              <a:ext uri="{FF2B5EF4-FFF2-40B4-BE49-F238E27FC236}">
                <a16:creationId xmlns:a16="http://schemas.microsoft.com/office/drawing/2014/main" id="{C03AE207-33F6-4261-BC40-D42FE40DD58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FECD7CCB-43FD-4988-A01C-0303EB1F206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7" name="矩形 16">
            <a:hlinkClick r:id="" action="ppaction://noaction"/>
            <a:extLst>
              <a:ext uri="{FF2B5EF4-FFF2-40B4-BE49-F238E27FC236}">
                <a16:creationId xmlns:a16="http://schemas.microsoft.com/office/drawing/2014/main" id="{73AE3C23-8EF3-4352-97B5-599C7E1F6F5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8A7D7890-05B9-4F73-9A81-F47DF6DD6F7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F7B58505-9377-40E8-AC6C-11153BC4BAD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引用参数</a:t>
            </a:r>
          </a:p>
        </p:txBody>
      </p:sp>
      <p:sp>
        <p:nvSpPr>
          <p:cNvPr id="20" name="矩形 19">
            <a:hlinkClick r:id="" action="ppaction://noaction"/>
            <a:extLst>
              <a:ext uri="{FF2B5EF4-FFF2-40B4-BE49-F238E27FC236}">
                <a16:creationId xmlns:a16="http://schemas.microsoft.com/office/drawing/2014/main" id="{43291FC0-8CBE-41F7-A162-06BA35039E5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1" name="矩形 20">
            <a:hlinkClick r:id="" action="ppaction://noaction"/>
            <a:extLst>
              <a:ext uri="{FF2B5EF4-FFF2-40B4-BE49-F238E27FC236}">
                <a16:creationId xmlns:a16="http://schemas.microsoft.com/office/drawing/2014/main" id="{5AF04538-7FD2-4EC5-87A6-DAAEC623753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22" name="矩形 21">
            <a:hlinkClick r:id="" action="ppaction://noaction"/>
            <a:extLst>
              <a:ext uri="{FF2B5EF4-FFF2-40B4-BE49-F238E27FC236}">
                <a16:creationId xmlns:a16="http://schemas.microsoft.com/office/drawing/2014/main" id="{8026AFD2-28DA-405A-A0C4-3E6D6463D06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60832205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lgn="just">
              <a:lnSpc>
                <a:spcPct val="90000"/>
              </a:lnSpc>
              <a:buNone/>
            </a:pPr>
            <a:endParaRPr lang="en-US" altLang="zh-CN" dirty="0">
              <a:solidFill>
                <a:schemeClr val="tx2"/>
              </a:solidFill>
              <a:latin typeface="Courier New" pitchFamily="49" charset="0"/>
              <a:cs typeface="Courier New" pitchFamily="49" charset="0"/>
            </a:endParaRPr>
          </a:p>
          <a:p>
            <a:pPr algn="just">
              <a:lnSpc>
                <a:spcPct val="90000"/>
              </a:lnSpc>
              <a:buNone/>
            </a:pPr>
            <a:r>
              <a:rPr lang="en-US" altLang="zh-CN" b="1" dirty="0">
                <a:latin typeface="Courier New" pitchFamily="49" charset="0"/>
                <a:cs typeface="Courier New" pitchFamily="49" charset="0"/>
              </a:rPr>
              <a:t>a, b, c = 3, 5, 0</a:t>
            </a:r>
          </a:p>
          <a:p>
            <a:pPr algn="just">
              <a:lnSpc>
                <a:spcPct val="90000"/>
              </a:lnSpc>
              <a:buNone/>
            </a:pPr>
            <a:r>
              <a:rPr lang="en-US" altLang="zh-CN" b="1" dirty="0">
                <a:latin typeface="Courier New" pitchFamily="49" charset="0"/>
                <a:cs typeface="Courier New" pitchFamily="49" charset="0"/>
              </a:rPr>
              <a:t>a, b, c = 3, 5, 5</a:t>
            </a:r>
          </a:p>
          <a:p>
            <a:pPr algn="just">
              <a:lnSpc>
                <a:spcPct val="90000"/>
              </a:lnSpc>
              <a:buNone/>
            </a:pPr>
            <a:r>
              <a:rPr lang="en-US" altLang="zh-CN" b="1" dirty="0">
                <a:latin typeface="Courier New" pitchFamily="49" charset="0"/>
                <a:cs typeface="Courier New" pitchFamily="49" charset="0"/>
              </a:rPr>
              <a:t>a, b, c = 3, 2, 5</a:t>
            </a:r>
          </a:p>
          <a:p>
            <a:pPr algn="just">
              <a:lnSpc>
                <a:spcPct val="90000"/>
              </a:lnSpc>
              <a:buNone/>
            </a:pPr>
            <a:r>
              <a:rPr lang="en-US" altLang="zh-CN" b="1" dirty="0">
                <a:latin typeface="Courier New" pitchFamily="49" charset="0"/>
                <a:cs typeface="Courier New" pitchFamily="49" charset="0"/>
              </a:rPr>
              <a:t>a, b, c = 4, 2, 5</a:t>
            </a:r>
          </a:p>
          <a:p>
            <a:pPr>
              <a:buNone/>
            </a:pPr>
            <a:endParaRPr lang="zh-CN" altLang="en-US" dirty="0"/>
          </a:p>
        </p:txBody>
      </p:sp>
      <p:sp>
        <p:nvSpPr>
          <p:cNvPr id="12" name="矩形 11">
            <a:hlinkClick r:id="rId2" action="ppaction://hlinksldjump"/>
            <a:extLst>
              <a:ext uri="{FF2B5EF4-FFF2-40B4-BE49-F238E27FC236}">
                <a16:creationId xmlns:a16="http://schemas.microsoft.com/office/drawing/2014/main" id="{1A6DD9BD-0FA2-4FFC-90DD-5FF89781674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指针与</a:t>
            </a:r>
            <a:r>
              <a:rPr lang="zh-CN" altLang="en-US" sz="1200" b="1" dirty="0">
                <a:solidFill>
                  <a:prstClr val="white"/>
                </a:solidFill>
                <a:latin typeface="Courier New" pitchFamily="49" charset="0"/>
                <a:cs typeface="Courier New" pitchFamily="49" charset="0"/>
              </a:rPr>
              <a:t>函数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3" name="矩形 12">
            <a:hlinkClick r:id="" action="ppaction://noaction"/>
            <a:extLst>
              <a:ext uri="{FF2B5EF4-FFF2-40B4-BE49-F238E27FC236}">
                <a16:creationId xmlns:a16="http://schemas.microsoft.com/office/drawing/2014/main" id="{2257EEA9-453C-4DF2-A800-7C9FDA77738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动态内存</a:t>
            </a:r>
            <a:r>
              <a:rPr lang="zh-CN" altLang="en-US" sz="1200" b="1" dirty="0">
                <a:solidFill>
                  <a:prstClr val="white"/>
                </a:solidFill>
                <a:latin typeface="Courier New" pitchFamily="49" charset="0"/>
                <a:cs typeface="Courier New" pitchFamily="49" charset="0"/>
              </a:rPr>
              <a:t>分配 □</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4" name="矩形 13">
            <a:hlinkClick r:id="" action="ppaction://noaction"/>
            <a:extLst>
              <a:ext uri="{FF2B5EF4-FFF2-40B4-BE49-F238E27FC236}">
                <a16:creationId xmlns:a16="http://schemas.microsoft.com/office/drawing/2014/main" id="{04C55447-DC78-4C41-A49B-EC685C10F4A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引用类型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5" name="矩形 14">
            <a:hlinkClick r:id="" action="ppaction://noaction"/>
            <a:extLst>
              <a:ext uri="{FF2B5EF4-FFF2-40B4-BE49-F238E27FC236}">
                <a16:creationId xmlns:a16="http://schemas.microsoft.com/office/drawing/2014/main" id="{F10E4727-C670-46D8-AED8-866E0EEFF5E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r">
              <a:defRPr/>
            </a:pPr>
            <a:r>
              <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rPr>
              <a:t>引用与函数 </a:t>
            </a:r>
            <a:r>
              <a:rPr lang="zh-CN" altLang="en-US" sz="1200" b="1" dirty="0">
                <a:solidFill>
                  <a:prstClr val="white"/>
                </a:solidFill>
                <a:latin typeface="Courier New" pitchFamily="49" charset="0"/>
                <a:cs typeface="Courier New" pitchFamily="49" charset="0"/>
              </a:rPr>
              <a:t>■</a:t>
            </a:r>
            <a:endParaRPr kumimoji="0" lang="zh-CN" altLang="en-US" sz="1200" b="1" i="0" u="none" strike="noStrike" kern="1200" cap="none" spc="0" normalizeH="0" baseline="0" noProof="0" dirty="0">
              <a:ln>
                <a:noFill/>
              </a:ln>
              <a:solidFill>
                <a:prstClr val="white"/>
              </a:solidFill>
              <a:effectLst/>
              <a:uLnTx/>
              <a:uFillTx/>
              <a:latin typeface="Courier New" pitchFamily="49" charset="0"/>
              <a:ea typeface="黑体" panose="02010609060101010101" pitchFamily="49" charset="-122"/>
              <a:cs typeface="Courier New" pitchFamily="49" charset="0"/>
            </a:endParaRPr>
          </a:p>
        </p:txBody>
      </p:sp>
      <p:sp>
        <p:nvSpPr>
          <p:cNvPr id="16" name="矩形 15">
            <a:hlinkClick r:id="" action="ppaction://noaction"/>
            <a:extLst>
              <a:ext uri="{FF2B5EF4-FFF2-40B4-BE49-F238E27FC236}">
                <a16:creationId xmlns:a16="http://schemas.microsoft.com/office/drawing/2014/main" id="{ADCB2C0A-6FDE-4CDC-BA51-A6F348801A6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a:t>
            </a:r>
            <a:r>
              <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rPr>
              <a:t> 引用参数</a:t>
            </a:r>
          </a:p>
        </p:txBody>
      </p:sp>
      <p:sp>
        <p:nvSpPr>
          <p:cNvPr id="17" name="矩形 16">
            <a:hlinkClick r:id="" action="ppaction://noaction"/>
            <a:extLst>
              <a:ext uri="{FF2B5EF4-FFF2-40B4-BE49-F238E27FC236}">
                <a16:creationId xmlns:a16="http://schemas.microsoft.com/office/drawing/2014/main" id="{3D2B69AC-CB11-4F8F-9F46-FDDB9905C4B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r>
              <a:rPr lang="zh-CN" altLang="en-US" sz="1200" b="1" dirty="0">
                <a:solidFill>
                  <a:srgbClr val="820064"/>
                </a:solidFill>
                <a:latin typeface="Courier New" pitchFamily="49" charset="0"/>
                <a:cs typeface="Courier New" pitchFamily="49" charset="0"/>
              </a:rPr>
              <a:t>■ 函数返回引用</a:t>
            </a: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8" name="矩形 17">
            <a:hlinkClick r:id="" action="ppaction://noaction"/>
            <a:extLst>
              <a:ext uri="{FF2B5EF4-FFF2-40B4-BE49-F238E27FC236}">
                <a16:creationId xmlns:a16="http://schemas.microsoft.com/office/drawing/2014/main" id="{451DC242-4F8D-4315-B18B-46D04B32C76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kumimoji="0" lang="zh-CN" altLang="en-US" sz="1200" b="1" i="0" u="none" strike="noStrike" kern="1200" cap="none" spc="0" normalizeH="0" baseline="0" noProof="0" dirty="0">
              <a:ln>
                <a:noFill/>
              </a:ln>
              <a:solidFill>
                <a:srgbClr val="820064"/>
              </a:solidFill>
              <a:effectLst/>
              <a:uLnTx/>
              <a:uFillTx/>
              <a:latin typeface="Courier New" pitchFamily="49" charset="0"/>
              <a:ea typeface="黑体" panose="02010609060101010101" pitchFamily="49" charset="-122"/>
              <a:cs typeface="Courier New" pitchFamily="49" charset="0"/>
            </a:endParaRPr>
          </a:p>
        </p:txBody>
      </p:sp>
      <p:sp>
        <p:nvSpPr>
          <p:cNvPr id="19" name="矩形 18">
            <a:hlinkClick r:id="" action="ppaction://noaction"/>
            <a:extLst>
              <a:ext uri="{FF2B5EF4-FFF2-40B4-BE49-F238E27FC236}">
                <a16:creationId xmlns:a16="http://schemas.microsoft.com/office/drawing/2014/main" id="{781D13B0-E877-4528-88D2-4A672D4AD8E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4636415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第六章 结束</a:t>
            </a:r>
          </a:p>
        </p:txBody>
      </p:sp>
      <p:sp>
        <p:nvSpPr>
          <p:cNvPr id="11" name="TextBox 8"/>
          <p:cNvSpPr txBox="1">
            <a:spLocks noChangeArrowheads="1"/>
          </p:cNvSpPr>
          <p:nvPr/>
        </p:nvSpPr>
        <p:spPr bwMode="auto">
          <a:xfrm>
            <a:off x="5796136" y="895350"/>
            <a:ext cx="3199915" cy="461665"/>
          </a:xfrm>
          <a:prstGeom prst="rect">
            <a:avLst/>
          </a:prstGeom>
          <a:noFill/>
          <a:ln w="9525">
            <a:noFill/>
            <a:miter lim="800000"/>
            <a:headEnd/>
            <a:tailEnd/>
          </a:ln>
        </p:spPr>
        <p:txBody>
          <a:bodyPr wrap="none">
            <a:spAutoFit/>
          </a:bodyPr>
          <a:lstStyle/>
          <a:p>
            <a:r>
              <a:rPr lang="zh-CN" altLang="en-US" sz="2400" dirty="0">
                <a:solidFill>
                  <a:schemeClr val="bg1"/>
                </a:solidFill>
                <a:latin typeface="华文琥珀" pitchFamily="2" charset="-122"/>
                <a:ea typeface="华文琥珀" pitchFamily="2" charset="-122"/>
              </a:rPr>
              <a:t>高级语言</a:t>
            </a:r>
            <a:r>
              <a:rPr lang="en-US" altLang="zh-CN" sz="2400" b="1" dirty="0">
                <a:solidFill>
                  <a:schemeClr val="bg1"/>
                </a:solidFill>
                <a:latin typeface="Courier New" pitchFamily="49" charset="0"/>
                <a:ea typeface="华文琥珀" pitchFamily="2" charset="-122"/>
                <a:cs typeface="Courier New" pitchFamily="49" charset="0"/>
              </a:rPr>
              <a:t>C++</a:t>
            </a:r>
            <a:r>
              <a:rPr lang="zh-CN" altLang="en-US" sz="2400" dirty="0">
                <a:solidFill>
                  <a:schemeClr val="bg1"/>
                </a:solidFill>
                <a:latin typeface="华文琥珀" pitchFamily="2" charset="-122"/>
                <a:ea typeface="华文琥珀" pitchFamily="2" charset="-122"/>
              </a:rPr>
              <a:t>程序设计</a:t>
            </a:r>
          </a:p>
        </p:txBody>
      </p:sp>
      <p:pic>
        <p:nvPicPr>
          <p:cNvPr id="12" name="图片 11">
            <a:extLst>
              <a:ext uri="{FF2B5EF4-FFF2-40B4-BE49-F238E27FC236}">
                <a16:creationId xmlns:a16="http://schemas.microsoft.com/office/drawing/2014/main" id="{877489A1-1EFF-43CC-AB3E-13B47D2436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a:extLst>
              <a:ext uri="{FF2B5EF4-FFF2-40B4-BE49-F238E27FC236}">
                <a16:creationId xmlns:a16="http://schemas.microsoft.com/office/drawing/2014/main" id="{28ECE33B-0998-4300-A229-EEE51BCDE94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extLst>
      <p:ext uri="{BB962C8B-B14F-4D97-AF65-F5344CB8AC3E}">
        <p14:creationId xmlns:p14="http://schemas.microsoft.com/office/powerpoint/2010/main" val="219428845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0.1|0.3"/>
</p:tagLst>
</file>

<file path=ppt/tags/tag2.xml><?xml version="1.0" encoding="utf-8"?>
<p:tagLst xmlns:a="http://schemas.openxmlformats.org/drawingml/2006/main" xmlns:r="http://schemas.openxmlformats.org/officeDocument/2006/relationships" xmlns:p="http://schemas.openxmlformats.org/presentationml/2006/main">
  <p:tag name="TIMING" val="|0.1|0.3"/>
</p:tagLst>
</file>

<file path=ppt/tags/tag3.xml><?xml version="1.0" encoding="utf-8"?>
<p:tagLst xmlns:a="http://schemas.openxmlformats.org/drawingml/2006/main" xmlns:r="http://schemas.openxmlformats.org/officeDocument/2006/relationships" xmlns:p="http://schemas.openxmlformats.org/presentationml/2006/main">
  <p:tag name="TIMING" val="|0.2|0.1|0.2|0.2|0.2|0.2"/>
</p:tagLst>
</file>

<file path=ppt/tags/tag4.xml><?xml version="1.0" encoding="utf-8"?>
<p:tagLst xmlns:a="http://schemas.openxmlformats.org/drawingml/2006/main" xmlns:r="http://schemas.openxmlformats.org/officeDocument/2006/relationships" xmlns:p="http://schemas.openxmlformats.org/presentationml/2006/main">
  <p:tag name="TIMING" val="|96.3|6.7"/>
</p:tagLst>
</file>

<file path=ppt/tags/tag5.xml><?xml version="1.0" encoding="utf-8"?>
<p:tagLst xmlns:a="http://schemas.openxmlformats.org/drawingml/2006/main" xmlns:r="http://schemas.openxmlformats.org/officeDocument/2006/relationships" xmlns:p="http://schemas.openxmlformats.org/presentationml/2006/main">
  <p:tag name="TIMING" val="|27.3|72.4|4.9|42.8|3|4"/>
</p:tagLst>
</file>

<file path=ppt/tags/tag6.xml><?xml version="1.0" encoding="utf-8"?>
<p:tagLst xmlns:a="http://schemas.openxmlformats.org/drawingml/2006/main" xmlns:r="http://schemas.openxmlformats.org/officeDocument/2006/relationships" xmlns:p="http://schemas.openxmlformats.org/presentationml/2006/main">
  <p:tag name="TIMING" val="|97|21|32.5"/>
</p:tagLst>
</file>

<file path=ppt/tags/tag7.xml><?xml version="1.0" encoding="utf-8"?>
<p:tagLst xmlns:a="http://schemas.openxmlformats.org/drawingml/2006/main" xmlns:r="http://schemas.openxmlformats.org/officeDocument/2006/relationships" xmlns:p="http://schemas.openxmlformats.org/presentationml/2006/main">
  <p:tag name="TIMING" val="|32.8"/>
</p:tagLst>
</file>

<file path=ppt/tags/tag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xml><?xml version="1.0" encoding="utf-8"?>
<p:tagLst xmlns:a="http://schemas.openxmlformats.org/drawingml/2006/main" xmlns:r="http://schemas.openxmlformats.org/officeDocument/2006/relationships" xmlns:p="http://schemas.openxmlformats.org/presentationml/2006/main">
  <p:tag name="TIMING" val="|165.9"/>
</p:tagLst>
</file>

<file path=ppt/tags/tag16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Score&quot;:1.0,&quot;Answers&quot;:[&quot;10&quot;],&quot;CaseSensitive&quot;:false,&quot;FuzzyMatch&quot;:false},{&quot;Num&quot;:2,&quot;Score&quot;:1.0,&quot;Answers&quot;:[&quot;12&quot;],&quot;CaseSensitive&quot;:false,&quot;FuzzyMatch&quot;:false}]"/>
</p:tagLst>
</file>

<file path=ppt/tags/tag23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33.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2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xml><?xml version="1.0" encoding="utf-8"?>
<p:tagLst xmlns:a="http://schemas.openxmlformats.org/drawingml/2006/main" xmlns:r="http://schemas.openxmlformats.org/officeDocument/2006/relationships" xmlns:p="http://schemas.openxmlformats.org/presentationml/2006/main">
  <p:tag name="TIMING" val="|60.4|5|3"/>
</p:tagLst>
</file>

<file path=ppt/tags/tag241.xml><?xml version="1.0" encoding="utf-8"?>
<p:tagLst xmlns:a="http://schemas.openxmlformats.org/drawingml/2006/main" xmlns:r="http://schemas.openxmlformats.org/officeDocument/2006/relationships" xmlns:p="http://schemas.openxmlformats.org/presentationml/2006/main">
  <p:tag name="TIMING" val="|178.7|17"/>
</p:tagLst>
</file>

<file path=ppt/tags/tag242.xml><?xml version="1.0" encoding="utf-8"?>
<p:tagLst xmlns:a="http://schemas.openxmlformats.org/drawingml/2006/main" xmlns:r="http://schemas.openxmlformats.org/officeDocument/2006/relationships" xmlns:p="http://schemas.openxmlformats.org/presentationml/2006/main">
  <p:tag name="TIMING" val="|107.5|83.1|9.2|60.1"/>
</p:tagLst>
</file>

<file path=ppt/tags/tag24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6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Score&quot;:1.0,&quot;Answers&quot;:[&quot;6&quot;],&quot;CaseSensitive&quot;:false,&quot;FuzzyMatch&quot;:false}]"/>
</p:tagLst>
</file>

<file path=ppt/tags/tag27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80.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2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4.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Score&quot;:1.0,&quot;Answers&quot;:[&quot;4&quot;],&quot;CaseSensitive&quot;:false,&quot;FuzzyMatch&quot;:false}]"/>
</p:tagLst>
</file>

<file path=ppt/tags/tag30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07.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3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3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4.xml><?xml version="1.0" encoding="utf-8"?>
<p:tagLst xmlns:a="http://schemas.openxmlformats.org/drawingml/2006/main" xmlns:r="http://schemas.openxmlformats.org/officeDocument/2006/relationships" xmlns:p="http://schemas.openxmlformats.org/presentationml/2006/main">
  <p:tag name="TIMING" val="|261.4"/>
</p:tagLst>
</file>

<file path=ppt/tags/tag31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2.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Score&quot;:1.0,&quot;Answers&quot;:[&quot;10&quot;],&quot;CaseSensitive&quot;:false,&quot;FuzzyMatch&quot;:false}]"/>
</p:tagLst>
</file>

<file path=ppt/tags/tag3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35.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3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3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2.xml><?xml version="1.0" encoding="utf-8"?>
<p:tagLst xmlns:a="http://schemas.openxmlformats.org/drawingml/2006/main" xmlns:r="http://schemas.openxmlformats.org/officeDocument/2006/relationships" xmlns:p="http://schemas.openxmlformats.org/presentationml/2006/main">
  <p:tag name="TIMING" val="|57.9|70.4|8.8|12.6|11.3|135.9|26.5"/>
</p:tagLst>
</file>

<file path=ppt/tags/tag343.xml><?xml version="1.0" encoding="utf-8"?>
<p:tagLst xmlns:a="http://schemas.openxmlformats.org/drawingml/2006/main" xmlns:r="http://schemas.openxmlformats.org/officeDocument/2006/relationships" xmlns:p="http://schemas.openxmlformats.org/presentationml/2006/main">
  <p:tag name="TIMING" val="|37.2|22.1|87.7|86.2"/>
</p:tagLst>
</file>

<file path=ppt/tags/tag344.xml><?xml version="1.0" encoding="utf-8"?>
<p:tagLst xmlns:a="http://schemas.openxmlformats.org/drawingml/2006/main" xmlns:r="http://schemas.openxmlformats.org/officeDocument/2006/relationships" xmlns:p="http://schemas.openxmlformats.org/presentationml/2006/main">
  <p:tag name="TIMING" val="|165.4|34.2|6.8|7.7"/>
</p:tagLst>
</file>

<file path=ppt/tags/tag34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5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8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6.xml><?xml version="1.0" encoding="utf-8"?>
<p:tagLst xmlns:a="http://schemas.openxmlformats.org/drawingml/2006/main" xmlns:r="http://schemas.openxmlformats.org/officeDocument/2006/relationships" xmlns:p="http://schemas.openxmlformats.org/presentationml/2006/main">
  <p:tag name="TIMING" val="|100.8|59.1"/>
</p:tagLst>
</file>

<file path=ppt/tags/tag397.xml><?xml version="1.0" encoding="utf-8"?>
<p:tagLst xmlns:a="http://schemas.openxmlformats.org/drawingml/2006/main" xmlns:r="http://schemas.openxmlformats.org/officeDocument/2006/relationships" xmlns:p="http://schemas.openxmlformats.org/presentationml/2006/main">
  <p:tag name="TIMING" val="|108.5"/>
</p:tagLst>
</file>

<file path=ppt/tags/tag398.xml><?xml version="1.0" encoding="utf-8"?>
<p:tagLst xmlns:a="http://schemas.openxmlformats.org/drawingml/2006/main" xmlns:r="http://schemas.openxmlformats.org/officeDocument/2006/relationships" xmlns:p="http://schemas.openxmlformats.org/presentationml/2006/main">
  <p:tag name="TIMING" val="|12.6"/>
</p:tagLst>
</file>

<file path=ppt/tags/tag39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0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6.xml><?xml version="1.0" encoding="utf-8"?>
<p:tagLst xmlns:a="http://schemas.openxmlformats.org/drawingml/2006/main" xmlns:r="http://schemas.openxmlformats.org/officeDocument/2006/relationships" xmlns:p="http://schemas.openxmlformats.org/presentationml/2006/main">
  <p:tag name="TIMING" val="|153.9|40.1"/>
</p:tagLst>
</file>

<file path=ppt/tags/tag41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Score&quot;:1.0,&quot;Answers&quot;:[&quot;nullptr&quot;],&quot;CaseSensitive&quot;:false,&quot;FuzzyMatch&quot;:false},{&quot;Num&quot;:2,&quot;Score&quot;:1.0,&quot;Answers&quot;:[&quot;j=t+i&quot;],&quot;CaseSensitive&quot;:false,&quot;FuzzyMatch&quot;:false}]"/>
</p:tagLst>
</file>

<file path=ppt/tags/tag4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20.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4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1.xml><?xml version="1.0" encoding="utf-8"?>
<p:tagLst xmlns:a="http://schemas.openxmlformats.org/drawingml/2006/main" xmlns:r="http://schemas.openxmlformats.org/officeDocument/2006/relationships" xmlns:p="http://schemas.openxmlformats.org/presentationml/2006/main">
  <p:tag name="TIMING" val="|2.8|116.2|75.5|144.1|7.6"/>
</p:tagLst>
</file>

<file path=ppt/tags/tag46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8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19826</Words>
  <Application>Microsoft Office PowerPoint</Application>
  <PresentationFormat>全屏显示(4:3)</PresentationFormat>
  <Paragraphs>2951</Paragraphs>
  <Slides>194</Slides>
  <Notes>70</Notes>
  <HiddenSlides>4</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194</vt:i4>
      </vt:variant>
    </vt:vector>
  </HeadingPairs>
  <TitlesOfParts>
    <vt:vector size="212" baseType="lpstr">
      <vt:lpstr>Microsoft Yahei</vt:lpstr>
      <vt:lpstr>等线</vt:lpstr>
      <vt:lpstr>方正姚体</vt:lpstr>
      <vt:lpstr>黑体</vt:lpstr>
      <vt:lpstr>华文琥珀</vt:lpstr>
      <vt:lpstr>楷体</vt:lpstr>
      <vt:lpstr>楷体_GB2312</vt:lpstr>
      <vt:lpstr>宋体</vt:lpstr>
      <vt:lpstr>新宋体</vt:lpstr>
      <vt:lpstr>Arial</vt:lpstr>
      <vt:lpstr>Calibri</vt:lpstr>
      <vt:lpstr>Courier New</vt:lpstr>
      <vt:lpstr>Tahoma</vt:lpstr>
      <vt:lpstr>Times New Roman</vt:lpstr>
      <vt:lpstr>Wingdings</vt:lpstr>
      <vt:lpstr>Office 主题</vt:lpstr>
      <vt:lpstr>Visio</vt:lpstr>
      <vt:lpstr>Equation</vt:lpstr>
      <vt:lpstr>PowerPoint 演示文稿</vt:lpstr>
      <vt:lpstr>第六章 指针、引用与动态内存分配</vt:lpstr>
      <vt:lpstr>PowerPoint 演示文稿</vt:lpstr>
      <vt:lpstr>初识指针</vt:lpstr>
      <vt:lpstr>变量存储回顾</vt:lpstr>
      <vt:lpstr>变量存储回顾</vt:lpstr>
      <vt:lpstr>数组存储回顾</vt:lpstr>
      <vt:lpstr>指针的引入</vt:lpstr>
      <vt:lpstr>指针的基本概念</vt:lpstr>
      <vt:lpstr>PowerPoint 演示文稿</vt:lpstr>
      <vt:lpstr>指针变量</vt:lpstr>
      <vt:lpstr>指针</vt:lpstr>
      <vt:lpstr>指针变量的说明</vt:lpstr>
      <vt:lpstr>指针变量的说明</vt:lpstr>
      <vt:lpstr>指针变量的初始化</vt:lpstr>
      <vt:lpstr>指针变量的初始化</vt:lpstr>
      <vt:lpstr>指针变量的初始化</vt:lpstr>
      <vt:lpstr>指针变量的赋值</vt:lpstr>
      <vt:lpstr>PowerPoint 演示文稿</vt:lpstr>
      <vt:lpstr>PowerPoint 演示文稿</vt:lpstr>
      <vt:lpstr>PowerPoint 演示文稿</vt:lpstr>
      <vt:lpstr>PowerPoint 演示文稿</vt:lpstr>
      <vt:lpstr>PowerPoint 演示文稿</vt:lpstr>
      <vt:lpstr>指针运算</vt:lpstr>
      <vt:lpstr>指针变量的运算</vt:lpstr>
      <vt:lpstr>指针变量的运算</vt:lpstr>
      <vt:lpstr>指针变量的运算</vt:lpstr>
      <vt:lpstr>指针变量的运算</vt:lpstr>
      <vt:lpstr>指针变量的运算</vt:lpstr>
      <vt:lpstr>PowerPoint 演示文稿</vt:lpstr>
      <vt:lpstr>PowerPoint 演示文稿</vt:lpstr>
      <vt:lpstr>指针变量的运算</vt:lpstr>
      <vt:lpstr>指针变量的运算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指针常量</vt:lpstr>
      <vt:lpstr>指针常量</vt:lpstr>
      <vt:lpstr>常量指针</vt:lpstr>
      <vt:lpstr>常量指针</vt:lpstr>
      <vt:lpstr>PowerPoint 演示文稿</vt:lpstr>
      <vt:lpstr>PowerPoint 演示文稿</vt:lpstr>
      <vt:lpstr>指向数组元素的指针</vt:lpstr>
      <vt:lpstr>指向一维数组元素的指针</vt:lpstr>
      <vt:lpstr>指向一维数组元素的指针</vt:lpstr>
      <vt:lpstr>访问一维数组元素的方式</vt:lpstr>
      <vt:lpstr>访问一维数组元素的方式</vt:lpstr>
      <vt:lpstr>PowerPoint 演示文稿</vt:lpstr>
      <vt:lpstr>指向二维数组元素的指针</vt:lpstr>
      <vt:lpstr>指向二维数组元素的指针</vt:lpstr>
      <vt:lpstr>PowerPoint 演示文稿</vt:lpstr>
      <vt:lpstr>PowerPoint 演示文稿</vt:lpstr>
      <vt:lpstr>PowerPoint 演示文稿</vt:lpstr>
      <vt:lpstr>PowerPoint 演示文稿</vt:lpstr>
      <vt:lpstr>PowerPoint 演示文稿</vt:lpstr>
      <vt:lpstr>指向数组的指针</vt:lpstr>
      <vt:lpstr>指向数组的指针</vt:lpstr>
      <vt:lpstr>指向数组的指针</vt:lpstr>
      <vt:lpstr>指向数组的指针</vt:lpstr>
      <vt:lpstr>指向数组的指针</vt:lpstr>
      <vt:lpstr>指向数组的指针</vt:lpstr>
      <vt:lpstr>指向数组的指针</vt:lpstr>
      <vt:lpstr>指向数组的指针</vt:lpstr>
      <vt:lpstr>指向数组的指针</vt:lpstr>
      <vt:lpstr>设A[3][4]为整型二维数组，将A赋值给一维数组指针pa</vt:lpstr>
      <vt:lpstr>PowerPoint 演示文稿</vt:lpstr>
      <vt:lpstr>PowerPoint 演示文稿</vt:lpstr>
      <vt:lpstr>PowerPoint 演示文稿</vt:lpstr>
      <vt:lpstr>PowerPoint 演示文稿</vt:lpstr>
      <vt:lpstr>指针数组</vt:lpstr>
      <vt:lpstr>指针数组</vt:lpstr>
      <vt:lpstr>指针数组</vt:lpstr>
      <vt:lpstr>指针数组</vt:lpstr>
      <vt:lpstr>二维数组与指针</vt:lpstr>
      <vt:lpstr>PowerPoint 演示文稿</vt:lpstr>
      <vt:lpstr>PowerPoint 演示文稿</vt:lpstr>
      <vt:lpstr>多重指针</vt:lpstr>
      <vt:lpstr>多重指针</vt:lpstr>
      <vt:lpstr>多重指针</vt:lpstr>
      <vt:lpstr>多重指针</vt:lpstr>
      <vt:lpstr>PowerPoint 演示文稿</vt:lpstr>
      <vt:lpstr>二重指针与数组的关系</vt:lpstr>
      <vt:lpstr>PowerPoint 演示文稿</vt:lpstr>
      <vt:lpstr>PowerPoint 演示文稿</vt:lpstr>
      <vt:lpstr>PowerPoint 演示文稿</vt:lpstr>
      <vt:lpstr>字符指针与字符串</vt:lpstr>
      <vt:lpstr>字符指针</vt:lpstr>
      <vt:lpstr>指向字符数组元素的指针</vt:lpstr>
      <vt:lpstr>字符指针与字符串</vt:lpstr>
      <vt:lpstr>字符指针与字符串</vt:lpstr>
      <vt:lpstr>字符指针与字符串</vt:lpstr>
      <vt:lpstr>PowerPoint 演示文稿</vt:lpstr>
      <vt:lpstr>PowerPoint 演示文稿</vt:lpstr>
      <vt:lpstr>PowerPoint 演示文稿</vt:lpstr>
      <vt:lpstr>字符指针数组</vt:lpstr>
      <vt:lpstr>字符指针数组</vt:lpstr>
      <vt:lpstr>PowerPoint 演示文稿</vt:lpstr>
      <vt:lpstr>PowerPoint 演示文稿</vt:lpstr>
      <vt:lpstr>PowerPoint 演示文稿</vt:lpstr>
      <vt:lpstr>PowerPoint 演示文稿</vt:lpstr>
      <vt:lpstr>PowerPoint 演示文稿</vt:lpstr>
      <vt:lpstr>PowerPoint 演示文稿</vt:lpstr>
      <vt:lpstr>练习6.2</vt:lpstr>
      <vt:lpstr>PowerPoint 演示文稿</vt:lpstr>
      <vt:lpstr>指针参数</vt:lpstr>
      <vt:lpstr>指针做函数的参数</vt:lpstr>
      <vt:lpstr>PowerPoint 演示文稿</vt:lpstr>
      <vt:lpstr>PowerPoint 演示文稿</vt:lpstr>
      <vt:lpstr>PowerPoint 演示文稿</vt:lpstr>
      <vt:lpstr>指针做参数的传递过程</vt:lpstr>
      <vt:lpstr>指针的引用做函数的参数</vt:lpstr>
      <vt:lpstr>PowerPoint 演示文稿</vt:lpstr>
      <vt:lpstr>函数返回指针</vt:lpstr>
      <vt:lpstr>函数返回指针</vt:lpstr>
      <vt:lpstr>PowerPoint 演示文稿</vt:lpstr>
      <vt:lpstr>函数返回指针</vt:lpstr>
      <vt:lpstr>PowerPoint 演示文稿</vt:lpstr>
      <vt:lpstr>PowerPoint 演示文稿</vt:lpstr>
      <vt:lpstr>PowerPoint 演示文稿</vt:lpstr>
      <vt:lpstr>PowerPoint 演示文稿</vt:lpstr>
      <vt:lpstr>PowerPoint 演示文稿</vt:lpstr>
      <vt:lpstr>函数指针</vt:lpstr>
      <vt:lpstr>指向函数的指针</vt:lpstr>
      <vt:lpstr>PowerPoint 演示文稿</vt:lpstr>
      <vt:lpstr>PowerPoint 演示文稿</vt:lpstr>
      <vt:lpstr>PowerPoint 演示文稿</vt:lpstr>
      <vt:lpstr>指向函数的指针</vt:lpstr>
      <vt:lpstr>函数指针做参数</vt:lpstr>
      <vt:lpstr>【练习】</vt:lpstr>
      <vt:lpstr>PowerPoint 演示文稿</vt:lpstr>
      <vt:lpstr>PowerPoint 演示文稿</vt:lpstr>
      <vt:lpstr>动态内存分配</vt:lpstr>
      <vt:lpstr>动态内存分配的含义</vt:lpstr>
      <vt:lpstr>动态内存分配的含义</vt:lpstr>
      <vt:lpstr>动态内存分配运算符</vt:lpstr>
      <vt:lpstr>动态变量</vt:lpstr>
      <vt:lpstr>一维动态数组</vt:lpstr>
      <vt:lpstr>PowerPoint 演示文稿</vt:lpstr>
      <vt:lpstr>PowerPoint 演示文稿</vt:lpstr>
      <vt:lpstr>PowerPoint 演示文稿</vt:lpstr>
      <vt:lpstr>二维动态数组</vt:lpstr>
      <vt:lpstr>二维动态数组</vt:lpstr>
      <vt:lpstr>PowerPoint 演示文稿</vt:lpstr>
      <vt:lpstr>PowerPoint 演示文稿</vt:lpstr>
      <vt:lpstr>PowerPoint 演示文稿</vt:lpstr>
      <vt:lpstr>PowerPoint 演示文稿</vt:lpstr>
      <vt:lpstr>动态内存回收</vt:lpstr>
      <vt:lpstr>动态内存回收机制</vt:lpstr>
      <vt:lpstr>动态内存回收机制</vt:lpstr>
      <vt:lpstr>PowerPoint 演示文稿</vt:lpstr>
      <vt:lpstr>PowerPoint 演示文稿</vt:lpstr>
      <vt:lpstr>动态内存地址的保护</vt:lpstr>
      <vt:lpstr>悬挂指针问题</vt:lpstr>
      <vt:lpstr>内存碎片</vt:lpstr>
      <vt:lpstr>PowerPoint 演示文稿</vt:lpstr>
      <vt:lpstr>引用类型</vt:lpstr>
      <vt:lpstr>引用的含义</vt:lpstr>
      <vt:lpstr>引用变量</vt:lpstr>
      <vt:lpstr>引用与指针的区别</vt:lpstr>
      <vt:lpstr>引用与指针的区别</vt:lpstr>
      <vt:lpstr>引用与指针的区别</vt:lpstr>
      <vt:lpstr>【举例】</vt:lpstr>
      <vt:lpstr>PowerPoint 演示文稿</vt:lpstr>
      <vt:lpstr>PowerPoint 演示文稿</vt:lpstr>
      <vt:lpstr>PowerPoint 演示文稿</vt:lpstr>
      <vt:lpstr>右值引用</vt:lpstr>
      <vt:lpstr>右值引用</vt:lpstr>
      <vt:lpstr>PowerPoint 演示文稿</vt:lpstr>
      <vt:lpstr>PowerPoint 演示文稿</vt:lpstr>
      <vt:lpstr>引用参数</vt:lpstr>
      <vt:lpstr>引用做函数的参数</vt:lpstr>
      <vt:lpstr>引用做函数的参数</vt:lpstr>
      <vt:lpstr>引用做参数的传递过程</vt:lpstr>
      <vt:lpstr>引用做参数的传递过程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函数返回引用</vt:lpstr>
      <vt:lpstr>函数返回引用</vt:lpstr>
      <vt:lpstr>PowerPoint 演示文稿</vt:lpstr>
      <vt:lpstr>PowerPoint 演示文稿</vt:lpstr>
      <vt:lpstr>PowerPoint 演示文稿</vt:lpstr>
      <vt:lpstr>PowerPoint 演示文稿</vt:lpstr>
      <vt:lpstr>PowerPoint 演示文稿</vt:lpstr>
      <vt:lpstr>第六章 结束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zhhaiwei</dc:creator>
  <cp:lastModifiedBy>zhhaiwei</cp:lastModifiedBy>
  <cp:revision>130</cp:revision>
  <dcterms:created xsi:type="dcterms:W3CDTF">2020-08-09T13:15:07Z</dcterms:created>
  <dcterms:modified xsi:type="dcterms:W3CDTF">2021-02-21T08:25:05Z</dcterms:modified>
</cp:coreProperties>
</file>