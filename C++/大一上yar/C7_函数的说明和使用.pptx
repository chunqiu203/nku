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9" r:id="rId10"/>
    <p:sldId id="270" r:id="rId11"/>
    <p:sldId id="272" r:id="rId12"/>
    <p:sldId id="273" r:id="rId13"/>
    <p:sldId id="271" r:id="rId14"/>
    <p:sldId id="276" r:id="rId15"/>
    <p:sldId id="274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605" y="-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0152B-DB9A-4DF6-A977-CABFA80A9D3C}" type="datetimeFigureOut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B238B-5CE3-466D-A90C-8D0F621D3B2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B238B-5CE3-466D-A90C-8D0F621D3B2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95D38F83-F39B-4608-B4F1-7AAE935C9E2B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DBEF0FA-BC26-4EFC-8AF3-3FBA9E6CFEA7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953629B-0DFD-43EB-98BA-2289AE9A7F31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3B6C6E6-4D01-4CE7-890D-2D26ED0C5EDC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DF6A5E2-A652-4BFB-9D03-140FDAEA3C8A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B1D7EE-0FBB-4F8B-8C41-0F1AE03EADC7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39E8A4FB-DBD4-4100-A4B3-4DDB967EA8EE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D9864BE-6D37-4FB1-BEC6-A24F45601B1C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B61A63D-8300-4355-AFA7-73B152378932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42BE756-21F7-4445-9C79-DB1EA6354D86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BD3F4DCB-4423-429B-86A4-E011A133B1DD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C11CCB11-ED48-4B1A-9CB2-B43AAEBA1F5A}" type="datetime1">
              <a:rPr lang="zh-CN" altLang="en-US" smtClean="0"/>
              <a:pPr/>
              <a:t>2017/11/15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C/C++</a:t>
            </a:r>
            <a:r>
              <a:rPr lang="zh-CN" altLang="en-US" dirty="0" smtClean="0"/>
              <a:t>程序设计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sz="2800" dirty="0" smtClean="0">
              <a:latin typeface="+mj-ea"/>
              <a:ea typeface="+mj-ea"/>
            </a:endParaRPr>
          </a:p>
          <a:p>
            <a:r>
              <a:rPr lang="zh-CN" altLang="en-US" sz="2800" dirty="0" smtClean="0">
                <a:latin typeface="+mj-ea"/>
                <a:ea typeface="+mj-ea"/>
              </a:rPr>
              <a:t>函数说明和使用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142852"/>
            <a:ext cx="7239000" cy="605808"/>
          </a:xfrm>
        </p:spPr>
        <p:txBody>
          <a:bodyPr/>
          <a:lstStyle/>
          <a:p>
            <a:r>
              <a:rPr lang="zh-CN" altLang="en-US" dirty="0" smtClean="0"/>
              <a:t>函数的使用和说明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928670"/>
            <a:ext cx="7239000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函数的作用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实现程序功能的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模块化</a:t>
            </a:r>
            <a:endParaRPr lang="en-US" altLang="zh-CN" sz="28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实现程序结构的简化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实现程序代码的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重用</a:t>
            </a:r>
            <a:endParaRPr lang="en-US" altLang="zh-CN" sz="28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函数的应用场景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包含多处功能相同的代码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处理数据的类型、处理过程相同或相似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代码段具有代表性或特殊含义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6512" y="59864"/>
            <a:ext cx="8153400" cy="70484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+mj-ea"/>
                <a:ea typeface="+mj-ea"/>
              </a:rPr>
              <a:t>用函数的思想实现最简单的</a:t>
            </a:r>
            <a:r>
              <a:rPr lang="en-US" altLang="zh-CN" sz="2800" b="1" dirty="0" smtClean="0">
                <a:latin typeface="+mj-ea"/>
                <a:ea typeface="+mj-ea"/>
              </a:rPr>
              <a:t>C++</a:t>
            </a:r>
            <a:r>
              <a:rPr lang="zh-CN" altLang="en-US" sz="2800" b="1" dirty="0" smtClean="0">
                <a:latin typeface="+mj-ea"/>
                <a:ea typeface="+mj-ea"/>
              </a:rPr>
              <a:t>程序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684325"/>
            <a:ext cx="8682038" cy="605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inlcude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printString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函数原型</a:t>
            </a:r>
            <a:endParaRPr lang="en-US" altLang="zh-CN" sz="28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printString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调用函数</a:t>
            </a:r>
            <a:r>
              <a:rPr lang="en-US" altLang="zh-CN" sz="28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printString</a:t>
            </a:r>
            <a:endParaRPr lang="en-US" altLang="zh-CN" sz="28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pirntString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(){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函数定义</a:t>
            </a:r>
            <a:endParaRPr lang="en-US" altLang="zh-CN" sz="28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&lt;&lt;“Hello!”&lt;&lt;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函数返回</a:t>
            </a:r>
            <a:endParaRPr lang="en-US" altLang="zh-CN" sz="28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42852"/>
            <a:ext cx="8643998" cy="64294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latin typeface="+mj-ea"/>
                <a:ea typeface="+mj-ea"/>
              </a:rPr>
              <a:t>函数的使用步骤</a:t>
            </a:r>
            <a:endParaRPr lang="en-US" altLang="zh-CN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先说明，后调用：</a:t>
            </a:r>
            <a:r>
              <a:rPr lang="zh-CN" altLang="en-US" b="1" dirty="0" smtClean="0">
                <a:latin typeface="+mj-ea"/>
                <a:ea typeface="+mj-ea"/>
              </a:rPr>
              <a:t>程序中必须包含函数的说明及定义</a:t>
            </a:r>
            <a:endParaRPr lang="en-US" altLang="zh-CN" b="1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 smtClean="0">
                <a:latin typeface="+mj-ea"/>
                <a:ea typeface="+mj-ea"/>
              </a:rPr>
              <a:t>函数的说明方式</a:t>
            </a:r>
            <a:endParaRPr lang="en-US" altLang="zh-CN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函数原型：</a:t>
            </a:r>
            <a:r>
              <a:rPr lang="zh-CN" altLang="en-US" b="1" dirty="0" smtClean="0">
                <a:latin typeface="+mj-ea"/>
                <a:ea typeface="+mj-ea"/>
              </a:rPr>
              <a:t>函数定义可以出现在程序的任何合适的地方</a:t>
            </a:r>
            <a:endParaRPr lang="en-US" altLang="zh-CN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函数定义：</a:t>
            </a:r>
            <a:r>
              <a:rPr lang="zh-CN" altLang="en-US" b="1" dirty="0" smtClean="0">
                <a:latin typeface="+mj-ea"/>
                <a:ea typeface="+mj-ea"/>
              </a:rPr>
              <a:t>函数定义必须出现在调用函数之前</a:t>
            </a:r>
            <a:endParaRPr lang="en-US" altLang="zh-CN" b="1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 smtClean="0">
                <a:latin typeface="+mj-ea"/>
                <a:ea typeface="+mj-ea"/>
              </a:rPr>
              <a:t>主调函数</a:t>
            </a:r>
            <a:endParaRPr lang="en-US" altLang="zh-CN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函数体中调用其它函数</a:t>
            </a:r>
            <a:endParaRPr lang="en-US" altLang="zh-CN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 smtClean="0">
                <a:latin typeface="+mj-ea"/>
                <a:ea typeface="+mj-ea"/>
              </a:rPr>
              <a:t>被调函数</a:t>
            </a:r>
            <a:endParaRPr lang="en-US" altLang="zh-CN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被其它函数调用的函数</a:t>
            </a:r>
            <a:endParaRPr lang="en-US" altLang="zh-CN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b="1" dirty="0" smtClean="0">
                <a:latin typeface="+mj-ea"/>
                <a:ea typeface="+mj-ea"/>
              </a:rPr>
              <a:t>上述概念是相对的概念，一个函数既可以调用其它函数（包括该函数自身），亦可以被其它函数调用（包括该函数自身）</a:t>
            </a:r>
            <a:endParaRPr lang="en-US" altLang="zh-CN" b="1" dirty="0" smtClean="0">
              <a:latin typeface="+mj-ea"/>
              <a:ea typeface="+mj-ea"/>
            </a:endParaRPr>
          </a:p>
          <a:p>
            <a:pPr lvl="2">
              <a:lnSpc>
                <a:spcPct val="140000"/>
              </a:lnSpc>
            </a:pPr>
            <a:endParaRPr lang="en-US" altLang="zh-CN" b="1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549844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函数分类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712" y="836712"/>
            <a:ext cx="8678768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标准库函数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程序中可直接使用（调用）系统预定义的标准库函数，但要求在调用前使用编译预处理指令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include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将对应的头文件包含进来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用户自定义函数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由用户自定义的函数与系统预定义的标准库函数的不同点在于，自定义函数的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函数名、参数个数、函数返回值类型以及函数所实现的功能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等都完全由用户程序来规定（指定）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44" y="11663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标准库函数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764704"/>
            <a:ext cx="7239000" cy="559667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标准输入输出流 </a:t>
            </a:r>
            <a:r>
              <a:rPr lang="en-US" altLang="zh-CN" sz="3200" b="1" dirty="0" smtClean="0">
                <a:latin typeface="+mj-ea"/>
                <a:ea typeface="+mj-ea"/>
              </a:rPr>
              <a:t>&lt;</a:t>
            </a:r>
            <a:r>
              <a:rPr lang="en-US" altLang="zh-CN" sz="3200" b="1" dirty="0" err="1" smtClean="0">
                <a:latin typeface="+mj-ea"/>
                <a:ea typeface="+mj-ea"/>
              </a:rPr>
              <a:t>iostream.h</a:t>
            </a:r>
            <a:r>
              <a:rPr lang="en-US" altLang="zh-CN" sz="3200" b="1" dirty="0" smtClean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</a:rPr>
              <a:t>setw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</a:rPr>
              <a:t>setwidth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等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标准文件流 </a:t>
            </a:r>
            <a:r>
              <a:rPr lang="en-US" altLang="zh-CN" sz="3200" b="1" dirty="0" smtClean="0">
                <a:latin typeface="+mj-ea"/>
                <a:ea typeface="+mj-ea"/>
              </a:rPr>
              <a:t>&lt;</a:t>
            </a:r>
            <a:r>
              <a:rPr lang="en-US" altLang="zh-CN" sz="3200" b="1" dirty="0" err="1" smtClean="0">
                <a:latin typeface="+mj-ea"/>
                <a:ea typeface="+mj-ea"/>
              </a:rPr>
              <a:t>fstream.h</a:t>
            </a:r>
            <a:r>
              <a:rPr lang="en-US" altLang="zh-CN" sz="3200" b="1" dirty="0" smtClean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open()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close()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等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标准字符串处理函数 </a:t>
            </a:r>
            <a:r>
              <a:rPr lang="en-US" altLang="zh-CN" sz="3200" b="1" dirty="0" smtClean="0">
                <a:latin typeface="+mj-ea"/>
                <a:ea typeface="+mj-ea"/>
              </a:rPr>
              <a:t>&lt;</a:t>
            </a:r>
            <a:r>
              <a:rPr lang="en-US" altLang="zh-CN" sz="3200" b="1" dirty="0" err="1" smtClean="0">
                <a:latin typeface="+mj-ea"/>
                <a:ea typeface="+mj-ea"/>
              </a:rPr>
              <a:t>string.h</a:t>
            </a:r>
            <a:r>
              <a:rPr lang="en-US" altLang="zh-CN" sz="3200" b="1" dirty="0" smtClean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</a:rPr>
              <a:t>strcpy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</a:rPr>
              <a:t>strcmp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等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标准数学函数 </a:t>
            </a:r>
            <a:r>
              <a:rPr lang="en-US" altLang="zh-CN" sz="3200" b="1" dirty="0" smtClean="0">
                <a:latin typeface="+mj-ea"/>
                <a:ea typeface="+mj-ea"/>
              </a:rPr>
              <a:t>&lt;</a:t>
            </a:r>
            <a:r>
              <a:rPr lang="en-US" altLang="zh-CN" sz="3200" b="1" dirty="0" err="1" smtClean="0">
                <a:latin typeface="+mj-ea"/>
                <a:ea typeface="+mj-ea"/>
              </a:rPr>
              <a:t>math.h</a:t>
            </a:r>
            <a:r>
              <a:rPr lang="en-US" altLang="zh-CN" sz="3200" b="1" dirty="0" smtClean="0">
                <a:latin typeface="+mj-ea"/>
                <a:ea typeface="+mj-ea"/>
              </a:rPr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</a:rPr>
              <a:t>sqrt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</a:rPr>
              <a:t>pow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()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44" y="214290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用户自定义函数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928670"/>
            <a:ext cx="7239000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普通函数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内联函数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类的成员函数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类的友元函数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虚函数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dirty="0" smtClean="0">
                <a:latin typeface="+mj-ea"/>
                <a:ea typeface="+mj-ea"/>
              </a:rPr>
              <a:t>……</a:t>
            </a:r>
            <a:endParaRPr lang="zh-CN" altLang="en-US" sz="3200" b="1" dirty="0" smtClean="0">
              <a:latin typeface="+mj-ea"/>
              <a:ea typeface="+mj-ea"/>
            </a:endParaRPr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230334"/>
            <a:ext cx="7239000" cy="534370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无参函数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784654"/>
            <a:ext cx="8104984" cy="566868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调用它们时不需要提供实际参数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原型</a:t>
            </a:r>
            <a:r>
              <a:rPr lang="zh-CN" altLang="en-US" sz="3200" b="1" dirty="0" smtClean="0">
                <a:latin typeface="+mj-ea"/>
                <a:ea typeface="+mj-ea"/>
              </a:rPr>
              <a:t>的一般形式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 algn="ctr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</a:rPr>
              <a:t>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</a:rPr>
              <a:t>返回值类型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</a:rPr>
              <a:t>&gt;&lt;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</a:rPr>
              <a:t>&gt;( );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定义</a:t>
            </a:r>
            <a:r>
              <a:rPr lang="zh-CN" altLang="en-US" sz="3200" b="1" dirty="0" smtClean="0">
                <a:latin typeface="+mj-ea"/>
                <a:ea typeface="+mj-ea"/>
              </a:rPr>
              <a:t>的一般形式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 algn="ctr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</a:rPr>
              <a:t>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</a:rPr>
              <a:t>返回值类型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</a:rPr>
              <a:t>&gt;&lt;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</a:rPr>
              <a:t>&gt;( )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{&lt;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函数体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&gt;}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通常用来实现某种特定的功能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不需要进行数据的传递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处理的数据通常与主调函数无关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204814" y="542940"/>
            <a:ext cx="8153400" cy="5029200"/>
          </a:xfrm>
        </p:spPr>
        <p:txBody>
          <a:bodyPr/>
          <a:lstStyle/>
          <a:p>
            <a:r>
              <a:rPr lang="zh-CN" altLang="en-US" sz="2800" b="1" dirty="0" smtClean="0">
                <a:latin typeface="+mj-ea"/>
                <a:ea typeface="+mj-ea"/>
              </a:rPr>
              <a:t>无参函数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/>
            <a:r>
              <a:rPr lang="en-US" altLang="zh-CN" sz="24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+mj-ea"/>
                <a:ea typeface="+mj-ea"/>
              </a:rPr>
              <a:t>5.2】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定义一个函数，实现打印</a:t>
            </a:r>
            <a:r>
              <a:rPr lang="en-US" altLang="zh-CN" sz="2400" b="1" dirty="0" smtClean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个“</a:t>
            </a:r>
            <a:r>
              <a:rPr lang="en-US" altLang="zh-CN" sz="2400" b="1" dirty="0" smtClean="0">
                <a:solidFill>
                  <a:srgbClr val="C00000"/>
                </a:solidFill>
                <a:latin typeface="+mj-ea"/>
                <a:ea typeface="+mj-ea"/>
              </a:rPr>
              <a:t>*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”的功能</a:t>
            </a:r>
            <a:endParaRPr lang="en-US" altLang="zh-CN" sz="24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lvl="1"/>
            <a:endParaRPr lang="en-US" altLang="zh-CN" dirty="0" smtClean="0"/>
          </a:p>
          <a:p>
            <a:pPr lvl="2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962028" y="2247912"/>
            <a:ext cx="685804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(){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for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=0;i&lt;10;i++)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  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&lt;&lt;“*”;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14290"/>
            <a:ext cx="8715436" cy="6023022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有参函数（</a:t>
            </a:r>
            <a:r>
              <a:rPr lang="zh-CN" altLang="en-US" sz="3200" b="1" dirty="0" smtClean="0">
                <a:solidFill>
                  <a:srgbClr val="FF0000"/>
                </a:solidFill>
                <a:latin typeface="+mj-ea"/>
                <a:ea typeface="+mj-ea"/>
              </a:rPr>
              <a:t>带有参数的用户自定义函数</a:t>
            </a:r>
            <a:r>
              <a:rPr lang="zh-CN" altLang="en-US" sz="3200" b="1" dirty="0" smtClean="0">
                <a:latin typeface="+mj-ea"/>
                <a:ea typeface="+mj-ea"/>
              </a:rPr>
              <a:t>）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进行调用时，必须提供所需个数的且具有相匹配数据类型的实际参数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函数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原型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的一般形式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marL="342900" lvl="1" indent="-342900" algn="just" eaLnBrk="0" hangingPunct="0">
              <a:lnSpc>
                <a:spcPct val="114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   &lt;返回值类型&gt; &lt;函数名&gt;(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&lt;以逗号分割的形参类型表&gt;</a:t>
            </a: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endParaRPr lang="en-US" altLang="zh-CN" sz="24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定义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的一般形式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algn="just" eaLnBrk="0" hangingPunct="0">
              <a:lnSpc>
                <a:spcPct val="114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&lt;返回值类型&gt; &lt;函数名&gt;(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&lt;以逗号分割的形参类型及名字表&gt;</a:t>
            </a: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</a:t>
            </a:r>
            <a:endParaRPr lang="en-US" altLang="zh-CN" sz="24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algn="just" eaLnBrk="0" hangingPunct="0">
              <a:lnSpc>
                <a:spcPct val="114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{</a:t>
            </a:r>
            <a:r>
              <a:rPr lang="en-US" altLang="zh-CN" sz="24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函数体</a:t>
            </a:r>
            <a:r>
              <a:rPr lang="en-US" altLang="zh-CN" sz="24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&gt;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}</a:t>
            </a:r>
            <a:endParaRPr lang="en-US" altLang="zh-CN" sz="2400" b="1" dirty="0" smtClean="0">
              <a:solidFill>
                <a:srgbClr val="C00000"/>
              </a:solidFill>
              <a:latin typeface="+mj-ea"/>
              <a:ea typeface="+mj-ea"/>
              <a:cs typeface="Courier New" pitchFamily="49" charset="0"/>
            </a:endParaRPr>
          </a:p>
          <a:p>
            <a:pPr lvl="1">
              <a:lnSpc>
                <a:spcPct val="114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通过调用处提供的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不同实参值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来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计算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出其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对应的函数值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、或实现某种与传递过来的那些不同值有关的某种功能。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57158" y="542940"/>
            <a:ext cx="8535322" cy="5029200"/>
          </a:xfrm>
        </p:spPr>
        <p:txBody>
          <a:bodyPr/>
          <a:lstStyle/>
          <a:p>
            <a:r>
              <a:rPr lang="zh-CN" altLang="en-US" sz="3200" b="1" dirty="0" smtClean="0">
                <a:latin typeface="+mj-ea"/>
                <a:ea typeface="+mj-ea"/>
              </a:rPr>
              <a:t>有参函数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/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5.3】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定义一个函数，控制输出“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*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”的个数</a:t>
            </a:r>
            <a:endParaRPr lang="en-US" altLang="zh-CN" sz="28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lvl="1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28662" y="1963531"/>
            <a:ext cx="685804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k){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32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for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=0;i&lt;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k;i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++)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  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&lt;&lt;“*”;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2524" y="522307"/>
            <a:ext cx="6613525" cy="5692775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pic>
        <p:nvPicPr>
          <p:cNvPr id="15" name="图片 14" descr="参数箭头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1386" y="370589"/>
            <a:ext cx="5277561" cy="2866345"/>
          </a:xfrm>
          <a:prstGeom prst="rect">
            <a:avLst/>
          </a:prstGeom>
        </p:spPr>
      </p:pic>
      <p:pic>
        <p:nvPicPr>
          <p:cNvPr id="16" name="图片 15" descr="说明箭头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833" y="434980"/>
            <a:ext cx="7455943" cy="606514"/>
          </a:xfrm>
          <a:prstGeom prst="rect">
            <a:avLst/>
          </a:prstGeom>
        </p:spPr>
      </p:pic>
      <p:pic>
        <p:nvPicPr>
          <p:cNvPr id="18" name="图片 17" descr="返回箭头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2205" y="3522686"/>
            <a:ext cx="3929090" cy="382704"/>
          </a:xfrm>
          <a:prstGeom prst="rect">
            <a:avLst/>
          </a:prstGeom>
        </p:spPr>
      </p:pic>
      <p:pic>
        <p:nvPicPr>
          <p:cNvPr id="19" name="图片 18" descr="调用箭头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402469" y="3594124"/>
            <a:ext cx="5143536" cy="18694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42852"/>
            <a:ext cx="8679338" cy="671514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函数的说明和定义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在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程序中，函数有两种说明方式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函数原型：在调用函数之前说明函数原型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函数定义：在调用函数之前对函数进行定义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函数原型，也称函数声明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指明函数的名称、参数以及返回值类型，格式为：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[&lt;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属性说明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返回值类型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函数名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&gt;([&lt;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参数表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&gt;]);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add(</a:t>
            </a: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a, </a:t>
            </a:r>
            <a:r>
              <a:rPr lang="en-US" altLang="zh-CN" sz="2800" b="1" dirty="0" err="1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b); </a:t>
            </a: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inline void</a:t>
            </a:r>
            <a:r>
              <a:rPr lang="en-US" altLang="zh-CN" sz="2800" b="1" dirty="0" smtClean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swap(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&amp;s, 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&amp;t);</a:t>
            </a:r>
          </a:p>
          <a:p>
            <a:pPr lvl="1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print (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char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*);</a:t>
            </a:r>
            <a:endParaRPr lang="zh-CN" altLang="en-US" sz="28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1"/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71438"/>
            <a:ext cx="8429684" cy="671514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 smtClean="0">
                <a:latin typeface="+mj-ea"/>
                <a:ea typeface="+mj-ea"/>
              </a:rPr>
              <a:t>函数原型</a:t>
            </a:r>
            <a:endParaRPr lang="en-US" altLang="zh-CN" sz="20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[&lt;</a:t>
            </a:r>
            <a:r>
              <a:rPr lang="zh-CN" altLang="en-US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属性说明</a:t>
            </a:r>
            <a:r>
              <a:rPr lang="en-US" altLang="zh-CN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&gt;]&lt;</a:t>
            </a:r>
            <a:r>
              <a:rPr lang="zh-CN" altLang="en-US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返回值类型</a:t>
            </a:r>
            <a:r>
              <a:rPr lang="en-US" altLang="zh-CN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&gt;&lt;</a:t>
            </a:r>
            <a:r>
              <a:rPr lang="zh-CN" altLang="en-US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函数名</a:t>
            </a:r>
            <a:r>
              <a:rPr lang="en-US" altLang="zh-CN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&gt;([&lt;</a:t>
            </a:r>
            <a:r>
              <a:rPr lang="zh-CN" altLang="en-US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参数表</a:t>
            </a:r>
            <a:r>
              <a:rPr lang="en-US" altLang="zh-CN" sz="20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&gt;]);</a:t>
            </a:r>
          </a:p>
          <a:p>
            <a:pPr lvl="1">
              <a:lnSpc>
                <a:spcPct val="120000"/>
              </a:lnSpc>
            </a:pPr>
            <a:r>
              <a:rPr lang="zh-CN" altLang="en-US" sz="2000" b="1" dirty="0" smtClean="0">
                <a:solidFill>
                  <a:srgbClr val="002060"/>
                </a:solidFill>
                <a:latin typeface="+mj-ea"/>
                <a:ea typeface="+mj-ea"/>
              </a:rPr>
              <a:t>属性说明：可缺省，一般可以是下面的关键字之一</a:t>
            </a:r>
            <a:endParaRPr lang="en-US" altLang="zh-CN" sz="20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 smtClean="0">
                <a:latin typeface="+mj-ea"/>
                <a:ea typeface="+mj-ea"/>
              </a:rPr>
              <a:t>inline</a:t>
            </a:r>
            <a:r>
              <a:rPr lang="zh-CN" altLang="en-US" b="1" dirty="0" smtClean="0">
                <a:latin typeface="+mj-ea"/>
                <a:ea typeface="+mj-ea"/>
              </a:rPr>
              <a:t>：表示该函数为</a:t>
            </a: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内联函数</a:t>
            </a:r>
            <a:endParaRPr lang="en-US" altLang="zh-CN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 smtClean="0">
                <a:latin typeface="+mj-ea"/>
                <a:ea typeface="+mj-ea"/>
              </a:rPr>
              <a:t>static</a:t>
            </a:r>
            <a:r>
              <a:rPr lang="zh-CN" altLang="en-US" b="1" dirty="0" smtClean="0">
                <a:latin typeface="+mj-ea"/>
                <a:ea typeface="+mj-ea"/>
              </a:rPr>
              <a:t>：表示该函数为</a:t>
            </a: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静态函数</a:t>
            </a:r>
            <a:endParaRPr lang="en-US" altLang="zh-CN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 smtClean="0">
                <a:latin typeface="+mj-ea"/>
                <a:ea typeface="+mj-ea"/>
              </a:rPr>
              <a:t>virtual</a:t>
            </a:r>
            <a:r>
              <a:rPr lang="zh-CN" altLang="en-US" b="1" dirty="0" smtClean="0">
                <a:latin typeface="+mj-ea"/>
                <a:ea typeface="+mj-ea"/>
              </a:rPr>
              <a:t>：表示该函数为</a:t>
            </a: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虚函数</a:t>
            </a:r>
            <a:endParaRPr lang="en-US" altLang="zh-CN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b="1" dirty="0" smtClean="0">
                <a:latin typeface="+mj-ea"/>
                <a:ea typeface="+mj-ea"/>
              </a:rPr>
              <a:t>friend</a:t>
            </a:r>
            <a:r>
              <a:rPr lang="zh-CN" altLang="en-US" b="1" dirty="0" smtClean="0">
                <a:latin typeface="+mj-ea"/>
                <a:ea typeface="+mj-ea"/>
              </a:rPr>
              <a:t>：表示该函数为某类</a:t>
            </a:r>
            <a:r>
              <a:rPr lang="en-US" altLang="zh-CN" b="1" dirty="0" smtClean="0">
                <a:latin typeface="+mj-ea"/>
                <a:ea typeface="+mj-ea"/>
              </a:rPr>
              <a:t>(class)</a:t>
            </a:r>
            <a:r>
              <a:rPr lang="zh-CN" altLang="en-US" b="1" dirty="0" smtClean="0">
                <a:latin typeface="+mj-ea"/>
                <a:ea typeface="+mj-ea"/>
              </a:rPr>
              <a:t>的</a:t>
            </a:r>
            <a:r>
              <a:rPr lang="zh-CN" altLang="en-US" b="1" dirty="0" smtClean="0">
                <a:solidFill>
                  <a:srgbClr val="002060"/>
                </a:solidFill>
                <a:latin typeface="+mj-ea"/>
                <a:ea typeface="+mj-ea"/>
              </a:rPr>
              <a:t>友元函数</a:t>
            </a:r>
            <a:endParaRPr lang="en-US" altLang="zh-CN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1" dirty="0" smtClean="0">
                <a:solidFill>
                  <a:srgbClr val="002060"/>
                </a:solidFill>
                <a:latin typeface="+mj-ea"/>
                <a:ea typeface="+mj-ea"/>
              </a:rPr>
              <a:t>返回值类型：</a:t>
            </a:r>
            <a:r>
              <a:rPr lang="zh-CN" altLang="en-US" sz="2000" b="1" dirty="0" smtClean="0">
                <a:latin typeface="+mj-ea"/>
                <a:ea typeface="+mj-ea"/>
              </a:rPr>
              <a:t>函数处理得到的结果的数据类型</a:t>
            </a:r>
            <a:endParaRPr lang="en-US" altLang="zh-CN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1" dirty="0" smtClean="0">
                <a:solidFill>
                  <a:srgbClr val="002060"/>
                </a:solidFill>
                <a:latin typeface="+mj-ea"/>
                <a:ea typeface="+mj-ea"/>
              </a:rPr>
              <a:t>函数名：标识符</a:t>
            </a:r>
            <a:endParaRPr lang="zh-CN" altLang="en-US" sz="2400" b="1" dirty="0" smtClean="0">
              <a:latin typeface="+mj-ea"/>
              <a:ea typeface="+mj-ea"/>
            </a:endParaRPr>
          </a:p>
          <a:p>
            <a:pPr lvl="1"/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参数表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/>
            <a:r>
              <a:rPr lang="zh-CN" altLang="en-US" b="1" dirty="0" smtClean="0">
                <a:latin typeface="+mj-ea"/>
                <a:ea typeface="+mj-ea"/>
              </a:rPr>
              <a:t>空参数表</a:t>
            </a:r>
            <a:endParaRPr lang="en-US" altLang="zh-CN" b="1" dirty="0" smtClean="0">
              <a:latin typeface="+mj-ea"/>
              <a:ea typeface="+mj-ea"/>
            </a:endParaRPr>
          </a:p>
          <a:p>
            <a:pPr lvl="3"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printroot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();</a:t>
            </a:r>
          </a:p>
          <a:p>
            <a:pPr lvl="2"/>
            <a:r>
              <a:rPr lang="en-US" altLang="zh-CN" b="1" dirty="0" smtClean="0">
                <a:latin typeface="+mj-ea"/>
                <a:ea typeface="+mj-ea"/>
              </a:rPr>
              <a:t>void</a:t>
            </a:r>
            <a:r>
              <a:rPr lang="zh-CN" altLang="en-US" b="1" dirty="0" smtClean="0">
                <a:latin typeface="+mj-ea"/>
                <a:ea typeface="+mj-ea"/>
              </a:rPr>
              <a:t>型参数</a:t>
            </a:r>
            <a:endParaRPr lang="en-US" altLang="zh-CN" b="1" dirty="0" smtClean="0">
              <a:latin typeface="+mj-ea"/>
              <a:ea typeface="+mj-ea"/>
            </a:endParaRPr>
          </a:p>
          <a:p>
            <a:pPr lvl="3"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printroot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);</a:t>
            </a:r>
          </a:p>
          <a:p>
            <a:pPr lvl="2"/>
            <a:r>
              <a:rPr lang="en-US" altLang="zh-CN" b="1" dirty="0" smtClean="0">
                <a:latin typeface="+mj-ea"/>
                <a:ea typeface="+mj-ea"/>
              </a:rPr>
              <a:t>&lt;</a:t>
            </a:r>
            <a:r>
              <a:rPr lang="zh-CN" altLang="en-US" b="1" dirty="0" smtClean="0">
                <a:latin typeface="+mj-ea"/>
                <a:ea typeface="+mj-ea"/>
              </a:rPr>
              <a:t>数据类型</a:t>
            </a:r>
            <a:r>
              <a:rPr lang="en-US" altLang="zh-CN" b="1" dirty="0" smtClean="0">
                <a:latin typeface="+mj-ea"/>
                <a:ea typeface="+mj-ea"/>
              </a:rPr>
              <a:t>&gt;[&lt;</a:t>
            </a:r>
            <a:r>
              <a:rPr lang="zh-CN" altLang="en-US" b="1" dirty="0" smtClean="0">
                <a:latin typeface="+mj-ea"/>
                <a:ea typeface="+mj-ea"/>
              </a:rPr>
              <a:t>参数</a:t>
            </a:r>
            <a:r>
              <a:rPr lang="en-US" altLang="zh-CN" b="1" dirty="0" smtClean="0">
                <a:latin typeface="+mj-ea"/>
                <a:ea typeface="+mj-ea"/>
              </a:rPr>
              <a:t>&gt;]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</a:rPr>
              <a:t>[</a:t>
            </a:r>
            <a:r>
              <a:rPr lang="en-US" altLang="zh-CN" b="1" dirty="0" smtClean="0">
                <a:latin typeface="+mj-ea"/>
                <a:ea typeface="+mj-ea"/>
              </a:rPr>
              <a:t>,&lt;</a:t>
            </a:r>
            <a:r>
              <a:rPr lang="zh-CN" altLang="en-US" b="1" dirty="0" smtClean="0">
                <a:latin typeface="+mj-ea"/>
                <a:ea typeface="+mj-ea"/>
              </a:rPr>
              <a:t>数据类型</a:t>
            </a:r>
            <a:r>
              <a:rPr lang="en-US" altLang="zh-CN" b="1" dirty="0" smtClean="0">
                <a:latin typeface="+mj-ea"/>
                <a:ea typeface="+mj-ea"/>
              </a:rPr>
              <a:t>&gt;[&lt;</a:t>
            </a:r>
            <a:r>
              <a:rPr lang="zh-CN" altLang="en-US" b="1" dirty="0" smtClean="0">
                <a:latin typeface="+mj-ea"/>
                <a:ea typeface="+mj-ea"/>
              </a:rPr>
              <a:t>参数</a:t>
            </a:r>
            <a:r>
              <a:rPr lang="en-US" altLang="zh-CN" b="1" dirty="0" smtClean="0">
                <a:latin typeface="+mj-ea"/>
                <a:ea typeface="+mj-ea"/>
              </a:rPr>
              <a:t>&gt;]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</a:rPr>
              <a:t>]</a:t>
            </a:r>
            <a:r>
              <a:rPr lang="en-US" altLang="zh-CN" b="1" dirty="0" smtClean="0">
                <a:latin typeface="+mj-ea"/>
                <a:ea typeface="+mj-ea"/>
              </a:rPr>
              <a:t>*</a:t>
            </a: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  </a:t>
            </a:r>
            <a:endParaRPr lang="zh-CN" altLang="en-US" sz="24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3"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cuberoot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);</a:t>
            </a:r>
          </a:p>
          <a:p>
            <a:pPr lvl="3"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cuberoot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x);</a:t>
            </a:r>
            <a:endParaRPr lang="zh-CN" altLang="en-US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1"/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844" y="214290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函数定义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928670"/>
            <a:ext cx="8429684" cy="530864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函数定义与函数原型的主要区别是它还包括函数体，其格式为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[&lt;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属性说明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返回值类型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函数名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&gt;([&lt;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参数表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&gt;])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{&lt;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函数体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&gt;}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函数体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复合语句即程序块，由完成函数功能所需的全部语句构成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94848"/>
            <a:ext cx="7239000" cy="4846320"/>
          </a:xfrm>
        </p:spPr>
        <p:txBody>
          <a:bodyPr>
            <a:normAutofit/>
          </a:bodyPr>
          <a:lstStyle/>
          <a:p>
            <a:r>
              <a:rPr lang="zh-CN" altLang="en-US" sz="3200" b="1" dirty="0" smtClean="0">
                <a:latin typeface="+mj-ea"/>
                <a:ea typeface="+mj-ea"/>
              </a:rPr>
              <a:t>函数的说明和定义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/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“函数原型”的说明方式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endParaRPr lang="en-US" altLang="zh-CN" sz="2800" b="1" dirty="0" smtClean="0">
              <a:latin typeface="+mj-ea"/>
              <a:ea typeface="+mj-ea"/>
            </a:endParaRPr>
          </a:p>
          <a:p>
            <a:pPr lvl="1"/>
            <a:endParaRPr lang="en-US" altLang="zh-CN" sz="2800" b="1" dirty="0" smtClean="0">
              <a:latin typeface="+mj-ea"/>
              <a:ea typeface="+mj-ea"/>
            </a:endParaRPr>
          </a:p>
          <a:p>
            <a:pPr lvl="1"/>
            <a:endParaRPr lang="en-US" altLang="zh-CN" sz="2800" b="1" dirty="0" smtClean="0">
              <a:latin typeface="+mj-ea"/>
              <a:ea typeface="+mj-ea"/>
            </a:endParaRPr>
          </a:p>
          <a:p>
            <a:pPr lvl="1"/>
            <a:endParaRPr lang="en-US" altLang="zh-CN" sz="2800" b="1" dirty="0" smtClean="0">
              <a:latin typeface="+mj-ea"/>
              <a:ea typeface="+mj-ea"/>
            </a:endParaRPr>
          </a:p>
          <a:p>
            <a:pPr lvl="1"/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“函数定义”的说明方式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755576" y="1124744"/>
            <a:ext cx="81176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#include……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 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std;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);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函数原型</a:t>
            </a:r>
            <a:endParaRPr lang="en-US" altLang="zh-CN" sz="2800" b="1" dirty="0" smtClean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main(){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(10);}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调用函数</a:t>
            </a:r>
            <a:endParaRPr lang="en-US" altLang="zh-CN" sz="2800" b="1" dirty="0" smtClean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k){}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函数体</a:t>
            </a:r>
            <a:endParaRPr lang="zh-CN" altLang="en-US" sz="2800" dirty="0">
              <a:solidFill>
                <a:srgbClr val="00B05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27584" y="4177067"/>
            <a:ext cx="7920880" cy="1988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#include……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 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std;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k){}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函数定义</a:t>
            </a:r>
            <a:endParaRPr lang="en-US" altLang="zh-CN" sz="2800" b="1" dirty="0" smtClean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main(){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(10);}</a:t>
            </a:r>
            <a:r>
              <a:rPr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//</a:t>
            </a:r>
            <a:r>
              <a:rPr lang="zh-CN" altLang="en-US" sz="28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调用函数</a:t>
            </a:r>
            <a:endParaRPr lang="en-US" altLang="zh-CN" sz="2800" b="1" dirty="0" smtClean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6632"/>
            <a:ext cx="8784976" cy="612068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函数的说明和定义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两种说明方式的区别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函数原型的参数表中，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参数名可以省略</a:t>
            </a:r>
            <a:r>
              <a:rPr lang="zh-CN" altLang="en-US" sz="2800" b="1" dirty="0" smtClean="0">
                <a:latin typeface="+mj-ea"/>
                <a:ea typeface="+mj-ea"/>
              </a:rPr>
              <a:t>；函数定义的参数表中，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必须给出参数名（省略参数名为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无名参数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）</a:t>
            </a:r>
            <a:endParaRPr lang="en-US" altLang="zh-CN" sz="28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函数原型的函数体，可以出现在函数调用之后；函数定义的函数体，必须出现在调用之前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函数原型的参数表后面加分号“</a:t>
            </a:r>
            <a:r>
              <a:rPr lang="en-US" altLang="zh-CN" sz="2800" b="1" dirty="0" smtClean="0">
                <a:latin typeface="+mj-ea"/>
                <a:ea typeface="+mj-ea"/>
              </a:rPr>
              <a:t>;</a:t>
            </a:r>
            <a:r>
              <a:rPr lang="zh-CN" altLang="en-US" sz="2800" b="1" dirty="0" smtClean="0">
                <a:latin typeface="+mj-ea"/>
                <a:ea typeface="+mj-ea"/>
              </a:rPr>
              <a:t>”</a:t>
            </a:r>
            <a:r>
              <a:rPr lang="en-US" altLang="zh-CN" sz="2800" b="1" dirty="0" smtClean="0">
                <a:latin typeface="+mj-ea"/>
                <a:ea typeface="+mj-ea"/>
              </a:rPr>
              <a:t>,</a:t>
            </a:r>
            <a:r>
              <a:rPr lang="zh-CN" altLang="en-US" sz="2800" b="1" dirty="0" smtClean="0">
                <a:latin typeface="+mj-ea"/>
                <a:ea typeface="+mj-ea"/>
              </a:rPr>
              <a:t>函数定义的参数表后面是函数体，即花括号“</a:t>
            </a:r>
            <a:r>
              <a:rPr lang="en-US" altLang="zh-CN" sz="2800" b="1" dirty="0" smtClean="0">
                <a:latin typeface="+mj-ea"/>
                <a:ea typeface="+mj-ea"/>
              </a:rPr>
              <a:t>{</a:t>
            </a:r>
            <a:r>
              <a:rPr lang="zh-CN" altLang="en-US" sz="2800" b="1" dirty="0" smtClean="0">
                <a:latin typeface="+mj-ea"/>
                <a:ea typeface="+mj-ea"/>
              </a:rPr>
              <a:t>”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函数定义不能出现在任何函数体中，函数原型可以出现在其它函数体中</a:t>
            </a:r>
            <a:endParaRPr lang="zh-CN" altLang="en-US" sz="2400" b="1" dirty="0" smtClean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函数的调用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692696"/>
            <a:ext cx="8462744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函数调用是已定义函数的一次实际运行，与某类型的一个变量和后文中某类的一个对象类似</a:t>
            </a:r>
            <a:r>
              <a:rPr lang="en-US" altLang="zh-CN" sz="2800" b="1" dirty="0" smtClean="0">
                <a:latin typeface="+mj-ea"/>
                <a:ea typeface="+mj-ea"/>
              </a:rPr>
              <a:t>,</a:t>
            </a:r>
            <a:r>
              <a:rPr lang="zh-CN" altLang="en-US" sz="2800" b="1" dirty="0" smtClean="0">
                <a:latin typeface="+mj-ea"/>
                <a:ea typeface="+mj-ea"/>
              </a:rPr>
              <a:t>函数调用是函数定义的一个“实例”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在</a:t>
            </a:r>
            <a:r>
              <a:rPr lang="en-US" altLang="zh-CN" sz="2800" b="1" dirty="0" smtClean="0">
                <a:latin typeface="+mj-ea"/>
                <a:ea typeface="+mj-ea"/>
              </a:rPr>
              <a:t>C++</a:t>
            </a:r>
            <a:r>
              <a:rPr lang="zh-CN" altLang="en-US" sz="2800" b="1" dirty="0" smtClean="0">
                <a:latin typeface="+mj-ea"/>
                <a:ea typeface="+mj-ea"/>
              </a:rPr>
              <a:t>程序中，除</a:t>
            </a:r>
            <a:r>
              <a:rPr lang="en-US" altLang="zh-CN" sz="2800" b="1" dirty="0" smtClean="0">
                <a:latin typeface="+mj-ea"/>
                <a:ea typeface="+mj-ea"/>
              </a:rPr>
              <a:t>main</a:t>
            </a:r>
            <a:r>
              <a:rPr lang="zh-CN" altLang="en-US" sz="2800" b="1" dirty="0" smtClean="0">
                <a:latin typeface="+mj-ea"/>
                <a:ea typeface="+mj-ea"/>
              </a:rPr>
              <a:t>函数外，其它任一函数的执行都是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通过在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main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函数中直接或间接地调用该函数而引发</a:t>
            </a:r>
            <a:r>
              <a:rPr lang="zh-CN" altLang="en-US" sz="2800" b="1" dirty="0" smtClean="0">
                <a:latin typeface="+mj-ea"/>
                <a:ea typeface="+mj-ea"/>
              </a:rPr>
              <a:t>的。调用一个函数就是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去执行该函数之函数体</a:t>
            </a:r>
            <a:r>
              <a:rPr lang="zh-CN" altLang="en-US" sz="2800" b="1" dirty="0" smtClean="0">
                <a:latin typeface="+mj-ea"/>
                <a:ea typeface="+mj-ea"/>
              </a:rPr>
              <a:t>的过程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1309697"/>
            <a:ext cx="473392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57158" y="322862"/>
            <a:ext cx="7239000" cy="6058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函数的调用过程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4282" y="251424"/>
            <a:ext cx="7239000" cy="605808"/>
          </a:xfrm>
        </p:spPr>
        <p:txBody>
          <a:bodyPr/>
          <a:lstStyle/>
          <a:p>
            <a:r>
              <a:rPr lang="zh-CN" altLang="en-US" dirty="0" smtClean="0"/>
              <a:t>函数调用的执行顺序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142984"/>
            <a:ext cx="8429684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根据调用语句中的函数名在整个程序中搜索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同名</a:t>
            </a:r>
            <a:r>
              <a:rPr lang="zh-CN" altLang="en-US" sz="2800" b="1" dirty="0" smtClean="0">
                <a:latin typeface="+mj-ea"/>
                <a:ea typeface="+mj-ea"/>
              </a:rPr>
              <a:t>函数定义；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对实参数的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参数个数，类型，顺序</a:t>
            </a:r>
            <a:r>
              <a:rPr lang="zh-CN" altLang="en-US" sz="2800" b="1" dirty="0" smtClean="0">
                <a:latin typeface="+mj-ea"/>
                <a:ea typeface="+mj-ea"/>
              </a:rPr>
              <a:t>进行核对，判定是否与函数定义中的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形参表</a:t>
            </a:r>
            <a:r>
              <a:rPr lang="zh-CN" altLang="en-US" sz="2800" b="1" dirty="0" smtClean="0">
                <a:latin typeface="+mj-ea"/>
                <a:ea typeface="+mj-ea"/>
              </a:rPr>
              <a:t>对应一致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  <a:latin typeface="+mj-ea"/>
                <a:ea typeface="+mj-ea"/>
              </a:rPr>
              <a:t>根据参数的类型（值参数或引用参数）进行值参数的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值传递</a:t>
            </a:r>
            <a:r>
              <a:rPr lang="zh-CN" altLang="en-US" sz="2800" b="1" dirty="0" smtClean="0">
                <a:solidFill>
                  <a:schemeClr val="tx1"/>
                </a:solidFill>
                <a:latin typeface="+mj-ea"/>
                <a:ea typeface="+mj-ea"/>
              </a:rPr>
              <a:t>或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引用参数的换名</a:t>
            </a:r>
            <a:endParaRPr lang="en-US" altLang="zh-CN" sz="28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  <a:latin typeface="+mj-ea"/>
                <a:ea typeface="+mj-ea"/>
              </a:rPr>
              <a:t>运行函数体代码</a:t>
            </a:r>
            <a:endParaRPr lang="en-US" altLang="zh-CN" sz="2800" b="1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  <a:latin typeface="+mj-ea"/>
                <a:ea typeface="+mj-ea"/>
              </a:rPr>
              <a:t>返回调用点，并返回所要求的函数值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函数的调用格式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71546"/>
            <a:ext cx="7239000" cy="4846320"/>
          </a:xfrm>
        </p:spPr>
        <p:txBody>
          <a:bodyPr/>
          <a:lstStyle/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无参函数调用格式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&lt;函数名&gt;()</a:t>
            </a:r>
            <a:endParaRPr lang="en-US" altLang="zh-CN" sz="2800" b="1" dirty="0" smtClean="0">
              <a:solidFill>
                <a:schemeClr val="tx2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例如：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();</a:t>
            </a:r>
            <a:r>
              <a:rPr lang="en-US" altLang="zh-CN" sz="3200" b="1" dirty="0" smtClean="0">
                <a:solidFill>
                  <a:srgbClr val="669900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zh-CN" altLang="en-US" sz="3200" b="1" dirty="0" smtClean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有参函数调用格式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&lt;函数名&gt; ( &lt;以逗号分割的实参表&gt; )</a:t>
            </a:r>
            <a:endParaRPr lang="en-US" altLang="zh-CN" sz="28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例如：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(26);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286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函数的返回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09648"/>
            <a:ext cx="8153400" cy="520543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函数的返回表示函数执行结束，将执行结果（无论是否有具体的数据）返回到调用函数的地方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函数返回时完成的任务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把运行控制从函数体返回到函数调用点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根据返回值要求，返回所需要的数据值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返回值类型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void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数值型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引用类型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928670"/>
            <a:ext cx="8429684" cy="520543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空型（</a:t>
            </a:r>
            <a:r>
              <a:rPr lang="en-US" altLang="zh-CN" sz="2800" b="1" dirty="0" smtClean="0">
                <a:latin typeface="+mj-ea"/>
                <a:ea typeface="+mj-ea"/>
              </a:rPr>
              <a:t>void</a:t>
            </a:r>
            <a:r>
              <a:rPr lang="zh-CN" altLang="en-US" sz="2800" b="1" dirty="0" smtClean="0">
                <a:latin typeface="+mj-ea"/>
                <a:ea typeface="+mj-ea"/>
              </a:rPr>
              <a:t>）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如果函数无值返回，应说明为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void 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类型。未作类型说明的函数，系统认为是</a:t>
            </a:r>
            <a:r>
              <a:rPr lang="en-US" altLang="zh-CN" sz="2400" b="1" dirty="0" err="1" smtClean="0">
                <a:solidFill>
                  <a:srgbClr val="002060"/>
                </a:solidFill>
                <a:latin typeface="+mj-ea"/>
                <a:ea typeface="+mj-ea"/>
              </a:rPr>
              <a:t>int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类型函数，应返回一整型值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值型：返回一个具有类型的值，包括</a:t>
            </a:r>
            <a:r>
              <a:rPr lang="en-US" altLang="zh-CN" sz="2800" b="1" dirty="0" err="1" smtClean="0">
                <a:latin typeface="+mj-ea"/>
                <a:ea typeface="+mj-ea"/>
              </a:rPr>
              <a:t>int</a:t>
            </a:r>
            <a:r>
              <a:rPr lang="zh-CN" altLang="en-US" sz="2800" b="1" dirty="0" smtClean="0">
                <a:latin typeface="+mj-ea"/>
                <a:ea typeface="+mj-ea"/>
              </a:rPr>
              <a:t>、</a:t>
            </a:r>
            <a:r>
              <a:rPr lang="en-US" altLang="zh-CN" sz="2800" b="1" dirty="0" smtClean="0">
                <a:latin typeface="+mj-ea"/>
                <a:ea typeface="+mj-ea"/>
              </a:rPr>
              <a:t>float</a:t>
            </a:r>
            <a:r>
              <a:rPr lang="zh-CN" altLang="en-US" sz="2800" b="1" dirty="0" smtClean="0">
                <a:latin typeface="+mj-ea"/>
                <a:ea typeface="+mj-ea"/>
              </a:rPr>
              <a:t>、</a:t>
            </a:r>
            <a:r>
              <a:rPr lang="en-US" altLang="zh-CN" sz="2800" b="1" dirty="0" smtClean="0">
                <a:latin typeface="+mj-ea"/>
                <a:ea typeface="+mj-ea"/>
              </a:rPr>
              <a:t>char</a:t>
            </a:r>
            <a:r>
              <a:rPr lang="zh-CN" altLang="en-US" sz="2800" b="1" dirty="0" smtClean="0">
                <a:latin typeface="+mj-ea"/>
                <a:ea typeface="+mj-ea"/>
              </a:rPr>
              <a:t>、</a:t>
            </a:r>
            <a:r>
              <a:rPr lang="en-US" altLang="zh-CN" sz="2800" b="1" dirty="0" err="1" smtClean="0">
                <a:latin typeface="+mj-ea"/>
                <a:ea typeface="+mj-ea"/>
              </a:rPr>
              <a:t>bool</a:t>
            </a:r>
            <a:r>
              <a:rPr lang="zh-CN" altLang="en-US" sz="2800" b="1" dirty="0" smtClean="0">
                <a:latin typeface="+mj-ea"/>
                <a:ea typeface="+mj-ea"/>
              </a:rPr>
              <a:t>等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当函数要返回的值不止一个时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，情况比较复杂，一般它可以以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结构或类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的形式，也可以以结构，数组或对象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指针类型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方式实现（这样的实例在后面的章节可以见到）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引用类型：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详见第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6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章</a:t>
            </a:r>
            <a:endParaRPr lang="en-US" altLang="zh-CN" sz="2800" b="1" dirty="0" smtClean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214290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返回值类型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4624"/>
            <a:ext cx="8358246" cy="484632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函数的返回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函数返回用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语句表示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语句有如下几种写法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函数返回值类型为空（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）</a:t>
            </a:r>
            <a:endParaRPr lang="en-US" altLang="zh-CN" sz="2400" b="1" dirty="0" smtClean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&lt;</a:t>
            </a: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表达式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&gt;;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与函数返回值的类型一致</a:t>
            </a:r>
            <a:endParaRPr lang="en-US" altLang="zh-CN" sz="2400" b="1" dirty="0" smtClean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（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表达式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</a:t>
            </a:r>
            <a:r>
              <a:rPr lang="zh-CN" altLang="en-US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）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与前一种写法等价</a:t>
            </a:r>
            <a:endParaRPr lang="zh-CN" altLang="en-US" sz="24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248482" y="2968588"/>
            <a:ext cx="8643998" cy="2798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第一种格式的</a:t>
            </a: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用于立即从被调函数中返回, 当函数类型为</a:t>
            </a:r>
            <a:r>
              <a:rPr lang="en-US" altLang="zh-CN" sz="2400" b="1" dirty="0" smtClean="0">
                <a:solidFill>
                  <a:srgbClr val="FF0000"/>
                </a:solidFill>
                <a:latin typeface="+mj-ea"/>
                <a:ea typeface="+mj-ea"/>
              </a:rPr>
              <a:t>void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时，应使用这种格式的返回语句。</a:t>
            </a:r>
            <a:endParaRPr lang="en-US" altLang="zh-CN" sz="2400" b="1" dirty="0" smtClean="0">
              <a:solidFill>
                <a:srgbClr val="0000FF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当函数类型为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非</a:t>
            </a:r>
            <a:r>
              <a:rPr lang="en-US" altLang="zh-CN" sz="2400" b="1" dirty="0" smtClean="0">
                <a:solidFill>
                  <a:srgbClr val="FF0000"/>
                </a:solidFill>
                <a:latin typeface="+mj-ea"/>
                <a:ea typeface="+mj-ea"/>
              </a:rPr>
              <a:t>void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型时，应使用第二或第三种格式的</a:t>
            </a: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</a:rPr>
              <a:t>return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语句，此两种格式的语句效果完全相同（可将第二种格式看成是第三种格式的省略形式），系统此时都将计算出表达式的值，并“携带”该值立即从被调函数中返回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7931224" cy="55446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3000" b="1" dirty="0" smtClean="0">
                <a:latin typeface="+mj-ea"/>
                <a:ea typeface="+mj-ea"/>
              </a:rPr>
              <a:t>函数应用举例</a:t>
            </a:r>
            <a:endParaRPr lang="en-US" altLang="zh-CN" sz="3000" b="1" dirty="0" smtClean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en-US" altLang="zh-CN" sz="26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6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600" b="1" dirty="0" smtClean="0">
                <a:solidFill>
                  <a:srgbClr val="C00000"/>
                </a:solidFill>
                <a:latin typeface="+mj-ea"/>
                <a:ea typeface="+mj-ea"/>
              </a:rPr>
              <a:t>5.4】</a:t>
            </a:r>
            <a:r>
              <a:rPr lang="zh-CN" altLang="en-US" sz="2600" b="1" dirty="0" smtClean="0">
                <a:latin typeface="+mj-ea"/>
                <a:ea typeface="+mj-ea"/>
              </a:rPr>
              <a:t>函数定义</a:t>
            </a:r>
            <a:endParaRPr lang="en-US" altLang="zh-CN" sz="2600" b="1" dirty="0" smtClean="0">
              <a:latin typeface="+mj-ea"/>
              <a:ea typeface="+mj-ea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 smtClean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35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f (</a:t>
            </a:r>
            <a:r>
              <a:rPr lang="en-US" altLang="zh-CN" sz="35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x){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5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y;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y=(x*x+x+1)/2-5.5;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5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y;  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对非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类型的函数，必须有一个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    //return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语句，由它返回函数值</a:t>
            </a:r>
          </a:p>
          <a:p>
            <a:pPr>
              <a:lnSpc>
                <a:spcPct val="140000"/>
              </a:lnSpc>
              <a:buNone/>
            </a:pPr>
            <a:r>
              <a:rPr lang="en-US" altLang="zh-CN" sz="35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zh-CN" altLang="en-US" sz="35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</a:t>
            </a:r>
            <a:r>
              <a:rPr lang="zh-CN" altLang="en-US" sz="35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endParaRPr lang="en-US" altLang="zh-CN" sz="3500" b="1" dirty="0" smtClean="0">
              <a:solidFill>
                <a:srgbClr val="0000FF"/>
              </a:solidFill>
              <a:latin typeface="+mj-ea"/>
              <a:ea typeface="+mj-ea"/>
              <a:cs typeface="Courier New" pitchFamily="49" charset="0"/>
            </a:endParaRP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852"/>
            <a:ext cx="8153400" cy="506255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 dirty="0" smtClean="0"/>
              <a:t>函数应用举例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5.4】</a:t>
            </a:r>
            <a:r>
              <a:rPr lang="zh-CN" altLang="en-US" sz="2800" b="1" dirty="0" smtClean="0"/>
              <a:t>程序</a:t>
            </a:r>
            <a:endParaRPr lang="en-US" altLang="zh-CN" sz="2800" b="1" dirty="0" smtClean="0"/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 marL="342900" lvl="2" indent="-342900">
              <a:lnSpc>
                <a:spcPct val="110000"/>
              </a:lnSpc>
              <a:spcBef>
                <a:spcPts val="0"/>
              </a:spcBef>
              <a:buClr>
                <a:schemeClr val="hlink"/>
              </a:buClr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f (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altLang="zh-CN" sz="2400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z,a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z=(f(2.5)+2*f(6))/f(4.3);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调用自定义函数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</a:t>
            </a:r>
            <a:endParaRPr lang="en-US" altLang="zh-CN" sz="24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&lt;&lt;"z="&lt;&lt;z&lt;&lt;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&lt;&lt;"Input a=";  	  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提示用户输入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&gt;&gt;a;	</a:t>
            </a:r>
            <a:endParaRPr lang="en-US" altLang="zh-CN" sz="24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&lt;&lt;"f(a)="&lt;&lt;f(a)&lt;&lt;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算出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f(a)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并输出</a:t>
            </a:r>
            <a:endParaRPr lang="zh-CN" altLang="en-US" sz="24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	</a:t>
            </a:r>
            <a:endParaRPr lang="en-US" altLang="zh-CN" sz="24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 (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x){……}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的定义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60648"/>
            <a:ext cx="8786874" cy="61926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4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函数应用举例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5.4】</a:t>
            </a:r>
            <a:r>
              <a:rPr lang="zh-CN" altLang="en-US" sz="2800" b="1" dirty="0" smtClean="0">
                <a:latin typeface="+mj-ea"/>
                <a:ea typeface="+mj-ea"/>
              </a:rPr>
              <a:t>程序（不带函数原型）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#include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iostream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using namespace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std;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 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f (</a:t>
            </a: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x){……}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函数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f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的定义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main(){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double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z,a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z=(f(2.5)+2*f(6))/f(4.3);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 //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调用自定义函数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f</a:t>
            </a:r>
            <a:endParaRPr lang="en-US" altLang="zh-CN" sz="28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&lt;&lt;"z="&lt;&lt;z&lt;&lt;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&lt;&lt;"Input a=";  	   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提示用户输入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cin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&gt;&gt;a;	</a:t>
            </a:r>
            <a:endParaRPr lang="en-US" altLang="zh-CN" sz="2800" b="1" dirty="0" smtClean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&lt;&lt;"f(a)="&lt;&lt;f(a)&lt;&lt;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 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算出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f(a)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并输出</a:t>
            </a:r>
            <a:endParaRPr lang="zh-CN" altLang="en-US" sz="28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0;</a:t>
            </a:r>
          </a:p>
          <a:p>
            <a:pPr>
              <a:lnSpc>
                <a:spcPct val="124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	</a:t>
            </a:r>
            <a:endParaRPr lang="en-US" altLang="zh-CN" sz="28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7239000" cy="605808"/>
          </a:xfrm>
        </p:spPr>
        <p:txBody>
          <a:bodyPr/>
          <a:lstStyle/>
          <a:p>
            <a:r>
              <a:rPr lang="zh-CN" altLang="en-US" dirty="0" smtClean="0"/>
              <a:t>函数的参数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11572"/>
            <a:ext cx="7239000" cy="484632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函数的参数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语言的函数分为无参函数和有参函数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函数的参数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无参数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一个参数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多个参数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函数参数表的写法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一般写法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省略参数名（无名参数）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参数赋初值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6632"/>
            <a:ext cx="8496944" cy="5976664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形参和实参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函数说明中的参数称为</a:t>
            </a:r>
            <a:r>
              <a:rPr lang="zh-CN" altLang="en-US" sz="2800" b="1" dirty="0" smtClean="0">
                <a:solidFill>
                  <a:srgbClr val="FF3300"/>
                </a:solidFill>
                <a:latin typeface="+mj-ea"/>
                <a:ea typeface="+mj-ea"/>
              </a:rPr>
              <a:t>形式参数（形参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/>
            </a:r>
            <a:b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函数调用中的参数称为</a:t>
            </a:r>
            <a:r>
              <a:rPr lang="zh-CN" altLang="en-US" sz="2800" b="1" dirty="0" smtClean="0">
                <a:solidFill>
                  <a:srgbClr val="FF3300"/>
                </a:solidFill>
                <a:latin typeface="+mj-ea"/>
                <a:ea typeface="+mj-ea"/>
              </a:rPr>
              <a:t>实际参数（实参）</a:t>
            </a:r>
            <a:endParaRPr lang="en-US" altLang="zh-CN" sz="2800" b="1" dirty="0" smtClean="0">
              <a:solidFill>
                <a:srgbClr val="FF33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accent2"/>
                </a:solidFill>
                <a:latin typeface="+mj-ea"/>
                <a:ea typeface="+mj-ea"/>
              </a:rPr>
              <a:t>实参表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在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参数个数</a:t>
            </a:r>
            <a:r>
              <a:rPr lang="zh-CN" altLang="en-US" sz="2800" b="1" dirty="0" smtClean="0">
                <a:latin typeface="+mj-ea"/>
                <a:ea typeface="+mj-ea"/>
              </a:rPr>
              <a:t>、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参数顺序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、以及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参数类型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等方面要与被调函数的</a:t>
            </a:r>
            <a:r>
              <a:rPr lang="zh-CN" altLang="en-US" sz="2800" b="1" dirty="0" smtClean="0">
                <a:solidFill>
                  <a:schemeClr val="accent2"/>
                </a:solidFill>
                <a:latin typeface="+mj-ea"/>
                <a:ea typeface="+mj-ea"/>
              </a:rPr>
              <a:t>形参表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之间有一个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一一对应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的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相互匹配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关系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编译器将根据参数的顺序，来逐一实现实参与对应形参的“结合”，而后执行一遍函数体（而完成本次的函数调用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44624"/>
            <a:ext cx="8928992" cy="5688632"/>
          </a:xfrm>
        </p:spPr>
        <p:txBody>
          <a:bodyPr>
            <a:normAutofit/>
          </a:bodyPr>
          <a:lstStyle/>
          <a:p>
            <a:pPr lvl="1">
              <a:lnSpc>
                <a:spcPct val="130000"/>
              </a:lnSpc>
            </a:pPr>
            <a:r>
              <a:rPr lang="zh-CN" altLang="en-US" sz="3200" b="1" dirty="0" smtClean="0">
                <a:solidFill>
                  <a:srgbClr val="002060"/>
                </a:solidFill>
                <a:latin typeface="+mj-ea"/>
                <a:ea typeface="+mj-ea"/>
              </a:rPr>
              <a:t>无名参数</a:t>
            </a:r>
            <a:endParaRPr lang="en-US" altLang="zh-CN" sz="32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函数定义中，只有类型，没有名称的参数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32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f(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a,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b){</a:t>
            </a:r>
            <a:r>
              <a:rPr lang="en-US" altLang="zh-CN" sz="32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a+b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*b;}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32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f(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a,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b,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){</a:t>
            </a:r>
            <a:r>
              <a:rPr lang="en-US" altLang="zh-CN" sz="32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a*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a+b</a:t>
            </a:r>
            <a:r>
              <a:rPr lang="en-US" altLang="zh-CN" sz="32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;} 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两个不同的函数同名，但由于第二个函数包含一无名参数，使得在调用时能够被区分，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f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x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，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y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）</a:t>
            </a:r>
            <a:r>
              <a:rPr lang="zh-CN" altLang="en-US" sz="2800" b="1" dirty="0" smtClean="0">
                <a:latin typeface="+mj-ea"/>
                <a:ea typeface="+mj-ea"/>
              </a:rPr>
              <a:t>是第一个函数的调用，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f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x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，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y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，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0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）</a:t>
            </a:r>
            <a:r>
              <a:rPr lang="zh-CN" altLang="en-US" sz="2800" b="1" dirty="0" smtClean="0">
                <a:latin typeface="+mj-ea"/>
                <a:ea typeface="+mj-ea"/>
              </a:rPr>
              <a:t>是第二个函数的调用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20" y="15450"/>
            <a:ext cx="7239000" cy="677246"/>
          </a:xfrm>
        </p:spPr>
        <p:txBody>
          <a:bodyPr/>
          <a:lstStyle/>
          <a:p>
            <a:r>
              <a:rPr lang="zh-CN" altLang="en-US" dirty="0" smtClean="0"/>
              <a:t>可缺省的参数</a:t>
            </a:r>
            <a:r>
              <a:rPr lang="en-US" altLang="zh-CN" dirty="0" smtClean="0"/>
              <a:t>-</a:t>
            </a:r>
            <a:r>
              <a:rPr lang="zh-CN" altLang="en-US" dirty="0" smtClean="0"/>
              <a:t>参数的默认值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64704"/>
            <a:ext cx="8643998" cy="48463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允许在函数定义处为其中最后面的连续若干个参数设置默认值（也称缺省值）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若调用处缺省了某个或某些实参的情况下，系统将自动使用那些在函数定义处给定的参数默认值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例如，在定义函数</a:t>
            </a:r>
            <a:r>
              <a:rPr lang="en-US" altLang="zh-CN" sz="2800" b="1" dirty="0" err="1" smtClean="0">
                <a:latin typeface="+mj-ea"/>
                <a:ea typeface="+mj-ea"/>
              </a:rPr>
              <a:t>func</a:t>
            </a:r>
            <a:r>
              <a:rPr lang="zh-CN" altLang="en-US" sz="2800" b="1" dirty="0" smtClean="0">
                <a:latin typeface="+mj-ea"/>
                <a:ea typeface="+mj-ea"/>
              </a:rPr>
              <a:t>时为其三个参数设置默认值：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251520" y="3561710"/>
            <a:ext cx="8822214" cy="252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#include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iostream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std;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a=11,  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b=22,  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c=33) {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 smtClean="0">
                <a:solidFill>
                  <a:schemeClr val="hlink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    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//为参数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a、b、c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设置了默认值11、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22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与33</a:t>
            </a:r>
            <a:endParaRPr lang="en-US" altLang="zh-CN" sz="2400" b="1" dirty="0" smtClean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&lt;&lt;"a="&lt;&lt;a&lt;&lt;", b="&lt;&lt;b&lt;&lt;", c="&lt;&lt;c&lt;&lt;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 </a:t>
            </a:r>
            <a:endParaRPr lang="zh-CN" altLang="en-US" sz="2400" b="1" dirty="0" smtClean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8596" y="357166"/>
            <a:ext cx="8329642" cy="5029200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();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调用时缺省了3个实参，将使用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     //定义处给定的那3个相对应的参数默认值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(55);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调用时缺省了后2个实参，将使用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  //定义处给定的那后2个对应参数默认值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(77,99);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调用时缺省了最后1个实参，将使用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  //定义处给定的那最后1个参数默认值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(8,88,888);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调用时没缺省任一个实参，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  //系统将不使用定义处给定的任一个参数默认值</a:t>
            </a:r>
            <a:endParaRPr lang="en-US" altLang="zh-CN" sz="24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return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0;</a:t>
            </a:r>
            <a:endParaRPr lang="zh-CN" altLang="en-US" sz="24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3314720" y="3966870"/>
            <a:ext cx="3543296" cy="2533964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运行结果：</a:t>
            </a:r>
            <a:endParaRPr kumimoji="0" lang="en-US" altLang="zh-CN" sz="2600" b="0" i="0" u="none" strike="noStrike" kern="1200" cap="none" spc="0" normalizeH="0" baseline="0" noProof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a=11, b=22, c=33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a=55, b=22, c=33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a=77, b=99, c=33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a=8, b=88, c=888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Char char=""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可缺省的参数</a:t>
            </a:r>
            <a:r>
              <a:rPr lang="en-US" altLang="zh-CN" dirty="0" smtClean="0"/>
              <a:t>-</a:t>
            </a:r>
            <a:r>
              <a:rPr lang="zh-CN" altLang="en-US" dirty="0" smtClean="0"/>
              <a:t>参数的默认值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620688"/>
            <a:ext cx="8572560" cy="48463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函数的参数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可缺省参数（参数的默认值）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只能为函数最后面的连续若干个参数设置默认值，且在调用处也只能缺省后面的连续若干个实参</a:t>
            </a:r>
            <a:endParaRPr lang="en-US" altLang="zh-CN" sz="2800" b="1" dirty="0" smtClean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285720" y="2994113"/>
            <a:ext cx="8572560" cy="3027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void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a,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b=2,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c=3);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//OK!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void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a=1,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b,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c=3);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//ERROR!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  void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a=1,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b=2,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c);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//ERROR!</a:t>
            </a:r>
            <a:endParaRPr lang="en-US" altLang="zh-CN" sz="2000" b="1" dirty="0" smtClean="0">
              <a:solidFill>
                <a:srgbClr val="0000FF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</a:t>
            </a:r>
            <a:r>
              <a:rPr lang="zh-CN" altLang="en-US" sz="2000" b="1" dirty="0" smtClean="0">
                <a:solidFill>
                  <a:srgbClr val="C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对第一个函数说明，采用如下的调用语句：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(1, 22, 333);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//OK!  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调用时给出所有实参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();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	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 ERROR!  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参数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没有默认值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(10,20);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//OK!  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参数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默认为3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func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(5, ,9);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//ERROR!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调用处也只能缺省后面的连续若干个实参</a:t>
            </a:r>
            <a:r>
              <a:rPr lang="zh-CN" altLang="en-US" sz="2000" b="1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endParaRPr lang="zh-CN" altLang="en-US" sz="2000" b="1" dirty="0" smtClean="0">
              <a:solidFill>
                <a:schemeClr val="accent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605808"/>
          </a:xfrm>
        </p:spPr>
        <p:txBody>
          <a:bodyPr/>
          <a:lstStyle/>
          <a:p>
            <a:r>
              <a:rPr lang="zh-CN" altLang="en-US" dirty="0" smtClean="0"/>
              <a:t>函数调用过程中参数的传递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857232"/>
            <a:ext cx="8678768" cy="530807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一般传递过程（赋值传递）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发生函数调用，转到函数体执行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根据函数的形参，分配内存空间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将实参赋值给形参，即为形参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分配的存储空间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赋值，此时实参在函数体内失效，形参有效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函数执行完毕，返回到主调函数，形参所占的空间自动回收，形参失效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函数调用过程中参数的传递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785794"/>
            <a:ext cx="8572560" cy="484632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按地址传递过程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发生函数调用，转到函数体执行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根据代表地址的参数，在以该参数为首地址的空间中进行各种处理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数组名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指针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引用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函数执行完毕，无论是否有返回值，函数体对内存空间进行的修改将保留，对主调函数仍然有效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16632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能够作为函数参数的数据类型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484632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基本类型及其派生类型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赋值参数传递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数组、指针、引用等导出类型、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按地址传递参数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类类型、结构类型、联合类型等用户定义类型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赋值参数传递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按地址参数传递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-27384"/>
            <a:ext cx="7239000" cy="748684"/>
          </a:xfrm>
        </p:spPr>
        <p:txBody>
          <a:bodyPr/>
          <a:lstStyle/>
          <a:p>
            <a:r>
              <a:rPr lang="zh-CN" altLang="en-US" dirty="0" smtClean="0"/>
              <a:t>一维数组作为函数的参数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922" y="764704"/>
            <a:ext cx="8760550" cy="561662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latin typeface="+mj-ea"/>
                <a:ea typeface="+mj-ea"/>
              </a:rPr>
              <a:t>一</a:t>
            </a:r>
            <a:r>
              <a:rPr lang="zh-CN" altLang="en-US" sz="2800" b="1" dirty="0" smtClean="0">
                <a:latin typeface="+mj-ea"/>
                <a:ea typeface="+mj-ea"/>
              </a:rPr>
              <a:t>维数组作为函数的参数，数组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大小可以指定，也可以不指定</a:t>
            </a:r>
            <a:r>
              <a:rPr lang="zh-CN" altLang="en-US" sz="2800" b="1" dirty="0" smtClean="0">
                <a:latin typeface="+mj-ea"/>
                <a:ea typeface="+mj-ea"/>
              </a:rPr>
              <a:t>，但是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多维数组除了第一维之外，其它维的大小必须指定</a:t>
            </a:r>
            <a:endParaRPr lang="en-US" altLang="zh-CN" sz="28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函数原型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searchArray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[],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searchArray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[10],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);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函数定义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searchArray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a[],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b){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写为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a[10]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也可以</a:t>
            </a:r>
            <a:endParaRPr lang="en-US" altLang="zh-CN" sz="2400" b="1" dirty="0" smtClean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return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a[b];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</a:t>
            </a:r>
            <a:endParaRPr lang="zh-CN" altLang="en-US" sz="2400" b="1" dirty="0" smtClean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7239000" cy="5343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多维数组作为函数的参数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714356"/>
            <a:ext cx="8858312" cy="5357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函数的参数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多维数组（以二维数组为例）作为函数的参数，参数表的数组参数可以写为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a[][10]</a:t>
            </a:r>
          </a:p>
          <a:p>
            <a:pPr lvl="2">
              <a:lnSpc>
                <a:spcPct val="12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a[10][10]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400" b="1" dirty="0" smtClean="0">
                <a:latin typeface="+mj-ea"/>
                <a:ea typeface="+mj-ea"/>
              </a:rPr>
              <a:t>	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但不可以写为：</a:t>
            </a:r>
            <a:endParaRPr lang="en-US" altLang="zh-CN" sz="24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a[][];</a:t>
            </a:r>
          </a:p>
          <a:p>
            <a:pPr lvl="2">
              <a:lnSpc>
                <a:spcPct val="120000"/>
              </a:lnSpc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a[20][];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一维数组及多维数组的第一维大小，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形参、实参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可以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不对应</a:t>
            </a:r>
            <a:endParaRPr lang="en-US" altLang="zh-CN" sz="24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实参为</a:t>
            </a:r>
            <a:r>
              <a:rPr lang="en-US" altLang="zh-CN" sz="2400" b="1" dirty="0" smtClean="0">
                <a:latin typeface="+mj-ea"/>
                <a:ea typeface="+mj-ea"/>
              </a:rPr>
              <a:t>a[10]</a:t>
            </a:r>
            <a:r>
              <a:rPr lang="zh-CN" altLang="en-US" sz="2400" b="1" dirty="0" smtClean="0">
                <a:latin typeface="+mj-ea"/>
                <a:ea typeface="+mj-ea"/>
              </a:rPr>
              <a:t>，形参可以定义为</a:t>
            </a:r>
            <a:r>
              <a:rPr lang="en-US" altLang="zh-CN" sz="2400" b="1" dirty="0" smtClean="0">
                <a:latin typeface="+mj-ea"/>
                <a:ea typeface="+mj-ea"/>
              </a:rPr>
              <a:t>x[6]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605808"/>
          </a:xfrm>
        </p:spPr>
        <p:txBody>
          <a:bodyPr/>
          <a:lstStyle/>
          <a:p>
            <a:r>
              <a:rPr lang="zh-CN" altLang="en-US" dirty="0" smtClean="0"/>
              <a:t>数组作为函数参数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857232"/>
            <a:ext cx="8572560" cy="5029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数组作为函数参数，是将实参数组的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首地址</a:t>
            </a:r>
            <a:r>
              <a:rPr lang="zh-CN" altLang="en-US" sz="2800" b="1" dirty="0" smtClean="0">
                <a:latin typeface="+mj-ea"/>
                <a:ea typeface="+mj-ea"/>
              </a:rPr>
              <a:t>传递给形参，而不是将数组的所有元素传递给形参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在函数体中，根据形参数组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首地址</a:t>
            </a:r>
            <a:r>
              <a:rPr lang="zh-CN" altLang="en-US" sz="2800" b="1" dirty="0" smtClean="0">
                <a:latin typeface="+mj-ea"/>
                <a:ea typeface="+mj-ea"/>
              </a:rPr>
              <a:t>和下标指示的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偏移量</a:t>
            </a:r>
            <a:r>
              <a:rPr lang="zh-CN" altLang="en-US" sz="2800" b="1" dirty="0" smtClean="0">
                <a:latin typeface="+mj-ea"/>
                <a:ea typeface="+mj-ea"/>
              </a:rPr>
              <a:t>访问数组元素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能够表示地址的数据类型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数组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首地址（第一个元素的地址）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指针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引用</a:t>
            </a:r>
            <a:endParaRPr lang="zh-CN" altLang="en-US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366706"/>
            <a:ext cx="8286808" cy="1562096"/>
          </a:xfrm>
        </p:spPr>
        <p:txBody>
          <a:bodyPr/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5.5】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一维数组作参数举例：设计函数，实现两个字符数组的连接。</a:t>
            </a:r>
            <a:endParaRPr lang="en-US" altLang="zh-CN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000100" y="1475465"/>
            <a:ext cx="7286676" cy="4347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#include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&lt;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iostream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</a:t>
            </a:r>
            <a:endParaRPr kumimoji="1" lang="en-US" altLang="zh-CN" sz="2800" b="1" dirty="0" smtClean="0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using namespace 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std;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strcat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s[],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ct[]){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=0,j=0;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while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(s[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]!=0) 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++;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while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(ct[j]!=0)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s[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++]=ct[j++];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s[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]='\0';</a:t>
            </a:r>
          </a:p>
          <a:p>
            <a:pPr algn="just">
              <a:lnSpc>
                <a:spcPct val="110000"/>
              </a:lnSpc>
            </a:pP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153400" cy="1704972"/>
          </a:xfrm>
        </p:spPr>
        <p:txBody>
          <a:bodyPr/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5.5】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主函数部分</a:t>
            </a:r>
            <a:endParaRPr lang="en-US" altLang="zh-CN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857224" y="1357298"/>
            <a:ext cx="735811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main (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){</a:t>
            </a:r>
          </a:p>
          <a:p>
            <a:pPr algn="just"/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a[40]="</a:t>
            </a:r>
            <a:r>
              <a:rPr kumimoji="1" lang="zh-CN" altLang="en-US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李明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";</a:t>
            </a:r>
          </a:p>
          <a:p>
            <a:pPr algn="just"/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char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b[20]="</a:t>
            </a:r>
            <a:r>
              <a:rPr kumimoji="1" lang="zh-CN" altLang="en-US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是东南大学学生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";</a:t>
            </a:r>
          </a:p>
          <a:p>
            <a:pPr algn="just"/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strcat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a,b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);</a:t>
            </a:r>
            <a:r>
              <a:rPr kumimoji="1"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kumimoji="1" lang="zh-CN" altLang="en-US" sz="28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实参为数组名</a:t>
            </a:r>
            <a:endParaRPr kumimoji="1" lang="en-US" altLang="zh-CN" sz="2800" b="1" dirty="0" smtClean="0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algn="just"/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cout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&lt;&lt;a&lt;&lt;</a:t>
            </a:r>
            <a:r>
              <a:rPr kumimoji="1"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endl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  <a:r>
              <a:rPr kumimoji="1"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kumimoji="1" lang="zh-CN" altLang="en-US" sz="28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打印字符数组</a:t>
            </a:r>
            <a:r>
              <a:rPr kumimoji="1" lang="en-US" altLang="zh-CN" sz="28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a</a:t>
            </a:r>
          </a:p>
          <a:p>
            <a:pPr algn="just"/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return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0;</a:t>
            </a:r>
          </a:p>
          <a:p>
            <a:pPr algn="just"/>
            <a:r>
              <a:rPr kumimoji="1" lang="en-US" altLang="zh-CN" sz="28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  <a:endParaRPr kumimoji="1" lang="en-US" altLang="zh-CN" sz="2800" b="1" dirty="0">
              <a:solidFill>
                <a:schemeClr val="tx2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428604"/>
            <a:ext cx="8429684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7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7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700" b="1" dirty="0" smtClean="0">
                <a:solidFill>
                  <a:srgbClr val="C00000"/>
                </a:solidFill>
                <a:latin typeface="+mj-ea"/>
                <a:ea typeface="+mj-ea"/>
              </a:rPr>
              <a:t>5.6】</a:t>
            </a:r>
            <a:r>
              <a:rPr lang="zh-CN" altLang="en-US" sz="2700" b="1" dirty="0" smtClean="0">
                <a:solidFill>
                  <a:srgbClr val="C00000"/>
                </a:solidFill>
                <a:latin typeface="+mj-ea"/>
                <a:ea typeface="+mj-ea"/>
              </a:rPr>
              <a:t>多维数组做函数参数举例：设计函数，实现矩阵的转置和矩阵乘法，并在主函数中验证</a:t>
            </a:r>
            <a:endParaRPr lang="en-US" altLang="zh-CN" sz="27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700" b="1" dirty="0" smtClean="0">
                <a:solidFill>
                  <a:srgbClr val="002060"/>
                </a:solidFill>
                <a:latin typeface="+mj-ea"/>
                <a:ea typeface="+mj-ea"/>
              </a:rPr>
              <a:t>用二维数组存储矩阵</a:t>
            </a:r>
            <a:endParaRPr lang="en-US" altLang="zh-CN" sz="27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700" b="1" dirty="0" smtClean="0">
                <a:solidFill>
                  <a:srgbClr val="002060"/>
                </a:solidFill>
                <a:latin typeface="+mj-ea"/>
                <a:ea typeface="+mj-ea"/>
              </a:rPr>
              <a:t>由于数组作为参数，传递的是</a:t>
            </a:r>
            <a:r>
              <a:rPr lang="zh-CN" altLang="en-US" sz="2700" b="1" dirty="0" smtClean="0">
                <a:solidFill>
                  <a:srgbClr val="C00000"/>
                </a:solidFill>
                <a:latin typeface="+mj-ea"/>
                <a:ea typeface="+mj-ea"/>
              </a:rPr>
              <a:t>数组的首地址</a:t>
            </a:r>
            <a:r>
              <a:rPr lang="zh-CN" altLang="en-US" sz="2700" b="1" dirty="0" smtClean="0">
                <a:solidFill>
                  <a:srgbClr val="002060"/>
                </a:solidFill>
                <a:latin typeface="+mj-ea"/>
                <a:ea typeface="+mj-ea"/>
              </a:rPr>
              <a:t>，因此，在函数中对作为形参的数组进行的操作，能够直接反映到实参数组中</a:t>
            </a:r>
            <a:endParaRPr lang="zh-CN" altLang="en-US" sz="27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14290"/>
            <a:ext cx="8153400" cy="704840"/>
          </a:xfrm>
        </p:spPr>
        <p:txBody>
          <a:bodyPr/>
          <a:lstStyle/>
          <a:p>
            <a:pPr lvl="1"/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5.6】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函数原型及主函数</a:t>
            </a:r>
            <a:endParaRPr lang="zh-CN" altLang="en-US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285720" y="785794"/>
            <a:ext cx="8786874" cy="460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#include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iostream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kern="0" dirty="0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</a:t>
            </a:r>
            <a:r>
              <a:rPr kumimoji="1" lang="en-US" altLang="zh-CN" sz="2000" b="1" kern="0" dirty="0" smtClean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std;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inverse(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[3][6],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[6][3]);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转置矩阵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multi(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[6][3],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[3][4],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[6][4]);</a:t>
            </a:r>
            <a:r>
              <a:rPr kumimoji="0" lang="pl-PL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矩阵乘法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output(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[6][4]);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矩阵输出</a:t>
            </a:r>
            <a:endParaRPr kumimoji="1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kern="0" dirty="0" err="1" smtClean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main(){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middle[6][3], result[6][4];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matrix1[3][6]={8,10,12,23,1,3,5,7,9,2,4,6,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	34,45,56,2,4,6};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kumimoji="1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matrix2[3][4]={3,2,1,0,-1,-2,9,8,7,6,5,4};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inverse(matrix1,middle);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实参为数组名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multi(middle,matrix2,result);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output(result);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return</a:t>
            </a: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0;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42852"/>
            <a:ext cx="8153400" cy="704840"/>
          </a:xfrm>
        </p:spPr>
        <p:txBody>
          <a:bodyPr/>
          <a:lstStyle/>
          <a:p>
            <a:pPr lvl="1"/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5.6】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转置和乘法函数定义</a:t>
            </a:r>
            <a:endParaRPr lang="zh-CN" altLang="en-US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285720" y="714356"/>
            <a:ext cx="8786874" cy="460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inverse(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matrix1[3][6],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middle[6][3]){</a:t>
            </a:r>
            <a:r>
              <a:rPr lang="en-US" altLang="zh-CN" sz="20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转置</a:t>
            </a:r>
          </a:p>
          <a:p>
            <a:pPr>
              <a:lnSpc>
                <a:spcPct val="110000"/>
              </a:lnSpc>
            </a:pPr>
            <a:r>
              <a:rPr lang="zh-CN" altLang="en-US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</a:t>
            </a:r>
            <a:r>
              <a:rPr lang="zh-CN" altLang="en-US" sz="2000" b="1" dirty="0" smtClean="0">
                <a:solidFill>
                  <a:srgbClr val="0000CC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000" b="1" dirty="0" err="1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i,j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</a:t>
            </a: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=0;i&lt;3;i++)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 </a:t>
            </a:r>
            <a:r>
              <a:rPr lang="en-US" altLang="zh-CN" sz="2000" b="1" dirty="0" smtClean="0">
                <a:solidFill>
                  <a:srgbClr val="0000CC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 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(j=0;j&lt;6;j++)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middle[j][i]=matrix1[i][j];</a:t>
            </a:r>
          </a:p>
          <a:p>
            <a:pPr>
              <a:lnSpc>
                <a:spcPct val="110000"/>
              </a:lnSpc>
            </a:pP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return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;}</a:t>
            </a:r>
          </a:p>
          <a:p>
            <a:pPr>
              <a:lnSpc>
                <a:spcPct val="110000"/>
              </a:lnSpc>
            </a:pP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multi(</a:t>
            </a: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middle[6]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[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3],</a:t>
            </a: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matrix2[3][4],</a:t>
            </a: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 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result[6][4]){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endParaRPr lang="zh-CN" altLang="pl-PL" sz="2000" b="1" dirty="0" smtClean="0">
              <a:solidFill>
                <a:schemeClr val="tx2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lnSpc>
                <a:spcPct val="110000"/>
              </a:lnSpc>
            </a:pPr>
            <a:r>
              <a:rPr lang="zh-CN" altLang="pl-PL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i,j,k;</a:t>
            </a: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pl-PL" altLang="zh-CN" sz="20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lang="zh-CN" altLang="en-US" sz="20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矩阵乘法</a:t>
            </a:r>
            <a:endParaRPr lang="pl-PL" altLang="zh-CN" sz="2000" b="1" dirty="0" smtClean="0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lnSpc>
                <a:spcPct val="110000"/>
              </a:lnSpc>
            </a:pP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</a:t>
            </a: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(i=0;i&lt;6;i++){</a:t>
            </a:r>
          </a:p>
          <a:p>
            <a:pPr>
              <a:lnSpc>
                <a:spcPct val="110000"/>
              </a:lnSpc>
            </a:pP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 </a:t>
            </a:r>
            <a:r>
              <a:rPr lang="pl-PL" altLang="zh-CN" sz="2000" b="1" dirty="0" smtClean="0">
                <a:solidFill>
                  <a:srgbClr val="0000CC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pl-PL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</a:t>
            </a: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pl-PL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(j=0;j&lt;4;j++){</a:t>
            </a:r>
          </a:p>
          <a:p>
            <a:pPr>
              <a:lnSpc>
                <a:spcPct val="110000"/>
              </a:lnSpc>
            </a:pPr>
            <a:r>
              <a:rPr lang="pl-PL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result[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][j] = 0;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</a:t>
            </a:r>
            <a:r>
              <a:rPr lang="en-US" altLang="zh-CN" sz="2000" b="1" dirty="0" smtClean="0">
                <a:solidFill>
                  <a:srgbClr val="0000CC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(k=0;k&lt;3;k++)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	     result[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][j]+=middle[</a:t>
            </a:r>
            <a:r>
              <a:rPr lang="en-US" altLang="zh-CN" sz="20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][k]*matrix2[k][j]; }}</a:t>
            </a:r>
          </a:p>
          <a:p>
            <a:pPr>
              <a:lnSpc>
                <a:spcPct val="110000"/>
              </a:lnSpc>
            </a:pPr>
            <a:r>
              <a:rPr lang="en-US" altLang="zh-CN" sz="2000" b="1" dirty="0" smtClean="0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20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return</a:t>
            </a:r>
            <a:r>
              <a:rPr lang="en-US" altLang="zh-CN" sz="20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; }</a:t>
            </a:r>
            <a:endParaRPr lang="en-US" altLang="zh-CN" sz="2000" b="1" dirty="0">
              <a:solidFill>
                <a:schemeClr val="tx2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285728"/>
            <a:ext cx="8153400" cy="704840"/>
          </a:xfrm>
        </p:spPr>
        <p:txBody>
          <a:bodyPr/>
          <a:lstStyle/>
          <a:p>
            <a:pPr lvl="1"/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5.6】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矩阵输出函数定义</a:t>
            </a:r>
            <a:endParaRPr lang="zh-CN" altLang="en-US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57126" y="1214422"/>
            <a:ext cx="8786874" cy="460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void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output(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result[6][4]){ 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矩阵输出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&lt;&lt;"result"&lt;&lt;'\n';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i,j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(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=0;i&lt;6;i++){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(j=0;j&lt;4;j++)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setw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(4)&lt;&lt;result[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][j]&lt;&lt;"  ";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&lt;&lt;'\n';  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return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; 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}</a:t>
            </a:r>
            <a:endParaRPr lang="en-US" altLang="zh-CN" sz="2400" b="1" dirty="0">
              <a:solidFill>
                <a:schemeClr val="tx2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153400" cy="5857916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变量的引用作为函数的形式参数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赋值形参：未被说明为引用（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&amp;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）的参数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赋值形参和实参直观上是一致的，实际是不同的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在内存中的地址不同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引用形参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——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变量的引用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为变量起“别名”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在作为形参的变量前加符号“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&amp;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”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与变量的内存地址相同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需要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在函数中改变实参值并将变化反映到主调函数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的时候，用作为实参的变量引用是一种方法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还可以用指针做形参操作变量地址</a:t>
            </a:r>
            <a:endParaRPr lang="en-US" altLang="zh-CN" sz="2400" b="1" dirty="0" smtClean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571480"/>
            <a:ext cx="8572560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赋值形参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赋值形参的函数调用过程和参数传递机制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在执行函数调用时，在检查函数名及参数表之后，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为赋值参数分配内存</a:t>
            </a:r>
            <a:endParaRPr lang="en-US" altLang="zh-CN" sz="24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计算各对应的实参表达式，并把计算的值赋给刚刚创建的参数变量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开始函数体的运行。 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凡是赋值形参，在函数的每次调用时，都必须为每一个赋值形参创建一个新的参数变量。</a:t>
            </a:r>
          </a:p>
          <a:p>
            <a:pPr lvl="2"/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572560" cy="5857916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700" b="1" dirty="0" smtClean="0">
                <a:latin typeface="+mj-ea"/>
                <a:ea typeface="+mj-ea"/>
              </a:rPr>
              <a:t>赋值形参</a:t>
            </a:r>
            <a:endParaRPr lang="en-US" altLang="zh-CN" sz="2700" b="1" dirty="0" smtClean="0">
              <a:latin typeface="+mj-ea"/>
              <a:ea typeface="+mj-ea"/>
            </a:endParaRPr>
          </a:p>
          <a:p>
            <a:pPr lvl="1">
              <a:lnSpc>
                <a:spcPct val="125000"/>
              </a:lnSpc>
            </a:pPr>
            <a:r>
              <a:rPr lang="zh-CN" altLang="en-US" sz="2700" b="1" dirty="0" smtClean="0">
                <a:solidFill>
                  <a:srgbClr val="C00000"/>
                </a:solidFill>
                <a:latin typeface="+mj-ea"/>
                <a:ea typeface="+mj-ea"/>
              </a:rPr>
              <a:t>实参表达式</a:t>
            </a:r>
            <a:r>
              <a:rPr lang="zh-CN" altLang="en-US" sz="2700" b="1" dirty="0" smtClean="0">
                <a:latin typeface="+mj-ea"/>
                <a:ea typeface="+mj-ea"/>
              </a:rPr>
              <a:t>：</a:t>
            </a:r>
            <a:r>
              <a:rPr lang="zh-CN" altLang="en-US" sz="2700" b="1" dirty="0" smtClean="0">
                <a:solidFill>
                  <a:srgbClr val="002060"/>
                </a:solidFill>
                <a:latin typeface="+mj-ea"/>
                <a:ea typeface="+mj-ea"/>
              </a:rPr>
              <a:t>函数调用语句中，与赋值形参相对应的实参可以是</a:t>
            </a:r>
            <a:r>
              <a:rPr lang="zh-CN" altLang="en-US" sz="2700" b="1" dirty="0" smtClean="0">
                <a:solidFill>
                  <a:srgbClr val="FF0000"/>
                </a:solidFill>
                <a:latin typeface="+mj-ea"/>
                <a:ea typeface="+mj-ea"/>
              </a:rPr>
              <a:t>指定类型的常量、变量或表达式</a:t>
            </a:r>
            <a:r>
              <a:rPr lang="zh-CN" altLang="en-US" sz="2700" b="1" dirty="0" smtClean="0">
                <a:solidFill>
                  <a:srgbClr val="002060"/>
                </a:solidFill>
                <a:latin typeface="+mj-ea"/>
                <a:ea typeface="+mj-ea"/>
              </a:rPr>
              <a:t>。在执行函数调用时应把该表达式的值计算出来，作为初值赋给刚刚为赋值形参创建的参数变量。</a:t>
            </a:r>
            <a:endParaRPr lang="en-US" altLang="zh-CN" sz="27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5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这是赋值调用方式名称的由来。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5000"/>
              </a:lnSpc>
            </a:pPr>
            <a:r>
              <a:rPr lang="zh-CN" altLang="en-US" sz="2700" b="1" dirty="0" smtClean="0">
                <a:solidFill>
                  <a:schemeClr val="tx1"/>
                </a:solidFill>
                <a:latin typeface="+mj-ea"/>
                <a:ea typeface="+mj-ea"/>
              </a:rPr>
              <a:t>为赋值形参创建的参数变量是局限于函数体运行的</a:t>
            </a:r>
            <a:r>
              <a:rPr lang="zh-CN" altLang="en-US" sz="2700" b="1" dirty="0" smtClean="0">
                <a:solidFill>
                  <a:srgbClr val="FF0000"/>
                </a:solidFill>
                <a:latin typeface="+mj-ea"/>
                <a:ea typeface="+mj-ea"/>
              </a:rPr>
              <a:t>局部变量</a:t>
            </a:r>
            <a:r>
              <a:rPr lang="zh-CN" altLang="en-US" sz="2700" b="1" dirty="0" smtClean="0">
                <a:solidFill>
                  <a:schemeClr val="tx1"/>
                </a:solidFill>
                <a:latin typeface="+mj-ea"/>
                <a:ea typeface="+mj-ea"/>
              </a:rPr>
              <a:t>，它作为该形参的一个实例，参加函数体程序块的这次运行，一旦运行完毕，这个参数变量就被撤消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428604"/>
            <a:ext cx="8319868" cy="602473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函数的参数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实参表达式作参数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例如，函数原型：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800" b="1" dirty="0" err="1" smtClean="0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add(</a:t>
            </a:r>
            <a:r>
              <a:rPr lang="en-US" altLang="zh-CN" sz="2800" b="1" dirty="0" err="1" smtClean="0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a, </a:t>
            </a:r>
            <a:r>
              <a:rPr lang="en-US" altLang="zh-CN" sz="2800" b="1" dirty="0" err="1" smtClean="0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b);</a:t>
            </a: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调用函数时，可以采用如下方式：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latin typeface="+mj-ea"/>
                <a:ea typeface="+mj-ea"/>
                <a:cs typeface="Courier New" pitchFamily="49" charset="0"/>
              </a:rPr>
              <a:t>……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err="1" smtClean="0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main(){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800" b="1" dirty="0" err="1" smtClean="0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x = 5;	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800" b="1" dirty="0" err="1" smtClean="0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c=add(1, 4*x+2);</a:t>
            </a:r>
            <a:r>
              <a:rPr lang="en-US" altLang="zh-CN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实参为表达式</a:t>
            </a:r>
            <a:endParaRPr lang="en-US" altLang="zh-CN" sz="2800" b="1" dirty="0" smtClean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……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</a:t>
            </a:r>
          </a:p>
          <a:p>
            <a:pPr lvl="1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153400" cy="29194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5.7】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编写函数，实现两个整数的交换</a:t>
            </a:r>
            <a:endParaRPr lang="en-US" altLang="zh-CN" sz="28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输入两个整数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输出初始值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交换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输出交换后的值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6" name="TextBox 5"/>
          <p:cNvSpPr txBox="1"/>
          <p:nvPr/>
        </p:nvSpPr>
        <p:spPr>
          <a:xfrm>
            <a:off x="1071538" y="3000372"/>
            <a:ext cx="71728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 (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y){</a:t>
            </a:r>
          </a:p>
          <a:p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temp = x;</a:t>
            </a:r>
          </a:p>
          <a:p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y = temp;</a:t>
            </a:r>
          </a:p>
          <a:p>
            <a:r>
              <a:rPr lang="en-US" altLang="zh-CN" sz="3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32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44624"/>
            <a:ext cx="8501122" cy="585791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5.7】</a:t>
            </a:r>
            <a:r>
              <a:rPr lang="zh-CN" altLang="en-US" sz="2800" b="1" dirty="0" smtClean="0">
                <a:latin typeface="+mj-ea"/>
                <a:ea typeface="+mj-ea"/>
              </a:rPr>
              <a:t>主函数部分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inlcude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 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y){.....}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&gt;&gt;a&gt;&gt;b;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&lt;&lt;“a=“&lt;&lt;a&lt;&lt;“b=“&lt;&lt;b&lt;&lt;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swap(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&lt;&lt;“a=“&lt;&lt;a&lt;&lt;“b=“&lt;&lt;b&lt;&lt;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910" y="357166"/>
            <a:ext cx="8177562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32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3200" b="1" dirty="0" smtClean="0">
                <a:solidFill>
                  <a:srgbClr val="C00000"/>
                </a:solidFill>
                <a:latin typeface="+mj-ea"/>
                <a:ea typeface="+mj-ea"/>
              </a:rPr>
              <a:t>5.7】</a:t>
            </a:r>
            <a:r>
              <a:rPr lang="zh-CN" altLang="en-US" sz="3200" b="1" dirty="0" smtClean="0">
                <a:latin typeface="+mj-ea"/>
                <a:ea typeface="+mj-ea"/>
              </a:rPr>
              <a:t>分析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程序运行结果显示，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和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b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的值没有进行交换！</a:t>
            </a:r>
            <a:endParaRPr lang="en-US" altLang="zh-CN" sz="2800" b="1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主函数运行时，为变量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b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分配存储空间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调用函数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swap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时，为变量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x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y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分配存储空间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函数体中交换了</a:t>
            </a:r>
            <a:r>
              <a:rPr lang="en-US" altLang="zh-CN" sz="2800" b="1" dirty="0" smtClean="0">
                <a:latin typeface="+mj-ea"/>
                <a:ea typeface="+mj-ea"/>
              </a:rPr>
              <a:t>x</a:t>
            </a:r>
            <a:r>
              <a:rPr lang="zh-CN" altLang="en-US" sz="2800" b="1" dirty="0" smtClean="0">
                <a:latin typeface="+mj-ea"/>
                <a:ea typeface="+mj-ea"/>
              </a:rPr>
              <a:t>和</a:t>
            </a:r>
            <a:r>
              <a:rPr lang="en-US" altLang="zh-CN" sz="2800" b="1" dirty="0" smtClean="0">
                <a:latin typeface="+mj-ea"/>
                <a:ea typeface="+mj-ea"/>
              </a:rPr>
              <a:t>y</a:t>
            </a:r>
            <a:r>
              <a:rPr lang="zh-CN" altLang="en-US" sz="2800" b="1" dirty="0" smtClean="0">
                <a:latin typeface="+mj-ea"/>
                <a:ea typeface="+mj-ea"/>
              </a:rPr>
              <a:t>存储单元的值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 smtClean="0">
                <a:latin typeface="+mj-ea"/>
                <a:ea typeface="+mj-ea"/>
              </a:rPr>
              <a:t>a</a:t>
            </a:r>
            <a:r>
              <a:rPr lang="zh-CN" altLang="en-US" sz="2800" b="1" dirty="0" smtClean="0">
                <a:latin typeface="+mj-ea"/>
                <a:ea typeface="+mj-ea"/>
              </a:rPr>
              <a:t>和</a:t>
            </a:r>
            <a:r>
              <a:rPr lang="en-US" altLang="zh-CN" sz="2800" b="1" dirty="0" smtClean="0">
                <a:latin typeface="+mj-ea"/>
                <a:ea typeface="+mj-ea"/>
              </a:rPr>
              <a:t>b</a:t>
            </a:r>
            <a:r>
              <a:rPr lang="zh-CN" altLang="en-US" sz="2800" b="1" dirty="0" smtClean="0">
                <a:latin typeface="+mj-ea"/>
                <a:ea typeface="+mj-ea"/>
              </a:rPr>
              <a:t>所在存储单元的值没有交换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输出的仍然是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b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所在存储单元的值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8640"/>
            <a:ext cx="8429684" cy="6336704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引用形参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函数定义的参数表中，名字前加上符号＆的参数为引用形参。例如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void swap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+mj-ea"/>
                <a:ea typeface="+mj-ea"/>
              </a:rPr>
              <a:t>int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＆ 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，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+mj-ea"/>
                <a:ea typeface="+mj-ea"/>
              </a:rPr>
              <a:t>int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＆ </a:t>
            </a:r>
            <a:r>
              <a:rPr lang="en-US" altLang="zh-CN" sz="2800" b="1" dirty="0" smtClean="0">
                <a:solidFill>
                  <a:srgbClr val="FF0000"/>
                </a:solidFill>
                <a:latin typeface="+mj-ea"/>
                <a:ea typeface="+mj-ea"/>
              </a:rPr>
              <a:t>b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）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；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引用形参在调用过程中的参数传递机制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函数的调用语句中对应于引用形参的实参必须是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  <a:ea typeface="+mj-ea"/>
              </a:rPr>
              <a:t>同一类型的变量</a:t>
            </a:r>
            <a:r>
              <a:rPr lang="zh-CN" altLang="en-US" sz="2400" b="1" dirty="0" smtClean="0">
                <a:latin typeface="+mj-ea"/>
                <a:ea typeface="+mj-ea"/>
              </a:rPr>
              <a:t>，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非变量的表达式则不允许</a:t>
            </a:r>
            <a:r>
              <a:rPr lang="zh-CN" altLang="en-US" sz="2400" b="1" dirty="0" smtClean="0">
                <a:latin typeface="+mj-ea"/>
                <a:ea typeface="+mj-ea"/>
              </a:rPr>
              <a:t>。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参数传递的内容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不是实参的值，而是地址</a:t>
            </a:r>
            <a:r>
              <a:rPr lang="zh-CN" altLang="en-US" sz="2400" b="1" dirty="0" smtClean="0">
                <a:latin typeface="+mj-ea"/>
                <a:ea typeface="+mj-ea"/>
              </a:rPr>
              <a:t>，其实际的效果是令对应的引用形参在调用过程中，作为一个变量名指向作为实参的这个变量，</a:t>
            </a:r>
            <a:r>
              <a:rPr lang="zh-CN" altLang="en-US" sz="2400" b="1" dirty="0" smtClean="0">
                <a:solidFill>
                  <a:srgbClr val="C00000"/>
                </a:solidFill>
                <a:latin typeface="+mj-ea"/>
                <a:ea typeface="+mj-ea"/>
              </a:rPr>
              <a:t>在引用调用过程中并不创建新的参数变量</a:t>
            </a:r>
            <a:r>
              <a:rPr lang="zh-CN" altLang="en-US" sz="2400" b="1" dirty="0" smtClean="0">
                <a:latin typeface="+mj-ea"/>
                <a:ea typeface="+mj-ea"/>
              </a:rPr>
              <a:t>。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</a:rPr>
              <a:t>这一点有别于赋值调用</a:t>
            </a:r>
            <a:endParaRPr lang="zh-CN" altLang="en-US" sz="2400" b="1" dirty="0" smtClean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440068"/>
            <a:ext cx="8572560" cy="5941260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引用形参：换名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引用形参在调用过程中的参数传递机制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在函数体程序块的运行中，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引用形参</a:t>
            </a:r>
            <a:r>
              <a:rPr lang="zh-CN" altLang="en-US" sz="2800" b="1" dirty="0" smtClean="0">
                <a:latin typeface="+mj-ea"/>
                <a:ea typeface="+mj-ea"/>
              </a:rPr>
              <a:t>的每次出现，由于它现在已经是指向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实参变量</a:t>
            </a:r>
            <a:r>
              <a:rPr lang="zh-CN" altLang="en-US" sz="2800" b="1" dirty="0" smtClean="0">
                <a:latin typeface="+mj-ea"/>
                <a:ea typeface="+mj-ea"/>
              </a:rPr>
              <a:t>，因此相当于全用实参变量所代替。即起到了所谓的“</a:t>
            </a:r>
            <a:r>
              <a:rPr lang="zh-CN" altLang="en-US" sz="3000" b="1" dirty="0" smtClean="0">
                <a:solidFill>
                  <a:srgbClr val="C00000"/>
                </a:solidFill>
                <a:latin typeface="+mj-ea"/>
                <a:ea typeface="+mj-ea"/>
              </a:rPr>
              <a:t>换名</a:t>
            </a:r>
            <a:r>
              <a:rPr lang="zh-CN" altLang="en-US" sz="2800" b="1" dirty="0" smtClean="0">
                <a:latin typeface="+mj-ea"/>
                <a:ea typeface="+mj-ea"/>
              </a:rPr>
              <a:t>”的作用。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在函数体程序运行结束，控制转回调用点时，该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引用形参与实参变量的对应关系也就终止</a:t>
            </a:r>
            <a:r>
              <a:rPr lang="zh-CN" altLang="en-US" sz="2800" b="1" dirty="0" smtClean="0">
                <a:latin typeface="+mj-ea"/>
                <a:ea typeface="+mj-ea"/>
              </a:rPr>
              <a:t>了。但是在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调用过程中对于这个实参变量的所有处理和操作的结果，却保留下来</a:t>
            </a:r>
            <a:r>
              <a:rPr lang="zh-CN" altLang="en-US" sz="2800" b="1" dirty="0" smtClean="0">
                <a:latin typeface="+mj-ea"/>
                <a:ea typeface="+mj-ea"/>
              </a:rPr>
              <a:t>。</a:t>
            </a:r>
            <a:r>
              <a:rPr lang="zh-CN" altLang="en-US" sz="2800" b="1" dirty="0" smtClean="0">
                <a:solidFill>
                  <a:srgbClr val="00B050"/>
                </a:solidFill>
                <a:latin typeface="+mj-ea"/>
                <a:ea typeface="+mj-ea"/>
              </a:rPr>
              <a:t>这一点也是区别于赋值调用的</a:t>
            </a:r>
            <a:r>
              <a:rPr lang="zh-CN" altLang="en-US" sz="2800" b="1" dirty="0" smtClean="0">
                <a:latin typeface="+mj-ea"/>
                <a:ea typeface="+mj-ea"/>
              </a:rPr>
              <a:t>  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428604"/>
            <a:ext cx="8401080" cy="50292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引用形参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设计函数在下面两种情形时，建议采用引用参数 </a:t>
            </a:r>
            <a:endParaRPr lang="en-US" altLang="zh-CN" sz="24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需要改变某些变量的值（上述函数</a:t>
            </a:r>
            <a:r>
              <a:rPr lang="en-US" altLang="zh-CN" sz="2400" b="1" dirty="0" smtClean="0">
                <a:latin typeface="+mj-ea"/>
                <a:ea typeface="+mj-ea"/>
              </a:rPr>
              <a:t>swap </a:t>
            </a:r>
            <a:r>
              <a:rPr lang="zh-CN" altLang="en-US" sz="2400" b="1" dirty="0" smtClean="0">
                <a:latin typeface="+mj-ea"/>
                <a:ea typeface="+mj-ea"/>
              </a:rPr>
              <a:t>就是一例）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对于占内存较多的数据参数，为了不另建新的参数变量以节省内存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为了保证实参不在函数中被修改，可在形参说明中加上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const </a:t>
            </a: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说明，例如：</a:t>
            </a:r>
            <a:r>
              <a:rPr lang="en-US" altLang="zh-CN" sz="2400" b="1" dirty="0" smtClean="0">
                <a:solidFill>
                  <a:srgbClr val="002060"/>
                </a:solidFill>
                <a:latin typeface="+mj-ea"/>
                <a:ea typeface="+mj-ea"/>
              </a:rPr>
              <a:t> </a:t>
            </a:r>
          </a:p>
          <a:p>
            <a:pPr lvl="1">
              <a:lnSpc>
                <a:spcPct val="130000"/>
              </a:lnSpc>
              <a:buNone/>
            </a:pPr>
            <a:r>
              <a:rPr lang="en-US" altLang="zh-CN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complex add(</a:t>
            </a:r>
            <a:r>
              <a:rPr lang="en-US" altLang="zh-CN" sz="26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const</a:t>
            </a:r>
            <a:r>
              <a:rPr lang="en-US" altLang="zh-CN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complex&amp;</a:t>
            </a:r>
            <a:r>
              <a:rPr lang="zh-CN" altLang="en-US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</a:t>
            </a:r>
            <a:r>
              <a:rPr lang="zh-CN" altLang="en-US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，</a:t>
            </a:r>
            <a:r>
              <a:rPr lang="en-US" altLang="zh-CN" sz="26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const</a:t>
            </a:r>
            <a:r>
              <a:rPr lang="en-US" altLang="zh-CN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complex&amp;</a:t>
            </a:r>
            <a:r>
              <a:rPr lang="zh-CN" altLang="en-US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6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b);</a:t>
            </a:r>
          </a:p>
          <a:p>
            <a:pPr lvl="3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+mj-ea"/>
                <a:ea typeface="+mj-ea"/>
              </a:rPr>
              <a:t>而对于赋值形参，则无此必要</a:t>
            </a:r>
            <a:r>
              <a:rPr lang="zh-CN" altLang="en-US" sz="2400" b="1" dirty="0" smtClean="0">
                <a:latin typeface="+mj-ea"/>
                <a:ea typeface="+mj-ea"/>
              </a:rPr>
              <a:t>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37090"/>
            <a:ext cx="8643998" cy="6072230"/>
          </a:xfrm>
        </p:spPr>
        <p:txBody>
          <a:bodyPr>
            <a:normAutofit/>
          </a:bodyPr>
          <a:lstStyle/>
          <a:p>
            <a:pPr>
              <a:lnSpc>
                <a:spcPct val="124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函数的参数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4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赋值调用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4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所调用的函数参数为赋值参数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 lvl="1">
              <a:lnSpc>
                <a:spcPct val="124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引用调用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4000"/>
              </a:lnSpc>
            </a:pPr>
            <a:r>
              <a:rPr lang="zh-CN" altLang="en-US" sz="2400" b="1" dirty="0" smtClean="0">
                <a:latin typeface="+mj-ea"/>
                <a:ea typeface="+mj-ea"/>
              </a:rPr>
              <a:t>所调用的函数参数为引用参数</a:t>
            </a:r>
            <a:endParaRPr lang="en-US" altLang="zh-CN" sz="2400" b="1" dirty="0" smtClean="0">
              <a:latin typeface="+mj-ea"/>
              <a:ea typeface="+mj-ea"/>
            </a:endParaRPr>
          </a:p>
          <a:p>
            <a:pPr>
              <a:lnSpc>
                <a:spcPct val="124000"/>
              </a:lnSpc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	void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printStar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k, 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n);</a:t>
            </a:r>
          </a:p>
          <a:p>
            <a:pPr>
              <a:lnSpc>
                <a:spcPct val="124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它所用的两个参数均为赋值参数</a:t>
            </a:r>
          </a:p>
          <a:p>
            <a:pPr>
              <a:lnSpc>
                <a:spcPct val="124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void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swap(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 x, 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 y); </a:t>
            </a:r>
          </a:p>
          <a:p>
            <a:pPr>
              <a:lnSpc>
                <a:spcPct val="124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它所用的两个参数均为引用参数</a:t>
            </a:r>
          </a:p>
          <a:p>
            <a:pPr>
              <a:lnSpc>
                <a:spcPct val="124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myFunc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a, </a:t>
            </a:r>
            <a:r>
              <a:rPr lang="en-US" altLang="zh-CN" sz="24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 b);</a:t>
            </a:r>
          </a:p>
          <a:p>
            <a:pPr>
              <a:lnSpc>
                <a:spcPct val="124000"/>
              </a:lnSpc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它所用的第一个参数为赋值参数，另一个为引用参数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428604"/>
            <a:ext cx="8358246" cy="58579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 smtClean="0">
                <a:solidFill>
                  <a:srgbClr val="C00000"/>
                </a:solidFill>
                <a:latin typeface="+mj-ea"/>
                <a:ea typeface="+mj-ea"/>
              </a:rPr>
              <a:t>5.7】</a:t>
            </a:r>
            <a:r>
              <a:rPr lang="zh-CN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中的交换函数，采用引用作为参数</a:t>
            </a:r>
            <a:endParaRPr lang="en-US" altLang="zh-CN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void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 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&amp;x, 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&amp;y){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temp = x;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x = y;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y = temp;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zh-CN" altLang="en-US" sz="28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600" b="1" dirty="0" smtClean="0">
                <a:solidFill>
                  <a:srgbClr val="002060"/>
                </a:solidFill>
                <a:latin typeface="+mj-ea"/>
                <a:ea typeface="+mj-ea"/>
              </a:rPr>
              <a:t>引用参数</a:t>
            </a:r>
            <a:r>
              <a:rPr lang="en-US" altLang="zh-CN" sz="2600" b="1" dirty="0" smtClean="0">
                <a:solidFill>
                  <a:srgbClr val="002060"/>
                </a:solidFill>
                <a:latin typeface="+mj-ea"/>
                <a:ea typeface="+mj-ea"/>
              </a:rPr>
              <a:t>&amp;x</a:t>
            </a:r>
            <a:r>
              <a:rPr lang="zh-CN" altLang="en-US" sz="2600" b="1" dirty="0" smtClean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600" b="1" dirty="0" smtClean="0">
                <a:solidFill>
                  <a:srgbClr val="002060"/>
                </a:solidFill>
                <a:latin typeface="+mj-ea"/>
                <a:ea typeface="+mj-ea"/>
              </a:rPr>
              <a:t>&amp;y</a:t>
            </a:r>
            <a:r>
              <a:rPr lang="zh-CN" altLang="en-US" sz="2600" b="1" dirty="0" smtClean="0">
                <a:solidFill>
                  <a:srgbClr val="002060"/>
                </a:solidFill>
                <a:latin typeface="+mj-ea"/>
                <a:ea typeface="+mj-ea"/>
              </a:rPr>
              <a:t>是实参的别名，函数中对引用形参的操作实际上就是对实参的操作</a:t>
            </a:r>
            <a:endParaRPr lang="en-US" altLang="zh-CN" sz="26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endParaRPr lang="en-US" altLang="zh-CN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44624"/>
            <a:ext cx="8784976" cy="6336704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函数的参数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引用调用方式，实际上传递的是参数的地址（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实参的地址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），函数体中对形参的操作实际上是对实参地址的操作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希望在函数中修改实参值并反映到主调函数中的时候，采用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引用调用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方式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指针、数组</a:t>
            </a:r>
            <a:r>
              <a:rPr lang="zh-CN" altLang="en-US" sz="2800" b="1" dirty="0" smtClean="0">
                <a:latin typeface="+mj-ea"/>
                <a:ea typeface="+mj-ea"/>
              </a:rPr>
              <a:t>等能够表示地址的数据类型作为形参</a:t>
            </a:r>
            <a:r>
              <a:rPr lang="zh-CN" altLang="en-US" sz="2800" b="1" dirty="0" smtClean="0">
                <a:latin typeface="+mj-ea"/>
                <a:ea typeface="+mj-ea"/>
              </a:rPr>
              <a:t>，可以</a:t>
            </a:r>
            <a:r>
              <a:rPr lang="zh-CN" altLang="en-US" sz="2800" b="1" dirty="0" smtClean="0">
                <a:latin typeface="+mj-ea"/>
                <a:ea typeface="+mj-ea"/>
              </a:rPr>
              <a:t>起到与引用形参相同的作用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5.5】</a:t>
            </a:r>
            <a:r>
              <a:rPr lang="zh-CN" altLang="en-US" sz="2800" b="1" dirty="0" smtClean="0">
                <a:latin typeface="+mj-ea"/>
                <a:ea typeface="+mj-ea"/>
              </a:rPr>
              <a:t>和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+mj-ea"/>
                <a:ea typeface="+mj-ea"/>
              </a:rPr>
              <a:t>5.6】</a:t>
            </a:r>
            <a:r>
              <a:rPr lang="zh-CN" altLang="en-US" sz="2800" b="1" dirty="0" smtClean="0">
                <a:latin typeface="+mj-ea"/>
                <a:ea typeface="+mj-ea"/>
              </a:rPr>
              <a:t>是数组作为参数，在函数体中修改数组并反映到主调函数的例子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428604"/>
            <a:ext cx="8501122" cy="609674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函数的参数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从赋值或引用参数的角度看函数的调用过程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判断形参是赋值参数还是引用参数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将对应实参表达式的值赋给赋值形参（若参数为赋值参数的话）； 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3"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用实参变量替换相应的形参（若参数为引用参数的话）；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 smtClean="0">
                <a:latin typeface="+mj-ea"/>
                <a:ea typeface="+mj-ea"/>
              </a:rPr>
              <a:t>按各形参的“当前值”（或已被“赋值”，或已被“换名”）去执行一遍函数体并返回调用处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500" y="355456"/>
            <a:ext cx="8431964" cy="566583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赋值调用和引用调用传值方式的区别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通过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赋值参数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来传值的方式是一种“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单向传值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”方式，它只可向被调函数的形参“传入”值，而不可通过该形参“传出”值</a:t>
            </a:r>
            <a:r>
              <a:rPr lang="zh-CN" altLang="en-US" sz="3200" b="1" dirty="0" smtClean="0">
                <a:solidFill>
                  <a:srgbClr val="002060"/>
                </a:solidFill>
                <a:latin typeface="+mj-ea"/>
                <a:ea typeface="+mj-ea"/>
              </a:rPr>
              <a:t>    </a:t>
            </a:r>
            <a:endParaRPr lang="en-US" altLang="zh-CN" sz="32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通过</a:t>
            </a:r>
            <a:r>
              <a:rPr lang="zh-CN" altLang="en-US" sz="2800" b="1" dirty="0" smtClean="0">
                <a:solidFill>
                  <a:srgbClr val="C00000"/>
                </a:solidFill>
                <a:latin typeface="+mj-ea"/>
                <a:ea typeface="+mj-ea"/>
              </a:rPr>
              <a:t>引用参数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来传值的方式是一种“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  <a:ea typeface="+mj-ea"/>
              </a:rPr>
              <a:t>双向传值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”方式，它不仅可向被调函数的形参“传入”值，而且还可通过该形参“传出”值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357166"/>
            <a:ext cx="8215370" cy="552010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函数的参数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5.8】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赋值调用和引用调用举例</a:t>
            </a:r>
            <a:endParaRPr lang="en-US" altLang="zh-CN" sz="2800" b="1" dirty="0" smtClean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32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#</a:t>
            </a:r>
            <a:r>
              <a:rPr lang="en-US" altLang="zh-CN" sz="32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include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&lt;</a:t>
            </a:r>
            <a:r>
              <a:rPr lang="en-US" altLang="zh-CN" sz="3200" b="1" dirty="0" err="1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iostream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using namespace 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std;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32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void 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swap(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&amp; a, 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&amp; b, 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 c, </a:t>
            </a:r>
            <a:r>
              <a:rPr lang="en-US" altLang="zh-CN" sz="3200" b="1" dirty="0" err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int</a:t>
            </a:r>
            <a:r>
              <a:rPr lang="en-US" altLang="zh-CN" sz="32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 d);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00B050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  //</a:t>
            </a:r>
            <a:r>
              <a:rPr lang="zh-CN" altLang="en-US" sz="2800" b="1" dirty="0" smtClean="0">
                <a:solidFill>
                  <a:srgbClr val="00B050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函数原型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00B050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  //前两个为引用参数，可“双向传值”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00B050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  //后两个为赋值参数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736" y="548680"/>
            <a:ext cx="8462744" cy="50292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=1, j=2, k=77, n=88;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 ---In main,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befor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calling f1 ---"&lt;&lt;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j, k, n = "&lt;&lt;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 "&lt;&lt;j&lt;&lt;"  "&lt;&lt;k&lt;&lt;"  "&lt;&lt;n&lt;&lt;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swap (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j, k, n); 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注意，调用后实参变量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i、j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的值进行了改变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//而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与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的值并不改变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 In main, after calling f1 ---"&lt;&lt;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j, k, n = "&lt;&lt;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 "&lt;&lt;j&lt;&lt;"  "&lt;&lt;k&lt;&lt;"  "&lt;&lt;n&lt;&lt;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61092"/>
            <a:ext cx="8429684" cy="5572164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swap (</a:t>
            </a:r>
            <a:r>
              <a:rPr lang="en-US" altLang="zh-CN" sz="2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&amp; a, </a:t>
            </a:r>
            <a:r>
              <a:rPr lang="en-US" altLang="zh-CN" sz="2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&amp; b, </a:t>
            </a:r>
            <a:r>
              <a:rPr lang="en-US" altLang="zh-CN" sz="2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c, </a:t>
            </a:r>
            <a:r>
              <a:rPr lang="en-US" altLang="zh-CN" sz="2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d)</a:t>
            </a:r>
            <a:r>
              <a:rPr lang="en-US" altLang="zh-CN" sz="2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zh-CN" altLang="en-US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altLang="zh-CN" sz="22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   </a:t>
            </a:r>
            <a:r>
              <a:rPr lang="zh-CN" altLang="en-US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前两个为引用参数，后两个为赋值参数。对引用参数而言，调用时，将用对应实参变量来替换它们。即是说，被调函数中对形参值的使用与改变，就是对主调函数中调用语句处所对应实参变量值的直接使用与改变（“双向传值”）  */ 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 Enter f1 ---"&lt;&lt;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&lt;&lt;"a, b, c, d = "&lt;&lt;a&lt;&lt;"  "&lt;&lt;b&lt;&lt;"  "&lt;&lt;c&lt;&lt;"  "&lt;&lt;d&lt;&lt;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2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=a;  a=b;  b=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 		</a:t>
            </a:r>
            <a:r>
              <a:rPr lang="en-US" altLang="zh-CN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交换</a:t>
            </a:r>
            <a:r>
              <a:rPr lang="en-US" altLang="zh-CN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zh-CN" altLang="en-US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与</a:t>
            </a:r>
            <a:r>
              <a:rPr lang="en-US" altLang="zh-CN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zh-CN" altLang="en-US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的值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=c;  c=d;  d=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tmp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 		</a:t>
            </a:r>
            <a:r>
              <a:rPr lang="en-US" altLang="zh-CN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交换</a:t>
            </a:r>
            <a:r>
              <a:rPr lang="en-US" altLang="zh-CN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zh-CN" altLang="en-US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与</a:t>
            </a:r>
            <a:r>
              <a:rPr lang="en-US" altLang="zh-CN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zh-CN" altLang="en-US" sz="22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的值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 In the end of f1 ---"&lt;&lt;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&lt;&lt;"a, b, c, d = "&lt;&lt;a&lt;&lt;"  "&lt;&lt;b&lt;&lt;"  "&lt;&lt;c&lt;&lt;"  "&lt;&lt;d&lt;&lt;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2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2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</a:t>
            </a:r>
            <a:endParaRPr lang="zh-CN" altLang="en-US" sz="2200" b="1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571480"/>
            <a:ext cx="7239000" cy="4846320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 smtClean="0">
                <a:solidFill>
                  <a:srgbClr val="C00000"/>
                </a:solidFill>
              </a:rPr>
              <a:t>程序运行结果</a:t>
            </a:r>
            <a:endParaRPr lang="en-US" altLang="zh-CN" sz="2800" b="1" dirty="0" smtClean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---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 main,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befor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calling f1 ---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j, k, n = 1  2  77  88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--- Enter f1 ---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 b, c, d = 1  2  77  88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--- In the end of f1 ---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 b, c, d = 2  1  88  77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--- In main, after calling f1 ---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j, k, n = 2  1  77  88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260648"/>
            <a:ext cx="7887820" cy="633670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函数的重载</a:t>
            </a:r>
            <a:r>
              <a:rPr lang="zh-CN" altLang="en-US" sz="2800" b="1" dirty="0" smtClean="0">
                <a:solidFill>
                  <a:srgbClr val="00B050"/>
                </a:solidFill>
                <a:latin typeface="黑体" pitchFamily="49" charset="-122"/>
                <a:ea typeface="黑体" pitchFamily="49" charset="-122"/>
              </a:rPr>
              <a:t>（后面具体讲解）</a:t>
            </a:r>
            <a:endParaRPr lang="en-US" altLang="zh-CN" sz="2800" b="1" dirty="0" smtClean="0">
              <a:solidFill>
                <a:srgbClr val="00B050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多个函数使用相同的函数名</a:t>
            </a:r>
            <a:endParaRPr lang="en-US" altLang="zh-CN" sz="24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函数重载必须满足下列条件之一</a:t>
            </a:r>
            <a:endParaRPr lang="en-US" altLang="zh-CN" sz="24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参数表中对应的参数类型不同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参数表中参数个数不同</a:t>
            </a:r>
            <a:endParaRPr lang="en-US" altLang="zh-CN" sz="2800" b="1" dirty="0" smtClean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参数表中不同类型参数的次序不同</a:t>
            </a:r>
            <a:endParaRPr lang="en-US" altLang="zh-CN" sz="2800" b="1" dirty="0" smtClean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例如，</a:t>
            </a:r>
            <a:r>
              <a:rPr lang="zh-CN" altLang="en-US" sz="24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三个同名函数可以声明为：</a:t>
            </a:r>
            <a:endParaRPr lang="en-US" altLang="zh-CN" sz="24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 err="1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();</a:t>
            </a:r>
          </a:p>
          <a:p>
            <a:pPr lvl="2">
              <a:lnSpc>
                <a:spcPct val="130000"/>
              </a:lnSpc>
            </a:pPr>
            <a:r>
              <a:rPr lang="en-US" altLang="zh-CN" sz="2800" b="1" dirty="0" err="1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);</a:t>
            </a:r>
          </a:p>
          <a:p>
            <a:pPr lvl="2">
              <a:lnSpc>
                <a:spcPct val="130000"/>
              </a:lnSpc>
            </a:pPr>
            <a:r>
              <a:rPr lang="en-US" altLang="zh-CN" sz="2800" b="1" dirty="0" err="1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printStar</a:t>
            </a:r>
            <a:r>
              <a:rPr lang="en-US" altLang="zh-CN" sz="28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int</a:t>
            </a:r>
            <a:r>
              <a:rPr lang="en-US" altLang="zh-CN" sz="2800" b="1" dirty="0" err="1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,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cs typeface="Courier New" pitchFamily="49" charset="0"/>
              </a:rPr>
              <a:t>);</a:t>
            </a:r>
            <a:endParaRPr lang="zh-CN" altLang="en-US" sz="2400" b="1" dirty="0" smtClean="0">
              <a:solidFill>
                <a:schemeClr val="tx2"/>
              </a:solidFill>
              <a:latin typeface="黑体" pitchFamily="49" charset="-122"/>
              <a:ea typeface="黑体" pitchFamily="49" charset="-122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642918"/>
            <a:ext cx="8391876" cy="537837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+mj-ea"/>
                <a:ea typeface="+mj-ea"/>
              </a:rPr>
              <a:t>内联函数</a:t>
            </a:r>
            <a:endParaRPr lang="en-US" altLang="zh-CN" sz="32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可在一般的函数说明前冠以关键字</a:t>
            </a:r>
            <a:r>
              <a:rPr lang="en-US" altLang="zh-CN" sz="2800" b="1" dirty="0" smtClean="0">
                <a:solidFill>
                  <a:srgbClr val="002060"/>
                </a:solidFill>
                <a:latin typeface="+mj-ea"/>
                <a:ea typeface="+mj-ea"/>
              </a:rPr>
              <a:t>inline，</a:t>
            </a: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称这样的函数为</a:t>
            </a:r>
            <a:r>
              <a:rPr lang="zh-CN" altLang="en-US" sz="2800" b="1" dirty="0" smtClean="0">
                <a:solidFill>
                  <a:srgbClr val="993366"/>
                </a:solidFill>
                <a:latin typeface="+mj-ea"/>
                <a:ea typeface="+mj-ea"/>
              </a:rPr>
              <a:t>内联函数</a:t>
            </a:r>
            <a:r>
              <a:rPr lang="zh-CN" altLang="en-US" sz="2800" b="1" dirty="0" smtClean="0">
                <a:latin typeface="+mj-ea"/>
                <a:ea typeface="+mj-ea"/>
              </a:rPr>
              <a:t>。</a:t>
            </a:r>
            <a:endParaRPr lang="en-US" altLang="zh-CN" sz="2800" b="1" dirty="0" smtClean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+mj-ea"/>
                <a:ea typeface="+mj-ea"/>
              </a:rPr>
              <a:t>说明方式：</a:t>
            </a:r>
            <a:endParaRPr lang="en-US" altLang="zh-CN" sz="2800" b="1" dirty="0" smtClean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b="1" dirty="0" smtClean="0">
                <a:solidFill>
                  <a:srgbClr val="993366"/>
                </a:solidFill>
                <a:latin typeface="+mj-ea"/>
                <a:ea typeface="+mj-ea"/>
              </a:rPr>
              <a:t>	</a:t>
            </a:r>
            <a:r>
              <a:rPr lang="en-US" altLang="zh-CN" sz="2800" b="1" dirty="0" smtClean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inline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&lt;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函数类型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 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&lt;函数名&gt;(&lt;形参表&gt;)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{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  &lt;函数体&gt;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sz="2800" b="1" dirty="0" smtClean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}</a:t>
            </a: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404664"/>
            <a:ext cx="8643998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内联函数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在编译过程中，凡内联函数，</a:t>
            </a:r>
            <a:r>
              <a:rPr lang="zh-CN" altLang="en-US" sz="2800" b="1" dirty="0" smtClean="0">
                <a:solidFill>
                  <a:srgbClr val="993366"/>
                </a:solidFill>
                <a:latin typeface="黑体" pitchFamily="49" charset="-122"/>
                <a:ea typeface="黑体" pitchFamily="49" charset="-122"/>
              </a:rPr>
              <a:t>系统均把它的执行代码插入到该函数的每个调用点处(以取代那一函数调用)</a:t>
            </a: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，从而使程序执行过程中，每次对该函数调用时不需控制转移，可</a:t>
            </a:r>
            <a:r>
              <a:rPr lang="zh-CN" altLang="en-US" sz="2800" b="1" dirty="0" smtClean="0">
                <a:solidFill>
                  <a:srgbClr val="993366"/>
                </a:solidFill>
                <a:latin typeface="黑体" pitchFamily="49" charset="-122"/>
                <a:ea typeface="黑体" pitchFamily="49" charset="-122"/>
              </a:rPr>
              <a:t>节省执行时间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由于每个调用点处均出现那一函数的执行代码拷贝，相对来说使用内联函数后</a:t>
            </a:r>
            <a:r>
              <a:rPr lang="zh-CN" altLang="en-US" sz="2800" b="1" dirty="0" smtClean="0">
                <a:solidFill>
                  <a:srgbClr val="993366"/>
                </a:solidFill>
                <a:latin typeface="黑体" pitchFamily="49" charset="-122"/>
                <a:ea typeface="黑体" pitchFamily="49" charset="-122"/>
              </a:rPr>
              <a:t>会扩大其代码空间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6588" y="260648"/>
            <a:ext cx="8463884" cy="595329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3000" b="1" dirty="0" smtClean="0">
                <a:latin typeface="+mj-ea"/>
                <a:ea typeface="+mj-ea"/>
              </a:rPr>
              <a:t>内联函数举例</a:t>
            </a:r>
            <a:endParaRPr lang="en-US" altLang="zh-CN" sz="30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iostream.h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inline </a:t>
            </a:r>
            <a:r>
              <a:rPr lang="en-US" altLang="zh-CN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max(</a:t>
            </a:r>
            <a:r>
              <a:rPr lang="en-US" altLang="zh-CN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altLang="zh-CN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y){ </a:t>
            </a:r>
            <a:r>
              <a:rPr lang="en-US" altLang="zh-CN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内联函数</a:t>
            </a:r>
            <a:r>
              <a:rPr lang="en-US" altLang="zh-CN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(x&gt;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y?x:y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&lt;&lt;"Input 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:";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&gt;&gt;a&gt;&gt;b;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&lt;&lt;"max(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)="&lt;&lt;max(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)&lt;&lt;</a:t>
            </a:r>
            <a:r>
              <a:rPr lang="en-US" altLang="zh-CN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对内联函数</a:t>
            </a:r>
            <a:r>
              <a:rPr lang="en-US" altLang="zh-CN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zh-CN" alt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的调用</a:t>
            </a:r>
          </a:p>
          <a:p>
            <a:pPr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endParaRPr lang="en-US" altLang="zh-CN" sz="2800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472" y="785794"/>
            <a:ext cx="7888960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内联函数说明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内联函数的函数体一般讲不宜过大, 以1--5行为宜。</a:t>
            </a:r>
            <a:endParaRPr lang="en-US" altLang="zh-CN" sz="28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凡在类体中定义的成员函数(见第7章)均隐含为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内联函数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4624"/>
            <a:ext cx="8424936" cy="662473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函数使用的其它问题</a:t>
            </a:r>
            <a:r>
              <a:rPr lang="zh-CN" altLang="en-US" sz="3200" b="1" dirty="0" smtClean="0">
                <a:solidFill>
                  <a:srgbClr val="00B050"/>
                </a:solidFill>
                <a:latin typeface="黑体" pitchFamily="49" charset="-122"/>
                <a:ea typeface="黑体" pitchFamily="49" charset="-122"/>
              </a:rPr>
              <a:t>（后面具体讲解）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函数的生存期与作用域</a:t>
            </a:r>
            <a:endParaRPr lang="en-US" altLang="zh-CN" sz="28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函数中变量的生存期与作用域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参数</a:t>
            </a:r>
            <a:endParaRPr lang="en-US" altLang="zh-CN" sz="28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函数体内的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局部变量</a:t>
            </a:r>
            <a:endParaRPr lang="en-US" altLang="zh-CN" sz="2800" b="1" dirty="0" smtClean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函数体内的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全局变量</a:t>
            </a:r>
            <a:endParaRPr lang="en-US" altLang="zh-CN" sz="2800" b="1" dirty="0" smtClean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函数的存储属性</a:t>
            </a:r>
            <a:endParaRPr lang="en-US" altLang="zh-CN" sz="28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外部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存储属性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静态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存储属性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函数间的数据传递方式</a:t>
            </a:r>
            <a:endParaRPr lang="zh-CN" altLang="en-US" sz="24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238864"/>
            <a:ext cx="8643998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函数使用举例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5.9】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三色冰淇淋程序由冰激凌商提出的问题：有28种颜色的原料，可以组合成多少种3色冰激凌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问题归结为计算排列数与组合数。本示例计算排列数</a:t>
            </a: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A(</a:t>
            </a:r>
            <a:r>
              <a:rPr lang="en-US" altLang="zh-CN" sz="2800" b="1" dirty="0" err="1" smtClean="0">
                <a:latin typeface="黑体" pitchFamily="49" charset="-122"/>
                <a:ea typeface="黑体" pitchFamily="49" charset="-122"/>
              </a:rPr>
              <a:t>elements,selections</a:t>
            </a: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及组合数</a:t>
            </a: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C(</a:t>
            </a:r>
            <a:r>
              <a:rPr lang="en-US" altLang="zh-CN" sz="2800" b="1" dirty="0" err="1" smtClean="0">
                <a:latin typeface="黑体" pitchFamily="49" charset="-122"/>
                <a:ea typeface="黑体" pitchFamily="49" charset="-122"/>
              </a:rPr>
              <a:t>elements,selections</a:t>
            </a: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)。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</a:rPr>
              <a:t>如：</a:t>
            </a:r>
            <a:endParaRPr lang="en-US" altLang="zh-CN" sz="2800" b="1" dirty="0" smtClean="0"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  <a:buNone/>
            </a:pP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	</a:t>
            </a:r>
            <a:r>
              <a:rPr lang="en-US" altLang="zh-CN" sz="28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A(3,2)=6, C(3,2)=3;</a:t>
            </a:r>
          </a:p>
          <a:p>
            <a:pPr lvl="2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	A(28,3)=19656, C(28,3)=3276</a:t>
            </a:r>
            <a:r>
              <a:rPr lang="en-US" altLang="zh-CN" sz="2800" b="1" dirty="0" smtClean="0"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800" b="1" dirty="0" smtClean="0">
              <a:latin typeface="黑体" pitchFamily="49" charset="-122"/>
              <a:ea typeface="黑体" pitchFamily="49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476672"/>
            <a:ext cx="8643966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【</a:t>
            </a:r>
            <a:r>
              <a:rPr lang="zh-CN" altLang="en-US" sz="32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32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5.9】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</a:rPr>
              <a:t>分析</a:t>
            </a:r>
            <a:endParaRPr lang="en-US" altLang="zh-CN" sz="3200" b="1" dirty="0" smtClean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求排列数的公式</a:t>
            </a:r>
            <a:r>
              <a:rPr lang="en-US" altLang="zh-CN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A(</a:t>
            </a:r>
            <a:r>
              <a:rPr lang="en-US" altLang="zh-CN" sz="2800" b="1" dirty="0" err="1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ele,sel</a:t>
            </a:r>
            <a:r>
              <a:rPr lang="en-US" altLang="zh-CN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：</a:t>
            </a:r>
            <a:endParaRPr lang="en-US" altLang="zh-CN" sz="28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1" algn="ctr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A(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ele,sel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)=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ele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!/(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ele-sel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)!</a:t>
            </a: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求组合数的公式</a:t>
            </a:r>
            <a:r>
              <a:rPr lang="en-US" altLang="zh-CN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C(</a:t>
            </a:r>
            <a:r>
              <a:rPr lang="en-US" altLang="zh-CN" sz="2800" b="1" dirty="0" err="1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ele,sel</a:t>
            </a:r>
            <a:r>
              <a:rPr lang="en-US" altLang="zh-CN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：</a:t>
            </a:r>
            <a:endParaRPr lang="en-US" altLang="zh-CN" sz="2800" b="1" dirty="0" smtClean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1" algn="ctr"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C(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ele,sel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)=A(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ele,sel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)/</a:t>
            </a:r>
            <a:r>
              <a:rPr lang="en-US" altLang="zh-CN" sz="28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sel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!</a:t>
            </a:r>
          </a:p>
          <a:p>
            <a:pPr lvl="1"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设计阶乘函数，求上述各阶乘的值并可以实现排列数和组合数的求值</a:t>
            </a:r>
            <a:endParaRPr lang="zh-CN" altLang="en-US" sz="28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428604"/>
            <a:ext cx="8215370" cy="5929354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【</a:t>
            </a:r>
            <a:r>
              <a:rPr lang="zh-CN" altLang="en-US" b="1" dirty="0" smtClean="0">
                <a:solidFill>
                  <a:srgbClr val="C00000"/>
                </a:solidFill>
              </a:rPr>
              <a:t>例</a:t>
            </a:r>
            <a:r>
              <a:rPr lang="en-US" altLang="zh-CN" b="1" dirty="0" smtClean="0">
                <a:solidFill>
                  <a:srgbClr val="C00000"/>
                </a:solidFill>
              </a:rPr>
              <a:t>5.9】</a:t>
            </a:r>
            <a:r>
              <a:rPr lang="zh-CN" altLang="en-US" b="1" dirty="0" smtClean="0"/>
              <a:t>计算阶乘的函数定义</a:t>
            </a:r>
            <a:endParaRPr lang="en-US" altLang="zh-CN" b="1" dirty="0" smtClean="0"/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factorial(</a:t>
            </a:r>
            <a:r>
              <a:rPr lang="en-US" altLang="zh-CN" sz="28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number)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value = 1;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(number&gt;1){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value *= number;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number--;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value;</a:t>
            </a:r>
          </a:p>
          <a:p>
            <a:pPr>
              <a:lnSpc>
                <a:spcPct val="130000"/>
              </a:lnSpc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001056" cy="635798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</a:rPr>
              <a:t>【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5.9】</a:t>
            </a:r>
            <a:r>
              <a:rPr lang="zh-CN" altLang="en-US" sz="2800" b="1" dirty="0" smtClean="0"/>
              <a:t>主程序部分</a:t>
            </a:r>
            <a:endParaRPr lang="en-US" altLang="zh-CN" sz="2800" b="1" dirty="0" smtClean="0"/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factorial(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number); 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函数原型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i,selections,elements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altLang="zh-CN" sz="2400" b="1" dirty="0" smtClean="0">
              <a:solidFill>
                <a:srgbClr val="66990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计算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A(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elements,selections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//以及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C(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elements,selections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&lt;&lt;"Number of selections:";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&gt;&gt;selections;    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输入整数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selections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&lt;&lt;"Out of how many elements:";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&gt;&gt;elements;      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输入整数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elements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double 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answer = elements;</a:t>
            </a:r>
          </a:p>
          <a:p>
            <a:pPr algn="just" eaLnBrk="0" hangingPunct="0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ele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elements; 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357166"/>
            <a:ext cx="8401080" cy="5029200"/>
          </a:xfrm>
        </p:spPr>
        <p:txBody>
          <a:bodyPr/>
          <a:lstStyle/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answer = factorial(elements) / factorial (elements-selects);</a:t>
            </a: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&lt;&lt;“A(”&lt;&lt;elements&lt;&lt;“,”&lt;&lt;selections&lt;&lt;“)=”&lt;&lt;answer&lt;&lt;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输出排列数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A(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ele,sel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之结果</a:t>
            </a:r>
            <a:endParaRPr lang="en-US" altLang="zh-CN" sz="24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//组合数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的求法：</a:t>
            </a: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answer/=factorial(selections); </a:t>
            </a: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&lt;&lt;"C("&lt;&lt;elements&lt;&lt;","&lt;&lt;selections&lt;&lt;")="&lt;&lt;answer&lt;&lt;</a:t>
            </a:r>
            <a:r>
              <a:rPr lang="en-US" altLang="zh-CN" sz="2400" b="1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输出组合数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C(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ele,sel</a:t>
            </a:r>
            <a:r>
              <a:rPr lang="en-US" altLang="zh-CN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zh-CN" alt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之结果</a:t>
            </a:r>
            <a:endParaRPr lang="en-US" altLang="zh-CN" sz="24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2400" b="1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 eaLnBrk="0" hangingPunct="0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endParaRPr lang="zh-CN" altLang="en-US" sz="2400" dirty="0" smtClean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390</TotalTime>
  <Words>4410</Words>
  <Application>Microsoft Office PowerPoint</Application>
  <PresentationFormat>全屏显示(4:3)</PresentationFormat>
  <Paragraphs>707</Paragraphs>
  <Slides>75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76" baseType="lpstr">
      <vt:lpstr>华丽</vt:lpstr>
      <vt:lpstr>C/C++程序设计</vt:lpstr>
      <vt:lpstr>函数的使用和说明</vt:lpstr>
      <vt:lpstr>幻灯片 3</vt:lpstr>
      <vt:lpstr>幻灯片 4</vt:lpstr>
      <vt:lpstr>函数分类</vt:lpstr>
      <vt:lpstr>标准库函数</vt:lpstr>
      <vt:lpstr>用户自定义函数</vt:lpstr>
      <vt:lpstr>无参函数</vt:lpstr>
      <vt:lpstr>幻灯片 9</vt:lpstr>
      <vt:lpstr>幻灯片 10</vt:lpstr>
      <vt:lpstr>幻灯片 11</vt:lpstr>
      <vt:lpstr>幻灯片 12</vt:lpstr>
      <vt:lpstr>幻灯片 13</vt:lpstr>
      <vt:lpstr>幻灯片 14</vt:lpstr>
      <vt:lpstr>函数定义</vt:lpstr>
      <vt:lpstr>幻灯片 16</vt:lpstr>
      <vt:lpstr>幻灯片 17</vt:lpstr>
      <vt:lpstr>函数的调用</vt:lpstr>
      <vt:lpstr>函数的调用过程</vt:lpstr>
      <vt:lpstr>函数调用的执行顺序</vt:lpstr>
      <vt:lpstr>函数的调用格式</vt:lpstr>
      <vt:lpstr>函数的返回</vt:lpstr>
      <vt:lpstr>返回值类型</vt:lpstr>
      <vt:lpstr>幻灯片 24</vt:lpstr>
      <vt:lpstr>幻灯片 25</vt:lpstr>
      <vt:lpstr>幻灯片 26</vt:lpstr>
      <vt:lpstr>幻灯片 27</vt:lpstr>
      <vt:lpstr>函数的参数</vt:lpstr>
      <vt:lpstr>幻灯片 29</vt:lpstr>
      <vt:lpstr>幻灯片 30</vt:lpstr>
      <vt:lpstr>可缺省的参数-参数的默认值</vt:lpstr>
      <vt:lpstr>幻灯片 32</vt:lpstr>
      <vt:lpstr>可缺省的参数-参数的默认值</vt:lpstr>
      <vt:lpstr>函数调用过程中参数的传递</vt:lpstr>
      <vt:lpstr>函数调用过程中参数的传递</vt:lpstr>
      <vt:lpstr>能够作为函数参数的数据类型</vt:lpstr>
      <vt:lpstr>一维数组作为函数的参数</vt:lpstr>
      <vt:lpstr>多维数组作为函数的参数</vt:lpstr>
      <vt:lpstr>数组作为函数参数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user</cp:lastModifiedBy>
  <cp:revision>33</cp:revision>
  <dcterms:created xsi:type="dcterms:W3CDTF">2016-11-10T07:08:25Z</dcterms:created>
  <dcterms:modified xsi:type="dcterms:W3CDTF">2017-11-15T10:53:20Z</dcterms:modified>
</cp:coreProperties>
</file>