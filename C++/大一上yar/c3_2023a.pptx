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59" r:id="rId3"/>
    <p:sldId id="262" r:id="rId4"/>
    <p:sldId id="263" r:id="rId5"/>
    <p:sldId id="266" r:id="rId6"/>
    <p:sldId id="267" r:id="rId7"/>
    <p:sldId id="268" r:id="rId8"/>
    <p:sldId id="269" r:id="rId9"/>
    <p:sldId id="270" r:id="rId10"/>
    <p:sldId id="271" r:id="rId11"/>
    <p:sldId id="272" r:id="rId12"/>
    <p:sldId id="273" r:id="rId13"/>
    <p:sldId id="274" r:id="rId14"/>
    <p:sldId id="282" r:id="rId15"/>
    <p:sldId id="284" r:id="rId16"/>
    <p:sldId id="287" r:id="rId17"/>
    <p:sldId id="296" r:id="rId18"/>
    <p:sldId id="297" r:id="rId19"/>
    <p:sldId id="298" r:id="rId20"/>
    <p:sldId id="299" r:id="rId21"/>
    <p:sldId id="300" r:id="rId22"/>
    <p:sldId id="301" r:id="rId23"/>
    <p:sldId id="304" r:id="rId24"/>
    <p:sldId id="310" r:id="rId25"/>
    <p:sldId id="313" r:id="rId26"/>
    <p:sldId id="314" r:id="rId27"/>
    <p:sldId id="311" r:id="rId28"/>
    <p:sldId id="322" r:id="rId29"/>
    <p:sldId id="326" r:id="rId30"/>
    <p:sldId id="328" r:id="rId31"/>
    <p:sldId id="329" r:id="rId32"/>
    <p:sldId id="330" r:id="rId33"/>
    <p:sldId id="333" r:id="rId34"/>
    <p:sldId id="339" r:id="rId35"/>
    <p:sldId id="340" r:id="rId36"/>
    <p:sldId id="341" r:id="rId37"/>
    <p:sldId id="349" r:id="rId38"/>
    <p:sldId id="351" r:id="rId3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E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9" d="100"/>
          <a:sy n="99" d="100"/>
        </p:scale>
        <p:origin x="555" y="5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A913838-B248-404D-8316-2BE9CE8A7D8B}" type="datetimeFigureOut">
              <a:rPr lang="zh-CN" altLang="en-US" smtClean="0"/>
              <a:pPr/>
              <a:t>2020/10/21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ACA1BE-53FE-44AF-8A08-2FC3B1A7D76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数据类型没有二义性时，修饰符可以省略</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2">
        <a:schemeClr val="bg1"/>
      </p:bgRef>
    </p:bg>
    <p:spTree>
      <p:nvGrpSpPr>
        <p:cNvPr id="1" name=""/>
        <p:cNvGrpSpPr/>
        <p:nvPr/>
      </p:nvGrpSpPr>
      <p:grpSpPr>
        <a:xfrm>
          <a:off x="0" y="0"/>
          <a:ext cx="0" cy="0"/>
          <a:chOff x="0" y="0"/>
          <a:chExt cx="0" cy="0"/>
        </a:xfrm>
      </p:grpSpPr>
      <p:sp>
        <p:nvSpPr>
          <p:cNvPr id="8" name="矩形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接连接符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zh-CN" altLang="en-US"/>
              <a:t>单击此处编辑母版标题样式</a:t>
            </a:r>
            <a:endParaRPr kumimoji="0" lang="en-US"/>
          </a:p>
        </p:txBody>
      </p:sp>
      <p:sp>
        <p:nvSpPr>
          <p:cNvPr id="25" name="副标题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sp>
        <p:nvSpPr>
          <p:cNvPr id="31" name="日期占位符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0379B2C0-C73D-4733-A765-6E3C02585067}" type="datetime1">
              <a:rPr lang="zh-CN" altLang="en-US" smtClean="0"/>
              <a:pPr/>
              <a:t>2020/10/21</a:t>
            </a:fld>
            <a:endParaRPr lang="zh-CN" altLang="en-US"/>
          </a:p>
        </p:txBody>
      </p:sp>
      <p:sp>
        <p:nvSpPr>
          <p:cNvPr id="18" name="页脚占位符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zh-CN" altLang="en-US"/>
          </a:p>
        </p:txBody>
      </p:sp>
      <p:sp>
        <p:nvSpPr>
          <p:cNvPr id="29" name="灯片编号占位符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18162313-E3AC-469D-B8E4-A7FB31E79486}" type="datetime1">
              <a:rPr lang="zh-CN" altLang="en-US" smtClean="0"/>
              <a:pPr/>
              <a:t>2020/10/21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4829BA62-51CE-44EA-8E30-E9BA3CA777D7}" type="datetime1">
              <a:rPr lang="zh-CN" altLang="en-US" smtClean="0"/>
              <a:pPr/>
              <a:t>2020/10/21</a:t>
            </a:fld>
            <a:endParaRPr lang="zh-CN" altLang="en-US"/>
          </a:p>
        </p:txBody>
      </p:sp>
      <p:sp>
        <p:nvSpPr>
          <p:cNvPr id="5" name="页脚占位符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zh-CN" altLang="en-US"/>
          </a:p>
        </p:txBody>
      </p:sp>
      <p:sp>
        <p:nvSpPr>
          <p:cNvPr id="6" name="灯片编号占位符 5"/>
          <p:cNvSpPr>
            <a:spLocks noGrp="1"/>
          </p:cNvSpPr>
          <p:nvPr>
            <p:ph type="sldNum" sz="quarter" idx="12"/>
          </p:nvPr>
        </p:nvSpPr>
        <p:spPr>
          <a:xfrm>
            <a:off x="6733952" y="6555112"/>
            <a:ext cx="588336" cy="228600"/>
          </a:xfrm>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3FC21ACE-0500-4511-969B-4EC6B0452D85}" type="datetime1">
              <a:rPr lang="zh-CN" altLang="en-US" smtClean="0"/>
              <a:pPr/>
              <a:t>2020/10/21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nchor="b"/>
          <a:lstStyle>
            <a:lvl1pPr>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602C68AD-11F1-4F47-9102-B4508CD574D5}" type="datetime1">
              <a:rPr lang="zh-CN" altLang="en-US" smtClean="0"/>
              <a:pPr/>
              <a:t>2020/10/21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DD3565E3-3974-44DB-8AEC-847A1A4C66FA}" type="datetime1">
              <a:rPr lang="zh-CN" altLang="en-US" smtClean="0"/>
              <a:pPr/>
              <a:t>2020/10/21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solidFill>
                  <a:schemeClr val="tx2"/>
                </a:solidFill>
              </a:defRPr>
            </a:lvl1pPr>
            <a:extLst/>
          </a:lstStyle>
          <a:p>
            <a:fld id="{F2F5DBDF-5B4B-471B-98FF-038F896A674C}" type="datetime1">
              <a:rPr lang="zh-CN" altLang="en-US" smtClean="0"/>
              <a:pPr/>
              <a:t>2020/10/21</a:t>
            </a:fld>
            <a:endParaRPr lang="zh-CN" altLang="en-US"/>
          </a:p>
        </p:txBody>
      </p:sp>
      <p:sp>
        <p:nvSpPr>
          <p:cNvPr id="3" name="页脚占位符 2"/>
          <p:cNvSpPr>
            <a:spLocks noGrp="1"/>
          </p:cNvSpPr>
          <p:nvPr>
            <p:ph type="ftr" sz="quarter" idx="11"/>
          </p:nvPr>
        </p:nvSpPr>
        <p:spPr/>
        <p:txBody>
          <a:bodyPr/>
          <a:lstStyle>
            <a:lvl1pPr>
              <a:defRPr>
                <a:solidFill>
                  <a:schemeClr val="tx2"/>
                </a:solidFill>
              </a:defRPr>
            </a:lvl1pPr>
            <a:extLst/>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zh-CN" altLang="en-US"/>
              <a:t>单击此处编辑母版标题样式</a:t>
            </a:r>
            <a:endParaRPr kumimoji="0" lang="en-US"/>
          </a:p>
        </p:txBody>
      </p:sp>
      <p:sp>
        <p:nvSpPr>
          <p:cNvPr id="3" name="文本占位符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D2166A62-C514-4AD2-8041-345847C49F59}" type="datetime1">
              <a:rPr lang="zh-CN" altLang="en-US" smtClean="0"/>
              <a:pPr/>
              <a:t>2020/10/21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2"/>
      </p:bgRef>
    </p:bg>
    <p:spTree>
      <p:nvGrpSpPr>
        <p:cNvPr id="1" name=""/>
        <p:cNvGrpSpPr/>
        <p:nvPr/>
      </p:nvGrpSpPr>
      <p:grpSpPr>
        <a:xfrm>
          <a:off x="0" y="0"/>
          <a:ext cx="0" cy="0"/>
          <a:chOff x="0" y="0"/>
          <a:chExt cx="0" cy="0"/>
        </a:xfrm>
      </p:grpSpPr>
      <p:sp>
        <p:nvSpPr>
          <p:cNvPr id="8" name="矩形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zh-CN" altLang="en-US"/>
              <a:t>单击此处编辑母版标题样式</a:t>
            </a:r>
            <a:endParaRPr kumimoji="0" lang="en-US" dirty="0"/>
          </a:p>
        </p:txBody>
      </p:sp>
      <p:sp>
        <p:nvSpPr>
          <p:cNvPr id="4" name="文本占位符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zh-CN" altLang="en-US"/>
              <a:t>单击此处编辑母版文本样式</a:t>
            </a:r>
          </a:p>
        </p:txBody>
      </p:sp>
      <p:sp>
        <p:nvSpPr>
          <p:cNvPr id="5" name="日期占位符 4"/>
          <p:cNvSpPr>
            <a:spLocks noGrp="1"/>
          </p:cNvSpPr>
          <p:nvPr>
            <p:ph type="dt" sz="half" idx="10"/>
          </p:nvPr>
        </p:nvSpPr>
        <p:spPr/>
        <p:txBody>
          <a:bodyPr/>
          <a:lstStyle/>
          <a:p>
            <a:fld id="{23E37CAD-22C6-4D80-B020-F47FAD996B10}" type="datetime1">
              <a:rPr lang="zh-CN" altLang="en-US" smtClean="0"/>
              <a:pPr/>
              <a:t>2020/10/21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10" name="图片占位符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zh-CN" altLang="en-US"/>
              <a:t>单击图标添加图片</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C3CCE1F7-7710-4E40-95A1-D6698A169A31}" type="datetime1">
              <a:rPr lang="zh-CN" altLang="en-US" smtClean="0"/>
              <a:pPr/>
              <a:t>2020/10/21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274955"/>
            <a:ext cx="1524000" cy="5851525"/>
          </a:xfrm>
        </p:spPr>
        <p:txBody>
          <a:bodyPr vert="eaVert" ancho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2"/>
            <a:ext cx="60198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4242816" y="6557946"/>
            <a:ext cx="2002464" cy="226902"/>
          </a:xfrm>
        </p:spPr>
        <p:txBody>
          <a:bodyPr/>
          <a:lstStyle/>
          <a:p>
            <a:fld id="{3BA1A60B-B7A3-40DA-B398-949647F5FAC9}" type="datetime1">
              <a:rPr lang="zh-CN" altLang="en-US" smtClean="0"/>
              <a:pPr/>
              <a:t>2020/10/21</a:t>
            </a:fld>
            <a:endParaRPr lang="zh-CN" altLang="en-US"/>
          </a:p>
        </p:txBody>
      </p:sp>
      <p:sp>
        <p:nvSpPr>
          <p:cNvPr id="5" name="页脚占位符 4"/>
          <p:cNvSpPr>
            <a:spLocks noGrp="1"/>
          </p:cNvSpPr>
          <p:nvPr>
            <p:ph type="ftr" sz="quarter" idx="11"/>
          </p:nvPr>
        </p:nvSpPr>
        <p:spPr>
          <a:xfrm>
            <a:off x="457200" y="6556248"/>
            <a:ext cx="3657600" cy="228600"/>
          </a:xfrm>
        </p:spPr>
        <p:txBody>
          <a:bodyPr/>
          <a:lstStyle/>
          <a:p>
            <a:endParaRPr lang="zh-CN" altLang="en-US"/>
          </a:p>
        </p:txBody>
      </p:sp>
      <p:sp>
        <p:nvSpPr>
          <p:cNvPr id="6" name="灯片编号占位符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标题占位符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zh-CN" altLang="en-US"/>
              <a:t>单击此处编辑母版标题样式</a:t>
            </a:r>
            <a:endParaRPr kumimoji="0" lang="en-US"/>
          </a:p>
        </p:txBody>
      </p:sp>
      <p:sp>
        <p:nvSpPr>
          <p:cNvPr id="31" name="文本占位符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27" name="日期占位符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3FB21523-B290-46E0-893C-81D74DB896E3}" type="datetime1">
              <a:rPr lang="zh-CN" altLang="en-US" smtClean="0"/>
              <a:pPr/>
              <a:t>2020/10/21</a:t>
            </a:fld>
            <a:endParaRPr lang="zh-CN" altLang="en-US"/>
          </a:p>
        </p:txBody>
      </p:sp>
      <p:sp>
        <p:nvSpPr>
          <p:cNvPr id="4" name="页脚占位符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zh-CN" altLang="en-US"/>
          </a:p>
        </p:txBody>
      </p:sp>
      <p:sp>
        <p:nvSpPr>
          <p:cNvPr id="16" name="灯片编号占位符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c/</a:t>
            </a:r>
            <a:r>
              <a:rPr lang="en-US" altLang="zh-CN" dirty="0" err="1"/>
              <a:t>c++</a:t>
            </a:r>
            <a:r>
              <a:rPr lang="zh-CN" altLang="en-US" dirty="0"/>
              <a:t>程序设计</a:t>
            </a:r>
          </a:p>
        </p:txBody>
      </p:sp>
      <p:sp>
        <p:nvSpPr>
          <p:cNvPr id="3" name="副标题 2"/>
          <p:cNvSpPr>
            <a:spLocks noGrp="1"/>
          </p:cNvSpPr>
          <p:nvPr>
            <p:ph type="subTitle" idx="1"/>
          </p:nvPr>
        </p:nvSpPr>
        <p:spPr/>
        <p:txBody>
          <a:bodyPr>
            <a:normAutofit fontScale="85000" lnSpcReduction="20000"/>
          </a:bodyPr>
          <a:lstStyle/>
          <a:p>
            <a:endParaRPr lang="en-US" altLang="zh-CN" sz="2800" dirty="0">
              <a:solidFill>
                <a:schemeClr val="accent4">
                  <a:lumMod val="20000"/>
                  <a:lumOff val="80000"/>
                </a:schemeClr>
              </a:solidFill>
            </a:endParaRPr>
          </a:p>
          <a:p>
            <a:endParaRPr lang="en-US" altLang="zh-CN" sz="2800" dirty="0">
              <a:solidFill>
                <a:schemeClr val="accent4">
                  <a:lumMod val="20000"/>
                  <a:lumOff val="80000"/>
                </a:schemeClr>
              </a:solidFill>
            </a:endParaRPr>
          </a:p>
          <a:p>
            <a:r>
              <a:rPr lang="zh-CN" altLang="en-US" sz="2800" dirty="0">
                <a:solidFill>
                  <a:schemeClr val="accent4">
                    <a:lumMod val="20000"/>
                    <a:lumOff val="80000"/>
                  </a:schemeClr>
                </a:solidFill>
              </a:rPr>
              <a:t>数据类型和运算符</a:t>
            </a:r>
            <a:r>
              <a:rPr lang="en-US" altLang="zh-CN" sz="2800" dirty="0">
                <a:solidFill>
                  <a:schemeClr val="accent4">
                    <a:lumMod val="20000"/>
                    <a:lumOff val="80000"/>
                  </a:schemeClr>
                </a:solidFill>
              </a:rPr>
              <a:t>——</a:t>
            </a:r>
            <a:r>
              <a:rPr lang="zh-CN" altLang="en-US" sz="3300" b="1" dirty="0">
                <a:solidFill>
                  <a:srgbClr val="00B050"/>
                </a:solidFill>
                <a:latin typeface="黑体" panose="02010609060101010101" pitchFamily="49" charset="-122"/>
                <a:ea typeface="黑体" panose="02010609060101010101" pitchFamily="49" charset="-122"/>
              </a:rPr>
              <a:t>初步</a:t>
            </a:r>
            <a:endParaRPr lang="zh-CN" altLang="en-US" sz="2800" b="1" dirty="0">
              <a:solidFill>
                <a:srgbClr val="00B050"/>
              </a:solidFill>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a:t>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357206"/>
            <a:ext cx="7239000" cy="1143000"/>
          </a:xfrm>
        </p:spPr>
        <p:txBody>
          <a:bodyPr/>
          <a:lstStyle/>
          <a:p>
            <a:r>
              <a:rPr lang="zh-CN" altLang="en-US" dirty="0"/>
              <a:t>常量</a:t>
            </a:r>
          </a:p>
        </p:txBody>
      </p:sp>
      <p:sp>
        <p:nvSpPr>
          <p:cNvPr id="3" name="内容占位符 2"/>
          <p:cNvSpPr>
            <a:spLocks noGrp="1"/>
          </p:cNvSpPr>
          <p:nvPr>
            <p:ph idx="1"/>
          </p:nvPr>
        </p:nvSpPr>
        <p:spPr>
          <a:xfrm>
            <a:off x="333396" y="785794"/>
            <a:ext cx="8559084" cy="4846320"/>
          </a:xfrm>
        </p:spPr>
        <p:txBody>
          <a:bodyPr>
            <a:noAutofit/>
          </a:bodyPr>
          <a:lstStyle/>
          <a:p>
            <a:pPr lvl="1">
              <a:lnSpc>
                <a:spcPct val="120000"/>
              </a:lnSpc>
            </a:pPr>
            <a:r>
              <a:rPr lang="zh-CN" altLang="en-US" sz="2800" b="1" dirty="0">
                <a:solidFill>
                  <a:srgbClr val="002060"/>
                </a:solidFill>
                <a:latin typeface="+mj-ea"/>
                <a:ea typeface="+mj-ea"/>
              </a:rPr>
              <a:t>程序运行过程中不能改变值的数据，分为</a:t>
            </a:r>
            <a:endParaRPr lang="en-US" altLang="zh-CN" sz="2800" b="1" dirty="0">
              <a:solidFill>
                <a:srgbClr val="002060"/>
              </a:solidFill>
              <a:latin typeface="+mj-ea"/>
              <a:ea typeface="+mj-ea"/>
            </a:endParaRPr>
          </a:p>
          <a:p>
            <a:pPr lvl="2">
              <a:lnSpc>
                <a:spcPct val="120000"/>
              </a:lnSpc>
            </a:pPr>
            <a:r>
              <a:rPr lang="zh-CN" altLang="en-US" sz="2800" b="1" dirty="0">
                <a:latin typeface="+mj-ea"/>
                <a:ea typeface="+mj-ea"/>
              </a:rPr>
              <a:t>字面常量</a:t>
            </a:r>
            <a:endParaRPr lang="en-US" altLang="zh-CN" sz="2800" b="1" dirty="0">
              <a:latin typeface="+mj-ea"/>
              <a:ea typeface="+mj-ea"/>
            </a:endParaRPr>
          </a:p>
          <a:p>
            <a:pPr lvl="3">
              <a:lnSpc>
                <a:spcPct val="120000"/>
              </a:lnSpc>
            </a:pPr>
            <a:r>
              <a:rPr lang="zh-CN" altLang="en-US" sz="2800" b="1" dirty="0">
                <a:solidFill>
                  <a:srgbClr val="002060"/>
                </a:solidFill>
                <a:latin typeface="+mj-ea"/>
                <a:ea typeface="+mj-ea"/>
              </a:rPr>
              <a:t>整型常量</a:t>
            </a:r>
            <a:endParaRPr lang="en-US" altLang="zh-CN" sz="2800" b="1" dirty="0">
              <a:solidFill>
                <a:srgbClr val="002060"/>
              </a:solidFill>
              <a:latin typeface="+mj-ea"/>
              <a:ea typeface="+mj-ea"/>
            </a:endParaRPr>
          </a:p>
          <a:p>
            <a:pPr lvl="3">
              <a:lnSpc>
                <a:spcPct val="120000"/>
              </a:lnSpc>
            </a:pPr>
            <a:r>
              <a:rPr lang="zh-CN" altLang="en-US" sz="2800" b="1" dirty="0">
                <a:solidFill>
                  <a:srgbClr val="002060"/>
                </a:solidFill>
                <a:latin typeface="+mj-ea"/>
                <a:ea typeface="+mj-ea"/>
              </a:rPr>
              <a:t>浮点型常量</a:t>
            </a:r>
            <a:endParaRPr lang="en-US" altLang="zh-CN" sz="2800" b="1" dirty="0">
              <a:solidFill>
                <a:srgbClr val="002060"/>
              </a:solidFill>
              <a:latin typeface="+mj-ea"/>
              <a:ea typeface="+mj-ea"/>
            </a:endParaRPr>
          </a:p>
          <a:p>
            <a:pPr lvl="3">
              <a:lnSpc>
                <a:spcPct val="120000"/>
              </a:lnSpc>
            </a:pPr>
            <a:r>
              <a:rPr lang="zh-CN" altLang="en-US" sz="2800" b="1" dirty="0">
                <a:solidFill>
                  <a:srgbClr val="002060"/>
                </a:solidFill>
                <a:latin typeface="+mj-ea"/>
                <a:ea typeface="+mj-ea"/>
              </a:rPr>
              <a:t>字符型常量</a:t>
            </a:r>
            <a:endParaRPr lang="en-US" altLang="zh-CN" sz="2800" b="1" dirty="0">
              <a:solidFill>
                <a:srgbClr val="002060"/>
              </a:solidFill>
              <a:latin typeface="+mj-ea"/>
              <a:ea typeface="+mj-ea"/>
            </a:endParaRPr>
          </a:p>
          <a:p>
            <a:pPr lvl="3">
              <a:lnSpc>
                <a:spcPct val="120000"/>
              </a:lnSpc>
            </a:pPr>
            <a:r>
              <a:rPr lang="zh-CN" altLang="en-US" sz="2800" b="1" dirty="0">
                <a:solidFill>
                  <a:srgbClr val="002060"/>
                </a:solidFill>
                <a:latin typeface="+mj-ea"/>
                <a:ea typeface="+mj-ea"/>
              </a:rPr>
              <a:t>字符串常量</a:t>
            </a:r>
            <a:endParaRPr lang="en-US" altLang="zh-CN" sz="2800" b="1" dirty="0">
              <a:solidFill>
                <a:srgbClr val="002060"/>
              </a:solidFill>
              <a:latin typeface="+mj-ea"/>
              <a:ea typeface="+mj-ea"/>
            </a:endParaRPr>
          </a:p>
          <a:p>
            <a:pPr lvl="2">
              <a:lnSpc>
                <a:spcPct val="120000"/>
              </a:lnSpc>
            </a:pPr>
            <a:r>
              <a:rPr lang="zh-CN" altLang="en-US" sz="2800" b="1" dirty="0">
                <a:latin typeface="+mj-ea"/>
                <a:ea typeface="+mj-ea"/>
              </a:rPr>
              <a:t>有名常量</a:t>
            </a:r>
            <a:endParaRPr lang="en-US" altLang="zh-CN" sz="2800" b="1" dirty="0">
              <a:latin typeface="+mj-ea"/>
              <a:ea typeface="+mj-ea"/>
            </a:endParaRPr>
          </a:p>
          <a:p>
            <a:pPr lvl="3">
              <a:lnSpc>
                <a:spcPct val="120000"/>
              </a:lnSpc>
            </a:pPr>
            <a:r>
              <a:rPr lang="zh-CN" altLang="en-US" sz="2800" b="1" dirty="0">
                <a:solidFill>
                  <a:srgbClr val="002060"/>
                </a:solidFill>
                <a:latin typeface="+mj-ea"/>
                <a:ea typeface="+mj-ea"/>
              </a:rPr>
              <a:t>用标识符为常量命名，该标识符表示有名常量</a:t>
            </a:r>
            <a:endParaRPr lang="en-US" altLang="zh-CN" sz="2800" b="1" dirty="0">
              <a:solidFill>
                <a:srgbClr val="002060"/>
              </a:solidFill>
              <a:latin typeface="+mj-ea"/>
              <a:ea typeface="+mj-ea"/>
            </a:endParaRPr>
          </a:p>
          <a:p>
            <a:pPr lvl="1">
              <a:lnSpc>
                <a:spcPct val="120000"/>
              </a:lnSpc>
            </a:pPr>
            <a:r>
              <a:rPr lang="zh-CN" altLang="en-US" sz="2800" b="1" dirty="0">
                <a:solidFill>
                  <a:srgbClr val="002060"/>
                </a:solidFill>
                <a:latin typeface="+mj-ea"/>
                <a:ea typeface="+mj-ea"/>
              </a:rPr>
              <a:t>说明有名常量</a:t>
            </a:r>
            <a:endParaRPr lang="en-US" altLang="zh-CN" sz="2800" b="1" dirty="0">
              <a:solidFill>
                <a:srgbClr val="002060"/>
              </a:solidFill>
              <a:latin typeface="+mj-ea"/>
              <a:ea typeface="+mj-ea"/>
            </a:endParaRPr>
          </a:p>
          <a:p>
            <a:pPr lvl="2">
              <a:lnSpc>
                <a:spcPct val="120000"/>
              </a:lnSpc>
            </a:pPr>
            <a:r>
              <a:rPr lang="en-US" altLang="zh-CN" sz="2800" b="1" dirty="0">
                <a:latin typeface="+mj-ea"/>
                <a:ea typeface="+mj-ea"/>
              </a:rPr>
              <a:t>const &lt;</a:t>
            </a:r>
            <a:r>
              <a:rPr lang="zh-CN" altLang="en-US" sz="2800" b="1" dirty="0">
                <a:latin typeface="+mj-ea"/>
                <a:ea typeface="+mj-ea"/>
              </a:rPr>
              <a:t>数据类型</a:t>
            </a:r>
            <a:r>
              <a:rPr lang="en-US" altLang="zh-CN" sz="2800" b="1" dirty="0">
                <a:latin typeface="+mj-ea"/>
                <a:ea typeface="+mj-ea"/>
              </a:rPr>
              <a:t>&gt; &lt;</a:t>
            </a:r>
            <a:r>
              <a:rPr lang="zh-CN" altLang="en-US" sz="2800" b="1" dirty="0">
                <a:latin typeface="+mj-ea"/>
                <a:ea typeface="+mj-ea"/>
              </a:rPr>
              <a:t>常量名</a:t>
            </a:r>
            <a:r>
              <a:rPr lang="en-US" altLang="zh-CN" sz="2800" b="1" dirty="0">
                <a:latin typeface="+mj-ea"/>
                <a:ea typeface="+mj-ea"/>
              </a:rPr>
              <a:t>&gt; = &lt;</a:t>
            </a:r>
            <a:r>
              <a:rPr lang="zh-CN" altLang="en-US" sz="2800" b="1" dirty="0">
                <a:latin typeface="+mj-ea"/>
                <a:ea typeface="+mj-ea"/>
              </a:rPr>
              <a:t>表达式</a:t>
            </a:r>
            <a:r>
              <a:rPr lang="en-US" altLang="zh-CN" sz="2800" b="1" dirty="0">
                <a:latin typeface="+mj-ea"/>
                <a:ea typeface="+mj-ea"/>
              </a:rPr>
              <a:t>&gt;</a:t>
            </a:r>
            <a:endParaRPr lang="zh-CN" altLang="en-US" sz="2800" b="1" dirty="0">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14282" y="-357206"/>
            <a:ext cx="7239000" cy="1143000"/>
          </a:xfrm>
        </p:spPr>
        <p:txBody>
          <a:bodyPr/>
          <a:lstStyle/>
          <a:p>
            <a:r>
              <a:rPr lang="zh-CN" altLang="en-US" dirty="0"/>
              <a:t>变量</a:t>
            </a:r>
          </a:p>
        </p:txBody>
      </p:sp>
      <p:sp>
        <p:nvSpPr>
          <p:cNvPr id="3" name="内容占位符 2"/>
          <p:cNvSpPr>
            <a:spLocks noGrp="1"/>
          </p:cNvSpPr>
          <p:nvPr>
            <p:ph idx="1"/>
          </p:nvPr>
        </p:nvSpPr>
        <p:spPr>
          <a:xfrm>
            <a:off x="214282" y="940134"/>
            <a:ext cx="8606190" cy="5225170"/>
          </a:xfrm>
        </p:spPr>
        <p:txBody>
          <a:bodyPr>
            <a:normAutofit fontScale="92500" lnSpcReduction="20000"/>
          </a:bodyPr>
          <a:lstStyle/>
          <a:p>
            <a:pPr lvl="1">
              <a:lnSpc>
                <a:spcPct val="130000"/>
              </a:lnSpc>
            </a:pPr>
            <a:r>
              <a:rPr lang="zh-CN" altLang="en-US" sz="3000" b="1" dirty="0">
                <a:solidFill>
                  <a:srgbClr val="002060"/>
                </a:solidFill>
                <a:latin typeface="+mj-ea"/>
                <a:ea typeface="+mj-ea"/>
              </a:rPr>
              <a:t>程序运行过程中其值能够改变的数据</a:t>
            </a:r>
            <a:endParaRPr lang="en-US" altLang="zh-CN" sz="3000" b="1" dirty="0">
              <a:solidFill>
                <a:srgbClr val="002060"/>
              </a:solidFill>
              <a:latin typeface="+mj-ea"/>
              <a:ea typeface="+mj-ea"/>
            </a:endParaRPr>
          </a:p>
          <a:p>
            <a:pPr lvl="1">
              <a:lnSpc>
                <a:spcPct val="130000"/>
              </a:lnSpc>
            </a:pPr>
            <a:r>
              <a:rPr lang="zh-CN" altLang="en-US" sz="3000" b="1" dirty="0">
                <a:solidFill>
                  <a:srgbClr val="002060"/>
                </a:solidFill>
                <a:latin typeface="+mj-ea"/>
                <a:ea typeface="+mj-ea"/>
              </a:rPr>
              <a:t>说明变量</a:t>
            </a:r>
            <a:endParaRPr lang="en-US" altLang="zh-CN" sz="3000" b="1" dirty="0">
              <a:solidFill>
                <a:srgbClr val="002060"/>
              </a:solidFill>
              <a:latin typeface="+mj-ea"/>
              <a:ea typeface="+mj-ea"/>
            </a:endParaRPr>
          </a:p>
          <a:p>
            <a:pPr lvl="2">
              <a:lnSpc>
                <a:spcPct val="130000"/>
              </a:lnSpc>
            </a:pPr>
            <a:r>
              <a:rPr lang="en-US" altLang="zh-CN" sz="3500" b="1" dirty="0">
                <a:solidFill>
                  <a:srgbClr val="FF0000"/>
                </a:solidFill>
                <a:latin typeface="+mj-ea"/>
                <a:ea typeface="+mj-ea"/>
              </a:rPr>
              <a:t>[</a:t>
            </a:r>
            <a:r>
              <a:rPr lang="zh-CN" altLang="en-US" sz="3500" b="1" dirty="0">
                <a:solidFill>
                  <a:srgbClr val="FF0000"/>
                </a:solidFill>
                <a:latin typeface="+mj-ea"/>
                <a:ea typeface="+mj-ea"/>
              </a:rPr>
              <a:t>存储类</a:t>
            </a:r>
            <a:r>
              <a:rPr lang="en-US" altLang="zh-CN" sz="3500" b="1" dirty="0">
                <a:solidFill>
                  <a:srgbClr val="FF0000"/>
                </a:solidFill>
                <a:latin typeface="+mj-ea"/>
                <a:ea typeface="+mj-ea"/>
              </a:rPr>
              <a:t>]  &lt;</a:t>
            </a:r>
            <a:r>
              <a:rPr lang="zh-CN" altLang="en-US" sz="3500" b="1" dirty="0">
                <a:solidFill>
                  <a:srgbClr val="FF0000"/>
                </a:solidFill>
                <a:latin typeface="+mj-ea"/>
                <a:ea typeface="+mj-ea"/>
              </a:rPr>
              <a:t>数据类型</a:t>
            </a:r>
            <a:r>
              <a:rPr lang="en-US" altLang="zh-CN" sz="3500" b="1" dirty="0">
                <a:solidFill>
                  <a:srgbClr val="FF0000"/>
                </a:solidFill>
                <a:latin typeface="+mj-ea"/>
                <a:ea typeface="+mj-ea"/>
              </a:rPr>
              <a:t>&gt; &lt;</a:t>
            </a:r>
            <a:r>
              <a:rPr lang="zh-CN" altLang="en-US" sz="3500" b="1" dirty="0">
                <a:solidFill>
                  <a:srgbClr val="FF0000"/>
                </a:solidFill>
                <a:latin typeface="+mj-ea"/>
                <a:ea typeface="+mj-ea"/>
              </a:rPr>
              <a:t>变量名表</a:t>
            </a:r>
            <a:r>
              <a:rPr lang="en-US" altLang="zh-CN" sz="3500" b="1" dirty="0">
                <a:solidFill>
                  <a:srgbClr val="FF0000"/>
                </a:solidFill>
                <a:latin typeface="+mj-ea"/>
                <a:ea typeface="+mj-ea"/>
              </a:rPr>
              <a:t>&gt;;</a:t>
            </a:r>
          </a:p>
          <a:p>
            <a:pPr lvl="2">
              <a:lnSpc>
                <a:spcPct val="130000"/>
              </a:lnSpc>
            </a:pPr>
            <a:r>
              <a:rPr lang="zh-CN" altLang="en-US" sz="3000" b="1" dirty="0">
                <a:latin typeface="+mj-ea"/>
                <a:ea typeface="+mj-ea"/>
              </a:rPr>
              <a:t>存储类</a:t>
            </a:r>
            <a:endParaRPr lang="en-US" altLang="zh-CN" sz="3000" b="1" dirty="0">
              <a:latin typeface="+mj-ea"/>
              <a:ea typeface="+mj-ea"/>
            </a:endParaRPr>
          </a:p>
          <a:p>
            <a:pPr lvl="3">
              <a:lnSpc>
                <a:spcPct val="130000"/>
              </a:lnSpc>
            </a:pPr>
            <a:r>
              <a:rPr lang="en-US" altLang="zh-CN" sz="3000" b="1" dirty="0">
                <a:solidFill>
                  <a:srgbClr val="002060"/>
                </a:solidFill>
                <a:latin typeface="+mj-ea"/>
                <a:ea typeface="+mj-ea"/>
              </a:rPr>
              <a:t>auto</a:t>
            </a:r>
            <a:r>
              <a:rPr lang="zh-CN" altLang="en-US" sz="3000" b="1" dirty="0">
                <a:solidFill>
                  <a:srgbClr val="002060"/>
                </a:solidFill>
                <a:latin typeface="+mj-ea"/>
                <a:ea typeface="+mj-ea"/>
              </a:rPr>
              <a:t>：自动变量</a:t>
            </a:r>
            <a:endParaRPr lang="en-US" altLang="zh-CN" sz="3000" b="1" dirty="0">
              <a:solidFill>
                <a:srgbClr val="002060"/>
              </a:solidFill>
              <a:latin typeface="+mj-ea"/>
              <a:ea typeface="+mj-ea"/>
            </a:endParaRPr>
          </a:p>
          <a:p>
            <a:pPr lvl="3">
              <a:lnSpc>
                <a:spcPct val="130000"/>
              </a:lnSpc>
            </a:pPr>
            <a:r>
              <a:rPr lang="en-US" altLang="zh-CN" sz="3000" b="1" dirty="0">
                <a:solidFill>
                  <a:srgbClr val="002060"/>
                </a:solidFill>
                <a:latin typeface="+mj-ea"/>
                <a:ea typeface="+mj-ea"/>
              </a:rPr>
              <a:t>register</a:t>
            </a:r>
            <a:r>
              <a:rPr lang="zh-CN" altLang="en-US" sz="3000" b="1" dirty="0">
                <a:solidFill>
                  <a:srgbClr val="002060"/>
                </a:solidFill>
                <a:latin typeface="+mj-ea"/>
                <a:ea typeface="+mj-ea"/>
              </a:rPr>
              <a:t>：寄存器变量</a:t>
            </a:r>
            <a:endParaRPr lang="en-US" altLang="zh-CN" sz="3000" b="1" dirty="0">
              <a:solidFill>
                <a:srgbClr val="002060"/>
              </a:solidFill>
              <a:latin typeface="+mj-ea"/>
              <a:ea typeface="+mj-ea"/>
            </a:endParaRPr>
          </a:p>
          <a:p>
            <a:pPr lvl="3">
              <a:lnSpc>
                <a:spcPct val="130000"/>
              </a:lnSpc>
            </a:pPr>
            <a:r>
              <a:rPr lang="en-US" altLang="zh-CN" sz="3000" b="1" dirty="0">
                <a:solidFill>
                  <a:srgbClr val="002060"/>
                </a:solidFill>
                <a:latin typeface="+mj-ea"/>
                <a:ea typeface="+mj-ea"/>
              </a:rPr>
              <a:t>static</a:t>
            </a:r>
            <a:r>
              <a:rPr lang="zh-CN" altLang="en-US" sz="3000" b="1" dirty="0">
                <a:solidFill>
                  <a:srgbClr val="002060"/>
                </a:solidFill>
                <a:latin typeface="+mj-ea"/>
                <a:ea typeface="+mj-ea"/>
              </a:rPr>
              <a:t>：静态变量</a:t>
            </a:r>
            <a:endParaRPr lang="en-US" altLang="zh-CN" sz="3000" b="1" dirty="0">
              <a:solidFill>
                <a:srgbClr val="002060"/>
              </a:solidFill>
              <a:latin typeface="+mj-ea"/>
              <a:ea typeface="+mj-ea"/>
            </a:endParaRPr>
          </a:p>
          <a:p>
            <a:pPr lvl="3">
              <a:lnSpc>
                <a:spcPct val="130000"/>
              </a:lnSpc>
            </a:pPr>
            <a:r>
              <a:rPr lang="en-US" altLang="zh-CN" sz="3000" b="1" dirty="0">
                <a:solidFill>
                  <a:srgbClr val="002060"/>
                </a:solidFill>
                <a:latin typeface="+mj-ea"/>
                <a:ea typeface="+mj-ea"/>
              </a:rPr>
              <a:t>extern</a:t>
            </a:r>
            <a:r>
              <a:rPr lang="zh-CN" altLang="en-US" sz="3000" b="1" dirty="0">
                <a:solidFill>
                  <a:srgbClr val="002060"/>
                </a:solidFill>
                <a:latin typeface="+mj-ea"/>
                <a:ea typeface="+mj-ea"/>
              </a:rPr>
              <a:t>：外部变量</a:t>
            </a:r>
            <a:endParaRPr lang="en-US" altLang="zh-CN" sz="3000" b="1" dirty="0">
              <a:solidFill>
                <a:srgbClr val="002060"/>
              </a:solidFill>
              <a:latin typeface="+mj-ea"/>
              <a:ea typeface="+mj-ea"/>
            </a:endParaRPr>
          </a:p>
          <a:p>
            <a:pPr lvl="1">
              <a:lnSpc>
                <a:spcPct val="130000"/>
              </a:lnSpc>
            </a:pPr>
            <a:r>
              <a:rPr lang="zh-CN" altLang="en-US" sz="3000" b="1" dirty="0">
                <a:solidFill>
                  <a:srgbClr val="002060"/>
                </a:solidFill>
                <a:latin typeface="+mj-ea"/>
                <a:ea typeface="+mj-ea"/>
              </a:rPr>
              <a:t>根据变量类型，在内存中开辟相应大小的空间</a:t>
            </a:r>
            <a:endParaRPr lang="zh-CN" altLang="en-US" b="1" dirty="0">
              <a:solidFill>
                <a:srgbClr val="002060"/>
              </a:solidFill>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90520" y="-428652"/>
            <a:ext cx="7239000" cy="1143000"/>
          </a:xfrm>
        </p:spPr>
        <p:txBody>
          <a:bodyPr/>
          <a:lstStyle/>
          <a:p>
            <a:r>
              <a:rPr lang="zh-CN" altLang="en-US" dirty="0"/>
              <a:t>说明变量</a:t>
            </a:r>
          </a:p>
        </p:txBody>
      </p:sp>
      <p:sp>
        <p:nvSpPr>
          <p:cNvPr id="3" name="内容占位符 2"/>
          <p:cNvSpPr>
            <a:spLocks noGrp="1"/>
          </p:cNvSpPr>
          <p:nvPr>
            <p:ph idx="1"/>
          </p:nvPr>
        </p:nvSpPr>
        <p:spPr>
          <a:xfrm>
            <a:off x="357158" y="857232"/>
            <a:ext cx="7715304" cy="5500726"/>
          </a:xfrm>
        </p:spPr>
        <p:txBody>
          <a:bodyPr>
            <a:normAutofit/>
          </a:bodyPr>
          <a:lstStyle/>
          <a:p>
            <a:pPr lvl="1">
              <a:lnSpc>
                <a:spcPct val="130000"/>
              </a:lnSpc>
            </a:pPr>
            <a:r>
              <a:rPr lang="zh-CN" altLang="en-US" sz="2800" b="1" dirty="0">
                <a:solidFill>
                  <a:schemeClr val="tx1"/>
                </a:solidFill>
                <a:latin typeface="+mj-ea"/>
                <a:ea typeface="+mj-ea"/>
              </a:rPr>
              <a:t>赋给该变量一</a:t>
            </a:r>
            <a:r>
              <a:rPr lang="zh-CN" altLang="en-US" sz="2800" b="1" dirty="0">
                <a:solidFill>
                  <a:srgbClr val="FF0000"/>
                </a:solidFill>
                <a:latin typeface="+mj-ea"/>
                <a:ea typeface="+mj-ea"/>
              </a:rPr>
              <a:t>标识符</a:t>
            </a:r>
            <a:r>
              <a:rPr lang="zh-CN" altLang="en-US" sz="2800" b="1" dirty="0">
                <a:solidFill>
                  <a:schemeClr val="tx1"/>
                </a:solidFill>
                <a:latin typeface="+mj-ea"/>
                <a:ea typeface="+mj-ea"/>
              </a:rPr>
              <a:t>作为其名</a:t>
            </a:r>
            <a:endParaRPr lang="en-US" altLang="zh-CN" sz="2800" b="1" dirty="0">
              <a:solidFill>
                <a:schemeClr val="tx1"/>
              </a:solidFill>
              <a:latin typeface="+mj-ea"/>
              <a:ea typeface="+mj-ea"/>
            </a:endParaRPr>
          </a:p>
          <a:p>
            <a:pPr lvl="1">
              <a:lnSpc>
                <a:spcPct val="130000"/>
              </a:lnSpc>
            </a:pPr>
            <a:r>
              <a:rPr lang="zh-CN" altLang="en-US" sz="2800" b="1" dirty="0">
                <a:solidFill>
                  <a:schemeClr val="tx1"/>
                </a:solidFill>
                <a:latin typeface="+mj-ea"/>
                <a:ea typeface="+mj-ea"/>
              </a:rPr>
              <a:t>指定其</a:t>
            </a:r>
            <a:r>
              <a:rPr lang="zh-CN" altLang="en-US" sz="2800" b="1" dirty="0">
                <a:solidFill>
                  <a:srgbClr val="FF0000"/>
                </a:solidFill>
                <a:latin typeface="+mj-ea"/>
                <a:ea typeface="+mj-ea"/>
              </a:rPr>
              <a:t>类型</a:t>
            </a:r>
            <a:endParaRPr lang="en-US" altLang="zh-CN" sz="2800" b="1" dirty="0">
              <a:solidFill>
                <a:srgbClr val="FF0000"/>
              </a:solidFill>
              <a:latin typeface="+mj-ea"/>
              <a:ea typeface="+mj-ea"/>
            </a:endParaRPr>
          </a:p>
          <a:p>
            <a:pPr lvl="1">
              <a:lnSpc>
                <a:spcPct val="130000"/>
              </a:lnSpc>
            </a:pPr>
            <a:r>
              <a:rPr lang="zh-CN" altLang="en-US" sz="2800" b="1" dirty="0">
                <a:solidFill>
                  <a:schemeClr val="tx1"/>
                </a:solidFill>
                <a:latin typeface="+mj-ea"/>
                <a:ea typeface="+mj-ea"/>
              </a:rPr>
              <a:t>在内存中</a:t>
            </a:r>
            <a:r>
              <a:rPr lang="zh-CN" altLang="en-US" sz="2800" b="1" dirty="0">
                <a:solidFill>
                  <a:srgbClr val="FF0000"/>
                </a:solidFill>
                <a:latin typeface="+mj-ea"/>
                <a:ea typeface="+mj-ea"/>
              </a:rPr>
              <a:t>分配</a:t>
            </a:r>
            <a:r>
              <a:rPr lang="zh-CN" altLang="en-US" sz="2800" b="1" dirty="0">
                <a:solidFill>
                  <a:schemeClr val="tx1"/>
                </a:solidFill>
                <a:latin typeface="+mj-ea"/>
                <a:ea typeface="+mj-ea"/>
              </a:rPr>
              <a:t>给它一片存放</a:t>
            </a:r>
            <a:r>
              <a:rPr lang="zh-CN" altLang="en-US" sz="2800" b="1" dirty="0">
                <a:solidFill>
                  <a:srgbClr val="FF0000"/>
                </a:solidFill>
                <a:latin typeface="+mj-ea"/>
                <a:ea typeface="+mj-ea"/>
              </a:rPr>
              <a:t>空间</a:t>
            </a:r>
            <a:endParaRPr lang="en-US" altLang="zh-CN" sz="2800" b="1" dirty="0">
              <a:solidFill>
                <a:srgbClr val="FF0000"/>
              </a:solidFill>
              <a:latin typeface="+mj-ea"/>
              <a:ea typeface="+mj-ea"/>
            </a:endParaRPr>
          </a:p>
          <a:p>
            <a:pPr lvl="2">
              <a:lnSpc>
                <a:spcPct val="130000"/>
              </a:lnSpc>
            </a:pPr>
            <a:r>
              <a:rPr lang="zh-CN" altLang="en-US" sz="2500" b="1" dirty="0">
                <a:solidFill>
                  <a:schemeClr val="tx1"/>
                </a:solidFill>
                <a:latin typeface="+mj-ea"/>
                <a:ea typeface="+mj-ea"/>
              </a:rPr>
              <a:t>其大小由类型决定</a:t>
            </a:r>
            <a:endParaRPr lang="en-US" altLang="zh-CN" sz="2500" b="1" dirty="0">
              <a:solidFill>
                <a:schemeClr val="tx1"/>
              </a:solidFill>
              <a:latin typeface="+mj-ea"/>
              <a:ea typeface="+mj-ea"/>
            </a:endParaRPr>
          </a:p>
          <a:p>
            <a:pPr lvl="1">
              <a:lnSpc>
                <a:spcPct val="130000"/>
              </a:lnSpc>
            </a:pPr>
            <a:r>
              <a:rPr lang="zh-CN" altLang="en-US" sz="2800" b="1" dirty="0">
                <a:solidFill>
                  <a:schemeClr val="tx1"/>
                </a:solidFill>
                <a:latin typeface="+mj-ea"/>
                <a:ea typeface="+mj-ea"/>
              </a:rPr>
              <a:t>使用</a:t>
            </a:r>
            <a:r>
              <a:rPr lang="zh-CN" altLang="en-US" sz="2800" b="1" dirty="0">
                <a:solidFill>
                  <a:srgbClr val="FF0000"/>
                </a:solidFill>
                <a:latin typeface="+mj-ea"/>
                <a:ea typeface="+mj-ea"/>
              </a:rPr>
              <a:t>说明语句</a:t>
            </a:r>
            <a:endParaRPr lang="en-US" altLang="zh-CN" sz="2800" b="1" dirty="0">
              <a:solidFill>
                <a:srgbClr val="FF0000"/>
              </a:solidFill>
              <a:latin typeface="+mj-ea"/>
              <a:ea typeface="+mj-ea"/>
            </a:endParaRPr>
          </a:p>
          <a:p>
            <a:pPr lvl="1">
              <a:lnSpc>
                <a:spcPct val="130000"/>
              </a:lnSpc>
            </a:pPr>
            <a:r>
              <a:rPr lang="zh-CN" altLang="en-US" sz="2800" b="1" dirty="0">
                <a:solidFill>
                  <a:schemeClr val="tx1"/>
                </a:solidFill>
                <a:latin typeface="+mj-ea"/>
                <a:ea typeface="+mj-ea"/>
              </a:rPr>
              <a:t>在说明语句中，通过赋初值给它一个当前值</a:t>
            </a:r>
            <a:endParaRPr lang="en-US" altLang="zh-CN" sz="2800" b="1" dirty="0">
              <a:solidFill>
                <a:schemeClr val="tx1"/>
              </a:solidFill>
              <a:latin typeface="+mj-ea"/>
              <a:ea typeface="+mj-ea"/>
            </a:endParaRPr>
          </a:p>
          <a:p>
            <a:pPr lvl="2">
              <a:lnSpc>
                <a:spcPct val="130000"/>
              </a:lnSpc>
            </a:pPr>
            <a:r>
              <a:rPr lang="zh-CN" altLang="en-US" sz="2500" b="1" dirty="0">
                <a:solidFill>
                  <a:schemeClr val="tx1"/>
                </a:solidFill>
                <a:latin typeface="+mj-ea"/>
                <a:ea typeface="+mj-ea"/>
              </a:rPr>
              <a:t>即变量的初始值，该过程称为</a:t>
            </a:r>
            <a:r>
              <a:rPr lang="zh-CN" altLang="en-US" sz="2500" b="1" dirty="0">
                <a:solidFill>
                  <a:srgbClr val="FF0000"/>
                </a:solidFill>
                <a:latin typeface="+mj-ea"/>
                <a:ea typeface="+mj-ea"/>
              </a:rPr>
              <a:t>变量初始化</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14282" y="44624"/>
            <a:ext cx="7239000" cy="596584"/>
          </a:xfrm>
        </p:spPr>
        <p:txBody>
          <a:bodyPr/>
          <a:lstStyle/>
          <a:p>
            <a:r>
              <a:rPr lang="zh-CN" altLang="en-US" dirty="0"/>
              <a:t>整型</a:t>
            </a:r>
          </a:p>
        </p:txBody>
      </p:sp>
      <p:sp>
        <p:nvSpPr>
          <p:cNvPr id="3" name="内容占位符 2"/>
          <p:cNvSpPr>
            <a:spLocks noGrp="1"/>
          </p:cNvSpPr>
          <p:nvPr>
            <p:ph idx="1"/>
          </p:nvPr>
        </p:nvSpPr>
        <p:spPr>
          <a:xfrm>
            <a:off x="404834" y="784084"/>
            <a:ext cx="8487646" cy="5525236"/>
          </a:xfrm>
        </p:spPr>
        <p:txBody>
          <a:bodyPr>
            <a:normAutofit fontScale="92500" lnSpcReduction="10000"/>
          </a:bodyPr>
          <a:lstStyle/>
          <a:p>
            <a:pPr>
              <a:lnSpc>
                <a:spcPct val="130000"/>
              </a:lnSpc>
            </a:pPr>
            <a:r>
              <a:rPr lang="zh-CN" altLang="en-US" sz="3200" b="1" dirty="0">
                <a:latin typeface="+mj-ea"/>
                <a:ea typeface="+mj-ea"/>
              </a:rPr>
              <a:t>表示整数，用关键字</a:t>
            </a:r>
            <a:r>
              <a:rPr lang="en-US" altLang="zh-CN" sz="3200" b="1" dirty="0" err="1">
                <a:latin typeface="+mj-ea"/>
                <a:ea typeface="+mj-ea"/>
              </a:rPr>
              <a:t>int</a:t>
            </a:r>
            <a:r>
              <a:rPr lang="zh-CN" altLang="en-US" sz="3200" b="1" dirty="0">
                <a:latin typeface="+mj-ea"/>
                <a:ea typeface="+mj-ea"/>
              </a:rPr>
              <a:t>描述</a:t>
            </a:r>
            <a:endParaRPr lang="en-US" altLang="zh-CN" sz="3200" b="1" dirty="0">
              <a:latin typeface="+mj-ea"/>
              <a:ea typeface="+mj-ea"/>
            </a:endParaRPr>
          </a:p>
          <a:p>
            <a:pPr lvl="1">
              <a:lnSpc>
                <a:spcPct val="130000"/>
              </a:lnSpc>
            </a:pPr>
            <a:r>
              <a:rPr lang="zh-CN" altLang="en-US" sz="2800" b="1" dirty="0">
                <a:solidFill>
                  <a:srgbClr val="002060"/>
                </a:solidFill>
                <a:latin typeface="+mj-ea"/>
                <a:ea typeface="+mj-ea"/>
              </a:rPr>
              <a:t>正数、负数、</a:t>
            </a:r>
            <a:r>
              <a:rPr lang="en-US" altLang="zh-CN" sz="2800" b="1" dirty="0">
                <a:solidFill>
                  <a:srgbClr val="002060"/>
                </a:solidFill>
                <a:latin typeface="+mj-ea"/>
                <a:ea typeface="+mj-ea"/>
              </a:rPr>
              <a:t>0</a:t>
            </a:r>
          </a:p>
          <a:p>
            <a:pPr>
              <a:lnSpc>
                <a:spcPct val="130000"/>
              </a:lnSpc>
            </a:pPr>
            <a:r>
              <a:rPr lang="zh-CN" altLang="en-US" sz="3200" b="1" dirty="0">
                <a:latin typeface="+mj-ea"/>
                <a:ea typeface="+mj-ea"/>
              </a:rPr>
              <a:t>最常用、最基本的数据类型</a:t>
            </a:r>
            <a:endParaRPr lang="en-US" altLang="zh-CN" sz="3200" b="1" dirty="0">
              <a:latin typeface="+mj-ea"/>
              <a:ea typeface="+mj-ea"/>
            </a:endParaRPr>
          </a:p>
          <a:p>
            <a:pPr>
              <a:lnSpc>
                <a:spcPct val="130000"/>
              </a:lnSpc>
            </a:pPr>
            <a:r>
              <a:rPr lang="en-US" altLang="zh-CN" sz="3200" b="1" dirty="0">
                <a:latin typeface="+mj-ea"/>
                <a:ea typeface="+mj-ea"/>
              </a:rPr>
              <a:t>short</a:t>
            </a:r>
            <a:r>
              <a:rPr lang="zh-CN" altLang="en-US" sz="3200" b="1" dirty="0">
                <a:latin typeface="+mj-ea"/>
                <a:ea typeface="+mj-ea"/>
              </a:rPr>
              <a:t>、</a:t>
            </a:r>
            <a:r>
              <a:rPr lang="en-US" altLang="zh-CN" sz="3200" b="1" dirty="0">
                <a:latin typeface="+mj-ea"/>
                <a:ea typeface="+mj-ea"/>
              </a:rPr>
              <a:t>long</a:t>
            </a:r>
            <a:r>
              <a:rPr lang="zh-CN" altLang="en-US" sz="3200" b="1" dirty="0">
                <a:latin typeface="+mj-ea"/>
                <a:ea typeface="+mj-ea"/>
              </a:rPr>
              <a:t>、</a:t>
            </a:r>
            <a:r>
              <a:rPr lang="en-US" altLang="zh-CN" sz="3200" b="1" dirty="0">
                <a:latin typeface="+mj-ea"/>
                <a:ea typeface="+mj-ea"/>
              </a:rPr>
              <a:t>signed</a:t>
            </a:r>
            <a:r>
              <a:rPr lang="zh-CN" altLang="en-US" sz="3200" b="1" dirty="0">
                <a:latin typeface="+mj-ea"/>
                <a:ea typeface="+mj-ea"/>
              </a:rPr>
              <a:t>和</a:t>
            </a:r>
            <a:r>
              <a:rPr lang="en-US" altLang="zh-CN" sz="3200" b="1" dirty="0">
                <a:latin typeface="+mj-ea"/>
                <a:ea typeface="+mj-ea"/>
              </a:rPr>
              <a:t>unsigned</a:t>
            </a:r>
            <a:r>
              <a:rPr lang="zh-CN" altLang="en-US" sz="3200" b="1" dirty="0">
                <a:latin typeface="+mj-ea"/>
                <a:ea typeface="+mj-ea"/>
              </a:rPr>
              <a:t>描述不同类型的整型数据</a:t>
            </a:r>
            <a:endParaRPr lang="en-US" altLang="zh-CN" sz="3200" b="1" dirty="0">
              <a:latin typeface="+mj-ea"/>
              <a:ea typeface="+mj-ea"/>
            </a:endParaRPr>
          </a:p>
          <a:p>
            <a:pPr lvl="1">
              <a:lnSpc>
                <a:spcPct val="130000"/>
              </a:lnSpc>
            </a:pPr>
            <a:r>
              <a:rPr lang="zh-CN" altLang="en-US" sz="2800" b="1" dirty="0">
                <a:solidFill>
                  <a:srgbClr val="002060"/>
                </a:solidFill>
                <a:latin typeface="+mj-ea"/>
                <a:ea typeface="+mj-ea"/>
              </a:rPr>
              <a:t>整型的派生类型</a:t>
            </a:r>
            <a:endParaRPr lang="en-US" altLang="zh-CN" sz="2800" b="1" dirty="0">
              <a:solidFill>
                <a:srgbClr val="002060"/>
              </a:solidFill>
              <a:latin typeface="+mj-ea"/>
              <a:ea typeface="+mj-ea"/>
            </a:endParaRPr>
          </a:p>
          <a:p>
            <a:pPr>
              <a:lnSpc>
                <a:spcPct val="130000"/>
              </a:lnSpc>
            </a:pPr>
            <a:r>
              <a:rPr lang="en-US" altLang="zh-CN" sz="3200" b="1" dirty="0">
                <a:latin typeface="+mj-ea"/>
                <a:ea typeface="+mj-ea"/>
              </a:rPr>
              <a:t>C++</a:t>
            </a:r>
            <a:r>
              <a:rPr lang="zh-CN" altLang="en-US" sz="3200" b="1" dirty="0">
                <a:latin typeface="+mj-ea"/>
                <a:ea typeface="+mj-ea"/>
              </a:rPr>
              <a:t>语言规定整型数据占</a:t>
            </a:r>
            <a:r>
              <a:rPr lang="en-US" altLang="zh-CN" sz="3200" b="1" dirty="0">
                <a:latin typeface="+mj-ea"/>
                <a:ea typeface="+mj-ea"/>
              </a:rPr>
              <a:t>4</a:t>
            </a:r>
            <a:r>
              <a:rPr lang="zh-CN" altLang="en-US" sz="3200" b="1" dirty="0">
                <a:latin typeface="+mj-ea"/>
                <a:ea typeface="+mj-ea"/>
              </a:rPr>
              <a:t>个字节存储空间</a:t>
            </a:r>
            <a:endParaRPr lang="en-US" altLang="zh-CN" sz="3200" b="1" dirty="0">
              <a:latin typeface="+mj-ea"/>
              <a:ea typeface="+mj-ea"/>
            </a:endParaRPr>
          </a:p>
          <a:p>
            <a:pPr lvl="1">
              <a:lnSpc>
                <a:spcPct val="130000"/>
              </a:lnSpc>
            </a:pPr>
            <a:r>
              <a:rPr lang="zh-CN" altLang="en-US" sz="2800" b="1" dirty="0">
                <a:solidFill>
                  <a:srgbClr val="002060"/>
                </a:solidFill>
                <a:latin typeface="+mj-ea"/>
                <a:ea typeface="+mj-ea"/>
              </a:rPr>
              <a:t>短整型（</a:t>
            </a:r>
            <a:r>
              <a:rPr lang="en-US" altLang="zh-CN" sz="2800" b="1" dirty="0">
                <a:solidFill>
                  <a:srgbClr val="002060"/>
                </a:solidFill>
                <a:latin typeface="+mj-ea"/>
                <a:ea typeface="+mj-ea"/>
              </a:rPr>
              <a:t>short </a:t>
            </a:r>
            <a:r>
              <a:rPr lang="en-US" altLang="zh-CN" sz="2800" b="1" dirty="0" err="1">
                <a:solidFill>
                  <a:srgbClr val="002060"/>
                </a:solidFill>
                <a:latin typeface="+mj-ea"/>
                <a:ea typeface="+mj-ea"/>
              </a:rPr>
              <a:t>int</a:t>
            </a:r>
            <a:r>
              <a:rPr lang="zh-CN" altLang="en-US" sz="2800" b="1" dirty="0">
                <a:solidFill>
                  <a:srgbClr val="002060"/>
                </a:solidFill>
                <a:latin typeface="+mj-ea"/>
                <a:ea typeface="+mj-ea"/>
              </a:rPr>
              <a:t>）占</a:t>
            </a:r>
            <a:r>
              <a:rPr lang="en-US" altLang="zh-CN" sz="2800" b="1" dirty="0">
                <a:solidFill>
                  <a:srgbClr val="002060"/>
                </a:solidFill>
                <a:latin typeface="+mj-ea"/>
                <a:ea typeface="+mj-ea"/>
              </a:rPr>
              <a:t>2</a:t>
            </a:r>
            <a:r>
              <a:rPr lang="zh-CN" altLang="en-US" sz="2800" b="1" dirty="0">
                <a:solidFill>
                  <a:srgbClr val="002060"/>
                </a:solidFill>
                <a:latin typeface="+mj-ea"/>
                <a:ea typeface="+mj-ea"/>
              </a:rPr>
              <a:t>个字节</a:t>
            </a:r>
            <a:endParaRPr lang="en-US" altLang="zh-CN" sz="2800" b="1" dirty="0">
              <a:solidFill>
                <a:srgbClr val="002060"/>
              </a:solidFill>
              <a:latin typeface="+mj-ea"/>
              <a:ea typeface="+mj-ea"/>
            </a:endParaRPr>
          </a:p>
          <a:p>
            <a:pPr lvl="1">
              <a:lnSpc>
                <a:spcPct val="130000"/>
              </a:lnSpc>
            </a:pPr>
            <a:r>
              <a:rPr lang="zh-CN" altLang="en-US" sz="2800" b="1" dirty="0">
                <a:solidFill>
                  <a:srgbClr val="002060"/>
                </a:solidFill>
                <a:latin typeface="+mj-ea"/>
                <a:ea typeface="+mj-ea"/>
              </a:rPr>
              <a:t>长整型（</a:t>
            </a:r>
            <a:r>
              <a:rPr lang="en-US" altLang="zh-CN" sz="2800" b="1" dirty="0">
                <a:solidFill>
                  <a:srgbClr val="002060"/>
                </a:solidFill>
                <a:latin typeface="+mj-ea"/>
                <a:ea typeface="+mj-ea"/>
              </a:rPr>
              <a:t>long </a:t>
            </a:r>
            <a:r>
              <a:rPr lang="en-US" altLang="zh-CN" sz="2800" b="1" dirty="0" err="1">
                <a:solidFill>
                  <a:srgbClr val="002060"/>
                </a:solidFill>
                <a:latin typeface="+mj-ea"/>
                <a:ea typeface="+mj-ea"/>
              </a:rPr>
              <a:t>int</a:t>
            </a:r>
            <a:r>
              <a:rPr lang="zh-CN" altLang="en-US" sz="2800" b="1" dirty="0">
                <a:solidFill>
                  <a:srgbClr val="002060"/>
                </a:solidFill>
                <a:latin typeface="+mj-ea"/>
                <a:ea typeface="+mj-ea"/>
              </a:rPr>
              <a:t>或</a:t>
            </a:r>
            <a:r>
              <a:rPr lang="en-US" altLang="zh-CN" sz="2800" b="1" dirty="0">
                <a:solidFill>
                  <a:srgbClr val="002060"/>
                </a:solidFill>
                <a:latin typeface="+mj-ea"/>
                <a:ea typeface="+mj-ea"/>
              </a:rPr>
              <a:t>long</a:t>
            </a:r>
            <a:r>
              <a:rPr lang="zh-CN" altLang="en-US" sz="2800" b="1" dirty="0">
                <a:solidFill>
                  <a:srgbClr val="002060"/>
                </a:solidFill>
                <a:latin typeface="+mj-ea"/>
                <a:ea typeface="+mj-ea"/>
              </a:rPr>
              <a:t>）占</a:t>
            </a:r>
            <a:r>
              <a:rPr lang="en-US" altLang="zh-CN" sz="2800" b="1" dirty="0">
                <a:solidFill>
                  <a:srgbClr val="002060"/>
                </a:solidFill>
                <a:latin typeface="+mj-ea"/>
                <a:ea typeface="+mj-ea"/>
              </a:rPr>
              <a:t>4</a:t>
            </a:r>
            <a:r>
              <a:rPr lang="zh-CN" altLang="en-US" sz="2800" b="1" dirty="0">
                <a:solidFill>
                  <a:srgbClr val="002060"/>
                </a:solidFill>
                <a:latin typeface="+mj-ea"/>
                <a:ea typeface="+mj-ea"/>
              </a:rPr>
              <a:t>个字节</a:t>
            </a:r>
            <a:endParaRPr lang="en-US" altLang="zh-CN" b="1" dirty="0">
              <a:solidFill>
                <a:srgbClr val="002060"/>
              </a:solidFill>
              <a:latin typeface="+mj-ea"/>
              <a:ea typeface="+mj-ea"/>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5</a:t>
            </a:fld>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0"/>
            <a:ext cx="7239000" cy="785794"/>
          </a:xfrm>
        </p:spPr>
        <p:txBody>
          <a:bodyPr/>
          <a:lstStyle/>
          <a:p>
            <a:r>
              <a:rPr lang="zh-CN" altLang="en-US" dirty="0"/>
              <a:t>整型</a:t>
            </a:r>
          </a:p>
        </p:txBody>
      </p:sp>
      <p:sp>
        <p:nvSpPr>
          <p:cNvPr id="3" name="内容占位符 2"/>
          <p:cNvSpPr>
            <a:spLocks noGrp="1"/>
          </p:cNvSpPr>
          <p:nvPr>
            <p:ph idx="1"/>
          </p:nvPr>
        </p:nvSpPr>
        <p:spPr>
          <a:xfrm>
            <a:off x="357158" y="928670"/>
            <a:ext cx="8153400" cy="990592"/>
          </a:xfrm>
        </p:spPr>
        <p:txBody>
          <a:bodyPr/>
          <a:lstStyle/>
          <a:p>
            <a:r>
              <a:rPr lang="zh-CN" altLang="en-US" b="1" dirty="0">
                <a:latin typeface="+mj-ea"/>
                <a:ea typeface="+mj-ea"/>
              </a:rPr>
              <a:t>整型的派生类型</a:t>
            </a:r>
            <a:endParaRPr lang="en-US" altLang="zh-CN" b="1" dirty="0">
              <a:latin typeface="+mj-ea"/>
              <a:ea typeface="+mj-ea"/>
            </a:endParaRPr>
          </a:p>
          <a:p>
            <a:pPr lvl="1"/>
            <a:r>
              <a:rPr lang="en-US" altLang="zh-CN" b="1" dirty="0">
                <a:solidFill>
                  <a:srgbClr val="002060"/>
                </a:solidFill>
              </a:rPr>
              <a:t>short</a:t>
            </a:r>
            <a:r>
              <a:rPr lang="zh-CN" altLang="en-US" b="1" dirty="0">
                <a:solidFill>
                  <a:srgbClr val="002060"/>
                </a:solidFill>
              </a:rPr>
              <a:t>、</a:t>
            </a:r>
            <a:r>
              <a:rPr lang="en-US" altLang="zh-CN" b="1" dirty="0">
                <a:solidFill>
                  <a:srgbClr val="002060"/>
                </a:solidFill>
              </a:rPr>
              <a:t>long</a:t>
            </a:r>
            <a:r>
              <a:rPr lang="zh-CN" altLang="en-US" b="1" dirty="0">
                <a:solidFill>
                  <a:srgbClr val="002060"/>
                </a:solidFill>
              </a:rPr>
              <a:t>、</a:t>
            </a:r>
            <a:r>
              <a:rPr lang="en-US" altLang="zh-CN" b="1" dirty="0">
                <a:solidFill>
                  <a:srgbClr val="002060"/>
                </a:solidFill>
              </a:rPr>
              <a:t>signed</a:t>
            </a:r>
            <a:r>
              <a:rPr lang="zh-CN" altLang="en-US" b="1" dirty="0">
                <a:solidFill>
                  <a:srgbClr val="002060"/>
                </a:solidFill>
              </a:rPr>
              <a:t>、</a:t>
            </a:r>
            <a:r>
              <a:rPr lang="en-US" altLang="zh-CN" b="1" dirty="0">
                <a:solidFill>
                  <a:srgbClr val="002060"/>
                </a:solidFill>
              </a:rPr>
              <a:t>unsigned</a:t>
            </a: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6</a:t>
            </a:fld>
            <a:endParaRPr lang="en-US" altLang="zh-CN" dirty="0"/>
          </a:p>
        </p:txBody>
      </p:sp>
      <p:graphicFrame>
        <p:nvGraphicFramePr>
          <p:cNvPr id="6" name="表格 5"/>
          <p:cNvGraphicFramePr>
            <a:graphicFrameLocks noGrp="1"/>
          </p:cNvGraphicFramePr>
          <p:nvPr/>
        </p:nvGraphicFramePr>
        <p:xfrm>
          <a:off x="357158" y="1928802"/>
          <a:ext cx="8501122" cy="3708400"/>
        </p:xfrm>
        <a:graphic>
          <a:graphicData uri="http://schemas.openxmlformats.org/drawingml/2006/table">
            <a:tbl>
              <a:tblPr firstRow="1" bandRow="1">
                <a:tableStyleId>{5C22544A-7EE6-4342-B048-85BDC9FD1C3A}</a:tableStyleId>
              </a:tblPr>
              <a:tblGrid>
                <a:gridCol w="2286016">
                  <a:extLst>
                    <a:ext uri="{9D8B030D-6E8A-4147-A177-3AD203B41FA5}">
                      <a16:colId xmlns:a16="http://schemas.microsoft.com/office/drawing/2014/main" val="20000"/>
                    </a:ext>
                  </a:extLst>
                </a:gridCol>
                <a:gridCol w="714380">
                  <a:extLst>
                    <a:ext uri="{9D8B030D-6E8A-4147-A177-3AD203B41FA5}">
                      <a16:colId xmlns:a16="http://schemas.microsoft.com/office/drawing/2014/main" val="20001"/>
                    </a:ext>
                  </a:extLst>
                </a:gridCol>
                <a:gridCol w="3414087">
                  <a:extLst>
                    <a:ext uri="{9D8B030D-6E8A-4147-A177-3AD203B41FA5}">
                      <a16:colId xmlns:a16="http://schemas.microsoft.com/office/drawing/2014/main" val="20002"/>
                    </a:ext>
                  </a:extLst>
                </a:gridCol>
                <a:gridCol w="2086639">
                  <a:extLst>
                    <a:ext uri="{9D8B030D-6E8A-4147-A177-3AD203B41FA5}">
                      <a16:colId xmlns:a16="http://schemas.microsoft.com/office/drawing/2014/main" val="20003"/>
                    </a:ext>
                  </a:extLst>
                </a:gridCol>
              </a:tblGrid>
              <a:tr h="370840">
                <a:tc>
                  <a:txBody>
                    <a:bodyPr/>
                    <a:lstStyle/>
                    <a:p>
                      <a:pPr algn="ctr"/>
                      <a:r>
                        <a:rPr lang="zh-CN" altLang="en-US" dirty="0"/>
                        <a:t>类型描述</a:t>
                      </a:r>
                    </a:p>
                  </a:txBody>
                  <a:tcPr/>
                </a:tc>
                <a:tc>
                  <a:txBody>
                    <a:bodyPr/>
                    <a:lstStyle/>
                    <a:p>
                      <a:pPr algn="ctr"/>
                      <a:r>
                        <a:rPr lang="zh-CN" altLang="en-US" dirty="0"/>
                        <a:t>字长</a:t>
                      </a:r>
                    </a:p>
                  </a:txBody>
                  <a:tcPr/>
                </a:tc>
                <a:tc>
                  <a:txBody>
                    <a:bodyPr/>
                    <a:lstStyle/>
                    <a:p>
                      <a:pPr algn="ctr"/>
                      <a:r>
                        <a:rPr lang="zh-CN" altLang="en-US" dirty="0"/>
                        <a:t>取值范围</a:t>
                      </a:r>
                    </a:p>
                  </a:txBody>
                  <a:tcPr/>
                </a:tc>
                <a:tc>
                  <a:txBody>
                    <a:bodyPr/>
                    <a:lstStyle/>
                    <a:p>
                      <a:pPr algn="ctr"/>
                      <a:r>
                        <a:rPr lang="zh-CN" altLang="en-US" dirty="0"/>
                        <a:t>简写</a:t>
                      </a:r>
                    </a:p>
                  </a:txBody>
                  <a:tcPr/>
                </a:tc>
                <a:extLst>
                  <a:ext uri="{0D108BD9-81ED-4DB2-BD59-A6C34878D82A}">
                    <a16:rowId xmlns:a16="http://schemas.microsoft.com/office/drawing/2014/main" val="10000"/>
                  </a:ext>
                </a:extLst>
              </a:tr>
              <a:tr h="370840">
                <a:tc>
                  <a:txBody>
                    <a:bodyPr/>
                    <a:lstStyle/>
                    <a:p>
                      <a:r>
                        <a:rPr lang="en-US" altLang="zh-CN" dirty="0"/>
                        <a:t>short </a:t>
                      </a:r>
                      <a:r>
                        <a:rPr lang="en-US" altLang="zh-CN" dirty="0" err="1"/>
                        <a:t>int</a:t>
                      </a:r>
                      <a:endParaRPr lang="zh-CN" altLang="en-US" dirty="0"/>
                    </a:p>
                  </a:txBody>
                  <a:tcPr/>
                </a:tc>
                <a:tc>
                  <a:txBody>
                    <a:bodyPr/>
                    <a:lstStyle/>
                    <a:p>
                      <a:r>
                        <a:rPr lang="en-US" altLang="zh-CN" dirty="0"/>
                        <a:t>2</a:t>
                      </a:r>
                      <a:endParaRPr lang="zh-CN" altLang="en-US" dirty="0"/>
                    </a:p>
                  </a:txBody>
                  <a:tcPr/>
                </a:tc>
                <a:tc>
                  <a:txBody>
                    <a:bodyPr/>
                    <a:lstStyle/>
                    <a:p>
                      <a:r>
                        <a:rPr lang="en-US" altLang="zh-CN" dirty="0"/>
                        <a:t>-32768~32767</a:t>
                      </a:r>
                      <a:endParaRPr lang="zh-CN" altLang="en-US" dirty="0"/>
                    </a:p>
                  </a:txBody>
                  <a:tcPr/>
                </a:tc>
                <a:tc>
                  <a:txBody>
                    <a:bodyPr/>
                    <a:lstStyle/>
                    <a:p>
                      <a:r>
                        <a:rPr lang="en-US" altLang="zh-CN" dirty="0"/>
                        <a:t>short</a:t>
                      </a:r>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signed short </a:t>
                      </a:r>
                      <a:r>
                        <a:rPr lang="en-US" altLang="zh-CN" dirty="0" err="1"/>
                        <a:t>int</a:t>
                      </a:r>
                      <a:endParaRPr lang="zh-CN" altLang="en-US" dirty="0"/>
                    </a:p>
                  </a:txBody>
                  <a:tcPr/>
                </a:tc>
                <a:tc>
                  <a:txBody>
                    <a:bodyPr/>
                    <a:lstStyle/>
                    <a:p>
                      <a:r>
                        <a:rPr lang="en-US" altLang="zh-CN" dirty="0"/>
                        <a:t>2</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a:t>-32768~32767(</a:t>
                      </a:r>
                      <a:r>
                        <a:rPr lang="en-US" altLang="zh-CN">
                          <a:solidFill>
                            <a:srgbClr val="0000FF"/>
                          </a:solidFill>
                        </a:rPr>
                        <a:t>-2</a:t>
                      </a:r>
                      <a:r>
                        <a:rPr lang="en-US" altLang="zh-CN" sz="1800" kern="1200" baseline="30000">
                          <a:solidFill>
                            <a:srgbClr val="0000FF"/>
                          </a:solidFill>
                          <a:latin typeface="+mn-lt"/>
                          <a:ea typeface="+mn-ea"/>
                          <a:cs typeface="+mn-cs"/>
                        </a:rPr>
                        <a:t>15</a:t>
                      </a:r>
                      <a:r>
                        <a:rPr lang="en-US" altLang="zh-CN">
                          <a:solidFill>
                            <a:srgbClr val="0000FF"/>
                          </a:solidFill>
                        </a:rPr>
                        <a:t>~2</a:t>
                      </a:r>
                      <a:r>
                        <a:rPr lang="en-US" altLang="zh-CN" sz="1800" kern="1200" baseline="30000">
                          <a:solidFill>
                            <a:srgbClr val="0000FF"/>
                          </a:solidFill>
                          <a:latin typeface="+mn-lt"/>
                          <a:ea typeface="+mn-ea"/>
                          <a:cs typeface="+mn-cs"/>
                        </a:rPr>
                        <a:t>15</a:t>
                      </a:r>
                      <a:r>
                        <a:rPr lang="en-US" altLang="zh-CN">
                          <a:solidFill>
                            <a:srgbClr val="0000FF"/>
                          </a:solidFill>
                        </a:rPr>
                        <a:t>-1</a:t>
                      </a:r>
                      <a:r>
                        <a:rPr lang="en-US" altLang="zh-CN"/>
                        <a:t>)</a:t>
                      </a:r>
                      <a:endParaRPr lang="zh-CN" altLang="en-US" dirty="0"/>
                    </a:p>
                  </a:txBody>
                  <a:tcPr/>
                </a:tc>
                <a:tc>
                  <a:txBody>
                    <a:bodyPr/>
                    <a:lstStyle/>
                    <a:p>
                      <a:r>
                        <a:rPr lang="en-US" altLang="zh-CN" dirty="0"/>
                        <a:t>short</a:t>
                      </a:r>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a:t>unsigned short </a:t>
                      </a:r>
                      <a:r>
                        <a:rPr lang="en-US" altLang="zh-CN" dirty="0" err="1"/>
                        <a:t>int</a:t>
                      </a:r>
                      <a:endParaRPr lang="zh-CN" altLang="en-US" dirty="0"/>
                    </a:p>
                  </a:txBody>
                  <a:tcPr/>
                </a:tc>
                <a:tc>
                  <a:txBody>
                    <a:bodyPr/>
                    <a:lstStyle/>
                    <a:p>
                      <a:r>
                        <a:rPr lang="en-US" altLang="zh-CN" dirty="0"/>
                        <a:t>2</a:t>
                      </a:r>
                      <a:endParaRPr lang="zh-CN" altLang="en-US" dirty="0"/>
                    </a:p>
                  </a:txBody>
                  <a:tcPr/>
                </a:tc>
                <a:tc>
                  <a:txBody>
                    <a:bodyPr/>
                    <a:lstStyle/>
                    <a:p>
                      <a:r>
                        <a:rPr lang="en-US" altLang="zh-CN"/>
                        <a:t>0~65535(</a:t>
                      </a:r>
                      <a:r>
                        <a:rPr lang="en-US" altLang="zh-CN">
                          <a:solidFill>
                            <a:srgbClr val="0000FF"/>
                          </a:solidFill>
                        </a:rPr>
                        <a:t>2</a:t>
                      </a:r>
                      <a:r>
                        <a:rPr lang="en-US" altLang="zh-CN" sz="1800" kern="1200" baseline="30000">
                          <a:solidFill>
                            <a:srgbClr val="0000FF"/>
                          </a:solidFill>
                          <a:latin typeface="+mn-lt"/>
                          <a:ea typeface="+mn-ea"/>
                          <a:cs typeface="+mn-cs"/>
                        </a:rPr>
                        <a:t>16</a:t>
                      </a:r>
                      <a:r>
                        <a:rPr lang="en-US" altLang="zh-CN" sz="1800" kern="1200">
                          <a:solidFill>
                            <a:srgbClr val="0000FF"/>
                          </a:solidFill>
                          <a:latin typeface="+mn-lt"/>
                          <a:ea typeface="+mn-ea"/>
                          <a:cs typeface="+mn-cs"/>
                        </a:rPr>
                        <a:t>-1</a:t>
                      </a:r>
                      <a:r>
                        <a:rPr lang="en-US" altLang="zh-CN"/>
                        <a:t>)</a:t>
                      </a:r>
                      <a:endParaRPr lang="zh-CN" altLang="en-US" dirty="0"/>
                    </a:p>
                  </a:txBody>
                  <a:tcPr/>
                </a:tc>
                <a:tc>
                  <a:txBody>
                    <a:bodyPr/>
                    <a:lstStyle/>
                    <a:p>
                      <a:r>
                        <a:rPr lang="en-US" altLang="zh-CN" dirty="0"/>
                        <a:t>unsigned short</a:t>
                      </a:r>
                      <a:endParaRPr lang="zh-CN" altLang="en-US" dirty="0"/>
                    </a:p>
                  </a:txBody>
                  <a:tcPr/>
                </a:tc>
                <a:extLst>
                  <a:ext uri="{0D108BD9-81ED-4DB2-BD59-A6C34878D82A}">
                    <a16:rowId xmlns:a16="http://schemas.microsoft.com/office/drawing/2014/main" val="10003"/>
                  </a:ext>
                </a:extLst>
              </a:tr>
              <a:tr h="370840">
                <a:tc>
                  <a:txBody>
                    <a:bodyPr/>
                    <a:lstStyle/>
                    <a:p>
                      <a:r>
                        <a:rPr lang="en-US" altLang="zh-CN" dirty="0" err="1">
                          <a:solidFill>
                            <a:srgbClr val="C00000"/>
                          </a:solidFill>
                        </a:rPr>
                        <a:t>int</a:t>
                      </a:r>
                      <a:endParaRPr lang="zh-CN" altLang="en-US" dirty="0">
                        <a:solidFill>
                          <a:srgbClr val="C00000"/>
                        </a:solidFill>
                      </a:endParaRPr>
                    </a:p>
                  </a:txBody>
                  <a:tcPr/>
                </a:tc>
                <a:tc>
                  <a:txBody>
                    <a:bodyPr/>
                    <a:lstStyle/>
                    <a:p>
                      <a:r>
                        <a:rPr lang="en-US" altLang="zh-CN" dirty="0">
                          <a:solidFill>
                            <a:srgbClr val="C00000"/>
                          </a:solidFill>
                        </a:rPr>
                        <a:t>4</a:t>
                      </a:r>
                      <a:endParaRPr lang="zh-CN" altLang="en-US" dirty="0">
                        <a:solidFill>
                          <a:srgbClr val="C00000"/>
                        </a:solidFill>
                      </a:endParaRPr>
                    </a:p>
                  </a:txBody>
                  <a:tcPr/>
                </a:tc>
                <a:tc>
                  <a:txBody>
                    <a:bodyPr/>
                    <a:lstStyle/>
                    <a:p>
                      <a:r>
                        <a:rPr lang="en-US" altLang="zh-CN" dirty="0">
                          <a:solidFill>
                            <a:srgbClr val="C00000"/>
                          </a:solidFill>
                        </a:rPr>
                        <a:t>-2</a:t>
                      </a:r>
                      <a:r>
                        <a:rPr lang="en-US" altLang="zh-CN" baseline="30000" dirty="0">
                          <a:solidFill>
                            <a:srgbClr val="C00000"/>
                          </a:solidFill>
                        </a:rPr>
                        <a:t>31</a:t>
                      </a:r>
                      <a:r>
                        <a:rPr lang="en-US" altLang="zh-CN" dirty="0">
                          <a:solidFill>
                            <a:srgbClr val="C00000"/>
                          </a:solidFill>
                        </a:rPr>
                        <a:t>~2</a:t>
                      </a:r>
                      <a:r>
                        <a:rPr lang="en-US" altLang="zh-CN" baseline="30000" dirty="0">
                          <a:solidFill>
                            <a:srgbClr val="C00000"/>
                          </a:solidFill>
                        </a:rPr>
                        <a:t>31</a:t>
                      </a:r>
                      <a:r>
                        <a:rPr lang="en-US" altLang="zh-CN" dirty="0">
                          <a:solidFill>
                            <a:srgbClr val="C00000"/>
                          </a:solidFill>
                        </a:rPr>
                        <a:t>-1</a:t>
                      </a:r>
                      <a:endParaRPr lang="zh-CN" altLang="en-US" dirty="0">
                        <a:solidFill>
                          <a:srgbClr val="C00000"/>
                        </a:solidFill>
                      </a:endParaRPr>
                    </a:p>
                  </a:txBody>
                  <a:tcPr/>
                </a:tc>
                <a:tc>
                  <a:txBody>
                    <a:bodyPr/>
                    <a:lstStyle/>
                    <a:p>
                      <a:r>
                        <a:rPr lang="en-US" altLang="zh-CN" dirty="0" err="1">
                          <a:solidFill>
                            <a:srgbClr val="C00000"/>
                          </a:solidFill>
                        </a:rPr>
                        <a:t>int</a:t>
                      </a:r>
                      <a:endParaRPr lang="zh-CN" altLang="en-US" dirty="0">
                        <a:solidFill>
                          <a:srgbClr val="C00000"/>
                        </a:solidFill>
                      </a:endParaRPr>
                    </a:p>
                  </a:txBody>
                  <a:tcPr/>
                </a:tc>
                <a:extLst>
                  <a:ext uri="{0D108BD9-81ED-4DB2-BD59-A6C34878D82A}">
                    <a16:rowId xmlns:a16="http://schemas.microsoft.com/office/drawing/2014/main" val="10004"/>
                  </a:ext>
                </a:extLst>
              </a:tr>
              <a:tr h="370840">
                <a:tc>
                  <a:txBody>
                    <a:bodyPr/>
                    <a:lstStyle/>
                    <a:p>
                      <a:r>
                        <a:rPr lang="en-US" altLang="zh-CN" dirty="0"/>
                        <a:t>signed </a:t>
                      </a:r>
                      <a:r>
                        <a:rPr lang="en-US" altLang="zh-CN" dirty="0" err="1"/>
                        <a:t>int</a:t>
                      </a:r>
                      <a:endParaRPr lang="zh-CN" altLang="en-US" dirty="0"/>
                    </a:p>
                  </a:txBody>
                  <a:tcPr/>
                </a:tc>
                <a:tc>
                  <a:txBody>
                    <a:bodyPr/>
                    <a:lstStyle/>
                    <a:p>
                      <a:r>
                        <a:rPr lang="en-US" altLang="zh-CN" dirty="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en-US" altLang="zh-CN" baseline="30000" dirty="0"/>
                        <a:t>31</a:t>
                      </a:r>
                      <a:r>
                        <a:rPr lang="en-US" altLang="zh-CN" dirty="0"/>
                        <a:t>~2</a:t>
                      </a:r>
                      <a:r>
                        <a:rPr lang="en-US" altLang="zh-CN" baseline="30000" dirty="0"/>
                        <a:t>31</a:t>
                      </a:r>
                      <a:r>
                        <a:rPr lang="en-US" altLang="zh-CN" dirty="0"/>
                        <a:t>-1</a:t>
                      </a:r>
                      <a:endParaRPr lang="zh-CN" altLang="en-US" dirty="0"/>
                    </a:p>
                  </a:txBody>
                  <a:tcPr/>
                </a:tc>
                <a:tc>
                  <a:txBody>
                    <a:bodyPr/>
                    <a:lstStyle/>
                    <a:p>
                      <a:r>
                        <a:rPr lang="en-US" altLang="zh-CN" dirty="0" err="1"/>
                        <a:t>int</a:t>
                      </a:r>
                      <a:endParaRPr lang="en-US" altLang="zh-CN" dirty="0"/>
                    </a:p>
                  </a:txBody>
                  <a:tcPr/>
                </a:tc>
                <a:extLst>
                  <a:ext uri="{0D108BD9-81ED-4DB2-BD59-A6C34878D82A}">
                    <a16:rowId xmlns:a16="http://schemas.microsoft.com/office/drawing/2014/main" val="10005"/>
                  </a:ext>
                </a:extLst>
              </a:tr>
              <a:tr h="370840">
                <a:tc>
                  <a:txBody>
                    <a:bodyPr/>
                    <a:lstStyle/>
                    <a:p>
                      <a:r>
                        <a:rPr lang="en-US" altLang="zh-CN" dirty="0"/>
                        <a:t>unsigned </a:t>
                      </a:r>
                      <a:r>
                        <a:rPr lang="en-US" altLang="zh-CN" dirty="0" err="1"/>
                        <a:t>int</a:t>
                      </a:r>
                      <a:endParaRPr lang="zh-CN" altLang="en-US" dirty="0"/>
                    </a:p>
                  </a:txBody>
                  <a:tcPr/>
                </a:tc>
                <a:tc>
                  <a:txBody>
                    <a:bodyPr/>
                    <a:lstStyle/>
                    <a:p>
                      <a:r>
                        <a:rPr lang="en-US" altLang="zh-CN" dirty="0"/>
                        <a:t>4</a:t>
                      </a:r>
                      <a:endParaRPr lang="zh-CN" altLang="en-US" dirty="0"/>
                    </a:p>
                  </a:txBody>
                  <a:tcPr/>
                </a:tc>
                <a:tc>
                  <a:txBody>
                    <a:bodyPr/>
                    <a:lstStyle/>
                    <a:p>
                      <a:r>
                        <a:rPr lang="en-US" altLang="zh-CN"/>
                        <a:t>0~4294967295(</a:t>
                      </a:r>
                      <a:r>
                        <a:rPr lang="en-US" altLang="zh-CN">
                          <a:solidFill>
                            <a:srgbClr val="0000FF"/>
                          </a:solidFill>
                        </a:rPr>
                        <a:t>2</a:t>
                      </a:r>
                      <a:r>
                        <a:rPr lang="en-US" altLang="zh-CN" sz="1800" kern="1200" baseline="30000">
                          <a:solidFill>
                            <a:srgbClr val="0000FF"/>
                          </a:solidFill>
                          <a:latin typeface="+mn-lt"/>
                          <a:ea typeface="+mn-ea"/>
                          <a:cs typeface="+mn-cs"/>
                        </a:rPr>
                        <a:t>32</a:t>
                      </a:r>
                      <a:r>
                        <a:rPr lang="en-US" altLang="zh-CN" sz="1800" kern="1200">
                          <a:solidFill>
                            <a:srgbClr val="0000FF"/>
                          </a:solidFill>
                          <a:latin typeface="+mn-lt"/>
                          <a:ea typeface="+mn-ea"/>
                          <a:cs typeface="+mn-cs"/>
                        </a:rPr>
                        <a:t>-1</a:t>
                      </a:r>
                      <a:r>
                        <a:rPr lang="en-US" altLang="zh-CN"/>
                        <a:t>)</a:t>
                      </a:r>
                      <a:endParaRPr lang="zh-CN" altLang="en-US" dirty="0"/>
                    </a:p>
                  </a:txBody>
                  <a:tcPr/>
                </a:tc>
                <a:tc>
                  <a:txBody>
                    <a:bodyPr/>
                    <a:lstStyle/>
                    <a:p>
                      <a:r>
                        <a:rPr lang="en-US" altLang="zh-CN" dirty="0"/>
                        <a:t>unsigned</a:t>
                      </a:r>
                      <a:endParaRPr lang="zh-CN" altLang="en-US" dirty="0"/>
                    </a:p>
                  </a:txBody>
                  <a:tcPr/>
                </a:tc>
                <a:extLst>
                  <a:ext uri="{0D108BD9-81ED-4DB2-BD59-A6C34878D82A}">
                    <a16:rowId xmlns:a16="http://schemas.microsoft.com/office/drawing/2014/main" val="10006"/>
                  </a:ext>
                </a:extLst>
              </a:tr>
              <a:tr h="370840">
                <a:tc>
                  <a:txBody>
                    <a:bodyPr/>
                    <a:lstStyle/>
                    <a:p>
                      <a:r>
                        <a:rPr lang="en-US" altLang="zh-CN" dirty="0"/>
                        <a:t>long </a:t>
                      </a:r>
                      <a:r>
                        <a:rPr lang="en-US" altLang="zh-CN" dirty="0" err="1"/>
                        <a:t>int</a:t>
                      </a:r>
                      <a:endParaRPr lang="zh-CN" altLang="en-US" dirty="0"/>
                    </a:p>
                  </a:txBody>
                  <a:tcPr/>
                </a:tc>
                <a:tc>
                  <a:txBody>
                    <a:bodyPr/>
                    <a:lstStyle/>
                    <a:p>
                      <a:r>
                        <a:rPr lang="en-US" altLang="zh-CN" dirty="0"/>
                        <a:t>4</a:t>
                      </a:r>
                      <a:endParaRPr lang="zh-CN" altLang="en-US" dirty="0"/>
                    </a:p>
                  </a:txBody>
                  <a:tcPr/>
                </a:tc>
                <a:tc>
                  <a:txBody>
                    <a:bodyPr/>
                    <a:lstStyle/>
                    <a:p>
                      <a:r>
                        <a:rPr lang="en-US" altLang="zh-CN" dirty="0"/>
                        <a:t>-2147483648~2147483647</a:t>
                      </a:r>
                      <a:endParaRPr lang="zh-CN" altLang="en-US" dirty="0"/>
                    </a:p>
                  </a:txBody>
                  <a:tcPr/>
                </a:tc>
                <a:tc>
                  <a:txBody>
                    <a:bodyPr/>
                    <a:lstStyle/>
                    <a:p>
                      <a:r>
                        <a:rPr lang="en-US" altLang="zh-CN" dirty="0"/>
                        <a:t>long</a:t>
                      </a:r>
                      <a:endParaRPr lang="zh-CN" altLang="en-US" dirty="0"/>
                    </a:p>
                  </a:txBody>
                  <a:tcPr/>
                </a:tc>
                <a:extLst>
                  <a:ext uri="{0D108BD9-81ED-4DB2-BD59-A6C34878D82A}">
                    <a16:rowId xmlns:a16="http://schemas.microsoft.com/office/drawing/2014/main" val="10007"/>
                  </a:ext>
                </a:extLst>
              </a:tr>
              <a:tr h="370840">
                <a:tc>
                  <a:txBody>
                    <a:bodyPr/>
                    <a:lstStyle/>
                    <a:p>
                      <a:r>
                        <a:rPr lang="en-US" altLang="zh-CN" dirty="0"/>
                        <a:t>signed long </a:t>
                      </a:r>
                      <a:r>
                        <a:rPr lang="en-US" altLang="zh-CN" dirty="0" err="1"/>
                        <a:t>int</a:t>
                      </a:r>
                      <a:endParaRPr lang="zh-CN" altLang="en-US" dirty="0"/>
                    </a:p>
                  </a:txBody>
                  <a:tcPr/>
                </a:tc>
                <a:tc>
                  <a:txBody>
                    <a:bodyPr/>
                    <a:lstStyle/>
                    <a:p>
                      <a:r>
                        <a:rPr lang="en-US" altLang="zh-CN" dirty="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-2147483648~2147483647</a:t>
                      </a:r>
                      <a:endParaRPr lang="zh-CN" altLang="en-US" dirty="0"/>
                    </a:p>
                  </a:txBody>
                  <a:tcPr/>
                </a:tc>
                <a:tc>
                  <a:txBody>
                    <a:bodyPr/>
                    <a:lstStyle/>
                    <a:p>
                      <a:r>
                        <a:rPr lang="en-US" altLang="zh-CN" dirty="0"/>
                        <a:t>long</a:t>
                      </a:r>
                      <a:endParaRPr lang="zh-CN" altLang="en-US" dirty="0"/>
                    </a:p>
                  </a:txBody>
                  <a:tcPr/>
                </a:tc>
                <a:extLst>
                  <a:ext uri="{0D108BD9-81ED-4DB2-BD59-A6C34878D82A}">
                    <a16:rowId xmlns:a16="http://schemas.microsoft.com/office/drawing/2014/main" val="10008"/>
                  </a:ext>
                </a:extLst>
              </a:tr>
              <a:tr h="370840">
                <a:tc>
                  <a:txBody>
                    <a:bodyPr/>
                    <a:lstStyle/>
                    <a:p>
                      <a:r>
                        <a:rPr lang="en-US" altLang="zh-CN" dirty="0"/>
                        <a:t>unsigned long </a:t>
                      </a:r>
                      <a:r>
                        <a:rPr lang="en-US" altLang="zh-CN" dirty="0" err="1"/>
                        <a:t>int</a:t>
                      </a:r>
                      <a:endParaRPr lang="zh-CN" altLang="en-US" dirty="0"/>
                    </a:p>
                  </a:txBody>
                  <a:tcPr/>
                </a:tc>
                <a:tc>
                  <a:txBody>
                    <a:bodyPr/>
                    <a:lstStyle/>
                    <a:p>
                      <a:r>
                        <a:rPr lang="en-US" altLang="zh-CN" dirty="0"/>
                        <a:t>4</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0~4294967295</a:t>
                      </a:r>
                      <a:endParaRPr lang="zh-CN" altLang="en-US" dirty="0"/>
                    </a:p>
                  </a:txBody>
                  <a:tcPr/>
                </a:tc>
                <a:tc>
                  <a:txBody>
                    <a:bodyPr/>
                    <a:lstStyle/>
                    <a:p>
                      <a:r>
                        <a:rPr lang="en-US" altLang="zh-CN" dirty="0"/>
                        <a:t>unsigned long</a:t>
                      </a:r>
                      <a:endParaRPr lang="zh-CN" altLang="en-US" dirty="0"/>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19082" y="71414"/>
            <a:ext cx="7239000" cy="677246"/>
          </a:xfrm>
        </p:spPr>
        <p:txBody>
          <a:bodyPr/>
          <a:lstStyle/>
          <a:p>
            <a:r>
              <a:rPr lang="zh-CN" altLang="en-US" dirty="0"/>
              <a:t>浮点型</a:t>
            </a:r>
          </a:p>
        </p:txBody>
      </p:sp>
      <p:sp>
        <p:nvSpPr>
          <p:cNvPr id="3" name="内容占位符 2"/>
          <p:cNvSpPr>
            <a:spLocks noGrp="1"/>
          </p:cNvSpPr>
          <p:nvPr>
            <p:ph idx="1"/>
          </p:nvPr>
        </p:nvSpPr>
        <p:spPr>
          <a:xfrm>
            <a:off x="357158" y="785794"/>
            <a:ext cx="7239000" cy="5429288"/>
          </a:xfrm>
        </p:spPr>
        <p:txBody>
          <a:bodyPr>
            <a:normAutofit/>
          </a:bodyPr>
          <a:lstStyle/>
          <a:p>
            <a:pPr>
              <a:lnSpc>
                <a:spcPct val="130000"/>
              </a:lnSpc>
            </a:pPr>
            <a:r>
              <a:rPr lang="zh-CN" altLang="en-US" sz="2800" b="1" dirty="0">
                <a:latin typeface="+mj-ea"/>
                <a:ea typeface="+mj-ea"/>
              </a:rPr>
              <a:t>表示小数（或整个实数域）</a:t>
            </a:r>
            <a:endParaRPr lang="en-US" altLang="zh-CN" sz="2800" b="1" dirty="0">
              <a:latin typeface="+mj-ea"/>
              <a:ea typeface="+mj-ea"/>
            </a:endParaRPr>
          </a:p>
          <a:p>
            <a:pPr lvl="1">
              <a:lnSpc>
                <a:spcPct val="130000"/>
              </a:lnSpc>
            </a:pPr>
            <a:r>
              <a:rPr lang="en-US" altLang="zh-CN" sz="2400" b="1" dirty="0">
                <a:solidFill>
                  <a:srgbClr val="002060"/>
                </a:solidFill>
                <a:latin typeface="+mj-ea"/>
                <a:ea typeface="+mj-ea"/>
              </a:rPr>
              <a:t>-1.2</a:t>
            </a:r>
            <a:r>
              <a:rPr lang="zh-CN" altLang="en-US" sz="2400" b="1" dirty="0">
                <a:solidFill>
                  <a:srgbClr val="002060"/>
                </a:solidFill>
                <a:latin typeface="+mj-ea"/>
                <a:ea typeface="+mj-ea"/>
              </a:rPr>
              <a:t>、</a:t>
            </a:r>
            <a:r>
              <a:rPr lang="en-US" altLang="zh-CN" sz="2400" b="1" dirty="0">
                <a:solidFill>
                  <a:srgbClr val="002060"/>
                </a:solidFill>
                <a:latin typeface="+mj-ea"/>
                <a:ea typeface="+mj-ea"/>
              </a:rPr>
              <a:t>0.0</a:t>
            </a:r>
            <a:r>
              <a:rPr lang="zh-CN" altLang="en-US" sz="2400" b="1" dirty="0">
                <a:solidFill>
                  <a:srgbClr val="002060"/>
                </a:solidFill>
                <a:latin typeface="+mj-ea"/>
                <a:ea typeface="+mj-ea"/>
              </a:rPr>
              <a:t>、</a:t>
            </a:r>
            <a:r>
              <a:rPr lang="en-US" altLang="zh-CN" sz="2400" b="1" dirty="0">
                <a:solidFill>
                  <a:srgbClr val="002060"/>
                </a:solidFill>
                <a:latin typeface="+mj-ea"/>
                <a:ea typeface="+mj-ea"/>
              </a:rPr>
              <a:t>2.5</a:t>
            </a:r>
          </a:p>
          <a:p>
            <a:pPr>
              <a:lnSpc>
                <a:spcPct val="130000"/>
              </a:lnSpc>
            </a:pPr>
            <a:r>
              <a:rPr lang="zh-CN" altLang="en-US" sz="2800" b="1" dirty="0">
                <a:latin typeface="+mj-ea"/>
                <a:ea typeface="+mj-ea"/>
              </a:rPr>
              <a:t>分类</a:t>
            </a:r>
            <a:endParaRPr lang="en-US" altLang="zh-CN" sz="2800" b="1" dirty="0">
              <a:latin typeface="+mj-ea"/>
              <a:ea typeface="+mj-ea"/>
            </a:endParaRPr>
          </a:p>
          <a:p>
            <a:pPr lvl="1">
              <a:lnSpc>
                <a:spcPct val="130000"/>
              </a:lnSpc>
            </a:pPr>
            <a:r>
              <a:rPr lang="zh-CN" altLang="en-US" sz="2400" b="1" dirty="0">
                <a:solidFill>
                  <a:srgbClr val="002060"/>
                </a:solidFill>
                <a:latin typeface="+mj-ea"/>
                <a:ea typeface="+mj-ea"/>
              </a:rPr>
              <a:t>单精度浮点型</a:t>
            </a:r>
            <a:endParaRPr lang="en-US" altLang="zh-CN" sz="2400" b="1" dirty="0">
              <a:solidFill>
                <a:srgbClr val="002060"/>
              </a:solidFill>
              <a:latin typeface="+mj-ea"/>
              <a:ea typeface="+mj-ea"/>
            </a:endParaRPr>
          </a:p>
          <a:p>
            <a:pPr lvl="2">
              <a:lnSpc>
                <a:spcPct val="130000"/>
              </a:lnSpc>
            </a:pPr>
            <a:r>
              <a:rPr lang="zh-CN" altLang="en-US" sz="2400" b="1" dirty="0">
                <a:latin typeface="+mj-ea"/>
                <a:ea typeface="+mj-ea"/>
              </a:rPr>
              <a:t>占</a:t>
            </a:r>
            <a:r>
              <a:rPr lang="en-US" altLang="zh-CN" sz="2400" b="1" dirty="0">
                <a:latin typeface="+mj-ea"/>
                <a:ea typeface="+mj-ea"/>
              </a:rPr>
              <a:t>4</a:t>
            </a:r>
            <a:r>
              <a:rPr lang="zh-CN" altLang="en-US" sz="2400" b="1" dirty="0">
                <a:latin typeface="+mj-ea"/>
                <a:ea typeface="+mj-ea"/>
              </a:rPr>
              <a:t>个字节的存储空间</a:t>
            </a:r>
            <a:endParaRPr lang="en-US" altLang="zh-CN" sz="2400" b="1" dirty="0">
              <a:latin typeface="+mj-ea"/>
              <a:ea typeface="+mj-ea"/>
            </a:endParaRPr>
          </a:p>
          <a:p>
            <a:pPr lvl="2">
              <a:lnSpc>
                <a:spcPct val="130000"/>
              </a:lnSpc>
            </a:pPr>
            <a:r>
              <a:rPr lang="zh-CN" altLang="en-US" sz="2400" b="1" dirty="0">
                <a:latin typeface="+mj-ea"/>
                <a:ea typeface="+mj-ea"/>
              </a:rPr>
              <a:t>用关键字</a:t>
            </a:r>
            <a:r>
              <a:rPr lang="en-US" altLang="zh-CN" sz="2400" b="1" dirty="0">
                <a:latin typeface="+mj-ea"/>
                <a:ea typeface="+mj-ea"/>
              </a:rPr>
              <a:t>float</a:t>
            </a:r>
            <a:r>
              <a:rPr lang="zh-CN" altLang="en-US" sz="2400" b="1" dirty="0">
                <a:latin typeface="+mj-ea"/>
                <a:ea typeface="+mj-ea"/>
              </a:rPr>
              <a:t>描述</a:t>
            </a:r>
            <a:endParaRPr lang="en-US" altLang="zh-CN" sz="2400" b="1" dirty="0">
              <a:latin typeface="+mj-ea"/>
              <a:ea typeface="+mj-ea"/>
            </a:endParaRPr>
          </a:p>
          <a:p>
            <a:pPr lvl="1">
              <a:lnSpc>
                <a:spcPct val="130000"/>
              </a:lnSpc>
            </a:pPr>
            <a:r>
              <a:rPr lang="zh-CN" altLang="en-US" sz="2400" b="1" dirty="0">
                <a:solidFill>
                  <a:srgbClr val="002060"/>
                </a:solidFill>
                <a:latin typeface="+mj-ea"/>
                <a:ea typeface="+mj-ea"/>
              </a:rPr>
              <a:t>双精度浮点型</a:t>
            </a:r>
            <a:endParaRPr lang="en-US" altLang="zh-CN" sz="2400" b="1" dirty="0">
              <a:solidFill>
                <a:srgbClr val="002060"/>
              </a:solidFill>
              <a:latin typeface="+mj-ea"/>
              <a:ea typeface="+mj-ea"/>
            </a:endParaRPr>
          </a:p>
          <a:p>
            <a:pPr lvl="2">
              <a:lnSpc>
                <a:spcPct val="130000"/>
              </a:lnSpc>
            </a:pPr>
            <a:r>
              <a:rPr lang="zh-CN" altLang="en-US" sz="2400" b="1" dirty="0">
                <a:latin typeface="+mj-ea"/>
                <a:ea typeface="+mj-ea"/>
              </a:rPr>
              <a:t>占</a:t>
            </a:r>
            <a:r>
              <a:rPr lang="en-US" altLang="zh-CN" sz="2400" b="1" dirty="0">
                <a:latin typeface="+mj-ea"/>
                <a:ea typeface="+mj-ea"/>
              </a:rPr>
              <a:t>8</a:t>
            </a:r>
            <a:r>
              <a:rPr lang="zh-CN" altLang="en-US" sz="2400" b="1" dirty="0">
                <a:latin typeface="+mj-ea"/>
                <a:ea typeface="+mj-ea"/>
              </a:rPr>
              <a:t>个字节的存储空间</a:t>
            </a:r>
            <a:endParaRPr lang="en-US" altLang="zh-CN" sz="2400" b="1" dirty="0">
              <a:latin typeface="+mj-ea"/>
              <a:ea typeface="+mj-ea"/>
            </a:endParaRPr>
          </a:p>
          <a:p>
            <a:pPr lvl="2">
              <a:lnSpc>
                <a:spcPct val="130000"/>
              </a:lnSpc>
            </a:pPr>
            <a:r>
              <a:rPr lang="zh-CN" altLang="en-US" sz="2400" b="1" dirty="0">
                <a:latin typeface="+mj-ea"/>
                <a:ea typeface="+mj-ea"/>
              </a:rPr>
              <a:t>用关键字</a:t>
            </a:r>
            <a:r>
              <a:rPr lang="en-US" altLang="zh-CN" sz="2400" b="1" dirty="0">
                <a:latin typeface="+mj-ea"/>
                <a:ea typeface="+mj-ea"/>
              </a:rPr>
              <a:t>double</a:t>
            </a:r>
            <a:r>
              <a:rPr lang="zh-CN" altLang="en-US" sz="2400" b="1" dirty="0">
                <a:latin typeface="+mj-ea"/>
                <a:ea typeface="+mj-ea"/>
              </a:rPr>
              <a:t>描述</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8</a:t>
            </a:fld>
            <a:endParaRPr lang="zh-CN" altLang="en-US"/>
          </a:p>
        </p:txBody>
      </p:sp>
      <p:sp>
        <p:nvSpPr>
          <p:cNvPr id="5" name="内容占位符 2"/>
          <p:cNvSpPr>
            <a:spLocks noGrp="1"/>
          </p:cNvSpPr>
          <p:nvPr>
            <p:ph idx="1"/>
          </p:nvPr>
        </p:nvSpPr>
        <p:spPr>
          <a:xfrm>
            <a:off x="357158" y="357166"/>
            <a:ext cx="8643998" cy="6098570"/>
          </a:xfrm>
        </p:spPr>
        <p:txBody>
          <a:bodyPr>
            <a:normAutofit/>
          </a:bodyPr>
          <a:lstStyle/>
          <a:p>
            <a:pPr>
              <a:lnSpc>
                <a:spcPct val="125000"/>
              </a:lnSpc>
            </a:pPr>
            <a:r>
              <a:rPr lang="zh-CN" altLang="en-US" sz="3200" b="1" dirty="0">
                <a:latin typeface="+mj-ea"/>
                <a:ea typeface="+mj-ea"/>
              </a:rPr>
              <a:t>浮点型的派生类型</a:t>
            </a:r>
            <a:endParaRPr lang="en-US" altLang="zh-CN" sz="3200" b="1" dirty="0">
              <a:latin typeface="+mj-ea"/>
              <a:ea typeface="+mj-ea"/>
            </a:endParaRPr>
          </a:p>
          <a:p>
            <a:pPr lvl="1">
              <a:lnSpc>
                <a:spcPct val="125000"/>
              </a:lnSpc>
            </a:pPr>
            <a:r>
              <a:rPr lang="zh-CN" altLang="en-US" sz="2800" b="1" dirty="0">
                <a:solidFill>
                  <a:srgbClr val="002060"/>
                </a:solidFill>
                <a:latin typeface="+mj-ea"/>
                <a:ea typeface="+mj-ea"/>
              </a:rPr>
              <a:t>长双精度浮点型</a:t>
            </a:r>
            <a:r>
              <a:rPr lang="en-US" altLang="zh-CN" sz="2800" b="1" dirty="0">
                <a:solidFill>
                  <a:srgbClr val="002060"/>
                </a:solidFill>
                <a:latin typeface="+mj-ea"/>
                <a:ea typeface="+mj-ea"/>
              </a:rPr>
              <a:t>long double</a:t>
            </a:r>
          </a:p>
          <a:p>
            <a:pPr lvl="1">
              <a:lnSpc>
                <a:spcPct val="125000"/>
              </a:lnSpc>
            </a:pPr>
            <a:endParaRPr lang="en-US" altLang="zh-CN" sz="2800" b="1" dirty="0">
              <a:latin typeface="+mj-ea"/>
              <a:ea typeface="+mj-ea"/>
            </a:endParaRPr>
          </a:p>
          <a:p>
            <a:pPr lvl="1">
              <a:lnSpc>
                <a:spcPct val="125000"/>
              </a:lnSpc>
              <a:buNone/>
            </a:pPr>
            <a:endParaRPr lang="en-US" altLang="zh-CN" sz="1800" b="1" dirty="0">
              <a:latin typeface="+mj-ea"/>
              <a:ea typeface="+mj-ea"/>
            </a:endParaRPr>
          </a:p>
          <a:p>
            <a:pPr lvl="1">
              <a:lnSpc>
                <a:spcPct val="125000"/>
              </a:lnSpc>
              <a:buNone/>
            </a:pPr>
            <a:endParaRPr lang="en-US" altLang="zh-CN" sz="2400" b="1" dirty="0">
              <a:latin typeface="+mj-ea"/>
              <a:ea typeface="+mj-ea"/>
            </a:endParaRPr>
          </a:p>
          <a:p>
            <a:pPr lvl="1">
              <a:lnSpc>
                <a:spcPct val="125000"/>
              </a:lnSpc>
            </a:pPr>
            <a:r>
              <a:rPr lang="zh-CN" altLang="en-US" sz="2800" b="1" dirty="0">
                <a:solidFill>
                  <a:srgbClr val="002060"/>
                </a:solidFill>
                <a:latin typeface="+mj-ea"/>
                <a:ea typeface="+mj-ea"/>
              </a:rPr>
              <a:t>单精度浮点数的表示范围：</a:t>
            </a:r>
            <a:endParaRPr lang="en-US" altLang="zh-CN" sz="2800" b="1" dirty="0">
              <a:solidFill>
                <a:srgbClr val="002060"/>
              </a:solidFill>
              <a:latin typeface="+mj-ea"/>
              <a:ea typeface="+mj-ea"/>
            </a:endParaRPr>
          </a:p>
          <a:p>
            <a:pPr lvl="2">
              <a:lnSpc>
                <a:spcPct val="125000"/>
              </a:lnSpc>
            </a:pPr>
            <a:r>
              <a:rPr lang="en-US" altLang="zh-CN" sz="2800" b="1" dirty="0">
                <a:latin typeface="+mj-ea"/>
                <a:ea typeface="+mj-ea"/>
              </a:rPr>
              <a:t>1.00000000000000000000000*2</a:t>
            </a:r>
            <a:r>
              <a:rPr lang="en-US" altLang="zh-CN" sz="2800" b="1" baseline="30000" dirty="0">
                <a:latin typeface="+mj-ea"/>
                <a:ea typeface="+mj-ea"/>
              </a:rPr>
              <a:t>-128 </a:t>
            </a:r>
            <a:r>
              <a:rPr lang="zh-CN" altLang="en-US" sz="2800" b="1" dirty="0">
                <a:latin typeface="+mj-ea"/>
                <a:ea typeface="+mj-ea"/>
              </a:rPr>
              <a:t>≈</a:t>
            </a:r>
            <a:r>
              <a:rPr lang="en-US" altLang="zh-CN" sz="2800" b="1" dirty="0">
                <a:latin typeface="+mj-ea"/>
                <a:ea typeface="+mj-ea"/>
              </a:rPr>
              <a:t> 3.4e-38</a:t>
            </a:r>
          </a:p>
          <a:p>
            <a:pPr lvl="2">
              <a:lnSpc>
                <a:spcPct val="125000"/>
              </a:lnSpc>
            </a:pPr>
            <a:r>
              <a:rPr lang="en-US" altLang="zh-CN" sz="2800" b="1" dirty="0">
                <a:latin typeface="+mj-ea"/>
                <a:ea typeface="+mj-ea"/>
              </a:rPr>
              <a:t>1.11111111111111111111111*2</a:t>
            </a:r>
            <a:r>
              <a:rPr lang="en-US" altLang="zh-CN" sz="2800" b="1" baseline="30000" dirty="0">
                <a:latin typeface="+mj-ea"/>
                <a:ea typeface="+mj-ea"/>
              </a:rPr>
              <a:t>127 </a:t>
            </a:r>
            <a:r>
              <a:rPr lang="zh-CN" altLang="en-US" sz="2800" b="1" dirty="0">
                <a:latin typeface="+mj-ea"/>
                <a:ea typeface="+mj-ea"/>
              </a:rPr>
              <a:t>≈</a:t>
            </a:r>
            <a:r>
              <a:rPr lang="en-US" altLang="zh-CN" sz="2800" b="1" dirty="0">
                <a:latin typeface="+mj-ea"/>
                <a:ea typeface="+mj-ea"/>
              </a:rPr>
              <a:t> 3.4e38</a:t>
            </a:r>
          </a:p>
          <a:p>
            <a:pPr lvl="1">
              <a:lnSpc>
                <a:spcPct val="125000"/>
              </a:lnSpc>
            </a:pPr>
            <a:r>
              <a:rPr lang="zh-CN" altLang="en-US" sz="2800" b="1" dirty="0">
                <a:solidFill>
                  <a:srgbClr val="002060"/>
                </a:solidFill>
                <a:latin typeface="+mj-ea"/>
                <a:ea typeface="+mj-ea"/>
              </a:rPr>
              <a:t>双精度浮点数的表示范围：</a:t>
            </a:r>
            <a:endParaRPr lang="en-US" altLang="zh-CN" sz="2800" b="1" dirty="0">
              <a:solidFill>
                <a:srgbClr val="002060"/>
              </a:solidFill>
              <a:latin typeface="+mj-ea"/>
              <a:ea typeface="+mj-ea"/>
            </a:endParaRPr>
          </a:p>
          <a:p>
            <a:pPr lvl="2">
              <a:lnSpc>
                <a:spcPct val="125000"/>
              </a:lnSpc>
            </a:pPr>
            <a:r>
              <a:rPr lang="zh-CN" altLang="en-US" sz="2800" b="1" dirty="0">
                <a:latin typeface="+mj-ea"/>
                <a:ea typeface="+mj-ea"/>
              </a:rPr>
              <a:t>计算方法类似于单精度</a:t>
            </a:r>
            <a:endParaRPr lang="en-US" altLang="zh-CN" sz="2400" b="1" dirty="0">
              <a:latin typeface="+mj-ea"/>
              <a:ea typeface="+mj-ea"/>
            </a:endParaRPr>
          </a:p>
        </p:txBody>
      </p:sp>
      <p:graphicFrame>
        <p:nvGraphicFramePr>
          <p:cNvPr id="7" name="表格 6"/>
          <p:cNvGraphicFramePr>
            <a:graphicFrameLocks noGrp="1"/>
          </p:cNvGraphicFramePr>
          <p:nvPr/>
        </p:nvGraphicFramePr>
        <p:xfrm>
          <a:off x="928662" y="1588450"/>
          <a:ext cx="7786742" cy="1483360"/>
        </p:xfrm>
        <a:graphic>
          <a:graphicData uri="http://schemas.openxmlformats.org/drawingml/2006/table">
            <a:tbl>
              <a:tblPr firstRow="1" bandRow="1">
                <a:tableStyleId>{5C22544A-7EE6-4342-B048-85BDC9FD1C3A}</a:tableStyleId>
              </a:tblPr>
              <a:tblGrid>
                <a:gridCol w="2093914">
                  <a:extLst>
                    <a:ext uri="{9D8B030D-6E8A-4147-A177-3AD203B41FA5}">
                      <a16:colId xmlns:a16="http://schemas.microsoft.com/office/drawing/2014/main" val="20000"/>
                    </a:ext>
                  </a:extLst>
                </a:gridCol>
                <a:gridCol w="654348">
                  <a:extLst>
                    <a:ext uri="{9D8B030D-6E8A-4147-A177-3AD203B41FA5}">
                      <a16:colId xmlns:a16="http://schemas.microsoft.com/office/drawing/2014/main" val="20001"/>
                    </a:ext>
                  </a:extLst>
                </a:gridCol>
                <a:gridCol w="2966778">
                  <a:extLst>
                    <a:ext uri="{9D8B030D-6E8A-4147-A177-3AD203B41FA5}">
                      <a16:colId xmlns:a16="http://schemas.microsoft.com/office/drawing/2014/main" val="20002"/>
                    </a:ext>
                  </a:extLst>
                </a:gridCol>
                <a:gridCol w="2071702">
                  <a:extLst>
                    <a:ext uri="{9D8B030D-6E8A-4147-A177-3AD203B41FA5}">
                      <a16:colId xmlns:a16="http://schemas.microsoft.com/office/drawing/2014/main" val="20003"/>
                    </a:ext>
                  </a:extLst>
                </a:gridCol>
              </a:tblGrid>
              <a:tr h="370840">
                <a:tc>
                  <a:txBody>
                    <a:bodyPr/>
                    <a:lstStyle/>
                    <a:p>
                      <a:pPr algn="ctr"/>
                      <a:r>
                        <a:rPr lang="zh-CN" altLang="en-US" dirty="0"/>
                        <a:t>类型描述</a:t>
                      </a:r>
                    </a:p>
                  </a:txBody>
                  <a:tcPr/>
                </a:tc>
                <a:tc>
                  <a:txBody>
                    <a:bodyPr/>
                    <a:lstStyle/>
                    <a:p>
                      <a:pPr algn="ctr"/>
                      <a:r>
                        <a:rPr lang="zh-CN" altLang="en-US" dirty="0"/>
                        <a:t>字长</a:t>
                      </a:r>
                    </a:p>
                  </a:txBody>
                  <a:tcPr/>
                </a:tc>
                <a:tc>
                  <a:txBody>
                    <a:bodyPr/>
                    <a:lstStyle/>
                    <a:p>
                      <a:pPr algn="ctr"/>
                      <a:r>
                        <a:rPr lang="zh-CN" altLang="en-US" dirty="0"/>
                        <a:t>取值范围</a:t>
                      </a:r>
                    </a:p>
                  </a:txBody>
                  <a:tcPr/>
                </a:tc>
                <a:tc>
                  <a:txBody>
                    <a:bodyPr/>
                    <a:lstStyle/>
                    <a:p>
                      <a:pPr algn="ctr"/>
                      <a:r>
                        <a:rPr lang="zh-CN" altLang="en-US" dirty="0"/>
                        <a:t>精度</a:t>
                      </a:r>
                    </a:p>
                  </a:txBody>
                  <a:tcPr/>
                </a:tc>
                <a:extLst>
                  <a:ext uri="{0D108BD9-81ED-4DB2-BD59-A6C34878D82A}">
                    <a16:rowId xmlns:a16="http://schemas.microsoft.com/office/drawing/2014/main" val="10000"/>
                  </a:ext>
                </a:extLst>
              </a:tr>
              <a:tr h="370840">
                <a:tc>
                  <a:txBody>
                    <a:bodyPr/>
                    <a:lstStyle/>
                    <a:p>
                      <a:r>
                        <a:rPr lang="en-US" altLang="zh-CN" dirty="0"/>
                        <a:t>float</a:t>
                      </a:r>
                      <a:endParaRPr lang="zh-CN" altLang="en-US" dirty="0"/>
                    </a:p>
                  </a:txBody>
                  <a:tcPr/>
                </a:tc>
                <a:tc>
                  <a:txBody>
                    <a:bodyPr/>
                    <a:lstStyle/>
                    <a:p>
                      <a:r>
                        <a:rPr lang="en-US" altLang="zh-CN" dirty="0"/>
                        <a:t>4</a:t>
                      </a:r>
                      <a:endParaRPr lang="zh-CN" altLang="en-US" dirty="0"/>
                    </a:p>
                  </a:txBody>
                  <a:tcPr/>
                </a:tc>
                <a:tc>
                  <a:txBody>
                    <a:bodyPr/>
                    <a:lstStyle/>
                    <a:p>
                      <a:r>
                        <a:rPr lang="en-US" altLang="zh-CN" dirty="0">
                          <a:solidFill>
                            <a:srgbClr val="FF0000"/>
                          </a:solidFill>
                        </a:rPr>
                        <a:t>-3.4E38~3.4E38</a:t>
                      </a:r>
                      <a:endParaRPr lang="zh-CN" altLang="en-US" dirty="0">
                        <a:solidFill>
                          <a:srgbClr val="FF0000"/>
                        </a:solidFill>
                      </a:endParaRPr>
                    </a:p>
                  </a:txBody>
                  <a:tcPr/>
                </a:tc>
                <a:tc>
                  <a:txBody>
                    <a:bodyPr/>
                    <a:lstStyle/>
                    <a:p>
                      <a:r>
                        <a:rPr lang="en-US" altLang="zh-CN" dirty="0"/>
                        <a:t>1.0E-38</a:t>
                      </a:r>
                      <a:endParaRPr lang="zh-CN" altLang="en-US" dirty="0"/>
                    </a:p>
                  </a:txBody>
                  <a:tcPr/>
                </a:tc>
                <a:extLst>
                  <a:ext uri="{0D108BD9-81ED-4DB2-BD59-A6C34878D82A}">
                    <a16:rowId xmlns:a16="http://schemas.microsoft.com/office/drawing/2014/main" val="10001"/>
                  </a:ext>
                </a:extLst>
              </a:tr>
              <a:tr h="370840">
                <a:tc>
                  <a:txBody>
                    <a:bodyPr/>
                    <a:lstStyle/>
                    <a:p>
                      <a:r>
                        <a:rPr lang="en-US" altLang="zh-CN" dirty="0"/>
                        <a:t>double</a:t>
                      </a:r>
                      <a:endParaRPr lang="zh-CN" altLang="en-US" dirty="0"/>
                    </a:p>
                  </a:txBody>
                  <a:tcPr/>
                </a:tc>
                <a:tc>
                  <a:txBody>
                    <a:bodyPr/>
                    <a:lstStyle/>
                    <a:p>
                      <a:r>
                        <a:rPr lang="en-US" altLang="zh-CN" dirty="0"/>
                        <a:t>8</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rgbClr val="FF0000"/>
                          </a:solidFill>
                        </a:rPr>
                        <a:t>-1.7E308~1.7E308</a:t>
                      </a:r>
                      <a:endParaRPr lang="zh-CN" altLang="en-US" dirty="0">
                        <a:solidFill>
                          <a:srgbClr val="FF0000"/>
                        </a:solidFill>
                      </a:endParaRPr>
                    </a:p>
                  </a:txBody>
                  <a:tcPr/>
                </a:tc>
                <a:tc>
                  <a:txBody>
                    <a:bodyPr/>
                    <a:lstStyle/>
                    <a:p>
                      <a:r>
                        <a:rPr lang="en-US" altLang="zh-CN" dirty="0"/>
                        <a:t>1.0E-308</a:t>
                      </a:r>
                      <a:endParaRPr lang="zh-CN" altLang="en-US" dirty="0"/>
                    </a:p>
                  </a:txBody>
                  <a:tcPr/>
                </a:tc>
                <a:extLst>
                  <a:ext uri="{0D108BD9-81ED-4DB2-BD59-A6C34878D82A}">
                    <a16:rowId xmlns:a16="http://schemas.microsoft.com/office/drawing/2014/main" val="10002"/>
                  </a:ext>
                </a:extLst>
              </a:tr>
              <a:tr h="370840">
                <a:tc>
                  <a:txBody>
                    <a:bodyPr/>
                    <a:lstStyle/>
                    <a:p>
                      <a:r>
                        <a:rPr lang="en-US" altLang="zh-CN" dirty="0"/>
                        <a:t>long double</a:t>
                      </a:r>
                      <a:endParaRPr lang="zh-CN" altLang="en-US" dirty="0"/>
                    </a:p>
                  </a:txBody>
                  <a:tcPr/>
                </a:tc>
                <a:tc>
                  <a:txBody>
                    <a:bodyPr/>
                    <a:lstStyle/>
                    <a:p>
                      <a:r>
                        <a:rPr lang="en-US" altLang="zh-CN" dirty="0"/>
                        <a:t>10</a:t>
                      </a:r>
                      <a:endParaRPr lang="zh-CN" altLang="en-US" dirty="0"/>
                    </a:p>
                  </a:txBody>
                  <a:tcPr/>
                </a:tc>
                <a:tc>
                  <a:txBody>
                    <a:bodyPr/>
                    <a:lstStyle/>
                    <a:p>
                      <a:r>
                        <a:rPr lang="en-US" altLang="zh-CN" dirty="0">
                          <a:solidFill>
                            <a:srgbClr val="FF0000"/>
                          </a:solidFill>
                        </a:rPr>
                        <a:t>-1.1E4932~1.1E4932</a:t>
                      </a:r>
                      <a:endParaRPr lang="zh-CN" altLang="en-US" dirty="0">
                        <a:solidFill>
                          <a:srgbClr val="FF0000"/>
                        </a:solidFill>
                      </a:endParaRPr>
                    </a:p>
                  </a:txBody>
                  <a:tcPr/>
                </a:tc>
                <a:tc>
                  <a:txBody>
                    <a:bodyPr/>
                    <a:lstStyle/>
                    <a:p>
                      <a:r>
                        <a:rPr lang="en-US" altLang="zh-CN" dirty="0"/>
                        <a:t>1.0E-4932</a:t>
                      </a:r>
                      <a:endParaRPr lang="zh-CN" altLang="en-US"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142844" y="71414"/>
            <a:ext cx="7239000" cy="748684"/>
          </a:xfrm>
        </p:spPr>
        <p:txBody>
          <a:bodyPr/>
          <a:lstStyle/>
          <a:p>
            <a:r>
              <a:rPr lang="zh-CN" altLang="en-US" dirty="0"/>
              <a:t>字符型</a:t>
            </a:r>
          </a:p>
        </p:txBody>
      </p:sp>
      <p:sp>
        <p:nvSpPr>
          <p:cNvPr id="3" name="内容占位符 2"/>
          <p:cNvSpPr>
            <a:spLocks noGrp="1"/>
          </p:cNvSpPr>
          <p:nvPr>
            <p:ph idx="1"/>
          </p:nvPr>
        </p:nvSpPr>
        <p:spPr>
          <a:xfrm>
            <a:off x="476272" y="797258"/>
            <a:ext cx="7239000" cy="4846320"/>
          </a:xfrm>
        </p:spPr>
        <p:txBody>
          <a:bodyPr/>
          <a:lstStyle/>
          <a:p>
            <a:pPr>
              <a:lnSpc>
                <a:spcPct val="120000"/>
              </a:lnSpc>
            </a:pPr>
            <a:r>
              <a:rPr lang="zh-CN" altLang="en-US" sz="2800" b="1" dirty="0">
                <a:latin typeface="+mj-ea"/>
                <a:ea typeface="+mj-ea"/>
              </a:rPr>
              <a:t>表示单个字符</a:t>
            </a:r>
            <a:endParaRPr lang="en-US" altLang="zh-CN" sz="2800" b="1" dirty="0">
              <a:latin typeface="+mj-ea"/>
              <a:ea typeface="+mj-ea"/>
            </a:endParaRPr>
          </a:p>
          <a:p>
            <a:pPr lvl="1">
              <a:lnSpc>
                <a:spcPct val="120000"/>
              </a:lnSpc>
              <a:spcBef>
                <a:spcPts val="0"/>
              </a:spcBef>
            </a:pPr>
            <a:r>
              <a:rPr lang="zh-CN" altLang="en-US" sz="2400" b="1" dirty="0">
                <a:solidFill>
                  <a:srgbClr val="002060"/>
                </a:solidFill>
                <a:latin typeface="+mj-ea"/>
                <a:ea typeface="+mj-ea"/>
              </a:rPr>
              <a:t>基本字符</a:t>
            </a:r>
            <a:r>
              <a:rPr lang="en-US" altLang="zh-CN" sz="2400" b="1" dirty="0">
                <a:solidFill>
                  <a:srgbClr val="002060"/>
                </a:solidFill>
                <a:latin typeface="+mj-ea"/>
                <a:ea typeface="+mj-ea"/>
              </a:rPr>
              <a:t>95</a:t>
            </a:r>
            <a:r>
              <a:rPr lang="zh-CN" altLang="en-US" sz="2400" b="1" dirty="0">
                <a:solidFill>
                  <a:srgbClr val="002060"/>
                </a:solidFill>
                <a:latin typeface="+mj-ea"/>
                <a:ea typeface="+mj-ea"/>
              </a:rPr>
              <a:t>个</a:t>
            </a:r>
            <a:endParaRPr lang="en-US" altLang="zh-CN" sz="2400" b="1" dirty="0">
              <a:solidFill>
                <a:srgbClr val="002060"/>
              </a:solidFill>
              <a:latin typeface="+mj-ea"/>
              <a:ea typeface="+mj-ea"/>
            </a:endParaRPr>
          </a:p>
          <a:p>
            <a:pPr lvl="1">
              <a:lnSpc>
                <a:spcPct val="120000"/>
              </a:lnSpc>
              <a:spcBef>
                <a:spcPts val="0"/>
              </a:spcBef>
            </a:pPr>
            <a:r>
              <a:rPr lang="zh-CN" altLang="en-US" sz="2400" b="1" dirty="0">
                <a:solidFill>
                  <a:srgbClr val="002060"/>
                </a:solidFill>
                <a:latin typeface="+mj-ea"/>
                <a:ea typeface="+mj-ea"/>
              </a:rPr>
              <a:t>控制字符</a:t>
            </a:r>
            <a:r>
              <a:rPr lang="en-US" altLang="zh-CN" sz="2400" b="1" dirty="0">
                <a:solidFill>
                  <a:srgbClr val="002060"/>
                </a:solidFill>
                <a:latin typeface="+mj-ea"/>
                <a:ea typeface="+mj-ea"/>
              </a:rPr>
              <a:t>33</a:t>
            </a:r>
            <a:r>
              <a:rPr lang="zh-CN" altLang="en-US" sz="2400" b="1" dirty="0">
                <a:solidFill>
                  <a:srgbClr val="002060"/>
                </a:solidFill>
                <a:latin typeface="+mj-ea"/>
                <a:ea typeface="+mj-ea"/>
              </a:rPr>
              <a:t>个</a:t>
            </a:r>
            <a:endParaRPr lang="en-US" altLang="zh-CN" sz="2400" b="1" dirty="0">
              <a:solidFill>
                <a:srgbClr val="002060"/>
              </a:solidFill>
              <a:latin typeface="+mj-ea"/>
              <a:ea typeface="+mj-ea"/>
            </a:endParaRPr>
          </a:p>
          <a:p>
            <a:pPr lvl="1">
              <a:lnSpc>
                <a:spcPct val="120000"/>
              </a:lnSpc>
              <a:spcBef>
                <a:spcPts val="0"/>
              </a:spcBef>
            </a:pPr>
            <a:r>
              <a:rPr lang="zh-CN" altLang="en-US" sz="2400" b="1" dirty="0">
                <a:solidFill>
                  <a:srgbClr val="002060"/>
                </a:solidFill>
                <a:latin typeface="+mj-ea"/>
                <a:ea typeface="+mj-ea"/>
              </a:rPr>
              <a:t>扩充的</a:t>
            </a:r>
            <a:r>
              <a:rPr lang="en-US" altLang="zh-CN" sz="2400" b="1" dirty="0">
                <a:solidFill>
                  <a:srgbClr val="002060"/>
                </a:solidFill>
                <a:latin typeface="+mj-ea"/>
                <a:ea typeface="+mj-ea"/>
              </a:rPr>
              <a:t>ASCII</a:t>
            </a:r>
            <a:r>
              <a:rPr lang="zh-CN" altLang="en-US" sz="2400" b="1" dirty="0">
                <a:solidFill>
                  <a:srgbClr val="002060"/>
                </a:solidFill>
                <a:latin typeface="+mj-ea"/>
                <a:ea typeface="+mj-ea"/>
              </a:rPr>
              <a:t>码对应的全部符号</a:t>
            </a:r>
            <a:endParaRPr lang="en-US" altLang="zh-CN" sz="2400" b="1" dirty="0">
              <a:solidFill>
                <a:srgbClr val="002060"/>
              </a:solidFill>
              <a:latin typeface="+mj-ea"/>
              <a:ea typeface="+mj-ea"/>
            </a:endParaRPr>
          </a:p>
          <a:p>
            <a:pPr>
              <a:lnSpc>
                <a:spcPct val="120000"/>
              </a:lnSpc>
            </a:pPr>
            <a:r>
              <a:rPr lang="zh-CN" altLang="en-US" sz="2800" b="1" dirty="0">
                <a:latin typeface="+mj-ea"/>
                <a:ea typeface="+mj-ea"/>
              </a:rPr>
              <a:t>占</a:t>
            </a:r>
            <a:r>
              <a:rPr lang="en-US" altLang="zh-CN" sz="2800" b="1" dirty="0">
                <a:latin typeface="+mj-ea"/>
                <a:ea typeface="+mj-ea"/>
              </a:rPr>
              <a:t>1</a:t>
            </a:r>
            <a:r>
              <a:rPr lang="zh-CN" altLang="en-US" sz="2800" b="1" dirty="0">
                <a:latin typeface="+mj-ea"/>
                <a:ea typeface="+mj-ea"/>
              </a:rPr>
              <a:t>个字节的存储空间</a:t>
            </a:r>
            <a:endParaRPr lang="en-US" altLang="zh-CN" sz="2800" b="1" dirty="0">
              <a:latin typeface="+mj-ea"/>
              <a:ea typeface="+mj-ea"/>
            </a:endParaRPr>
          </a:p>
          <a:p>
            <a:pPr>
              <a:lnSpc>
                <a:spcPct val="120000"/>
              </a:lnSpc>
            </a:pPr>
            <a:r>
              <a:rPr lang="zh-CN" altLang="en-US" sz="2800" b="1" dirty="0">
                <a:latin typeface="+mj-ea"/>
                <a:ea typeface="+mj-ea"/>
              </a:rPr>
              <a:t>字符型的派生类型</a:t>
            </a:r>
            <a:endParaRPr lang="en-US" altLang="zh-CN" sz="2800" b="1" dirty="0">
              <a:latin typeface="+mj-ea"/>
              <a:ea typeface="+mj-ea"/>
            </a:endParaRPr>
          </a:p>
          <a:p>
            <a:pPr lvl="1">
              <a:lnSpc>
                <a:spcPct val="120000"/>
              </a:lnSpc>
              <a:spcBef>
                <a:spcPts val="0"/>
              </a:spcBef>
            </a:pPr>
            <a:r>
              <a:rPr lang="zh-CN" altLang="en-US" sz="2400" b="1" dirty="0">
                <a:solidFill>
                  <a:srgbClr val="002060"/>
                </a:solidFill>
                <a:latin typeface="+mj-ea"/>
                <a:ea typeface="+mj-ea"/>
              </a:rPr>
              <a:t>用</a:t>
            </a:r>
            <a:r>
              <a:rPr lang="en-US" altLang="zh-CN" sz="2400" b="1" dirty="0">
                <a:solidFill>
                  <a:srgbClr val="002060"/>
                </a:solidFill>
                <a:latin typeface="+mj-ea"/>
                <a:ea typeface="+mj-ea"/>
              </a:rPr>
              <a:t>signed </a:t>
            </a:r>
            <a:r>
              <a:rPr lang="zh-CN" altLang="en-US" sz="2400" b="1" dirty="0">
                <a:solidFill>
                  <a:srgbClr val="002060"/>
                </a:solidFill>
                <a:latin typeface="+mj-ea"/>
                <a:ea typeface="+mj-ea"/>
              </a:rPr>
              <a:t>和</a:t>
            </a:r>
            <a:r>
              <a:rPr lang="en-US" altLang="zh-CN" sz="2400" b="1" dirty="0">
                <a:solidFill>
                  <a:srgbClr val="002060"/>
                </a:solidFill>
                <a:latin typeface="+mj-ea"/>
                <a:ea typeface="+mj-ea"/>
              </a:rPr>
              <a:t>unsigned</a:t>
            </a:r>
            <a:r>
              <a:rPr lang="zh-CN" altLang="en-US" sz="2400" b="1" dirty="0">
                <a:solidFill>
                  <a:srgbClr val="002060"/>
                </a:solidFill>
                <a:latin typeface="+mj-ea"/>
                <a:ea typeface="+mj-ea"/>
              </a:rPr>
              <a:t>描述</a:t>
            </a:r>
          </a:p>
          <a:p>
            <a:pPr>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a:t>
            </a:fld>
            <a:endParaRPr lang="zh-CN" altLang="en-US"/>
          </a:p>
        </p:txBody>
      </p:sp>
      <p:graphicFrame>
        <p:nvGraphicFramePr>
          <p:cNvPr id="5" name="表格 4"/>
          <p:cNvGraphicFramePr>
            <a:graphicFrameLocks noGrp="1"/>
          </p:cNvGraphicFramePr>
          <p:nvPr/>
        </p:nvGraphicFramePr>
        <p:xfrm>
          <a:off x="1142977" y="4537928"/>
          <a:ext cx="6572295" cy="1483360"/>
        </p:xfrm>
        <a:graphic>
          <a:graphicData uri="http://schemas.openxmlformats.org/drawingml/2006/table">
            <a:tbl>
              <a:tblPr firstRow="1" bandRow="1">
                <a:tableStyleId>{5C22544A-7EE6-4342-B048-85BDC9FD1C3A}</a:tableStyleId>
              </a:tblPr>
              <a:tblGrid>
                <a:gridCol w="2071702">
                  <a:extLst>
                    <a:ext uri="{9D8B030D-6E8A-4147-A177-3AD203B41FA5}">
                      <a16:colId xmlns:a16="http://schemas.microsoft.com/office/drawing/2014/main" val="20000"/>
                    </a:ext>
                  </a:extLst>
                </a:gridCol>
                <a:gridCol w="928694">
                  <a:extLst>
                    <a:ext uri="{9D8B030D-6E8A-4147-A177-3AD203B41FA5}">
                      <a16:colId xmlns:a16="http://schemas.microsoft.com/office/drawing/2014/main" val="20001"/>
                    </a:ext>
                  </a:extLst>
                </a:gridCol>
                <a:gridCol w="1714512">
                  <a:extLst>
                    <a:ext uri="{9D8B030D-6E8A-4147-A177-3AD203B41FA5}">
                      <a16:colId xmlns:a16="http://schemas.microsoft.com/office/drawing/2014/main" val="20002"/>
                    </a:ext>
                  </a:extLst>
                </a:gridCol>
                <a:gridCol w="1857387">
                  <a:extLst>
                    <a:ext uri="{9D8B030D-6E8A-4147-A177-3AD203B41FA5}">
                      <a16:colId xmlns:a16="http://schemas.microsoft.com/office/drawing/2014/main" val="20003"/>
                    </a:ext>
                  </a:extLst>
                </a:gridCol>
              </a:tblGrid>
              <a:tr h="370840">
                <a:tc>
                  <a:txBody>
                    <a:bodyPr/>
                    <a:lstStyle/>
                    <a:p>
                      <a:pPr algn="ctr"/>
                      <a:r>
                        <a:rPr lang="zh-CN" altLang="en-US" b="1" dirty="0">
                          <a:latin typeface="+mj-ea"/>
                          <a:ea typeface="+mj-ea"/>
                        </a:rPr>
                        <a:t>类型描述</a:t>
                      </a:r>
                    </a:p>
                  </a:txBody>
                  <a:tcPr/>
                </a:tc>
                <a:tc>
                  <a:txBody>
                    <a:bodyPr/>
                    <a:lstStyle/>
                    <a:p>
                      <a:pPr algn="ctr"/>
                      <a:r>
                        <a:rPr lang="zh-CN" altLang="en-US" b="1" dirty="0">
                          <a:latin typeface="+mj-ea"/>
                          <a:ea typeface="+mj-ea"/>
                        </a:rPr>
                        <a:t>字长</a:t>
                      </a:r>
                    </a:p>
                  </a:txBody>
                  <a:tcPr/>
                </a:tc>
                <a:tc>
                  <a:txBody>
                    <a:bodyPr/>
                    <a:lstStyle/>
                    <a:p>
                      <a:pPr algn="ctr"/>
                      <a:r>
                        <a:rPr lang="zh-CN" altLang="en-US" b="1" dirty="0">
                          <a:latin typeface="+mj-ea"/>
                          <a:ea typeface="+mj-ea"/>
                        </a:rPr>
                        <a:t>取值范围</a:t>
                      </a:r>
                    </a:p>
                  </a:txBody>
                  <a:tcPr/>
                </a:tc>
                <a:tc>
                  <a:txBody>
                    <a:bodyPr/>
                    <a:lstStyle/>
                    <a:p>
                      <a:pPr algn="ctr"/>
                      <a:r>
                        <a:rPr lang="zh-CN" altLang="en-US" b="1" dirty="0">
                          <a:latin typeface="+mj-ea"/>
                          <a:ea typeface="+mj-ea"/>
                        </a:rPr>
                        <a:t>简写</a:t>
                      </a:r>
                    </a:p>
                  </a:txBody>
                  <a:tcPr/>
                </a:tc>
                <a:extLst>
                  <a:ext uri="{0D108BD9-81ED-4DB2-BD59-A6C34878D82A}">
                    <a16:rowId xmlns:a16="http://schemas.microsoft.com/office/drawing/2014/main" val="10000"/>
                  </a:ext>
                </a:extLst>
              </a:tr>
              <a:tr h="370840">
                <a:tc>
                  <a:txBody>
                    <a:bodyPr/>
                    <a:lstStyle/>
                    <a:p>
                      <a:r>
                        <a:rPr lang="en-US" altLang="zh-CN" b="1" dirty="0"/>
                        <a:t>char</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-128~127</a:t>
                      </a:r>
                      <a:endParaRPr lang="zh-CN" altLang="en-US" b="1" dirty="0"/>
                    </a:p>
                  </a:txBody>
                  <a:tcPr/>
                </a:tc>
                <a:tc>
                  <a:txBody>
                    <a:bodyPr/>
                    <a:lstStyle/>
                    <a:p>
                      <a:r>
                        <a:rPr lang="en-US" altLang="zh-CN" b="1" dirty="0"/>
                        <a:t>char</a:t>
                      </a:r>
                      <a:endParaRPr lang="zh-CN" altLang="en-US" b="1" dirty="0"/>
                    </a:p>
                  </a:txBody>
                  <a:tcPr/>
                </a:tc>
                <a:extLst>
                  <a:ext uri="{0D108BD9-81ED-4DB2-BD59-A6C34878D82A}">
                    <a16:rowId xmlns:a16="http://schemas.microsoft.com/office/drawing/2014/main" val="10001"/>
                  </a:ext>
                </a:extLst>
              </a:tr>
              <a:tr h="370840">
                <a:tc>
                  <a:txBody>
                    <a:bodyPr/>
                    <a:lstStyle/>
                    <a:p>
                      <a:r>
                        <a:rPr lang="en-US" altLang="zh-CN" b="1" dirty="0"/>
                        <a:t>signed char</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-128~127</a:t>
                      </a:r>
                      <a:endParaRPr lang="zh-CN" altLang="en-US" b="1" dirty="0"/>
                    </a:p>
                  </a:txBody>
                  <a:tcPr/>
                </a:tc>
                <a:tc>
                  <a:txBody>
                    <a:bodyPr/>
                    <a:lstStyle/>
                    <a:p>
                      <a:r>
                        <a:rPr lang="en-US" altLang="zh-CN" b="1" dirty="0"/>
                        <a:t>char</a:t>
                      </a:r>
                      <a:endParaRPr lang="zh-CN" altLang="en-US" b="1" dirty="0"/>
                    </a:p>
                  </a:txBody>
                  <a:tcPr/>
                </a:tc>
                <a:extLst>
                  <a:ext uri="{0D108BD9-81ED-4DB2-BD59-A6C34878D82A}">
                    <a16:rowId xmlns:a16="http://schemas.microsoft.com/office/drawing/2014/main" val="10002"/>
                  </a:ext>
                </a:extLst>
              </a:tr>
              <a:tr h="370840">
                <a:tc>
                  <a:txBody>
                    <a:bodyPr/>
                    <a:lstStyle/>
                    <a:p>
                      <a:r>
                        <a:rPr lang="en-US" altLang="zh-CN" b="1" dirty="0"/>
                        <a:t>unsigned char</a:t>
                      </a:r>
                      <a:endParaRPr lang="zh-CN" altLang="en-US" b="1" dirty="0"/>
                    </a:p>
                  </a:txBody>
                  <a:tcPr/>
                </a:tc>
                <a:tc>
                  <a:txBody>
                    <a:bodyPr/>
                    <a:lstStyle/>
                    <a:p>
                      <a:r>
                        <a:rPr lang="en-US" altLang="zh-CN" b="1" dirty="0"/>
                        <a:t>1</a:t>
                      </a:r>
                      <a:endParaRPr lang="zh-CN" altLang="en-US" b="1" dirty="0"/>
                    </a:p>
                  </a:txBody>
                  <a:tcPr/>
                </a:tc>
                <a:tc>
                  <a:txBody>
                    <a:bodyPr/>
                    <a:lstStyle/>
                    <a:p>
                      <a:r>
                        <a:rPr lang="en-US" altLang="zh-CN" b="1" dirty="0"/>
                        <a:t>0~255</a:t>
                      </a:r>
                      <a:endParaRPr lang="zh-CN" altLang="en-US" b="1" dirty="0"/>
                    </a:p>
                  </a:txBody>
                  <a:tcPr/>
                </a:tc>
                <a:tc>
                  <a:txBody>
                    <a:bodyPr/>
                    <a:lstStyle/>
                    <a:p>
                      <a:r>
                        <a:rPr lang="en-US" altLang="zh-CN" b="1" dirty="0"/>
                        <a:t>unsigned char</a:t>
                      </a:r>
                      <a:endParaRPr lang="zh-CN" altLang="en-US" b="1"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10</a:t>
            </a:fld>
            <a:endParaRPr lang="zh-CN" altLang="en-US" dirty="0"/>
          </a:p>
        </p:txBody>
      </p:sp>
      <p:sp>
        <p:nvSpPr>
          <p:cNvPr id="5" name="内容占位符 2"/>
          <p:cNvSpPr>
            <a:spLocks noGrp="1"/>
          </p:cNvSpPr>
          <p:nvPr>
            <p:ph idx="1"/>
          </p:nvPr>
        </p:nvSpPr>
        <p:spPr>
          <a:xfrm>
            <a:off x="323528" y="332656"/>
            <a:ext cx="8280920" cy="6027738"/>
          </a:xfrm>
        </p:spPr>
        <p:txBody>
          <a:bodyPr>
            <a:normAutofit lnSpcReduction="10000"/>
          </a:bodyPr>
          <a:lstStyle/>
          <a:p>
            <a:pPr>
              <a:lnSpc>
                <a:spcPct val="120000"/>
              </a:lnSpc>
            </a:pPr>
            <a:r>
              <a:rPr lang="zh-CN" altLang="en-US" sz="3200" b="1" dirty="0">
                <a:latin typeface="+mj-ea"/>
                <a:ea typeface="+mj-ea"/>
              </a:rPr>
              <a:t>字符型数据与在其表示范围内的整数等价</a:t>
            </a:r>
            <a:endParaRPr lang="en-US" altLang="zh-CN" sz="3200" b="1" dirty="0">
              <a:latin typeface="+mj-ea"/>
              <a:ea typeface="+mj-ea"/>
            </a:endParaRPr>
          </a:p>
          <a:p>
            <a:pPr lvl="1">
              <a:lnSpc>
                <a:spcPct val="120000"/>
              </a:lnSpc>
            </a:pPr>
            <a:r>
              <a:rPr lang="zh-CN" altLang="en-US" sz="2800" b="1" dirty="0">
                <a:solidFill>
                  <a:srgbClr val="002060"/>
                </a:solidFill>
                <a:latin typeface="+mj-ea"/>
                <a:ea typeface="+mj-ea"/>
              </a:rPr>
              <a:t>将字符型数据设置为整数</a:t>
            </a:r>
            <a:endParaRPr lang="en-US" altLang="zh-CN" sz="2800" b="1" dirty="0">
              <a:solidFill>
                <a:srgbClr val="002060"/>
              </a:solidFill>
              <a:latin typeface="+mj-ea"/>
              <a:ea typeface="+mj-ea"/>
            </a:endParaRPr>
          </a:p>
          <a:p>
            <a:pPr lvl="2">
              <a:lnSpc>
                <a:spcPct val="120000"/>
              </a:lnSpc>
            </a:pPr>
            <a:r>
              <a:rPr lang="en-US" altLang="zh-CN" sz="2800" b="1" dirty="0">
                <a:solidFill>
                  <a:srgbClr val="002060"/>
                </a:solidFill>
                <a:latin typeface="+mj-ea"/>
                <a:ea typeface="+mj-ea"/>
                <a:cs typeface="Courier New" pitchFamily="49" charset="0"/>
              </a:rPr>
              <a:t>char </a:t>
            </a:r>
            <a:r>
              <a:rPr lang="en-US" altLang="zh-CN" sz="2800" b="1" dirty="0" err="1">
                <a:solidFill>
                  <a:srgbClr val="002060"/>
                </a:solidFill>
                <a:latin typeface="+mj-ea"/>
                <a:ea typeface="+mj-ea"/>
                <a:cs typeface="Courier New" pitchFamily="49" charset="0"/>
              </a:rPr>
              <a:t>myChar</a:t>
            </a:r>
            <a:r>
              <a:rPr lang="en-US" altLang="zh-CN" sz="2800" b="1" dirty="0">
                <a:solidFill>
                  <a:srgbClr val="002060"/>
                </a:solidFill>
                <a:latin typeface="+mj-ea"/>
                <a:ea typeface="+mj-ea"/>
                <a:cs typeface="Courier New" pitchFamily="49" charset="0"/>
              </a:rPr>
              <a:t> = 97;</a:t>
            </a:r>
          </a:p>
          <a:p>
            <a:pPr lvl="1">
              <a:lnSpc>
                <a:spcPct val="120000"/>
              </a:lnSpc>
            </a:pPr>
            <a:r>
              <a:rPr lang="zh-CN" altLang="en-US" sz="2800" b="1" dirty="0">
                <a:solidFill>
                  <a:srgbClr val="002060"/>
                </a:solidFill>
                <a:latin typeface="+mj-ea"/>
                <a:ea typeface="+mj-ea"/>
              </a:rPr>
              <a:t>将整型数据设置字符型</a:t>
            </a:r>
            <a:endParaRPr lang="en-US" altLang="zh-CN" sz="2800" b="1" dirty="0">
              <a:solidFill>
                <a:srgbClr val="002060"/>
              </a:solidFill>
              <a:latin typeface="+mj-ea"/>
              <a:ea typeface="+mj-ea"/>
            </a:endParaRPr>
          </a:p>
          <a:p>
            <a:pPr lvl="2">
              <a:lnSpc>
                <a:spcPct val="120000"/>
              </a:lnSpc>
            </a:pPr>
            <a:r>
              <a:rPr lang="en-US" altLang="zh-CN" sz="2800" b="1" dirty="0" err="1">
                <a:solidFill>
                  <a:srgbClr val="002060"/>
                </a:solidFill>
                <a:latin typeface="+mj-ea"/>
                <a:ea typeface="+mj-ea"/>
                <a:cs typeface="Courier New" pitchFamily="49" charset="0"/>
              </a:rPr>
              <a:t>int</a:t>
            </a:r>
            <a:r>
              <a:rPr lang="en-US" altLang="zh-CN" sz="2800" b="1" dirty="0">
                <a:solidFill>
                  <a:srgbClr val="002060"/>
                </a:solidFill>
                <a:latin typeface="+mj-ea"/>
                <a:ea typeface="+mj-ea"/>
                <a:cs typeface="Courier New" pitchFamily="49" charset="0"/>
              </a:rPr>
              <a:t> </a:t>
            </a:r>
            <a:r>
              <a:rPr lang="en-US" altLang="zh-CN" sz="2800" b="1" dirty="0" err="1">
                <a:solidFill>
                  <a:srgbClr val="002060"/>
                </a:solidFill>
                <a:latin typeface="+mj-ea"/>
                <a:ea typeface="+mj-ea"/>
                <a:cs typeface="Courier New" pitchFamily="49" charset="0"/>
              </a:rPr>
              <a:t>myInt</a:t>
            </a:r>
            <a:r>
              <a:rPr lang="en-US" altLang="zh-CN" sz="2800" b="1" dirty="0">
                <a:solidFill>
                  <a:srgbClr val="002060"/>
                </a:solidFill>
                <a:latin typeface="+mj-ea"/>
                <a:ea typeface="+mj-ea"/>
                <a:cs typeface="Courier New" pitchFamily="49" charset="0"/>
              </a:rPr>
              <a:t> = ‘a’;</a:t>
            </a:r>
          </a:p>
          <a:p>
            <a:pPr lvl="1">
              <a:lnSpc>
                <a:spcPct val="120000"/>
              </a:lnSpc>
            </a:pPr>
            <a:r>
              <a:rPr lang="zh-CN" altLang="en-US" sz="2800" b="1" dirty="0">
                <a:solidFill>
                  <a:srgbClr val="002060"/>
                </a:solidFill>
                <a:latin typeface="+mj-ea"/>
                <a:ea typeface="+mj-ea"/>
              </a:rPr>
              <a:t>将字符型数据强制转换为整数</a:t>
            </a:r>
            <a:endParaRPr lang="en-US" altLang="zh-CN" sz="2800" b="1" dirty="0">
              <a:solidFill>
                <a:srgbClr val="002060"/>
              </a:solidFill>
              <a:latin typeface="+mj-ea"/>
              <a:ea typeface="+mj-ea"/>
            </a:endParaRPr>
          </a:p>
          <a:p>
            <a:pPr lvl="2">
              <a:lnSpc>
                <a:spcPct val="120000"/>
              </a:lnSpc>
            </a:pPr>
            <a:r>
              <a:rPr lang="en-US" altLang="zh-CN" sz="2800" b="1" dirty="0">
                <a:solidFill>
                  <a:srgbClr val="002060"/>
                </a:solidFill>
                <a:latin typeface="+mj-ea"/>
                <a:ea typeface="+mj-ea"/>
                <a:cs typeface="Courier New" pitchFamily="49" charset="0"/>
              </a:rPr>
              <a:t>char </a:t>
            </a:r>
            <a:r>
              <a:rPr lang="en-US" altLang="zh-CN" sz="2800" b="1" dirty="0" err="1">
                <a:solidFill>
                  <a:srgbClr val="002060"/>
                </a:solidFill>
                <a:latin typeface="+mj-ea"/>
                <a:ea typeface="+mj-ea"/>
                <a:cs typeface="Courier New" pitchFamily="49" charset="0"/>
              </a:rPr>
              <a:t>myChar</a:t>
            </a:r>
            <a:r>
              <a:rPr lang="en-US" altLang="zh-CN" sz="2800" b="1" dirty="0">
                <a:solidFill>
                  <a:srgbClr val="002060"/>
                </a:solidFill>
                <a:latin typeface="+mj-ea"/>
                <a:ea typeface="+mj-ea"/>
                <a:cs typeface="Courier New" pitchFamily="49" charset="0"/>
              </a:rPr>
              <a:t> = ‘a’;</a:t>
            </a:r>
          </a:p>
          <a:p>
            <a:pPr lvl="2">
              <a:lnSpc>
                <a:spcPct val="120000"/>
              </a:lnSpc>
            </a:pPr>
            <a:r>
              <a:rPr lang="en-US" altLang="zh-CN" sz="2800" b="1" dirty="0" err="1">
                <a:solidFill>
                  <a:srgbClr val="002060"/>
                </a:solidFill>
                <a:latin typeface="+mj-ea"/>
                <a:ea typeface="+mj-ea"/>
                <a:cs typeface="Courier New" pitchFamily="49" charset="0"/>
              </a:rPr>
              <a:t>int</a:t>
            </a:r>
            <a:r>
              <a:rPr lang="en-US" altLang="zh-CN" sz="2800" b="1" dirty="0">
                <a:solidFill>
                  <a:srgbClr val="002060"/>
                </a:solidFill>
                <a:latin typeface="+mj-ea"/>
                <a:ea typeface="+mj-ea"/>
                <a:cs typeface="Courier New" pitchFamily="49" charset="0"/>
              </a:rPr>
              <a:t> b = </a:t>
            </a:r>
            <a:r>
              <a:rPr lang="zh-CN" altLang="en-US" sz="2800" b="1" dirty="0">
                <a:solidFill>
                  <a:srgbClr val="002060"/>
                </a:solidFill>
                <a:latin typeface="+mj-ea"/>
                <a:ea typeface="+mj-ea"/>
                <a:cs typeface="Courier New" pitchFamily="49" charset="0"/>
              </a:rPr>
              <a:t>（</a:t>
            </a:r>
            <a:r>
              <a:rPr lang="en-US" altLang="zh-CN" sz="2800" b="1" dirty="0" err="1">
                <a:solidFill>
                  <a:srgbClr val="002060"/>
                </a:solidFill>
                <a:latin typeface="+mj-ea"/>
                <a:ea typeface="+mj-ea"/>
                <a:cs typeface="Courier New" pitchFamily="49" charset="0"/>
              </a:rPr>
              <a:t>int</a:t>
            </a:r>
            <a:r>
              <a:rPr lang="zh-CN" altLang="en-US" sz="2800" b="1" dirty="0">
                <a:solidFill>
                  <a:srgbClr val="002060"/>
                </a:solidFill>
                <a:latin typeface="+mj-ea"/>
                <a:ea typeface="+mj-ea"/>
                <a:cs typeface="Courier New" pitchFamily="49" charset="0"/>
              </a:rPr>
              <a:t>）</a:t>
            </a:r>
            <a:r>
              <a:rPr lang="en-US" altLang="zh-CN" sz="2800" b="1" dirty="0" err="1">
                <a:solidFill>
                  <a:srgbClr val="002060"/>
                </a:solidFill>
                <a:latin typeface="+mj-ea"/>
                <a:ea typeface="+mj-ea"/>
                <a:cs typeface="Courier New" pitchFamily="49" charset="0"/>
              </a:rPr>
              <a:t>myChar</a:t>
            </a:r>
            <a:r>
              <a:rPr lang="en-US" altLang="zh-CN" sz="2800" b="1" dirty="0">
                <a:solidFill>
                  <a:srgbClr val="002060"/>
                </a:solidFill>
                <a:latin typeface="+mj-ea"/>
                <a:ea typeface="+mj-ea"/>
                <a:cs typeface="Courier New" pitchFamily="49" charset="0"/>
              </a:rPr>
              <a:t>;</a:t>
            </a:r>
          </a:p>
          <a:p>
            <a:pPr lvl="1">
              <a:lnSpc>
                <a:spcPct val="120000"/>
              </a:lnSpc>
            </a:pPr>
            <a:r>
              <a:rPr lang="zh-CN" altLang="en-US" sz="2800" b="1" dirty="0">
                <a:solidFill>
                  <a:srgbClr val="002060"/>
                </a:solidFill>
                <a:latin typeface="+mj-ea"/>
                <a:ea typeface="+mj-ea"/>
              </a:rPr>
              <a:t>将整数强制转换为字符</a:t>
            </a:r>
            <a:endParaRPr lang="en-US" altLang="zh-CN" sz="2800" b="1" dirty="0">
              <a:solidFill>
                <a:srgbClr val="002060"/>
              </a:solidFill>
              <a:latin typeface="+mj-ea"/>
              <a:ea typeface="+mj-ea"/>
            </a:endParaRPr>
          </a:p>
          <a:p>
            <a:pPr lvl="2">
              <a:lnSpc>
                <a:spcPct val="120000"/>
              </a:lnSpc>
            </a:pPr>
            <a:r>
              <a:rPr lang="en-US" altLang="zh-CN" sz="2800" b="1" dirty="0" err="1">
                <a:solidFill>
                  <a:srgbClr val="002060"/>
                </a:solidFill>
                <a:latin typeface="+mj-ea"/>
                <a:ea typeface="+mj-ea"/>
                <a:cs typeface="Courier New" pitchFamily="49" charset="0"/>
              </a:rPr>
              <a:t>int</a:t>
            </a:r>
            <a:r>
              <a:rPr lang="en-US" altLang="zh-CN" sz="2800" b="1" dirty="0">
                <a:solidFill>
                  <a:srgbClr val="002060"/>
                </a:solidFill>
                <a:latin typeface="+mj-ea"/>
                <a:ea typeface="+mj-ea"/>
                <a:cs typeface="Courier New" pitchFamily="49" charset="0"/>
              </a:rPr>
              <a:t> </a:t>
            </a:r>
            <a:r>
              <a:rPr lang="en-US" altLang="zh-CN" sz="2800" b="1" dirty="0" err="1">
                <a:solidFill>
                  <a:srgbClr val="002060"/>
                </a:solidFill>
                <a:latin typeface="+mj-ea"/>
                <a:ea typeface="+mj-ea"/>
                <a:cs typeface="Courier New" pitchFamily="49" charset="0"/>
              </a:rPr>
              <a:t>myInt</a:t>
            </a:r>
            <a:r>
              <a:rPr lang="en-US" altLang="zh-CN" sz="2800" b="1" dirty="0">
                <a:solidFill>
                  <a:srgbClr val="002060"/>
                </a:solidFill>
                <a:latin typeface="+mj-ea"/>
                <a:ea typeface="+mj-ea"/>
                <a:cs typeface="Courier New" pitchFamily="49" charset="0"/>
              </a:rPr>
              <a:t> = 97;</a:t>
            </a:r>
          </a:p>
          <a:p>
            <a:pPr lvl="2">
              <a:lnSpc>
                <a:spcPct val="120000"/>
              </a:lnSpc>
            </a:pPr>
            <a:r>
              <a:rPr lang="en-US" altLang="zh-CN" sz="2800" b="1" dirty="0">
                <a:solidFill>
                  <a:srgbClr val="002060"/>
                </a:solidFill>
                <a:latin typeface="+mj-ea"/>
                <a:ea typeface="+mj-ea"/>
                <a:cs typeface="Courier New" pitchFamily="49" charset="0"/>
              </a:rPr>
              <a:t>char b = </a:t>
            </a:r>
            <a:r>
              <a:rPr lang="zh-CN" altLang="en-US" sz="2800" b="1" dirty="0">
                <a:solidFill>
                  <a:srgbClr val="002060"/>
                </a:solidFill>
                <a:latin typeface="+mj-ea"/>
                <a:ea typeface="+mj-ea"/>
                <a:cs typeface="Courier New" pitchFamily="49" charset="0"/>
              </a:rPr>
              <a:t>（</a:t>
            </a:r>
            <a:r>
              <a:rPr lang="en-US" altLang="zh-CN" sz="2800" b="1" dirty="0">
                <a:solidFill>
                  <a:srgbClr val="002060"/>
                </a:solidFill>
                <a:latin typeface="+mj-ea"/>
                <a:ea typeface="+mj-ea"/>
                <a:cs typeface="Courier New" pitchFamily="49" charset="0"/>
              </a:rPr>
              <a:t>char</a:t>
            </a:r>
            <a:r>
              <a:rPr lang="zh-CN" altLang="en-US" sz="2800" b="1" dirty="0">
                <a:solidFill>
                  <a:srgbClr val="002060"/>
                </a:solidFill>
                <a:latin typeface="+mj-ea"/>
                <a:ea typeface="+mj-ea"/>
                <a:cs typeface="Courier New" pitchFamily="49" charset="0"/>
              </a:rPr>
              <a:t>）</a:t>
            </a:r>
            <a:r>
              <a:rPr lang="en-US" altLang="zh-CN" sz="2800" b="1" dirty="0" err="1">
                <a:solidFill>
                  <a:srgbClr val="002060"/>
                </a:solidFill>
                <a:latin typeface="+mj-ea"/>
                <a:ea typeface="+mj-ea"/>
                <a:cs typeface="Courier New" pitchFamily="49" charset="0"/>
              </a:rPr>
              <a:t>myInt</a:t>
            </a:r>
            <a:r>
              <a:rPr lang="en-US" altLang="zh-CN" sz="2800" b="1" dirty="0">
                <a:solidFill>
                  <a:srgbClr val="002060"/>
                </a:solidFill>
                <a:latin typeface="+mj-ea"/>
                <a:ea typeface="+mj-ea"/>
                <a:cs typeface="Courier New" pitchFamily="49" charset="0"/>
              </a:rPr>
              <a:t>;</a:t>
            </a:r>
            <a:endParaRPr lang="zh-CN" altLang="en-US" b="1" dirty="0">
              <a:solidFill>
                <a:srgbClr val="002060"/>
              </a:solidFill>
              <a:latin typeface="+mj-ea"/>
              <a:ea typeface="+mj-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357158" y="214290"/>
            <a:ext cx="7239000" cy="605808"/>
          </a:xfrm>
        </p:spPr>
        <p:txBody>
          <a:bodyPr/>
          <a:lstStyle/>
          <a:p>
            <a:r>
              <a:rPr lang="zh-CN" altLang="en-US" dirty="0"/>
              <a:t>布尔型</a:t>
            </a:r>
          </a:p>
        </p:txBody>
      </p:sp>
      <p:sp>
        <p:nvSpPr>
          <p:cNvPr id="3" name="内容占位符 2"/>
          <p:cNvSpPr>
            <a:spLocks noGrp="1"/>
          </p:cNvSpPr>
          <p:nvPr>
            <p:ph idx="1"/>
          </p:nvPr>
        </p:nvSpPr>
        <p:spPr>
          <a:xfrm>
            <a:off x="404834" y="1011572"/>
            <a:ext cx="8127606" cy="4846320"/>
          </a:xfrm>
        </p:spPr>
        <p:txBody>
          <a:bodyPr/>
          <a:lstStyle/>
          <a:p>
            <a:pPr>
              <a:lnSpc>
                <a:spcPct val="120000"/>
              </a:lnSpc>
            </a:pPr>
            <a:r>
              <a:rPr lang="zh-CN" altLang="en-US" sz="3200" b="1" dirty="0">
                <a:latin typeface="+mj-ea"/>
                <a:ea typeface="+mj-ea"/>
              </a:rPr>
              <a:t>用关键字</a:t>
            </a:r>
            <a:r>
              <a:rPr lang="en-US" altLang="zh-CN" sz="3200" b="1" dirty="0" err="1">
                <a:latin typeface="+mj-ea"/>
                <a:ea typeface="+mj-ea"/>
              </a:rPr>
              <a:t>bool</a:t>
            </a:r>
            <a:r>
              <a:rPr lang="zh-CN" altLang="en-US" sz="3200" b="1" dirty="0">
                <a:latin typeface="+mj-ea"/>
                <a:ea typeface="+mj-ea"/>
              </a:rPr>
              <a:t>描述，布尔型只包含两个值</a:t>
            </a:r>
            <a:endParaRPr lang="en-US" altLang="zh-CN" sz="3200" b="1" dirty="0">
              <a:latin typeface="+mj-ea"/>
              <a:ea typeface="+mj-ea"/>
            </a:endParaRPr>
          </a:p>
          <a:p>
            <a:pPr lvl="1">
              <a:lnSpc>
                <a:spcPct val="120000"/>
              </a:lnSpc>
            </a:pPr>
            <a:r>
              <a:rPr lang="zh-CN" altLang="en-US" sz="2800" b="1" dirty="0">
                <a:solidFill>
                  <a:srgbClr val="002060"/>
                </a:solidFill>
                <a:latin typeface="+mj-ea"/>
                <a:ea typeface="+mj-ea"/>
              </a:rPr>
              <a:t>真值：</a:t>
            </a:r>
            <a:r>
              <a:rPr lang="en-US" altLang="zh-CN" sz="2800" b="1" dirty="0" err="1">
                <a:solidFill>
                  <a:srgbClr val="002060"/>
                </a:solidFill>
                <a:latin typeface="+mj-ea"/>
                <a:ea typeface="+mj-ea"/>
              </a:rPr>
              <a:t>ture</a:t>
            </a:r>
            <a:r>
              <a:rPr lang="zh-CN" altLang="en-US" sz="2800" b="1" dirty="0">
                <a:solidFill>
                  <a:srgbClr val="002060"/>
                </a:solidFill>
                <a:latin typeface="+mj-ea"/>
                <a:ea typeface="+mj-ea"/>
              </a:rPr>
              <a:t>，表示逻辑真</a:t>
            </a:r>
            <a:endParaRPr lang="en-US" altLang="zh-CN" sz="2800" b="1" dirty="0">
              <a:solidFill>
                <a:srgbClr val="002060"/>
              </a:solidFill>
              <a:latin typeface="+mj-ea"/>
              <a:ea typeface="+mj-ea"/>
            </a:endParaRPr>
          </a:p>
          <a:p>
            <a:pPr lvl="1">
              <a:lnSpc>
                <a:spcPct val="120000"/>
              </a:lnSpc>
            </a:pPr>
            <a:r>
              <a:rPr lang="zh-CN" altLang="en-US" sz="2800" b="1" dirty="0">
                <a:solidFill>
                  <a:srgbClr val="002060"/>
                </a:solidFill>
                <a:latin typeface="+mj-ea"/>
                <a:ea typeface="+mj-ea"/>
              </a:rPr>
              <a:t>假值：</a:t>
            </a:r>
            <a:r>
              <a:rPr lang="en-US" altLang="zh-CN" sz="2800" b="1" dirty="0">
                <a:solidFill>
                  <a:srgbClr val="002060"/>
                </a:solidFill>
                <a:latin typeface="+mj-ea"/>
                <a:ea typeface="+mj-ea"/>
              </a:rPr>
              <a:t>false</a:t>
            </a:r>
            <a:r>
              <a:rPr lang="zh-CN" altLang="en-US" sz="2800" b="1" dirty="0">
                <a:solidFill>
                  <a:srgbClr val="002060"/>
                </a:solidFill>
                <a:latin typeface="+mj-ea"/>
                <a:ea typeface="+mj-ea"/>
              </a:rPr>
              <a:t>，表示逻辑假</a:t>
            </a:r>
            <a:endParaRPr lang="en-US" altLang="zh-CN" sz="2800" b="1" dirty="0">
              <a:solidFill>
                <a:srgbClr val="002060"/>
              </a:solidFill>
              <a:latin typeface="+mj-ea"/>
              <a:ea typeface="+mj-ea"/>
            </a:endParaRPr>
          </a:p>
          <a:p>
            <a:pPr>
              <a:lnSpc>
                <a:spcPct val="120000"/>
              </a:lnSpc>
            </a:pPr>
            <a:r>
              <a:rPr lang="zh-CN" altLang="en-US" sz="3200" b="1" dirty="0">
                <a:latin typeface="+mj-ea"/>
                <a:ea typeface="+mj-ea"/>
              </a:rPr>
              <a:t>含义</a:t>
            </a:r>
            <a:endParaRPr lang="en-US" altLang="zh-CN" sz="3200" b="1" dirty="0">
              <a:latin typeface="+mj-ea"/>
              <a:ea typeface="+mj-ea"/>
            </a:endParaRPr>
          </a:p>
          <a:p>
            <a:pPr lvl="1">
              <a:lnSpc>
                <a:spcPct val="120000"/>
              </a:lnSpc>
            </a:pPr>
            <a:r>
              <a:rPr lang="zh-CN" altLang="en-US" sz="2800" b="1" dirty="0">
                <a:solidFill>
                  <a:srgbClr val="002060"/>
                </a:solidFill>
                <a:latin typeface="+mj-ea"/>
                <a:ea typeface="+mj-ea"/>
              </a:rPr>
              <a:t>逻辑表达式或关系表达式的值</a:t>
            </a:r>
            <a:endParaRPr lang="en-US" altLang="zh-CN" sz="2800" b="1" dirty="0">
              <a:solidFill>
                <a:srgbClr val="002060"/>
              </a:solidFill>
              <a:latin typeface="+mj-ea"/>
              <a:ea typeface="+mj-ea"/>
            </a:endParaRPr>
          </a:p>
          <a:p>
            <a:pPr lvl="1">
              <a:lnSpc>
                <a:spcPct val="120000"/>
              </a:lnSpc>
            </a:pPr>
            <a:r>
              <a:rPr lang="zh-CN" altLang="en-US" sz="2800" b="1" dirty="0">
                <a:solidFill>
                  <a:srgbClr val="002060"/>
                </a:solidFill>
                <a:latin typeface="+mj-ea"/>
                <a:ea typeface="+mj-ea"/>
              </a:rPr>
              <a:t>参加逻辑运算</a:t>
            </a:r>
            <a:endParaRPr lang="zh-CN" altLang="en-US" b="1" dirty="0">
              <a:solidFill>
                <a:srgbClr val="002060"/>
              </a:solidFill>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548680"/>
            <a:ext cx="8858280" cy="4846320"/>
          </a:xfrm>
        </p:spPr>
        <p:txBody>
          <a:bodyPr/>
          <a:lstStyle/>
          <a:p>
            <a:pPr>
              <a:lnSpc>
                <a:spcPct val="130000"/>
              </a:lnSpc>
            </a:pPr>
            <a:r>
              <a:rPr lang="zh-CN" altLang="en-US" sz="3200" b="1" dirty="0">
                <a:latin typeface="+mj-ea"/>
                <a:ea typeface="+mj-ea"/>
              </a:rPr>
              <a:t>布尔型和整型的关系</a:t>
            </a:r>
            <a:endParaRPr lang="en-US" altLang="zh-CN" sz="3200" b="1" dirty="0">
              <a:latin typeface="+mj-ea"/>
              <a:ea typeface="+mj-ea"/>
            </a:endParaRPr>
          </a:p>
          <a:p>
            <a:pPr lvl="1">
              <a:lnSpc>
                <a:spcPct val="130000"/>
              </a:lnSpc>
            </a:pPr>
            <a:r>
              <a:rPr lang="en-US" altLang="zh-CN" sz="2800" b="1" dirty="0">
                <a:solidFill>
                  <a:srgbClr val="002060"/>
                </a:solidFill>
                <a:latin typeface="+mj-ea"/>
                <a:ea typeface="+mj-ea"/>
              </a:rPr>
              <a:t>true</a:t>
            </a:r>
            <a:r>
              <a:rPr lang="zh-CN" altLang="en-US" sz="2800" b="1" dirty="0">
                <a:solidFill>
                  <a:srgbClr val="002060"/>
                </a:solidFill>
                <a:latin typeface="+mj-ea"/>
                <a:ea typeface="+mj-ea"/>
              </a:rPr>
              <a:t>与非</a:t>
            </a:r>
            <a:r>
              <a:rPr lang="en-US" altLang="zh-CN" sz="2800" b="1" dirty="0">
                <a:solidFill>
                  <a:srgbClr val="002060"/>
                </a:solidFill>
                <a:latin typeface="+mj-ea"/>
                <a:ea typeface="+mj-ea"/>
              </a:rPr>
              <a:t>0</a:t>
            </a:r>
            <a:r>
              <a:rPr lang="zh-CN" altLang="en-US" sz="2800" b="1" dirty="0">
                <a:solidFill>
                  <a:srgbClr val="002060"/>
                </a:solidFill>
                <a:latin typeface="+mj-ea"/>
                <a:ea typeface="+mj-ea"/>
              </a:rPr>
              <a:t>整数等价</a:t>
            </a:r>
            <a:endParaRPr lang="en-US" altLang="zh-CN" sz="2800" b="1" dirty="0">
              <a:solidFill>
                <a:srgbClr val="002060"/>
              </a:solidFill>
              <a:latin typeface="+mj-ea"/>
              <a:ea typeface="+mj-ea"/>
            </a:endParaRPr>
          </a:p>
          <a:p>
            <a:pPr lvl="2">
              <a:lnSpc>
                <a:spcPct val="130000"/>
              </a:lnSpc>
            </a:pPr>
            <a:r>
              <a:rPr lang="zh-CN" altLang="en-US" sz="2800" b="1" dirty="0">
                <a:latin typeface="+mj-ea"/>
                <a:ea typeface="+mj-ea"/>
              </a:rPr>
              <a:t>如果整型数据的值为</a:t>
            </a:r>
            <a:r>
              <a:rPr lang="en-US" altLang="zh-CN" sz="2800" b="1" dirty="0">
                <a:latin typeface="+mj-ea"/>
                <a:ea typeface="+mj-ea"/>
              </a:rPr>
              <a:t>-1</a:t>
            </a:r>
            <a:r>
              <a:rPr lang="zh-CN" altLang="en-US" sz="2800" b="1" dirty="0">
                <a:latin typeface="+mj-ea"/>
                <a:ea typeface="+mj-ea"/>
              </a:rPr>
              <a:t>，则其布尔值为</a:t>
            </a:r>
            <a:r>
              <a:rPr lang="en-US" altLang="zh-CN" sz="2800" b="1" dirty="0">
                <a:latin typeface="+mj-ea"/>
                <a:ea typeface="+mj-ea"/>
              </a:rPr>
              <a:t>true</a:t>
            </a:r>
          </a:p>
          <a:p>
            <a:pPr lvl="2">
              <a:lnSpc>
                <a:spcPct val="130000"/>
              </a:lnSpc>
            </a:pPr>
            <a:r>
              <a:rPr lang="zh-CN" altLang="en-US" sz="2800" b="1" dirty="0">
                <a:latin typeface="+mj-ea"/>
                <a:ea typeface="+mj-ea"/>
              </a:rPr>
              <a:t>如果某个布尔型数据的值为</a:t>
            </a:r>
            <a:r>
              <a:rPr lang="en-US" altLang="zh-CN" sz="2800" b="1" dirty="0">
                <a:latin typeface="+mj-ea"/>
                <a:ea typeface="+mj-ea"/>
              </a:rPr>
              <a:t>true</a:t>
            </a:r>
            <a:r>
              <a:rPr lang="zh-CN" altLang="en-US" sz="2800" b="1" dirty="0">
                <a:latin typeface="+mj-ea"/>
                <a:ea typeface="+mj-ea"/>
              </a:rPr>
              <a:t>，则其整数值为</a:t>
            </a:r>
            <a:r>
              <a:rPr lang="en-US" altLang="zh-CN" sz="2800" b="1" dirty="0">
                <a:latin typeface="+mj-ea"/>
                <a:ea typeface="+mj-ea"/>
              </a:rPr>
              <a:t>1</a:t>
            </a:r>
          </a:p>
          <a:p>
            <a:pPr lvl="1">
              <a:lnSpc>
                <a:spcPct val="130000"/>
              </a:lnSpc>
            </a:pPr>
            <a:r>
              <a:rPr lang="en-US" altLang="zh-CN" sz="2800" b="1" dirty="0">
                <a:solidFill>
                  <a:srgbClr val="002060"/>
                </a:solidFill>
                <a:latin typeface="+mj-ea"/>
                <a:ea typeface="+mj-ea"/>
              </a:rPr>
              <a:t>false</a:t>
            </a:r>
            <a:r>
              <a:rPr lang="zh-CN" altLang="en-US" sz="2800" b="1" dirty="0">
                <a:solidFill>
                  <a:srgbClr val="002060"/>
                </a:solidFill>
                <a:latin typeface="+mj-ea"/>
                <a:ea typeface="+mj-ea"/>
              </a:rPr>
              <a:t>与整数</a:t>
            </a:r>
            <a:r>
              <a:rPr lang="en-US" altLang="zh-CN" sz="2800" b="1" dirty="0">
                <a:solidFill>
                  <a:srgbClr val="002060"/>
                </a:solidFill>
                <a:latin typeface="+mj-ea"/>
                <a:ea typeface="+mj-ea"/>
              </a:rPr>
              <a:t>0</a:t>
            </a:r>
            <a:r>
              <a:rPr lang="zh-CN" altLang="en-US" sz="2800" b="1" dirty="0">
                <a:solidFill>
                  <a:srgbClr val="002060"/>
                </a:solidFill>
                <a:latin typeface="+mj-ea"/>
                <a:ea typeface="+mj-ea"/>
              </a:rPr>
              <a:t>等价</a:t>
            </a:r>
            <a:endParaRPr lang="en-US" altLang="zh-CN" sz="2400" b="1" dirty="0">
              <a:solidFill>
                <a:srgbClr val="002060"/>
              </a:solidFill>
              <a:latin typeface="+mj-ea"/>
              <a:ea typeface="+mj-ea"/>
            </a:endParaRPr>
          </a:p>
          <a:p>
            <a:endParaRPr lang="zh-CN" altLang="en-US" dirty="0"/>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12</a:t>
            </a:fld>
            <a:endParaRPr lang="en-US" altLang="zh-CN" dirty="0"/>
          </a:p>
        </p:txBody>
      </p:sp>
      <p:pic>
        <p:nvPicPr>
          <p:cNvPr id="10" name="Picture 2"/>
          <p:cNvPicPr>
            <a:picLocks noChangeAspect="1" noChangeArrowheads="1"/>
          </p:cNvPicPr>
          <p:nvPr/>
        </p:nvPicPr>
        <p:blipFill>
          <a:blip r:embed="rId2" cstate="print"/>
          <a:srcRect/>
          <a:stretch>
            <a:fillRect/>
          </a:stretch>
        </p:blipFill>
        <p:spPr bwMode="auto">
          <a:xfrm>
            <a:off x="1079520" y="4149948"/>
            <a:ext cx="2635250" cy="885825"/>
          </a:xfrm>
          <a:prstGeom prst="rect">
            <a:avLst/>
          </a:prstGeom>
          <a:noFill/>
          <a:ln w="9525">
            <a:miter lim="800000"/>
            <a:headEnd/>
            <a:tailEnd/>
          </a:ln>
          <a:effectLst/>
        </p:spPr>
      </p:pic>
      <p:pic>
        <p:nvPicPr>
          <p:cNvPr id="12" name="Picture 3"/>
          <p:cNvPicPr>
            <a:picLocks noChangeAspect="1" noChangeArrowheads="1"/>
          </p:cNvPicPr>
          <p:nvPr/>
        </p:nvPicPr>
        <p:blipFill>
          <a:blip r:embed="rId3" cstate="print"/>
          <a:srcRect/>
          <a:stretch>
            <a:fillRect/>
          </a:stretch>
        </p:blipFill>
        <p:spPr bwMode="auto">
          <a:xfrm>
            <a:off x="1079520" y="5221511"/>
            <a:ext cx="1712912" cy="439737"/>
          </a:xfrm>
          <a:prstGeom prst="rect">
            <a:avLst/>
          </a:prstGeom>
          <a:noFill/>
          <a:ln w="9525">
            <a:miter lim="800000"/>
            <a:headEnd/>
            <a:tailEnd/>
          </a:ln>
          <a:effectLst/>
        </p:spPr>
      </p:pic>
      <p:pic>
        <p:nvPicPr>
          <p:cNvPr id="11" name="Picture 4"/>
          <p:cNvPicPr>
            <a:picLocks noChangeAspect="1" noChangeArrowheads="1"/>
          </p:cNvPicPr>
          <p:nvPr/>
        </p:nvPicPr>
        <p:blipFill>
          <a:blip r:embed="rId4" cstate="print"/>
          <a:srcRect/>
          <a:stretch>
            <a:fillRect/>
          </a:stretch>
        </p:blipFill>
        <p:spPr bwMode="auto">
          <a:xfrm>
            <a:off x="4722832" y="4149948"/>
            <a:ext cx="2635250" cy="885825"/>
          </a:xfrm>
          <a:prstGeom prst="rect">
            <a:avLst/>
          </a:prstGeom>
          <a:noFill/>
          <a:ln w="9525">
            <a:miter lim="800000"/>
            <a:headEnd/>
            <a:tailEnd/>
          </a:ln>
          <a:effectLst/>
        </p:spPr>
      </p:pic>
      <p:pic>
        <p:nvPicPr>
          <p:cNvPr id="13" name="Picture 5"/>
          <p:cNvPicPr>
            <a:picLocks noChangeAspect="1" noChangeArrowheads="1"/>
          </p:cNvPicPr>
          <p:nvPr/>
        </p:nvPicPr>
        <p:blipFill>
          <a:blip r:embed="rId5" cstate="print"/>
          <a:srcRect/>
          <a:stretch>
            <a:fillRect/>
          </a:stretch>
        </p:blipFill>
        <p:spPr bwMode="auto">
          <a:xfrm>
            <a:off x="4722832" y="5221511"/>
            <a:ext cx="1712913" cy="439737"/>
          </a:xfrm>
          <a:prstGeom prst="rect">
            <a:avLst/>
          </a:prstGeom>
          <a:noFill/>
          <a:ln w="9525">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14290"/>
            <a:ext cx="7239000" cy="785810"/>
          </a:xfrm>
        </p:spPr>
        <p:txBody>
          <a:bodyPr/>
          <a:lstStyle/>
          <a:p>
            <a:r>
              <a:rPr lang="zh-CN" altLang="en-US" dirty="0"/>
              <a:t>无值型</a:t>
            </a:r>
          </a:p>
        </p:txBody>
      </p:sp>
      <p:sp>
        <p:nvSpPr>
          <p:cNvPr id="3" name="内容占位符 2"/>
          <p:cNvSpPr>
            <a:spLocks noGrp="1"/>
          </p:cNvSpPr>
          <p:nvPr>
            <p:ph idx="1"/>
          </p:nvPr>
        </p:nvSpPr>
        <p:spPr>
          <a:xfrm>
            <a:off x="457200" y="1083010"/>
            <a:ext cx="7239000" cy="4846320"/>
          </a:xfrm>
        </p:spPr>
        <p:txBody>
          <a:bodyPr/>
          <a:lstStyle/>
          <a:p>
            <a:pPr>
              <a:lnSpc>
                <a:spcPct val="120000"/>
              </a:lnSpc>
            </a:pPr>
            <a:r>
              <a:rPr lang="zh-CN" altLang="en-US" sz="2800" b="1" dirty="0">
                <a:latin typeface="+mj-ea"/>
                <a:ea typeface="+mj-ea"/>
              </a:rPr>
              <a:t>用关键字</a:t>
            </a:r>
            <a:r>
              <a:rPr lang="en-US" altLang="zh-CN" sz="2800" b="1" dirty="0">
                <a:latin typeface="+mj-ea"/>
                <a:ea typeface="+mj-ea"/>
              </a:rPr>
              <a:t>void</a:t>
            </a:r>
            <a:r>
              <a:rPr lang="zh-CN" altLang="en-US" sz="2800" b="1" dirty="0">
                <a:latin typeface="+mj-ea"/>
                <a:ea typeface="+mj-ea"/>
              </a:rPr>
              <a:t>描述无值型</a:t>
            </a:r>
            <a:endParaRPr lang="en-US" altLang="zh-CN" sz="2800" b="1" dirty="0">
              <a:latin typeface="+mj-ea"/>
              <a:ea typeface="+mj-ea"/>
            </a:endParaRPr>
          </a:p>
          <a:p>
            <a:pPr lvl="1">
              <a:lnSpc>
                <a:spcPct val="120000"/>
              </a:lnSpc>
            </a:pPr>
            <a:r>
              <a:rPr lang="zh-CN" altLang="en-US" sz="2400" b="1" dirty="0">
                <a:solidFill>
                  <a:srgbClr val="002060"/>
                </a:solidFill>
                <a:latin typeface="+mj-ea"/>
                <a:ea typeface="+mj-ea"/>
              </a:rPr>
              <a:t>无值型的值域为空集</a:t>
            </a:r>
            <a:endParaRPr lang="en-US" altLang="zh-CN" sz="2400" b="1" dirty="0">
              <a:solidFill>
                <a:srgbClr val="002060"/>
              </a:solidFill>
              <a:latin typeface="+mj-ea"/>
              <a:ea typeface="+mj-ea"/>
            </a:endParaRPr>
          </a:p>
          <a:p>
            <a:pPr>
              <a:lnSpc>
                <a:spcPct val="120000"/>
              </a:lnSpc>
            </a:pPr>
            <a:r>
              <a:rPr lang="zh-CN" altLang="en-US" sz="2800" b="1" dirty="0">
                <a:latin typeface="+mj-ea"/>
                <a:ea typeface="+mj-ea"/>
              </a:rPr>
              <a:t>主要应用</a:t>
            </a:r>
            <a:endParaRPr lang="en-US" altLang="zh-CN" sz="2800" b="1" dirty="0">
              <a:latin typeface="+mj-ea"/>
              <a:ea typeface="+mj-ea"/>
            </a:endParaRPr>
          </a:p>
          <a:p>
            <a:pPr lvl="1">
              <a:lnSpc>
                <a:spcPct val="120000"/>
              </a:lnSpc>
            </a:pPr>
            <a:r>
              <a:rPr lang="zh-CN" altLang="en-US" sz="2400" b="1" dirty="0">
                <a:solidFill>
                  <a:srgbClr val="002060"/>
                </a:solidFill>
                <a:latin typeface="+mj-ea"/>
                <a:ea typeface="+mj-ea"/>
              </a:rPr>
              <a:t>声明函数的返回值</a:t>
            </a:r>
            <a:endParaRPr lang="en-US" altLang="zh-CN" sz="2400" b="1" dirty="0">
              <a:solidFill>
                <a:srgbClr val="002060"/>
              </a:solidFill>
              <a:latin typeface="+mj-ea"/>
              <a:ea typeface="+mj-ea"/>
            </a:endParaRPr>
          </a:p>
          <a:p>
            <a:pPr lvl="1">
              <a:lnSpc>
                <a:spcPct val="120000"/>
              </a:lnSpc>
            </a:pPr>
            <a:r>
              <a:rPr lang="zh-CN" altLang="en-US" sz="2400" b="1" dirty="0">
                <a:solidFill>
                  <a:srgbClr val="002060"/>
                </a:solidFill>
                <a:latin typeface="+mj-ea"/>
                <a:ea typeface="+mj-ea"/>
              </a:rPr>
              <a:t>声明函数的参数</a:t>
            </a:r>
            <a:endParaRPr lang="en-US" altLang="zh-CN" sz="2400" b="1" dirty="0">
              <a:solidFill>
                <a:srgbClr val="002060"/>
              </a:solidFill>
              <a:latin typeface="+mj-ea"/>
              <a:ea typeface="+mj-ea"/>
            </a:endParaRPr>
          </a:p>
          <a:p>
            <a:pPr lvl="1">
              <a:lnSpc>
                <a:spcPct val="120000"/>
              </a:lnSpc>
            </a:pPr>
            <a:r>
              <a:rPr lang="zh-CN" altLang="en-US" sz="2400" b="1" dirty="0">
                <a:solidFill>
                  <a:srgbClr val="002060"/>
                </a:solidFill>
                <a:latin typeface="+mj-ea"/>
                <a:ea typeface="+mj-ea"/>
              </a:rPr>
              <a:t>声明指针</a:t>
            </a:r>
            <a:endParaRPr lang="en-US" altLang="zh-CN" sz="2400" b="1" dirty="0">
              <a:solidFill>
                <a:srgbClr val="002060"/>
              </a:solidFill>
              <a:latin typeface="+mj-ea"/>
              <a:ea typeface="+mj-ea"/>
            </a:endParaRPr>
          </a:p>
          <a:p>
            <a:pPr lvl="2">
              <a:lnSpc>
                <a:spcPct val="120000"/>
              </a:lnSpc>
            </a:pPr>
            <a:r>
              <a:rPr lang="en-US" altLang="zh-CN" sz="2400" b="1" dirty="0">
                <a:latin typeface="+mj-ea"/>
                <a:ea typeface="+mj-ea"/>
              </a:rPr>
              <a:t>void *&lt;</a:t>
            </a:r>
            <a:r>
              <a:rPr lang="zh-CN" altLang="en-US" sz="2400" b="1" dirty="0">
                <a:latin typeface="+mj-ea"/>
                <a:ea typeface="+mj-ea"/>
              </a:rPr>
              <a:t>指针变量名</a:t>
            </a:r>
            <a:r>
              <a:rPr lang="en-US" altLang="zh-CN" sz="2400" b="1" dirty="0">
                <a:latin typeface="+mj-ea"/>
                <a:ea typeface="+mj-ea"/>
              </a:rPr>
              <a:t>&gt;</a:t>
            </a:r>
          </a:p>
          <a:p>
            <a:pPr lvl="3">
              <a:lnSpc>
                <a:spcPct val="120000"/>
              </a:lnSpc>
            </a:pPr>
            <a:r>
              <a:rPr lang="zh-CN" altLang="en-US" sz="2400" b="1" dirty="0">
                <a:solidFill>
                  <a:srgbClr val="002060"/>
                </a:solidFill>
                <a:latin typeface="+mj-ea"/>
                <a:ea typeface="+mj-ea"/>
              </a:rPr>
              <a:t>该指针可以指向任何数据类型</a:t>
            </a:r>
            <a:endParaRPr lang="en-US" altLang="zh-CN" sz="2400" b="1" dirty="0">
              <a:solidFill>
                <a:srgbClr val="002060"/>
              </a:solidFill>
              <a:latin typeface="+mj-ea"/>
              <a:ea typeface="+mj-ea"/>
            </a:endParaRPr>
          </a:p>
          <a:p>
            <a:pPr>
              <a:lnSpc>
                <a:spcPct val="120000"/>
              </a:lnSpc>
            </a:pPr>
            <a:r>
              <a:rPr lang="zh-CN" altLang="en-US" sz="2800" b="1" dirty="0">
                <a:latin typeface="+mj-ea"/>
                <a:ea typeface="+mj-ea"/>
              </a:rPr>
              <a:t>不能用</a:t>
            </a:r>
            <a:r>
              <a:rPr lang="en-US" altLang="zh-CN" sz="2800" b="1" dirty="0">
                <a:latin typeface="+mj-ea"/>
                <a:ea typeface="+mj-ea"/>
              </a:rPr>
              <a:t>void</a:t>
            </a:r>
            <a:r>
              <a:rPr lang="zh-CN" altLang="en-US" sz="2800" b="1" dirty="0">
                <a:latin typeface="+mj-ea"/>
                <a:ea typeface="+mj-ea"/>
              </a:rPr>
              <a:t>类型声明变量</a:t>
            </a:r>
            <a:endParaRPr lang="zh-CN" altLang="en-US" b="1" dirty="0">
              <a:latin typeface="+mj-ea"/>
              <a:ea typeface="+mj-ea"/>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13</a:t>
            </a:fld>
            <a:endParaRPr lang="en-US" altLang="zh-CN" dirty="0"/>
          </a:p>
        </p:txBody>
      </p:sp>
      <p:pic>
        <p:nvPicPr>
          <p:cNvPr id="8" name="Picture 2"/>
          <p:cNvPicPr>
            <a:picLocks noChangeAspect="1" noChangeArrowheads="1"/>
          </p:cNvPicPr>
          <p:nvPr/>
        </p:nvPicPr>
        <p:blipFill>
          <a:blip r:embed="rId2" cstate="print"/>
          <a:srcRect/>
          <a:stretch>
            <a:fillRect/>
          </a:stretch>
        </p:blipFill>
        <p:spPr bwMode="auto">
          <a:xfrm>
            <a:off x="4214217" y="2880420"/>
            <a:ext cx="1538287" cy="336550"/>
          </a:xfrm>
          <a:prstGeom prst="rect">
            <a:avLst/>
          </a:prstGeom>
          <a:noFill/>
          <a:ln w="9525">
            <a:miter lim="800000"/>
            <a:headEnd/>
            <a:tailEnd/>
          </a:ln>
          <a:effectLst/>
        </p:spPr>
      </p:pic>
      <p:pic>
        <p:nvPicPr>
          <p:cNvPr id="9" name="Picture 3"/>
          <p:cNvPicPr>
            <a:picLocks noChangeAspect="1" noChangeArrowheads="1"/>
          </p:cNvPicPr>
          <p:nvPr/>
        </p:nvPicPr>
        <p:blipFill>
          <a:blip r:embed="rId3" cstate="print"/>
          <a:srcRect/>
          <a:stretch>
            <a:fillRect/>
          </a:stretch>
        </p:blipFill>
        <p:spPr bwMode="auto">
          <a:xfrm>
            <a:off x="4214217" y="3380482"/>
            <a:ext cx="2085975" cy="336550"/>
          </a:xfrm>
          <a:prstGeom prst="rect">
            <a:avLst/>
          </a:prstGeom>
          <a:noFill/>
          <a:ln w="9525">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142852"/>
            <a:ext cx="7239000" cy="677246"/>
          </a:xfrm>
        </p:spPr>
        <p:txBody>
          <a:bodyPr/>
          <a:lstStyle/>
          <a:p>
            <a:r>
              <a:rPr lang="en-US" altLang="zh-CN" dirty="0"/>
              <a:t>C++</a:t>
            </a:r>
            <a:r>
              <a:rPr lang="zh-CN" altLang="en-US" dirty="0"/>
              <a:t>语句简介</a:t>
            </a:r>
          </a:p>
        </p:txBody>
      </p:sp>
      <p:sp>
        <p:nvSpPr>
          <p:cNvPr id="3" name="内容占位符 2"/>
          <p:cNvSpPr>
            <a:spLocks noGrp="1"/>
          </p:cNvSpPr>
          <p:nvPr>
            <p:ph idx="1"/>
          </p:nvPr>
        </p:nvSpPr>
        <p:spPr>
          <a:xfrm>
            <a:off x="619148" y="928670"/>
            <a:ext cx="7985300" cy="4917758"/>
          </a:xfrm>
        </p:spPr>
        <p:txBody>
          <a:bodyPr/>
          <a:lstStyle/>
          <a:p>
            <a:pPr>
              <a:lnSpc>
                <a:spcPct val="120000"/>
              </a:lnSpc>
            </a:pPr>
            <a:r>
              <a:rPr lang="zh-CN" altLang="en-US" sz="2800" b="1" dirty="0">
                <a:latin typeface="+mj-ea"/>
                <a:ea typeface="+mj-ea"/>
              </a:rPr>
              <a:t>说明语句</a:t>
            </a:r>
            <a:endParaRPr lang="en-US" altLang="zh-CN" sz="2800" b="1" dirty="0">
              <a:latin typeface="+mj-ea"/>
              <a:ea typeface="+mj-ea"/>
            </a:endParaRPr>
          </a:p>
          <a:p>
            <a:pPr>
              <a:lnSpc>
                <a:spcPct val="120000"/>
              </a:lnSpc>
            </a:pPr>
            <a:r>
              <a:rPr lang="zh-CN" altLang="en-US" sz="2800" b="1" dirty="0">
                <a:latin typeface="+mj-ea"/>
                <a:ea typeface="+mj-ea"/>
              </a:rPr>
              <a:t>表达式语句（也称处理语句）</a:t>
            </a:r>
            <a:endParaRPr lang="en-US" altLang="zh-CN" sz="2800" b="1" dirty="0">
              <a:latin typeface="+mj-ea"/>
              <a:ea typeface="+mj-ea"/>
            </a:endParaRPr>
          </a:p>
          <a:p>
            <a:pPr lvl="1">
              <a:lnSpc>
                <a:spcPct val="120000"/>
              </a:lnSpc>
            </a:pPr>
            <a:r>
              <a:rPr lang="zh-CN" altLang="en-US" sz="2400" b="1" dirty="0">
                <a:solidFill>
                  <a:srgbClr val="002060"/>
                </a:solidFill>
                <a:latin typeface="+mj-ea"/>
                <a:ea typeface="+mj-ea"/>
              </a:rPr>
              <a:t>数学表达式</a:t>
            </a:r>
            <a:endParaRPr lang="en-US" altLang="zh-CN" sz="2400" b="1" dirty="0">
              <a:solidFill>
                <a:srgbClr val="002060"/>
              </a:solidFill>
              <a:latin typeface="+mj-ea"/>
              <a:ea typeface="+mj-ea"/>
            </a:endParaRPr>
          </a:p>
          <a:p>
            <a:pPr lvl="1">
              <a:lnSpc>
                <a:spcPct val="120000"/>
              </a:lnSpc>
            </a:pPr>
            <a:r>
              <a:rPr lang="zh-CN" altLang="en-US" sz="2400" b="1" dirty="0">
                <a:solidFill>
                  <a:srgbClr val="002060"/>
                </a:solidFill>
                <a:latin typeface="+mj-ea"/>
                <a:ea typeface="+mj-ea"/>
              </a:rPr>
              <a:t>赋值语句</a:t>
            </a:r>
            <a:endParaRPr lang="en-US" altLang="zh-CN" sz="2400" b="1" dirty="0">
              <a:solidFill>
                <a:srgbClr val="002060"/>
              </a:solidFill>
              <a:latin typeface="+mj-ea"/>
              <a:ea typeface="+mj-ea"/>
            </a:endParaRPr>
          </a:p>
          <a:p>
            <a:pPr lvl="1">
              <a:lnSpc>
                <a:spcPct val="120000"/>
              </a:lnSpc>
            </a:pPr>
            <a:r>
              <a:rPr lang="zh-CN" altLang="en-US" sz="2400" b="1" dirty="0">
                <a:solidFill>
                  <a:srgbClr val="002060"/>
                </a:solidFill>
                <a:latin typeface="+mj-ea"/>
                <a:ea typeface="+mj-ea"/>
              </a:rPr>
              <a:t>输入输出语句</a:t>
            </a:r>
            <a:endParaRPr lang="en-US" altLang="zh-CN" sz="2400" b="1" dirty="0">
              <a:solidFill>
                <a:srgbClr val="002060"/>
              </a:solidFill>
              <a:latin typeface="+mj-ea"/>
              <a:ea typeface="+mj-ea"/>
            </a:endParaRPr>
          </a:p>
          <a:p>
            <a:pPr>
              <a:lnSpc>
                <a:spcPct val="120000"/>
              </a:lnSpc>
            </a:pPr>
            <a:r>
              <a:rPr lang="zh-CN" altLang="en-US" sz="2800" b="1" dirty="0">
                <a:latin typeface="+mj-ea"/>
                <a:ea typeface="+mj-ea"/>
              </a:rPr>
              <a:t>控制语句</a:t>
            </a:r>
            <a:endParaRPr lang="en-US" altLang="zh-CN" sz="2800" b="1" dirty="0">
              <a:latin typeface="+mj-ea"/>
              <a:ea typeface="+mj-ea"/>
            </a:endParaRPr>
          </a:p>
          <a:p>
            <a:pPr lvl="1">
              <a:lnSpc>
                <a:spcPct val="120000"/>
              </a:lnSpc>
            </a:pPr>
            <a:r>
              <a:rPr lang="zh-CN" altLang="en-US" sz="2400" b="1" dirty="0">
                <a:solidFill>
                  <a:srgbClr val="002060"/>
                </a:solidFill>
                <a:latin typeface="+mj-ea"/>
                <a:ea typeface="+mj-ea"/>
              </a:rPr>
              <a:t>分支语句</a:t>
            </a:r>
            <a:endParaRPr lang="en-US" altLang="zh-CN" sz="2400" b="1" dirty="0">
              <a:solidFill>
                <a:srgbClr val="002060"/>
              </a:solidFill>
              <a:latin typeface="+mj-ea"/>
              <a:ea typeface="+mj-ea"/>
            </a:endParaRPr>
          </a:p>
          <a:p>
            <a:pPr lvl="1">
              <a:lnSpc>
                <a:spcPct val="120000"/>
              </a:lnSpc>
            </a:pPr>
            <a:r>
              <a:rPr lang="zh-CN" altLang="en-US" sz="2400" b="1" dirty="0">
                <a:solidFill>
                  <a:srgbClr val="002060"/>
                </a:solidFill>
                <a:latin typeface="+mj-ea"/>
                <a:ea typeface="+mj-ea"/>
              </a:rPr>
              <a:t>循环语句</a:t>
            </a:r>
            <a:endParaRPr lang="en-US" altLang="zh-CN" sz="2400" b="1" dirty="0">
              <a:solidFill>
                <a:srgbClr val="002060"/>
              </a:solidFill>
              <a:latin typeface="+mj-ea"/>
              <a:ea typeface="+mj-ea"/>
            </a:endParaRPr>
          </a:p>
          <a:p>
            <a:pPr>
              <a:lnSpc>
                <a:spcPct val="120000"/>
              </a:lnSpc>
            </a:pPr>
            <a:r>
              <a:rPr lang="zh-CN" altLang="en-US" sz="2800" b="1" dirty="0">
                <a:latin typeface="+mj-ea"/>
                <a:ea typeface="+mj-ea"/>
              </a:rPr>
              <a:t>复合语句和空语句</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24"/>
            <a:ext cx="7239000" cy="748684"/>
          </a:xfrm>
        </p:spPr>
        <p:txBody>
          <a:bodyPr/>
          <a:lstStyle/>
          <a:p>
            <a:r>
              <a:rPr lang="zh-CN" altLang="en-US" dirty="0"/>
              <a:t>说明语句</a:t>
            </a:r>
          </a:p>
        </p:txBody>
      </p:sp>
      <p:sp>
        <p:nvSpPr>
          <p:cNvPr id="3" name="内容占位符 2"/>
          <p:cNvSpPr>
            <a:spLocks noGrp="1"/>
          </p:cNvSpPr>
          <p:nvPr>
            <p:ph idx="1"/>
          </p:nvPr>
        </p:nvSpPr>
        <p:spPr>
          <a:xfrm>
            <a:off x="457200" y="857232"/>
            <a:ext cx="8507288" cy="4846320"/>
          </a:xfrm>
        </p:spPr>
        <p:txBody>
          <a:bodyPr>
            <a:noAutofit/>
          </a:bodyPr>
          <a:lstStyle/>
          <a:p>
            <a:pPr>
              <a:lnSpc>
                <a:spcPct val="120000"/>
              </a:lnSpc>
            </a:pPr>
            <a:r>
              <a:rPr lang="zh-CN" altLang="en-US" sz="3200" b="1" dirty="0">
                <a:latin typeface="+mj-ea"/>
                <a:ea typeface="+mj-ea"/>
              </a:rPr>
              <a:t>常量（有名常量）说明及初始化</a:t>
            </a:r>
            <a:endParaRPr lang="en-US" altLang="zh-CN" sz="3200" b="1" dirty="0">
              <a:latin typeface="+mj-ea"/>
              <a:ea typeface="+mj-ea"/>
            </a:endParaRPr>
          </a:p>
          <a:p>
            <a:pPr lvl="1">
              <a:lnSpc>
                <a:spcPct val="120000"/>
              </a:lnSpc>
            </a:pPr>
            <a:r>
              <a:rPr lang="en-US" altLang="zh-CN" sz="2800" b="1" dirty="0">
                <a:solidFill>
                  <a:srgbClr val="002060"/>
                </a:solidFill>
                <a:latin typeface="+mj-ea"/>
                <a:ea typeface="+mj-ea"/>
              </a:rPr>
              <a:t>const &lt;</a:t>
            </a:r>
            <a:r>
              <a:rPr lang="zh-CN" altLang="en-US" sz="2800" b="1" dirty="0">
                <a:solidFill>
                  <a:srgbClr val="002060"/>
                </a:solidFill>
                <a:latin typeface="+mj-ea"/>
                <a:ea typeface="+mj-ea"/>
              </a:rPr>
              <a:t>数据类型</a:t>
            </a:r>
            <a:r>
              <a:rPr lang="en-US" altLang="zh-CN" sz="2800" b="1" dirty="0">
                <a:solidFill>
                  <a:srgbClr val="002060"/>
                </a:solidFill>
                <a:latin typeface="+mj-ea"/>
                <a:ea typeface="+mj-ea"/>
              </a:rPr>
              <a:t>&gt; &lt;</a:t>
            </a:r>
            <a:r>
              <a:rPr lang="zh-CN" altLang="en-US" sz="2800" b="1" dirty="0">
                <a:solidFill>
                  <a:srgbClr val="002060"/>
                </a:solidFill>
                <a:latin typeface="+mj-ea"/>
                <a:ea typeface="+mj-ea"/>
              </a:rPr>
              <a:t>常量名</a:t>
            </a:r>
            <a:r>
              <a:rPr lang="en-US" altLang="zh-CN" sz="2800" b="1" dirty="0">
                <a:solidFill>
                  <a:srgbClr val="002060"/>
                </a:solidFill>
                <a:latin typeface="+mj-ea"/>
                <a:ea typeface="+mj-ea"/>
              </a:rPr>
              <a:t>&gt; = &lt;</a:t>
            </a:r>
            <a:r>
              <a:rPr lang="zh-CN" altLang="en-US" sz="2800" b="1" dirty="0">
                <a:solidFill>
                  <a:srgbClr val="002060"/>
                </a:solidFill>
                <a:latin typeface="+mj-ea"/>
                <a:ea typeface="+mj-ea"/>
              </a:rPr>
              <a:t>表达式</a:t>
            </a:r>
            <a:r>
              <a:rPr lang="en-US" altLang="zh-CN" sz="2800" b="1" dirty="0">
                <a:solidFill>
                  <a:srgbClr val="002060"/>
                </a:solidFill>
                <a:latin typeface="+mj-ea"/>
                <a:ea typeface="+mj-ea"/>
              </a:rPr>
              <a:t>&gt;</a:t>
            </a:r>
            <a:endParaRPr lang="zh-CN" altLang="en-US" sz="2800" b="1" dirty="0">
              <a:solidFill>
                <a:srgbClr val="002060"/>
              </a:solidFill>
              <a:latin typeface="+mj-ea"/>
              <a:ea typeface="+mj-ea"/>
            </a:endParaRPr>
          </a:p>
          <a:p>
            <a:pPr lvl="2">
              <a:lnSpc>
                <a:spcPct val="120000"/>
              </a:lnSpc>
            </a:pPr>
            <a:r>
              <a:rPr lang="zh-CN" altLang="en-US" sz="2800" b="1" dirty="0">
                <a:latin typeface="+mj-ea"/>
                <a:ea typeface="+mj-ea"/>
              </a:rPr>
              <a:t>类型名，即数据类型</a:t>
            </a:r>
            <a:endParaRPr lang="en-US" altLang="zh-CN" sz="2800" b="1" dirty="0">
              <a:latin typeface="+mj-ea"/>
              <a:ea typeface="+mj-ea"/>
            </a:endParaRPr>
          </a:p>
          <a:p>
            <a:pPr lvl="2">
              <a:lnSpc>
                <a:spcPct val="120000"/>
              </a:lnSpc>
            </a:pPr>
            <a:r>
              <a:rPr lang="zh-CN" altLang="en-US" sz="2800" b="1" dirty="0">
                <a:latin typeface="+mj-ea"/>
                <a:ea typeface="+mj-ea"/>
              </a:rPr>
              <a:t>常量名是标识符</a:t>
            </a:r>
            <a:endParaRPr lang="en-US" altLang="zh-CN" sz="2800" b="1" dirty="0">
              <a:latin typeface="+mj-ea"/>
              <a:ea typeface="+mj-ea"/>
            </a:endParaRPr>
          </a:p>
          <a:p>
            <a:pPr lvl="2">
              <a:lnSpc>
                <a:spcPct val="120000"/>
              </a:lnSpc>
            </a:pPr>
            <a:r>
              <a:rPr lang="zh-CN" altLang="en-US" sz="2800" b="1" dirty="0">
                <a:latin typeface="+mj-ea"/>
                <a:ea typeface="+mj-ea"/>
              </a:rPr>
              <a:t>表达式的类型与常量类型一致</a:t>
            </a:r>
            <a:endParaRPr lang="en-US" altLang="zh-CN" sz="2800" b="1" dirty="0">
              <a:latin typeface="+mj-ea"/>
              <a:ea typeface="+mj-ea"/>
            </a:endParaRPr>
          </a:p>
          <a:p>
            <a:pPr lvl="1">
              <a:lnSpc>
                <a:spcPct val="120000"/>
              </a:lnSpc>
            </a:pPr>
            <a:r>
              <a:rPr lang="zh-CN" altLang="en-US" sz="2800" b="1" dirty="0">
                <a:solidFill>
                  <a:srgbClr val="002060"/>
                </a:solidFill>
                <a:latin typeface="+mj-ea"/>
                <a:ea typeface="+mj-ea"/>
              </a:rPr>
              <a:t>宏替换定义常量</a:t>
            </a:r>
            <a:endParaRPr lang="en-US" altLang="zh-CN" sz="2800" b="1" dirty="0">
              <a:solidFill>
                <a:srgbClr val="002060"/>
              </a:solidFill>
              <a:latin typeface="+mj-ea"/>
              <a:ea typeface="+mj-ea"/>
            </a:endParaRPr>
          </a:p>
          <a:p>
            <a:pPr lvl="2">
              <a:lnSpc>
                <a:spcPct val="120000"/>
              </a:lnSpc>
            </a:pPr>
            <a:r>
              <a:rPr lang="zh-CN" altLang="en-US" sz="2800" b="1" dirty="0">
                <a:latin typeface="+mj-ea"/>
                <a:ea typeface="+mj-ea"/>
              </a:rPr>
              <a:t>字符串替换，没有数据类型，不分配存储空间</a:t>
            </a:r>
            <a:endParaRPr lang="en-US" altLang="zh-CN" sz="2800" b="1" dirty="0">
              <a:latin typeface="+mj-ea"/>
              <a:ea typeface="+mj-ea"/>
            </a:endParaRPr>
          </a:p>
          <a:p>
            <a:pPr lvl="2">
              <a:lnSpc>
                <a:spcPct val="120000"/>
              </a:lnSpc>
            </a:pPr>
            <a:r>
              <a:rPr lang="en-US" altLang="zh-CN" sz="2800" b="1" dirty="0">
                <a:solidFill>
                  <a:srgbClr val="C00000"/>
                </a:solidFill>
                <a:latin typeface="+mj-ea"/>
                <a:ea typeface="+mj-ea"/>
              </a:rPr>
              <a:t>#define &lt;</a:t>
            </a:r>
            <a:r>
              <a:rPr lang="zh-CN" altLang="en-US" sz="2800" b="1" dirty="0">
                <a:solidFill>
                  <a:srgbClr val="C00000"/>
                </a:solidFill>
                <a:latin typeface="+mj-ea"/>
                <a:ea typeface="+mj-ea"/>
              </a:rPr>
              <a:t>常量名</a:t>
            </a:r>
            <a:r>
              <a:rPr lang="en-US" altLang="zh-CN" sz="2800" b="1" dirty="0">
                <a:solidFill>
                  <a:srgbClr val="C00000"/>
                </a:solidFill>
                <a:latin typeface="+mj-ea"/>
                <a:ea typeface="+mj-ea"/>
              </a:rPr>
              <a:t>&gt; &lt;</a:t>
            </a:r>
            <a:r>
              <a:rPr lang="zh-CN" altLang="en-US" sz="2800" b="1" dirty="0">
                <a:solidFill>
                  <a:srgbClr val="C00000"/>
                </a:solidFill>
                <a:latin typeface="+mj-ea"/>
                <a:ea typeface="+mj-ea"/>
              </a:rPr>
              <a:t>表达式</a:t>
            </a:r>
            <a:r>
              <a:rPr lang="en-US" altLang="zh-CN" sz="2800" b="1" dirty="0">
                <a:solidFill>
                  <a:srgbClr val="C00000"/>
                </a:solidFill>
                <a:latin typeface="+mj-ea"/>
                <a:ea typeface="+mj-ea"/>
              </a:rPr>
              <a:t>&gt;</a:t>
            </a: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15</a:t>
            </a:fld>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7110"/>
            <a:ext cx="7239000" cy="748684"/>
          </a:xfrm>
        </p:spPr>
        <p:txBody>
          <a:bodyPr>
            <a:normAutofit/>
          </a:bodyPr>
          <a:lstStyle/>
          <a:p>
            <a:r>
              <a:rPr lang="zh-CN" altLang="en-US" dirty="0"/>
              <a:t>说明语句</a:t>
            </a:r>
          </a:p>
        </p:txBody>
      </p:sp>
      <p:sp>
        <p:nvSpPr>
          <p:cNvPr id="3" name="内容占位符 2"/>
          <p:cNvSpPr>
            <a:spLocks noGrp="1"/>
          </p:cNvSpPr>
          <p:nvPr>
            <p:ph idx="1"/>
          </p:nvPr>
        </p:nvSpPr>
        <p:spPr>
          <a:xfrm>
            <a:off x="457200" y="857232"/>
            <a:ext cx="7239000" cy="4846320"/>
          </a:xfrm>
        </p:spPr>
        <p:txBody>
          <a:bodyPr>
            <a:normAutofit/>
          </a:bodyPr>
          <a:lstStyle/>
          <a:p>
            <a:pPr>
              <a:lnSpc>
                <a:spcPct val="120000"/>
              </a:lnSpc>
            </a:pPr>
            <a:r>
              <a:rPr lang="zh-CN" altLang="en-US" sz="3200" b="1" dirty="0">
                <a:latin typeface="+mj-ea"/>
                <a:ea typeface="+mj-ea"/>
              </a:rPr>
              <a:t>变量说明语句</a:t>
            </a:r>
            <a:endParaRPr lang="en-US" altLang="zh-CN" sz="3200" b="1" dirty="0">
              <a:latin typeface="+mj-ea"/>
              <a:ea typeface="+mj-ea"/>
            </a:endParaRPr>
          </a:p>
          <a:p>
            <a:pPr lvl="1">
              <a:lnSpc>
                <a:spcPct val="120000"/>
              </a:lnSpc>
            </a:pPr>
            <a:r>
              <a:rPr lang="en-US" altLang="zh-CN" sz="2800" b="1" dirty="0">
                <a:solidFill>
                  <a:srgbClr val="002060"/>
                </a:solidFill>
                <a:latin typeface="+mj-ea"/>
                <a:ea typeface="+mj-ea"/>
              </a:rPr>
              <a:t>[</a:t>
            </a:r>
            <a:r>
              <a:rPr lang="zh-CN" altLang="en-US" sz="2800" b="1" dirty="0">
                <a:solidFill>
                  <a:srgbClr val="002060"/>
                </a:solidFill>
                <a:latin typeface="+mj-ea"/>
                <a:ea typeface="+mj-ea"/>
              </a:rPr>
              <a:t>存储类型</a:t>
            </a:r>
            <a:r>
              <a:rPr lang="en-US" altLang="zh-CN" sz="2800" b="1" dirty="0">
                <a:solidFill>
                  <a:srgbClr val="002060"/>
                </a:solidFill>
                <a:latin typeface="+mj-ea"/>
                <a:ea typeface="+mj-ea"/>
              </a:rPr>
              <a:t>]  &lt;</a:t>
            </a:r>
            <a:r>
              <a:rPr lang="zh-CN" altLang="en-US" sz="2800" b="1" dirty="0">
                <a:solidFill>
                  <a:srgbClr val="002060"/>
                </a:solidFill>
                <a:latin typeface="+mj-ea"/>
                <a:ea typeface="+mj-ea"/>
              </a:rPr>
              <a:t>数据类型</a:t>
            </a:r>
            <a:r>
              <a:rPr lang="en-US" altLang="zh-CN" sz="2800" b="1" dirty="0">
                <a:solidFill>
                  <a:srgbClr val="002060"/>
                </a:solidFill>
                <a:latin typeface="+mj-ea"/>
                <a:ea typeface="+mj-ea"/>
              </a:rPr>
              <a:t>&gt; &lt;</a:t>
            </a:r>
            <a:r>
              <a:rPr lang="zh-CN" altLang="en-US" sz="2800" b="1" dirty="0">
                <a:solidFill>
                  <a:srgbClr val="002060"/>
                </a:solidFill>
                <a:latin typeface="+mj-ea"/>
                <a:ea typeface="+mj-ea"/>
              </a:rPr>
              <a:t>变量名表</a:t>
            </a:r>
            <a:r>
              <a:rPr lang="en-US" altLang="zh-CN" sz="2800" b="1" dirty="0">
                <a:solidFill>
                  <a:srgbClr val="002060"/>
                </a:solidFill>
                <a:latin typeface="+mj-ea"/>
                <a:ea typeface="+mj-ea"/>
              </a:rPr>
              <a:t>&gt;;</a:t>
            </a:r>
          </a:p>
          <a:p>
            <a:pPr>
              <a:lnSpc>
                <a:spcPct val="120000"/>
              </a:lnSpc>
            </a:pPr>
            <a:r>
              <a:rPr lang="zh-CN" altLang="en-US" sz="3200" b="1" dirty="0">
                <a:latin typeface="+mj-ea"/>
                <a:ea typeface="+mj-ea"/>
              </a:rPr>
              <a:t>变量名表</a:t>
            </a:r>
            <a:endParaRPr lang="en-US" altLang="zh-CN" sz="3200" b="1" dirty="0">
              <a:latin typeface="+mj-ea"/>
              <a:ea typeface="+mj-ea"/>
            </a:endParaRPr>
          </a:p>
          <a:p>
            <a:pPr lvl="1">
              <a:lnSpc>
                <a:spcPct val="120000"/>
              </a:lnSpc>
            </a:pPr>
            <a:r>
              <a:rPr lang="zh-CN" altLang="en-US" sz="2800" b="1" dirty="0">
                <a:solidFill>
                  <a:srgbClr val="002060"/>
                </a:solidFill>
                <a:latin typeface="+mj-ea"/>
                <a:ea typeface="+mj-ea"/>
              </a:rPr>
              <a:t>可以完成对变量的初始化</a:t>
            </a:r>
            <a:endParaRPr lang="en-US" altLang="zh-CN" sz="2800" b="1" dirty="0">
              <a:solidFill>
                <a:srgbClr val="002060"/>
              </a:solidFill>
              <a:latin typeface="+mj-ea"/>
              <a:ea typeface="+mj-ea"/>
            </a:endParaRPr>
          </a:p>
          <a:p>
            <a:pPr lvl="1">
              <a:lnSpc>
                <a:spcPct val="120000"/>
              </a:lnSpc>
            </a:pPr>
            <a:r>
              <a:rPr lang="zh-CN" altLang="en-US" sz="2800" b="1" dirty="0">
                <a:solidFill>
                  <a:srgbClr val="002060"/>
                </a:solidFill>
                <a:latin typeface="+mj-ea"/>
                <a:ea typeface="+mj-ea"/>
              </a:rPr>
              <a:t>格式</a:t>
            </a:r>
            <a:endParaRPr lang="en-US" altLang="zh-CN" sz="2800" b="1" dirty="0">
              <a:solidFill>
                <a:srgbClr val="002060"/>
              </a:solidFill>
              <a:latin typeface="+mj-ea"/>
              <a:ea typeface="+mj-ea"/>
            </a:endParaRPr>
          </a:p>
          <a:p>
            <a:pPr lvl="2">
              <a:lnSpc>
                <a:spcPct val="120000"/>
              </a:lnSpc>
            </a:pPr>
            <a:r>
              <a:rPr lang="en-US" altLang="zh-CN" sz="2800" b="1" dirty="0">
                <a:latin typeface="+mj-ea"/>
                <a:ea typeface="+mj-ea"/>
              </a:rPr>
              <a:t>&lt;</a:t>
            </a:r>
            <a:r>
              <a:rPr lang="zh-CN" altLang="en-US" sz="2800" b="1" dirty="0">
                <a:latin typeface="+mj-ea"/>
                <a:ea typeface="+mj-ea"/>
              </a:rPr>
              <a:t>变量名</a:t>
            </a:r>
            <a:r>
              <a:rPr lang="en-US" altLang="zh-CN" sz="2800" b="1" dirty="0">
                <a:latin typeface="+mj-ea"/>
                <a:ea typeface="+mj-ea"/>
              </a:rPr>
              <a:t>&gt;[ = &lt;</a:t>
            </a:r>
            <a:r>
              <a:rPr lang="zh-CN" altLang="en-US" sz="2800" b="1" dirty="0">
                <a:latin typeface="+mj-ea"/>
                <a:ea typeface="+mj-ea"/>
              </a:rPr>
              <a:t>表达式</a:t>
            </a:r>
            <a:r>
              <a:rPr lang="en-US" altLang="zh-CN" sz="2800" b="1" dirty="0">
                <a:latin typeface="+mj-ea"/>
                <a:ea typeface="+mj-ea"/>
              </a:rPr>
              <a:t>&gt;], &lt;</a:t>
            </a:r>
            <a:r>
              <a:rPr lang="zh-CN" altLang="en-US" sz="2800" b="1" dirty="0">
                <a:latin typeface="+mj-ea"/>
                <a:ea typeface="+mj-ea"/>
              </a:rPr>
              <a:t>变量名表</a:t>
            </a:r>
            <a:r>
              <a:rPr lang="en-US" altLang="zh-CN" sz="2800" b="1" dirty="0">
                <a:latin typeface="+mj-ea"/>
                <a:ea typeface="+mj-ea"/>
              </a:rPr>
              <a:t>&gt;;</a:t>
            </a:r>
          </a:p>
          <a:p>
            <a:pPr>
              <a:lnSpc>
                <a:spcPct val="120000"/>
              </a:lnSpc>
            </a:pPr>
            <a:r>
              <a:rPr lang="zh-CN" altLang="en-US" sz="3200" b="1" dirty="0">
                <a:latin typeface="+mj-ea"/>
                <a:ea typeface="+mj-ea"/>
              </a:rPr>
              <a:t>举例</a:t>
            </a: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16</a:t>
            </a:fld>
            <a:endParaRPr lang="en-US" altLang="zh-CN" dirty="0"/>
          </a:p>
        </p:txBody>
      </p:sp>
      <p:pic>
        <p:nvPicPr>
          <p:cNvPr id="7" name="Picture 2"/>
          <p:cNvPicPr>
            <a:picLocks noChangeAspect="1" noChangeArrowheads="1"/>
          </p:cNvPicPr>
          <p:nvPr/>
        </p:nvPicPr>
        <p:blipFill>
          <a:blip r:embed="rId2" cstate="print"/>
          <a:srcRect/>
          <a:stretch>
            <a:fillRect/>
          </a:stretch>
        </p:blipFill>
        <p:spPr bwMode="auto">
          <a:xfrm>
            <a:off x="1709787" y="5086251"/>
            <a:ext cx="3870325" cy="935037"/>
          </a:xfrm>
          <a:prstGeom prst="rect">
            <a:avLst/>
          </a:prstGeom>
          <a:noFill/>
          <a:ln w="9525">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运算符</a:t>
            </a:r>
          </a:p>
        </p:txBody>
      </p:sp>
      <p:sp>
        <p:nvSpPr>
          <p:cNvPr id="3" name="内容占位符 2"/>
          <p:cNvSpPr>
            <a:spLocks noGrp="1"/>
          </p:cNvSpPr>
          <p:nvPr>
            <p:ph idx="1"/>
          </p:nvPr>
        </p:nvSpPr>
        <p:spPr>
          <a:xfrm>
            <a:off x="323528" y="928670"/>
            <a:ext cx="8820472" cy="5527066"/>
          </a:xfrm>
        </p:spPr>
        <p:txBody>
          <a:bodyPr/>
          <a:lstStyle/>
          <a:p>
            <a:pPr>
              <a:lnSpc>
                <a:spcPct val="130000"/>
              </a:lnSpc>
            </a:pPr>
            <a:r>
              <a:rPr lang="zh-CN" altLang="en-US" sz="2800" b="1" dirty="0">
                <a:latin typeface="+mj-ea"/>
                <a:ea typeface="+mj-ea"/>
              </a:rPr>
              <a:t>运算符含义由</a:t>
            </a:r>
            <a:r>
              <a:rPr lang="zh-CN" altLang="en-US" sz="2800" b="1" dirty="0">
                <a:solidFill>
                  <a:srgbClr val="002060"/>
                </a:solidFill>
                <a:latin typeface="+mj-ea"/>
                <a:ea typeface="+mj-ea"/>
              </a:rPr>
              <a:t>系统预设</a:t>
            </a:r>
            <a:endParaRPr lang="en-US" altLang="zh-CN" sz="2800" b="1" dirty="0">
              <a:solidFill>
                <a:srgbClr val="002060"/>
              </a:solidFill>
              <a:latin typeface="+mj-ea"/>
              <a:ea typeface="+mj-ea"/>
            </a:endParaRPr>
          </a:p>
          <a:p>
            <a:pPr>
              <a:lnSpc>
                <a:spcPct val="130000"/>
              </a:lnSpc>
            </a:pPr>
            <a:r>
              <a:rPr lang="zh-CN" altLang="en-US" sz="2800" b="1" dirty="0">
                <a:latin typeface="+mj-ea"/>
                <a:ea typeface="+mj-ea"/>
              </a:rPr>
              <a:t>对基本数据类型及其派生类型的数据进行运算</a:t>
            </a:r>
            <a:endParaRPr lang="en-US" altLang="zh-CN" sz="2800" b="1" dirty="0">
              <a:latin typeface="+mj-ea"/>
              <a:ea typeface="+mj-ea"/>
            </a:endParaRPr>
          </a:p>
          <a:p>
            <a:pPr>
              <a:lnSpc>
                <a:spcPct val="130000"/>
              </a:lnSpc>
            </a:pPr>
            <a:r>
              <a:rPr lang="zh-CN" altLang="en-US" sz="2800" b="1" dirty="0">
                <a:latin typeface="+mj-ea"/>
                <a:ea typeface="+mj-ea"/>
              </a:rPr>
              <a:t>某些运算符可以</a:t>
            </a:r>
            <a:r>
              <a:rPr lang="zh-CN" altLang="en-US" sz="2800" b="1" dirty="0">
                <a:solidFill>
                  <a:srgbClr val="002060"/>
                </a:solidFill>
                <a:latin typeface="+mj-ea"/>
                <a:ea typeface="+mj-ea"/>
              </a:rPr>
              <a:t>一符多用</a:t>
            </a:r>
            <a:r>
              <a:rPr lang="zh-CN" altLang="en-US" sz="2800" b="1" dirty="0">
                <a:latin typeface="+mj-ea"/>
                <a:ea typeface="+mj-ea"/>
              </a:rPr>
              <a:t>，如</a:t>
            </a:r>
            <a:r>
              <a:rPr lang="en-US" altLang="zh-CN" sz="2800" b="1" dirty="0">
                <a:latin typeface="+mj-ea"/>
                <a:ea typeface="+mj-ea"/>
              </a:rPr>
              <a:t>*</a:t>
            </a:r>
            <a:r>
              <a:rPr lang="zh-CN" altLang="en-US" sz="2800" b="1" dirty="0">
                <a:latin typeface="+mj-ea"/>
                <a:ea typeface="+mj-ea"/>
              </a:rPr>
              <a:t>、</a:t>
            </a:r>
            <a:r>
              <a:rPr lang="en-US" altLang="zh-CN" sz="2800" b="1" dirty="0">
                <a:latin typeface="+mj-ea"/>
                <a:ea typeface="+mj-ea"/>
              </a:rPr>
              <a:t>&amp;</a:t>
            </a:r>
            <a:r>
              <a:rPr lang="zh-CN" altLang="en-US" sz="2800" b="1" dirty="0">
                <a:latin typeface="+mj-ea"/>
                <a:ea typeface="+mj-ea"/>
              </a:rPr>
              <a:t>等</a:t>
            </a:r>
            <a:endParaRPr lang="en-US" altLang="zh-CN" sz="2800" b="1" dirty="0">
              <a:latin typeface="+mj-ea"/>
              <a:ea typeface="+mj-ea"/>
            </a:endParaRPr>
          </a:p>
          <a:p>
            <a:pPr>
              <a:lnSpc>
                <a:spcPct val="130000"/>
              </a:lnSpc>
            </a:pPr>
            <a:r>
              <a:rPr lang="zh-CN" altLang="en-US" sz="2800" b="1" dirty="0">
                <a:latin typeface="+mj-ea"/>
                <a:ea typeface="+mj-ea"/>
              </a:rPr>
              <a:t>每一类运算符都可以构成相应类型的表达式</a:t>
            </a:r>
            <a:endParaRPr lang="en-US" altLang="zh-CN" sz="2800" b="1" dirty="0">
              <a:latin typeface="+mj-ea"/>
              <a:ea typeface="+mj-ea"/>
            </a:endParaRPr>
          </a:p>
          <a:p>
            <a:pPr>
              <a:lnSpc>
                <a:spcPct val="130000"/>
              </a:lnSpc>
            </a:pPr>
            <a:r>
              <a:rPr lang="zh-CN" altLang="en-US" sz="2800" b="1" dirty="0">
                <a:latin typeface="+mj-ea"/>
                <a:ea typeface="+mj-ea"/>
              </a:rPr>
              <a:t>不同类的运算符可以放在一起构造复合运算的表达式</a:t>
            </a:r>
            <a:endParaRPr lang="en-US" altLang="zh-CN" sz="2800" b="1" dirty="0">
              <a:latin typeface="+mj-ea"/>
              <a:ea typeface="+mj-ea"/>
            </a:endParaRPr>
          </a:p>
          <a:p>
            <a:pPr>
              <a:lnSpc>
                <a:spcPct val="130000"/>
              </a:lnSpc>
            </a:pPr>
            <a:r>
              <a:rPr lang="zh-CN" altLang="en-US" sz="2800" b="1" dirty="0">
                <a:latin typeface="+mj-ea"/>
                <a:ea typeface="+mj-ea"/>
              </a:rPr>
              <a:t>运算符可以</a:t>
            </a:r>
            <a:r>
              <a:rPr lang="zh-CN" altLang="en-US" sz="2800" b="1" dirty="0">
                <a:solidFill>
                  <a:srgbClr val="C00000"/>
                </a:solidFill>
                <a:latin typeface="+mj-ea"/>
                <a:ea typeface="+mj-ea"/>
              </a:rPr>
              <a:t>重载</a:t>
            </a:r>
            <a:endParaRPr lang="en-US" altLang="zh-CN" b="1" dirty="0">
              <a:solidFill>
                <a:srgbClr val="C00000"/>
              </a:solidFill>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表达式</a:t>
            </a:r>
          </a:p>
        </p:txBody>
      </p:sp>
      <p:sp>
        <p:nvSpPr>
          <p:cNvPr id="3" name="内容占位符 2"/>
          <p:cNvSpPr>
            <a:spLocks noGrp="1"/>
          </p:cNvSpPr>
          <p:nvPr>
            <p:ph idx="1"/>
          </p:nvPr>
        </p:nvSpPr>
        <p:spPr>
          <a:xfrm>
            <a:off x="457200" y="928670"/>
            <a:ext cx="8507288" cy="5527066"/>
          </a:xfrm>
        </p:spPr>
        <p:txBody>
          <a:bodyPr>
            <a:normAutofit/>
          </a:bodyPr>
          <a:lstStyle/>
          <a:p>
            <a:pPr>
              <a:lnSpc>
                <a:spcPct val="130000"/>
              </a:lnSpc>
            </a:pPr>
            <a:r>
              <a:rPr lang="zh-CN" altLang="en-US" sz="3200" b="1" dirty="0">
                <a:latin typeface="+mj-ea"/>
                <a:ea typeface="+mj-ea"/>
              </a:rPr>
              <a:t>由</a:t>
            </a:r>
            <a:r>
              <a:rPr lang="zh-CN" altLang="en-US" sz="3200" b="1" dirty="0">
                <a:solidFill>
                  <a:srgbClr val="C00000"/>
                </a:solidFill>
                <a:latin typeface="+mj-ea"/>
                <a:ea typeface="+mj-ea"/>
              </a:rPr>
              <a:t>运算分量</a:t>
            </a:r>
            <a:r>
              <a:rPr lang="zh-CN" altLang="en-US" sz="3200" b="1" dirty="0">
                <a:latin typeface="+mj-ea"/>
                <a:ea typeface="+mj-ea"/>
              </a:rPr>
              <a:t>和</a:t>
            </a:r>
            <a:r>
              <a:rPr lang="zh-CN" altLang="en-US" sz="3200" b="1" dirty="0">
                <a:solidFill>
                  <a:srgbClr val="C00000"/>
                </a:solidFill>
                <a:latin typeface="+mj-ea"/>
                <a:ea typeface="+mj-ea"/>
              </a:rPr>
              <a:t>运算符</a:t>
            </a:r>
            <a:r>
              <a:rPr lang="zh-CN" altLang="en-US" sz="3200" b="1" dirty="0">
                <a:latin typeface="+mj-ea"/>
                <a:ea typeface="+mj-ea"/>
              </a:rPr>
              <a:t>按一定规则组成</a:t>
            </a:r>
            <a:endParaRPr lang="en-US" altLang="zh-CN" sz="3200" b="1" dirty="0">
              <a:latin typeface="+mj-ea"/>
              <a:ea typeface="+mj-ea"/>
            </a:endParaRPr>
          </a:p>
          <a:p>
            <a:pPr lvl="1">
              <a:lnSpc>
                <a:spcPct val="130000"/>
              </a:lnSpc>
            </a:pPr>
            <a:r>
              <a:rPr lang="zh-CN" altLang="en-US" sz="2800" b="1" dirty="0">
                <a:solidFill>
                  <a:srgbClr val="002060"/>
                </a:solidFill>
                <a:latin typeface="+mj-ea"/>
                <a:ea typeface="+mj-ea"/>
              </a:rPr>
              <a:t>运算分量是运算符操作的对象，通常是各种类型的数据</a:t>
            </a:r>
            <a:endParaRPr lang="en-US" altLang="zh-CN" sz="2800" b="1" dirty="0">
              <a:solidFill>
                <a:srgbClr val="002060"/>
              </a:solidFill>
              <a:latin typeface="+mj-ea"/>
              <a:ea typeface="+mj-ea"/>
            </a:endParaRPr>
          </a:p>
          <a:p>
            <a:pPr>
              <a:lnSpc>
                <a:spcPct val="130000"/>
              </a:lnSpc>
            </a:pPr>
            <a:r>
              <a:rPr lang="zh-CN" altLang="en-US" sz="3200" b="1" dirty="0">
                <a:latin typeface="+mj-ea"/>
                <a:ea typeface="+mj-ea"/>
              </a:rPr>
              <a:t>运算符指明表达式的类型</a:t>
            </a:r>
            <a:endParaRPr lang="en-US" altLang="zh-CN" sz="3200" b="1" dirty="0">
              <a:latin typeface="+mj-ea"/>
              <a:ea typeface="+mj-ea"/>
            </a:endParaRPr>
          </a:p>
          <a:p>
            <a:pPr>
              <a:lnSpc>
                <a:spcPct val="130000"/>
              </a:lnSpc>
            </a:pPr>
            <a:r>
              <a:rPr lang="zh-CN" altLang="en-US" sz="3200" b="1" dirty="0">
                <a:latin typeface="+mj-ea"/>
                <a:ea typeface="+mj-ea"/>
              </a:rPr>
              <a:t>表达式的运算结果是一个</a:t>
            </a:r>
            <a:r>
              <a:rPr lang="zh-CN" altLang="en-US" sz="3200" b="1" dirty="0">
                <a:solidFill>
                  <a:srgbClr val="C00000"/>
                </a:solidFill>
                <a:latin typeface="+mj-ea"/>
                <a:ea typeface="+mj-ea"/>
              </a:rPr>
              <a:t>值</a:t>
            </a:r>
            <a:r>
              <a:rPr lang="en-US" altLang="zh-CN" sz="3200" b="1" dirty="0">
                <a:latin typeface="+mj-ea"/>
                <a:ea typeface="+mj-ea"/>
              </a:rPr>
              <a:t>——</a:t>
            </a:r>
            <a:r>
              <a:rPr lang="zh-CN" altLang="en-US" sz="3200" b="1" dirty="0">
                <a:latin typeface="+mj-ea"/>
                <a:ea typeface="+mj-ea"/>
              </a:rPr>
              <a:t>表达式的值</a:t>
            </a:r>
            <a:endParaRPr lang="en-US" altLang="zh-CN" sz="3200" b="1" dirty="0">
              <a:latin typeface="+mj-ea"/>
              <a:ea typeface="+mj-ea"/>
            </a:endParaRPr>
          </a:p>
          <a:p>
            <a:pPr>
              <a:lnSpc>
                <a:spcPct val="130000"/>
              </a:lnSpc>
            </a:pPr>
            <a:r>
              <a:rPr lang="zh-CN" altLang="en-US" sz="3200" b="1" dirty="0">
                <a:latin typeface="+mj-ea"/>
                <a:ea typeface="+mj-ea"/>
              </a:rPr>
              <a:t>表达式的求值</a:t>
            </a:r>
            <a:endParaRPr lang="en-US" altLang="zh-CN" sz="3200" b="1" dirty="0">
              <a:latin typeface="+mj-ea"/>
              <a:ea typeface="+mj-ea"/>
            </a:endParaRPr>
          </a:p>
          <a:p>
            <a:pPr lvl="1">
              <a:lnSpc>
                <a:spcPct val="130000"/>
              </a:lnSpc>
            </a:pPr>
            <a:r>
              <a:rPr lang="zh-CN" altLang="en-US" sz="2800" b="1" dirty="0">
                <a:solidFill>
                  <a:srgbClr val="002060"/>
                </a:solidFill>
                <a:latin typeface="+mj-ea"/>
                <a:ea typeface="+mj-ea"/>
              </a:rPr>
              <a:t>运算符的结合性与优先级</a:t>
            </a:r>
            <a:endParaRPr lang="zh-CN" altLang="en-US" sz="2400" b="1" dirty="0">
              <a:solidFill>
                <a:srgbClr val="002060"/>
              </a:solidFill>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6024" y="-27384"/>
            <a:ext cx="8820472" cy="5527066"/>
          </a:xfrm>
        </p:spPr>
        <p:txBody>
          <a:bodyPr>
            <a:noAutofit/>
          </a:bodyPr>
          <a:lstStyle/>
          <a:p>
            <a:pPr>
              <a:lnSpc>
                <a:spcPct val="120000"/>
              </a:lnSpc>
            </a:pPr>
            <a:r>
              <a:rPr lang="zh-CN" altLang="en-US" sz="2800" b="1" dirty="0">
                <a:latin typeface="+mj-ea"/>
                <a:ea typeface="+mj-ea"/>
              </a:rPr>
              <a:t>能够出现在</a:t>
            </a:r>
            <a:r>
              <a:rPr lang="zh-CN" altLang="en-US" sz="2800" b="1" dirty="0">
                <a:solidFill>
                  <a:srgbClr val="FF0000"/>
                </a:solidFill>
                <a:latin typeface="+mj-ea"/>
                <a:ea typeface="+mj-ea"/>
              </a:rPr>
              <a:t>赋值运算符</a:t>
            </a:r>
            <a:r>
              <a:rPr lang="zh-CN" altLang="en-US" sz="2800" b="1" dirty="0">
                <a:latin typeface="+mj-ea"/>
                <a:ea typeface="+mj-ea"/>
              </a:rPr>
              <a:t>左边的分量为</a:t>
            </a:r>
            <a:r>
              <a:rPr lang="zh-CN" altLang="en-US" sz="2800" b="1" dirty="0">
                <a:solidFill>
                  <a:srgbClr val="FF0000"/>
                </a:solidFill>
                <a:latin typeface="+mj-ea"/>
                <a:ea typeface="+mj-ea"/>
              </a:rPr>
              <a:t>左值</a:t>
            </a:r>
            <a:r>
              <a:rPr lang="zh-CN" altLang="en-US" sz="2800" b="1" dirty="0">
                <a:latin typeface="+mj-ea"/>
                <a:ea typeface="+mj-ea"/>
              </a:rPr>
              <a:t>(</a:t>
            </a:r>
            <a:r>
              <a:rPr lang="en-US" altLang="zh-CN" sz="2800" b="1" dirty="0">
                <a:latin typeface="+mj-ea"/>
                <a:ea typeface="+mj-ea"/>
              </a:rPr>
              <a:t>left value, </a:t>
            </a:r>
            <a:r>
              <a:rPr lang="zh-CN" altLang="en-US" sz="2800" b="1" dirty="0">
                <a:latin typeface="+mj-ea"/>
                <a:ea typeface="+mj-ea"/>
              </a:rPr>
              <a:t>缩写为</a:t>
            </a:r>
            <a:r>
              <a:rPr lang="en-US" altLang="zh-CN" sz="2800" b="1" dirty="0" err="1">
                <a:latin typeface="+mj-ea"/>
                <a:ea typeface="+mj-ea"/>
              </a:rPr>
              <a:t>lvalue</a:t>
            </a:r>
            <a:r>
              <a:rPr lang="en-US" altLang="zh-CN" sz="2800" b="1" dirty="0">
                <a:latin typeface="+mj-ea"/>
                <a:ea typeface="+mj-ea"/>
              </a:rPr>
              <a:t>)</a:t>
            </a:r>
          </a:p>
          <a:p>
            <a:pPr>
              <a:lnSpc>
                <a:spcPct val="120000"/>
              </a:lnSpc>
            </a:pPr>
            <a:r>
              <a:rPr lang="zh-CN" altLang="en-US" sz="2800" b="1" dirty="0">
                <a:latin typeface="+mj-ea"/>
                <a:ea typeface="+mj-ea"/>
              </a:rPr>
              <a:t>左值代表着一个可以存放数据的存储空间</a:t>
            </a:r>
            <a:endParaRPr lang="en-US" altLang="zh-CN" sz="2800" b="1" dirty="0">
              <a:latin typeface="+mj-ea"/>
              <a:ea typeface="+mj-ea"/>
            </a:endParaRPr>
          </a:p>
          <a:p>
            <a:pPr lvl="1">
              <a:lnSpc>
                <a:spcPct val="120000"/>
              </a:lnSpc>
            </a:pPr>
            <a:r>
              <a:rPr lang="zh-CN" altLang="en-US" sz="2400" b="1" dirty="0">
                <a:solidFill>
                  <a:srgbClr val="0000FF"/>
                </a:solidFill>
                <a:latin typeface="+mj-ea"/>
                <a:ea typeface="+mj-ea"/>
              </a:rPr>
              <a:t>变量</a:t>
            </a:r>
            <a:r>
              <a:rPr lang="en-US" altLang="zh-CN" sz="2400" b="1" dirty="0">
                <a:solidFill>
                  <a:srgbClr val="0000FF"/>
                </a:solidFill>
                <a:latin typeface="+mj-ea"/>
                <a:ea typeface="+mj-ea"/>
              </a:rPr>
              <a:t>x</a:t>
            </a:r>
            <a:r>
              <a:rPr lang="zh-CN" altLang="en-US" sz="2400" b="1" dirty="0">
                <a:solidFill>
                  <a:srgbClr val="0000FF"/>
                </a:solidFill>
                <a:latin typeface="+mj-ea"/>
                <a:ea typeface="+mj-ea"/>
              </a:rPr>
              <a:t>可以作左值,但常量22以及表达式</a:t>
            </a:r>
            <a:r>
              <a:rPr lang="en-US" altLang="zh-CN" sz="2400" b="1" dirty="0">
                <a:solidFill>
                  <a:srgbClr val="0000FF"/>
                </a:solidFill>
                <a:latin typeface="+mj-ea"/>
                <a:ea typeface="+mj-ea"/>
              </a:rPr>
              <a:t>x+22</a:t>
            </a:r>
            <a:r>
              <a:rPr lang="zh-CN" altLang="en-US" sz="2400" b="1" dirty="0">
                <a:solidFill>
                  <a:srgbClr val="0000FF"/>
                </a:solidFill>
                <a:latin typeface="+mj-ea"/>
                <a:ea typeface="+mj-ea"/>
              </a:rPr>
              <a:t>则都不可作为左值, 因为它们都不代表可以存放数据的存储空间。</a:t>
            </a:r>
            <a:endParaRPr lang="en-US" altLang="zh-CN" sz="2400" b="1" dirty="0">
              <a:solidFill>
                <a:srgbClr val="0000FF"/>
              </a:solidFill>
              <a:latin typeface="+mj-ea"/>
              <a:ea typeface="+mj-ea"/>
            </a:endParaRPr>
          </a:p>
          <a:p>
            <a:pPr>
              <a:lnSpc>
                <a:spcPct val="120000"/>
              </a:lnSpc>
            </a:pPr>
            <a:r>
              <a:rPr lang="zh-CN" altLang="en-US" sz="2800" b="1" dirty="0">
                <a:latin typeface="+mj-ea"/>
                <a:ea typeface="+mj-ea"/>
              </a:rPr>
              <a:t>左值是能够变化的值</a:t>
            </a:r>
            <a:endParaRPr lang="en-US" altLang="zh-CN" sz="2800" b="1" dirty="0">
              <a:latin typeface="+mj-ea"/>
              <a:ea typeface="+mj-ea"/>
            </a:endParaRPr>
          </a:p>
          <a:p>
            <a:pPr>
              <a:lnSpc>
                <a:spcPct val="120000"/>
              </a:lnSpc>
            </a:pPr>
            <a:r>
              <a:rPr lang="zh-CN" altLang="en-US" sz="2800" b="1" dirty="0">
                <a:latin typeface="+mj-ea"/>
                <a:ea typeface="+mj-ea"/>
              </a:rPr>
              <a:t>能够出现在赋值运算符右边的分量为</a:t>
            </a:r>
            <a:r>
              <a:rPr lang="zh-CN" altLang="en-US" sz="2800" b="1" dirty="0">
                <a:solidFill>
                  <a:srgbClr val="FF0000"/>
                </a:solidFill>
                <a:latin typeface="+mj-ea"/>
                <a:ea typeface="+mj-ea"/>
              </a:rPr>
              <a:t>右值</a:t>
            </a:r>
            <a:r>
              <a:rPr lang="zh-CN" altLang="en-US" sz="2800" b="1" dirty="0">
                <a:latin typeface="+mj-ea"/>
                <a:ea typeface="+mj-ea"/>
              </a:rPr>
              <a:t>(</a:t>
            </a:r>
            <a:r>
              <a:rPr lang="en-US" altLang="zh-CN" sz="2800" b="1" dirty="0">
                <a:latin typeface="+mj-ea"/>
                <a:ea typeface="+mj-ea"/>
              </a:rPr>
              <a:t>right value, </a:t>
            </a:r>
            <a:r>
              <a:rPr lang="zh-CN" altLang="en-US" sz="2800" b="1" dirty="0">
                <a:latin typeface="+mj-ea"/>
                <a:ea typeface="+mj-ea"/>
              </a:rPr>
              <a:t>缩写为</a:t>
            </a:r>
            <a:r>
              <a:rPr lang="en-US" altLang="zh-CN" sz="2800" b="1" dirty="0" err="1">
                <a:latin typeface="+mj-ea"/>
                <a:ea typeface="+mj-ea"/>
              </a:rPr>
              <a:t>rvalue</a:t>
            </a:r>
            <a:r>
              <a:rPr lang="en-US" altLang="zh-CN" sz="2800" b="1" dirty="0">
                <a:latin typeface="+mj-ea"/>
                <a:ea typeface="+mj-ea"/>
              </a:rPr>
              <a:t>)</a:t>
            </a:r>
          </a:p>
          <a:p>
            <a:pPr>
              <a:lnSpc>
                <a:spcPct val="120000"/>
              </a:lnSpc>
            </a:pPr>
            <a:r>
              <a:rPr lang="zh-CN" altLang="en-US" sz="2800" b="1" dirty="0">
                <a:latin typeface="+mj-ea"/>
                <a:ea typeface="+mj-ea"/>
              </a:rPr>
              <a:t>右值没有特定的名字</a:t>
            </a:r>
            <a:endParaRPr lang="en-US" altLang="zh-CN" sz="2800" b="1" dirty="0">
              <a:latin typeface="+mj-ea"/>
              <a:ea typeface="+mj-ea"/>
            </a:endParaRPr>
          </a:p>
          <a:p>
            <a:pPr lvl="1">
              <a:lnSpc>
                <a:spcPct val="120000"/>
              </a:lnSpc>
            </a:pPr>
            <a:r>
              <a:rPr lang="zh-CN" altLang="en-US" sz="2400" b="1" dirty="0">
                <a:solidFill>
                  <a:srgbClr val="002060"/>
                </a:solidFill>
                <a:latin typeface="+mj-ea"/>
                <a:ea typeface="+mj-ea"/>
              </a:rPr>
              <a:t>字面常量</a:t>
            </a:r>
            <a:endParaRPr lang="en-US" altLang="zh-CN" sz="2400" b="1" dirty="0">
              <a:solidFill>
                <a:srgbClr val="002060"/>
              </a:solidFill>
              <a:latin typeface="+mj-ea"/>
              <a:ea typeface="+mj-ea"/>
            </a:endParaRPr>
          </a:p>
          <a:p>
            <a:pPr lvl="1">
              <a:lnSpc>
                <a:spcPct val="120000"/>
              </a:lnSpc>
            </a:pPr>
            <a:r>
              <a:rPr lang="zh-CN" altLang="en-US" sz="2400" b="1" dirty="0">
                <a:solidFill>
                  <a:srgbClr val="002060"/>
                </a:solidFill>
                <a:latin typeface="+mj-ea"/>
                <a:ea typeface="+mj-ea"/>
              </a:rPr>
              <a:t>表达式</a:t>
            </a:r>
            <a:endParaRPr lang="en-US" altLang="zh-CN" sz="2400" b="1" dirty="0">
              <a:solidFill>
                <a:srgbClr val="002060"/>
              </a:solidFill>
              <a:latin typeface="+mj-ea"/>
              <a:ea typeface="+mj-ea"/>
            </a:endParaRPr>
          </a:p>
          <a:p>
            <a:pPr lvl="1">
              <a:lnSpc>
                <a:spcPct val="120000"/>
              </a:lnSpc>
            </a:pPr>
            <a:r>
              <a:rPr lang="zh-CN" altLang="en-US" sz="2400" b="1" dirty="0">
                <a:solidFill>
                  <a:srgbClr val="002060"/>
                </a:solidFill>
                <a:latin typeface="+mj-ea"/>
                <a:ea typeface="+mj-ea"/>
              </a:rPr>
              <a:t>函数调用</a:t>
            </a:r>
            <a:endParaRPr lang="en-US" altLang="zh-CN" sz="2400" b="1" dirty="0">
              <a:solidFill>
                <a:srgbClr val="002060"/>
              </a:solidFill>
              <a:latin typeface="+mj-ea"/>
              <a:ea typeface="+mj-ea"/>
            </a:endParaRPr>
          </a:p>
          <a:p>
            <a:pPr lvl="1">
              <a:lnSpc>
                <a:spcPct val="120000"/>
              </a:lnSpc>
            </a:pPr>
            <a:r>
              <a:rPr lang="en-US" altLang="zh-CN" sz="2400" b="1" dirty="0">
                <a:solidFill>
                  <a:srgbClr val="002060"/>
                </a:solidFill>
                <a:latin typeface="+mj-ea"/>
                <a:ea typeface="+mj-ea"/>
              </a:rPr>
              <a:t>……</a:t>
            </a:r>
            <a:endParaRPr lang="zh-CN" altLang="en-US" sz="2800" b="1" dirty="0">
              <a:solidFill>
                <a:srgbClr val="002060"/>
              </a:solidFill>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运算符的优先级</a:t>
            </a:r>
          </a:p>
        </p:txBody>
      </p:sp>
      <p:sp>
        <p:nvSpPr>
          <p:cNvPr id="3" name="内容占位符 2"/>
          <p:cNvSpPr>
            <a:spLocks noGrp="1"/>
          </p:cNvSpPr>
          <p:nvPr>
            <p:ph idx="1"/>
          </p:nvPr>
        </p:nvSpPr>
        <p:spPr>
          <a:xfrm>
            <a:off x="457200" y="928670"/>
            <a:ext cx="7239000" cy="5527066"/>
          </a:xfrm>
        </p:spPr>
        <p:txBody>
          <a:bodyPr>
            <a:normAutofit/>
          </a:bodyPr>
          <a:lstStyle/>
          <a:p>
            <a:pPr>
              <a:lnSpc>
                <a:spcPct val="130000"/>
              </a:lnSpc>
            </a:pPr>
            <a:r>
              <a:rPr lang="zh-CN" altLang="en-US" sz="2800" b="1" dirty="0">
                <a:latin typeface="+mj-ea"/>
                <a:ea typeface="+mj-ea"/>
              </a:rPr>
              <a:t>表达式包含多个运算符</a:t>
            </a:r>
            <a:endParaRPr lang="en-US" altLang="zh-CN" sz="2800" b="1" dirty="0">
              <a:latin typeface="+mj-ea"/>
              <a:ea typeface="+mj-ea"/>
            </a:endParaRPr>
          </a:p>
          <a:p>
            <a:pPr lvl="1">
              <a:lnSpc>
                <a:spcPct val="130000"/>
              </a:lnSpc>
            </a:pPr>
            <a:r>
              <a:rPr lang="zh-CN" altLang="en-US" sz="2400" b="1" dirty="0">
                <a:solidFill>
                  <a:srgbClr val="002060"/>
                </a:solidFill>
                <a:latin typeface="+mj-ea"/>
                <a:ea typeface="+mj-ea"/>
              </a:rPr>
              <a:t>同一运算符</a:t>
            </a:r>
            <a:endParaRPr lang="en-US" altLang="zh-CN" sz="2400" b="1" dirty="0">
              <a:solidFill>
                <a:srgbClr val="002060"/>
              </a:solidFill>
              <a:latin typeface="+mj-ea"/>
              <a:ea typeface="+mj-ea"/>
            </a:endParaRPr>
          </a:p>
          <a:p>
            <a:pPr lvl="1">
              <a:lnSpc>
                <a:spcPct val="130000"/>
              </a:lnSpc>
            </a:pPr>
            <a:r>
              <a:rPr lang="zh-CN" altLang="en-US" sz="2400" b="1" dirty="0">
                <a:solidFill>
                  <a:srgbClr val="002060"/>
                </a:solidFill>
                <a:latin typeface="+mj-ea"/>
                <a:ea typeface="+mj-ea"/>
              </a:rPr>
              <a:t>同类运算符</a:t>
            </a:r>
            <a:endParaRPr lang="en-US" altLang="zh-CN" sz="2400" b="1" dirty="0">
              <a:solidFill>
                <a:srgbClr val="002060"/>
              </a:solidFill>
              <a:latin typeface="+mj-ea"/>
              <a:ea typeface="+mj-ea"/>
            </a:endParaRPr>
          </a:p>
          <a:p>
            <a:pPr lvl="1">
              <a:lnSpc>
                <a:spcPct val="130000"/>
              </a:lnSpc>
            </a:pPr>
            <a:r>
              <a:rPr lang="zh-CN" altLang="en-US" sz="2400" b="1" dirty="0">
                <a:solidFill>
                  <a:srgbClr val="002060"/>
                </a:solidFill>
                <a:latin typeface="+mj-ea"/>
                <a:ea typeface="+mj-ea"/>
              </a:rPr>
              <a:t>不同类运算符的混合</a:t>
            </a:r>
            <a:endParaRPr lang="en-US" altLang="zh-CN" sz="2400" b="1" dirty="0">
              <a:solidFill>
                <a:srgbClr val="002060"/>
              </a:solidFill>
              <a:latin typeface="+mj-ea"/>
              <a:ea typeface="+mj-ea"/>
            </a:endParaRPr>
          </a:p>
          <a:p>
            <a:pPr>
              <a:lnSpc>
                <a:spcPct val="130000"/>
              </a:lnSpc>
            </a:pPr>
            <a:r>
              <a:rPr lang="zh-CN" altLang="en-US" sz="2800" b="1" dirty="0">
                <a:latin typeface="+mj-ea"/>
                <a:ea typeface="+mj-ea"/>
              </a:rPr>
              <a:t>运算的优先顺序</a:t>
            </a:r>
            <a:endParaRPr lang="en-US" altLang="zh-CN" sz="2800" b="1" dirty="0">
              <a:latin typeface="+mj-ea"/>
              <a:ea typeface="+mj-ea"/>
            </a:endParaRPr>
          </a:p>
          <a:p>
            <a:pPr lvl="1">
              <a:lnSpc>
                <a:spcPct val="130000"/>
              </a:lnSpc>
            </a:pPr>
            <a:r>
              <a:rPr lang="zh-CN" altLang="en-US" sz="2400" b="1" dirty="0">
                <a:solidFill>
                  <a:srgbClr val="002060"/>
                </a:solidFill>
                <a:latin typeface="+mj-ea"/>
                <a:ea typeface="+mj-ea"/>
              </a:rPr>
              <a:t>括号优先运算</a:t>
            </a:r>
            <a:endParaRPr lang="en-US" altLang="zh-CN" sz="2400" b="1" dirty="0">
              <a:solidFill>
                <a:srgbClr val="002060"/>
              </a:solidFill>
              <a:latin typeface="+mj-ea"/>
              <a:ea typeface="+mj-ea"/>
            </a:endParaRPr>
          </a:p>
          <a:p>
            <a:pPr lvl="1">
              <a:lnSpc>
                <a:spcPct val="130000"/>
              </a:lnSpc>
            </a:pPr>
            <a:r>
              <a:rPr lang="zh-CN" altLang="en-US" sz="2400" b="1" dirty="0">
                <a:solidFill>
                  <a:srgbClr val="002060"/>
                </a:solidFill>
                <a:latin typeface="+mj-ea"/>
                <a:ea typeface="+mj-ea"/>
              </a:rPr>
              <a:t>优先级高的运算符优先运算</a:t>
            </a:r>
            <a:endParaRPr lang="en-US" altLang="zh-CN" sz="2400" b="1" dirty="0">
              <a:solidFill>
                <a:srgbClr val="002060"/>
              </a:solidFill>
              <a:latin typeface="+mj-ea"/>
              <a:ea typeface="+mj-ea"/>
            </a:endParaRPr>
          </a:p>
          <a:p>
            <a:pPr lvl="1">
              <a:lnSpc>
                <a:spcPct val="130000"/>
              </a:lnSpc>
            </a:pPr>
            <a:r>
              <a:rPr lang="zh-CN" altLang="en-US" sz="2400" b="1" dirty="0">
                <a:solidFill>
                  <a:srgbClr val="002060"/>
                </a:solidFill>
                <a:latin typeface="+mj-ea"/>
                <a:ea typeface="+mj-ea"/>
              </a:rPr>
              <a:t>优先级相同的运算参照运算符结合性依次进行</a:t>
            </a:r>
            <a:endParaRPr lang="en-US" altLang="zh-CN" sz="2400" b="1" dirty="0">
              <a:solidFill>
                <a:srgbClr val="002060"/>
              </a:solidFill>
              <a:latin typeface="+mj-ea"/>
              <a:ea typeface="+mj-ea"/>
            </a:endParaRPr>
          </a:p>
          <a:p>
            <a:pPr>
              <a:lnSpc>
                <a:spcPct val="130000"/>
              </a:lnSpc>
            </a:pPr>
            <a:r>
              <a:rPr lang="zh-CN" altLang="en-US" sz="2800" b="1" dirty="0">
                <a:latin typeface="+mj-ea"/>
                <a:ea typeface="+mj-ea"/>
              </a:rPr>
              <a:t>运算符的优先级</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运算符的结合性</a:t>
            </a:r>
          </a:p>
        </p:txBody>
      </p:sp>
      <p:sp>
        <p:nvSpPr>
          <p:cNvPr id="3" name="内容占位符 2"/>
          <p:cNvSpPr>
            <a:spLocks noGrp="1"/>
          </p:cNvSpPr>
          <p:nvPr>
            <p:ph idx="1"/>
          </p:nvPr>
        </p:nvSpPr>
        <p:spPr>
          <a:xfrm>
            <a:off x="457200" y="782254"/>
            <a:ext cx="8435280" cy="5527066"/>
          </a:xfrm>
        </p:spPr>
        <p:txBody>
          <a:bodyPr>
            <a:noAutofit/>
          </a:bodyPr>
          <a:lstStyle/>
          <a:p>
            <a:pPr>
              <a:lnSpc>
                <a:spcPct val="120000"/>
              </a:lnSpc>
            </a:pPr>
            <a:r>
              <a:rPr lang="zh-CN" altLang="en-US" sz="3200" b="1" dirty="0">
                <a:latin typeface="+mj-ea"/>
                <a:ea typeface="+mj-ea"/>
              </a:rPr>
              <a:t>表达式包含多个同级运算符时，运算的先后次序</a:t>
            </a:r>
            <a:endParaRPr lang="en-US" altLang="zh-CN" sz="3200" b="1" dirty="0">
              <a:latin typeface="+mj-ea"/>
              <a:ea typeface="+mj-ea"/>
            </a:endParaRPr>
          </a:p>
          <a:p>
            <a:pPr lvl="1">
              <a:lnSpc>
                <a:spcPct val="120000"/>
              </a:lnSpc>
            </a:pPr>
            <a:r>
              <a:rPr lang="zh-CN" altLang="en-US" sz="2800" b="1" dirty="0">
                <a:solidFill>
                  <a:srgbClr val="002060"/>
                </a:solidFill>
                <a:latin typeface="+mj-ea"/>
                <a:ea typeface="+mj-ea"/>
              </a:rPr>
              <a:t>左结合规则</a:t>
            </a:r>
            <a:endParaRPr lang="en-US" altLang="zh-CN" sz="2800" b="1" dirty="0">
              <a:solidFill>
                <a:srgbClr val="002060"/>
              </a:solidFill>
              <a:latin typeface="+mj-ea"/>
              <a:ea typeface="+mj-ea"/>
            </a:endParaRPr>
          </a:p>
          <a:p>
            <a:pPr lvl="2">
              <a:lnSpc>
                <a:spcPct val="120000"/>
              </a:lnSpc>
            </a:pPr>
            <a:r>
              <a:rPr lang="zh-CN" altLang="en-US" sz="2800" b="1" dirty="0">
                <a:latin typeface="+mj-ea"/>
                <a:ea typeface="+mj-ea"/>
              </a:rPr>
              <a:t>从左向右依次计算</a:t>
            </a:r>
            <a:endParaRPr lang="en-US" altLang="zh-CN" sz="2800" b="1" dirty="0">
              <a:latin typeface="+mj-ea"/>
              <a:ea typeface="+mj-ea"/>
            </a:endParaRPr>
          </a:p>
          <a:p>
            <a:pPr lvl="3">
              <a:lnSpc>
                <a:spcPct val="120000"/>
              </a:lnSpc>
            </a:pPr>
            <a:r>
              <a:rPr lang="zh-CN" altLang="en-US" sz="2800" b="1" dirty="0">
                <a:solidFill>
                  <a:srgbClr val="002060"/>
                </a:solidFill>
                <a:latin typeface="+mj-ea"/>
                <a:ea typeface="+mj-ea"/>
              </a:rPr>
              <a:t>双目的算术运算符、关系运算符、逻辑运算符、位运算符、逗号运算符</a:t>
            </a:r>
            <a:endParaRPr lang="en-US" altLang="zh-CN" sz="2800" b="1" dirty="0">
              <a:solidFill>
                <a:srgbClr val="002060"/>
              </a:solidFill>
              <a:latin typeface="+mj-ea"/>
              <a:ea typeface="+mj-ea"/>
            </a:endParaRPr>
          </a:p>
          <a:p>
            <a:pPr lvl="1">
              <a:lnSpc>
                <a:spcPct val="120000"/>
              </a:lnSpc>
            </a:pPr>
            <a:r>
              <a:rPr lang="zh-CN" altLang="en-US" sz="2800" b="1" dirty="0">
                <a:solidFill>
                  <a:srgbClr val="002060"/>
                </a:solidFill>
                <a:latin typeface="+mj-ea"/>
                <a:ea typeface="+mj-ea"/>
              </a:rPr>
              <a:t>右结合规则</a:t>
            </a:r>
            <a:endParaRPr lang="en-US" altLang="zh-CN" sz="2800" b="1" dirty="0">
              <a:solidFill>
                <a:srgbClr val="002060"/>
              </a:solidFill>
              <a:latin typeface="+mj-ea"/>
              <a:ea typeface="+mj-ea"/>
            </a:endParaRPr>
          </a:p>
          <a:p>
            <a:pPr lvl="2">
              <a:lnSpc>
                <a:spcPct val="120000"/>
              </a:lnSpc>
            </a:pPr>
            <a:r>
              <a:rPr lang="zh-CN" altLang="en-US" sz="2800" b="1" dirty="0">
                <a:latin typeface="+mj-ea"/>
                <a:ea typeface="+mj-ea"/>
              </a:rPr>
              <a:t>从右向左依次计算</a:t>
            </a:r>
            <a:endParaRPr lang="en-US" altLang="zh-CN" sz="2800" b="1" dirty="0">
              <a:latin typeface="+mj-ea"/>
              <a:ea typeface="+mj-ea"/>
            </a:endParaRPr>
          </a:p>
          <a:p>
            <a:pPr lvl="3">
              <a:lnSpc>
                <a:spcPct val="120000"/>
              </a:lnSpc>
            </a:pPr>
            <a:r>
              <a:rPr lang="zh-CN" altLang="en-US" sz="2800" b="1" dirty="0">
                <a:solidFill>
                  <a:srgbClr val="002060"/>
                </a:solidFill>
                <a:latin typeface="+mj-ea"/>
                <a:ea typeface="+mj-ea"/>
              </a:rPr>
              <a:t>可以连续运算的单目运算符、赋值运算符、</a:t>
            </a:r>
            <a:br>
              <a:rPr lang="en-US" altLang="zh-CN" sz="2800" b="1" dirty="0">
                <a:solidFill>
                  <a:srgbClr val="002060"/>
                </a:solidFill>
                <a:latin typeface="+mj-ea"/>
                <a:ea typeface="+mj-ea"/>
              </a:rPr>
            </a:br>
            <a:r>
              <a:rPr lang="zh-CN" altLang="en-US" sz="2800" b="1" dirty="0">
                <a:solidFill>
                  <a:srgbClr val="002060"/>
                </a:solidFill>
                <a:latin typeface="+mj-ea"/>
                <a:ea typeface="+mj-ea"/>
              </a:rPr>
              <a:t>条件运算符</a:t>
            </a:r>
            <a:endParaRPr lang="zh-CN" altLang="en-US" sz="2400" b="1" dirty="0">
              <a:solidFill>
                <a:srgbClr val="002060"/>
              </a:solidFill>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27384"/>
            <a:ext cx="8507288" cy="5741380"/>
          </a:xfrm>
        </p:spPr>
        <p:txBody>
          <a:bodyPr>
            <a:noAutofit/>
          </a:bodyPr>
          <a:lstStyle/>
          <a:p>
            <a:pPr>
              <a:lnSpc>
                <a:spcPct val="130000"/>
              </a:lnSpc>
            </a:pPr>
            <a:r>
              <a:rPr lang="zh-CN" altLang="en-US" sz="2800" dirty="0">
                <a:latin typeface="+mj-ea"/>
                <a:ea typeface="+mj-ea"/>
              </a:rPr>
              <a:t>一般赋值运算符：</a:t>
            </a:r>
            <a:r>
              <a:rPr lang="en-US" altLang="zh-CN" sz="2800" dirty="0">
                <a:latin typeface="+mj-ea"/>
                <a:ea typeface="+mj-ea"/>
              </a:rPr>
              <a:t>=</a:t>
            </a:r>
          </a:p>
          <a:p>
            <a:pPr>
              <a:lnSpc>
                <a:spcPct val="130000"/>
              </a:lnSpc>
            </a:pPr>
            <a:r>
              <a:rPr lang="zh-CN" altLang="en-US" sz="2800" dirty="0">
                <a:latin typeface="+mj-ea"/>
                <a:ea typeface="+mj-ea"/>
              </a:rPr>
              <a:t>复合赋值运算符</a:t>
            </a:r>
            <a:endParaRPr lang="en-US" altLang="zh-CN" sz="2800" dirty="0">
              <a:latin typeface="+mj-ea"/>
              <a:ea typeface="+mj-ea"/>
            </a:endParaRPr>
          </a:p>
          <a:p>
            <a:pPr lvl="1">
              <a:lnSpc>
                <a:spcPct val="130000"/>
              </a:lnSpc>
            </a:pPr>
            <a:r>
              <a:rPr lang="zh-CN" altLang="en-US" sz="2400" b="1" dirty="0">
                <a:solidFill>
                  <a:srgbClr val="002060"/>
                </a:solidFill>
                <a:latin typeface="+mj-ea"/>
                <a:ea typeface="+mj-ea"/>
              </a:rPr>
              <a:t>与算术运算符或位运算符进行复合</a:t>
            </a:r>
            <a:endParaRPr lang="en-US" altLang="zh-CN" sz="2400" b="1" dirty="0">
              <a:solidFill>
                <a:srgbClr val="002060"/>
              </a:solidFill>
              <a:latin typeface="+mj-ea"/>
              <a:ea typeface="+mj-ea"/>
            </a:endParaRPr>
          </a:p>
          <a:p>
            <a:pPr lvl="1">
              <a:lnSpc>
                <a:spcPct val="130000"/>
              </a:lnSpc>
            </a:pPr>
            <a:r>
              <a:rPr lang="en-US" altLang="zh-CN" sz="2400" b="1" dirty="0">
                <a:solidFill>
                  <a:srgbClr val="002060"/>
                </a:solidFill>
                <a:latin typeface="+mj-ea"/>
                <a:ea typeface="+mj-ea"/>
              </a:rPr>
              <a:t>+=</a:t>
            </a:r>
            <a:r>
              <a:rPr lang="zh-CN" altLang="en-US" sz="2400" b="1" dirty="0">
                <a:solidFill>
                  <a:srgbClr val="002060"/>
                </a:solidFill>
                <a:latin typeface="+mj-ea"/>
                <a:ea typeface="+mj-ea"/>
              </a:rPr>
              <a:t>、</a:t>
            </a:r>
            <a:r>
              <a:rPr lang="en-US" altLang="zh-CN" sz="2400" b="1" dirty="0">
                <a:solidFill>
                  <a:srgbClr val="002060"/>
                </a:solidFill>
                <a:latin typeface="+mj-ea"/>
                <a:ea typeface="+mj-ea"/>
              </a:rPr>
              <a:t>-=</a:t>
            </a:r>
            <a:r>
              <a:rPr lang="zh-CN" altLang="en-US" sz="2400" b="1" dirty="0">
                <a:solidFill>
                  <a:srgbClr val="002060"/>
                </a:solidFill>
                <a:latin typeface="+mj-ea"/>
                <a:ea typeface="+mj-ea"/>
              </a:rPr>
              <a:t>、</a:t>
            </a:r>
            <a:r>
              <a:rPr lang="en-US" altLang="zh-CN" sz="2400" b="1" dirty="0">
                <a:solidFill>
                  <a:srgbClr val="002060"/>
                </a:solidFill>
                <a:latin typeface="+mj-ea"/>
                <a:ea typeface="+mj-ea"/>
              </a:rPr>
              <a:t>*=</a:t>
            </a:r>
            <a:r>
              <a:rPr lang="zh-CN" altLang="en-US" sz="2400" b="1" dirty="0">
                <a:solidFill>
                  <a:srgbClr val="002060"/>
                </a:solidFill>
                <a:latin typeface="+mj-ea"/>
                <a:ea typeface="+mj-ea"/>
              </a:rPr>
              <a:t>、</a:t>
            </a:r>
            <a:r>
              <a:rPr lang="en-US" altLang="zh-CN" sz="2400" b="1" dirty="0">
                <a:solidFill>
                  <a:srgbClr val="002060"/>
                </a:solidFill>
                <a:latin typeface="+mj-ea"/>
                <a:ea typeface="+mj-ea"/>
              </a:rPr>
              <a:t>/=</a:t>
            </a:r>
            <a:r>
              <a:rPr lang="zh-CN" altLang="en-US" sz="2400" b="1" dirty="0">
                <a:solidFill>
                  <a:srgbClr val="002060"/>
                </a:solidFill>
                <a:latin typeface="+mj-ea"/>
                <a:ea typeface="+mj-ea"/>
              </a:rPr>
              <a:t>、</a:t>
            </a:r>
            <a:r>
              <a:rPr lang="en-US" altLang="zh-CN" sz="2400" b="1" dirty="0">
                <a:solidFill>
                  <a:srgbClr val="002060"/>
                </a:solidFill>
                <a:latin typeface="+mj-ea"/>
                <a:ea typeface="+mj-ea"/>
              </a:rPr>
              <a:t>%=</a:t>
            </a:r>
            <a:r>
              <a:rPr lang="zh-CN" altLang="en-US" sz="2400" b="1" dirty="0">
                <a:solidFill>
                  <a:srgbClr val="002060"/>
                </a:solidFill>
                <a:latin typeface="+mj-ea"/>
                <a:ea typeface="+mj-ea"/>
              </a:rPr>
              <a:t>、</a:t>
            </a:r>
            <a:r>
              <a:rPr lang="en-US" altLang="zh-CN" sz="2400" b="1" dirty="0">
                <a:solidFill>
                  <a:srgbClr val="002060"/>
                </a:solidFill>
                <a:latin typeface="+mj-ea"/>
                <a:ea typeface="+mj-ea"/>
              </a:rPr>
              <a:t>&gt;&gt;=</a:t>
            </a:r>
            <a:r>
              <a:rPr lang="zh-CN" altLang="en-US" sz="2400" b="1" dirty="0">
                <a:solidFill>
                  <a:srgbClr val="002060"/>
                </a:solidFill>
                <a:latin typeface="+mj-ea"/>
                <a:ea typeface="+mj-ea"/>
              </a:rPr>
              <a:t>、</a:t>
            </a:r>
            <a:r>
              <a:rPr lang="en-US" altLang="zh-CN" sz="2400" b="1" dirty="0">
                <a:solidFill>
                  <a:srgbClr val="002060"/>
                </a:solidFill>
                <a:latin typeface="+mj-ea"/>
                <a:ea typeface="+mj-ea"/>
              </a:rPr>
              <a:t>&lt;&lt;=</a:t>
            </a:r>
            <a:r>
              <a:rPr lang="zh-CN" altLang="en-US" sz="2400" b="1" dirty="0">
                <a:solidFill>
                  <a:srgbClr val="002060"/>
                </a:solidFill>
                <a:latin typeface="+mj-ea"/>
                <a:ea typeface="+mj-ea"/>
              </a:rPr>
              <a:t>、</a:t>
            </a:r>
            <a:r>
              <a:rPr lang="en-US" altLang="zh-CN" sz="2400" b="1" dirty="0">
                <a:solidFill>
                  <a:srgbClr val="002060"/>
                </a:solidFill>
                <a:latin typeface="+mj-ea"/>
                <a:ea typeface="+mj-ea"/>
              </a:rPr>
              <a:t>&amp;=</a:t>
            </a:r>
            <a:r>
              <a:rPr lang="zh-CN" altLang="en-US" sz="2400" b="1" dirty="0">
                <a:solidFill>
                  <a:srgbClr val="002060"/>
                </a:solidFill>
                <a:latin typeface="+mj-ea"/>
                <a:ea typeface="+mj-ea"/>
              </a:rPr>
              <a:t>、</a:t>
            </a:r>
            <a:r>
              <a:rPr lang="en-US" altLang="zh-CN" sz="2400" b="1" dirty="0">
                <a:solidFill>
                  <a:srgbClr val="002060"/>
                </a:solidFill>
                <a:latin typeface="+mj-ea"/>
                <a:ea typeface="+mj-ea"/>
              </a:rPr>
              <a:t>|=</a:t>
            </a:r>
            <a:r>
              <a:rPr lang="zh-CN" altLang="en-US" sz="2400" b="1" dirty="0">
                <a:solidFill>
                  <a:srgbClr val="002060"/>
                </a:solidFill>
                <a:latin typeface="+mj-ea"/>
                <a:ea typeface="+mj-ea"/>
              </a:rPr>
              <a:t>、</a:t>
            </a:r>
            <a:r>
              <a:rPr lang="en-US" altLang="zh-CN" sz="2400" b="1" dirty="0">
                <a:solidFill>
                  <a:srgbClr val="002060"/>
                </a:solidFill>
                <a:latin typeface="+mj-ea"/>
                <a:ea typeface="+mj-ea"/>
              </a:rPr>
              <a:t>^=</a:t>
            </a:r>
          </a:p>
          <a:p>
            <a:pPr>
              <a:lnSpc>
                <a:spcPct val="130000"/>
              </a:lnSpc>
            </a:pPr>
            <a:r>
              <a:rPr lang="zh-CN" altLang="en-US" sz="2800" b="1" dirty="0">
                <a:latin typeface="+mj-ea"/>
                <a:ea typeface="+mj-ea"/>
              </a:rPr>
              <a:t>赋值表达式</a:t>
            </a:r>
            <a:endParaRPr lang="en-US" altLang="zh-CN" sz="2800" b="1" dirty="0">
              <a:latin typeface="+mj-ea"/>
              <a:ea typeface="+mj-ea"/>
            </a:endParaRPr>
          </a:p>
          <a:p>
            <a:pPr lvl="1">
              <a:lnSpc>
                <a:spcPct val="130000"/>
              </a:lnSpc>
            </a:pPr>
            <a:r>
              <a:rPr lang="en-US" altLang="zh-CN" sz="2400" b="1" dirty="0">
                <a:solidFill>
                  <a:srgbClr val="7030A0"/>
                </a:solidFill>
                <a:latin typeface="+mj-ea"/>
                <a:ea typeface="+mj-ea"/>
              </a:rPr>
              <a:t>&lt;</a:t>
            </a:r>
            <a:r>
              <a:rPr lang="zh-CN" altLang="en-US" sz="2400" b="1" dirty="0">
                <a:solidFill>
                  <a:srgbClr val="7030A0"/>
                </a:solidFill>
                <a:latin typeface="+mj-ea"/>
                <a:ea typeface="+mj-ea"/>
              </a:rPr>
              <a:t>左运算分量</a:t>
            </a:r>
            <a:r>
              <a:rPr lang="en-US" altLang="zh-CN" sz="2400" b="1" dirty="0">
                <a:solidFill>
                  <a:srgbClr val="7030A0"/>
                </a:solidFill>
                <a:latin typeface="+mj-ea"/>
                <a:ea typeface="+mj-ea"/>
              </a:rPr>
              <a:t>&gt; = &lt;</a:t>
            </a:r>
            <a:r>
              <a:rPr lang="zh-CN" altLang="en-US" sz="2400" b="1" dirty="0">
                <a:solidFill>
                  <a:srgbClr val="7030A0"/>
                </a:solidFill>
                <a:latin typeface="+mj-ea"/>
                <a:ea typeface="+mj-ea"/>
              </a:rPr>
              <a:t>右运算分量</a:t>
            </a:r>
            <a:r>
              <a:rPr lang="en-US" altLang="zh-CN" sz="2400" b="1" dirty="0">
                <a:solidFill>
                  <a:srgbClr val="7030A0"/>
                </a:solidFill>
                <a:latin typeface="+mj-ea"/>
                <a:ea typeface="+mj-ea"/>
              </a:rPr>
              <a:t>&gt;</a:t>
            </a:r>
          </a:p>
          <a:p>
            <a:pPr lvl="2">
              <a:lnSpc>
                <a:spcPct val="130000"/>
              </a:lnSpc>
            </a:pPr>
            <a:r>
              <a:rPr lang="zh-CN" altLang="en-US" sz="2400" b="1" dirty="0">
                <a:latin typeface="+mj-ea"/>
                <a:ea typeface="+mj-ea"/>
              </a:rPr>
              <a:t>左运算分量一般是与表达式值</a:t>
            </a:r>
            <a:r>
              <a:rPr lang="zh-CN" altLang="en-US" sz="2400" b="1" dirty="0">
                <a:solidFill>
                  <a:srgbClr val="FF0000"/>
                </a:solidFill>
                <a:latin typeface="+mj-ea"/>
                <a:ea typeface="+mj-ea"/>
              </a:rPr>
              <a:t>类型相同</a:t>
            </a:r>
            <a:r>
              <a:rPr lang="zh-CN" altLang="en-US" sz="2400" b="1" dirty="0">
                <a:latin typeface="+mj-ea"/>
                <a:ea typeface="+mj-ea"/>
              </a:rPr>
              <a:t>的变量</a:t>
            </a:r>
            <a:endParaRPr lang="en-US" altLang="zh-CN" sz="2400" b="1" dirty="0">
              <a:latin typeface="+mj-ea"/>
              <a:ea typeface="+mj-ea"/>
            </a:endParaRPr>
          </a:p>
          <a:p>
            <a:pPr lvl="2">
              <a:lnSpc>
                <a:spcPct val="130000"/>
              </a:lnSpc>
            </a:pPr>
            <a:r>
              <a:rPr lang="zh-CN" altLang="en-US" sz="2400" b="1" dirty="0">
                <a:latin typeface="+mj-ea"/>
                <a:ea typeface="+mj-ea"/>
              </a:rPr>
              <a:t>右运算分量是表达式</a:t>
            </a:r>
            <a:endParaRPr lang="en-US" altLang="zh-CN" sz="2400" b="1" dirty="0">
              <a:latin typeface="+mj-ea"/>
              <a:ea typeface="+mj-ea"/>
            </a:endParaRPr>
          </a:p>
          <a:p>
            <a:pPr lvl="1">
              <a:lnSpc>
                <a:spcPct val="130000"/>
              </a:lnSpc>
            </a:pPr>
            <a:r>
              <a:rPr lang="en-US" altLang="zh-CN" sz="2400" b="1" dirty="0">
                <a:solidFill>
                  <a:srgbClr val="7030A0"/>
                </a:solidFill>
                <a:latin typeface="+mj-ea"/>
                <a:ea typeface="+mj-ea"/>
              </a:rPr>
              <a:t>&lt;</a:t>
            </a:r>
            <a:r>
              <a:rPr lang="zh-CN" altLang="en-US" sz="2400" b="1" dirty="0">
                <a:solidFill>
                  <a:srgbClr val="7030A0"/>
                </a:solidFill>
                <a:latin typeface="+mj-ea"/>
                <a:ea typeface="+mj-ea"/>
              </a:rPr>
              <a:t>左运算分量</a:t>
            </a:r>
            <a:r>
              <a:rPr lang="en-US" altLang="zh-CN" sz="2400" b="1" dirty="0">
                <a:solidFill>
                  <a:srgbClr val="7030A0"/>
                </a:solidFill>
                <a:latin typeface="+mj-ea"/>
                <a:ea typeface="+mj-ea"/>
              </a:rPr>
              <a:t>&gt; </a:t>
            </a:r>
            <a:r>
              <a:rPr lang="en-US" altLang="zh-CN" sz="2400" b="1" dirty="0">
                <a:solidFill>
                  <a:srgbClr val="C00000"/>
                </a:solidFill>
                <a:latin typeface="+mj-ea"/>
                <a:ea typeface="+mj-ea"/>
              </a:rPr>
              <a:t>&lt;</a:t>
            </a:r>
            <a:r>
              <a:rPr lang="zh-CN" altLang="en-US" sz="2400" b="1" dirty="0">
                <a:solidFill>
                  <a:srgbClr val="C00000"/>
                </a:solidFill>
                <a:latin typeface="+mj-ea"/>
                <a:ea typeface="+mj-ea"/>
              </a:rPr>
              <a:t>算术或位运算符</a:t>
            </a:r>
            <a:r>
              <a:rPr lang="en-US" altLang="zh-CN" sz="2400" b="1" dirty="0">
                <a:solidFill>
                  <a:srgbClr val="C00000"/>
                </a:solidFill>
                <a:latin typeface="+mj-ea"/>
                <a:ea typeface="+mj-ea"/>
              </a:rPr>
              <a:t>&gt;</a:t>
            </a:r>
            <a:r>
              <a:rPr lang="en-US" altLang="zh-CN" sz="2400" b="1" dirty="0">
                <a:solidFill>
                  <a:srgbClr val="7030A0"/>
                </a:solidFill>
                <a:latin typeface="+mj-ea"/>
                <a:ea typeface="+mj-ea"/>
              </a:rPr>
              <a:t>= &lt;</a:t>
            </a:r>
            <a:r>
              <a:rPr lang="zh-CN" altLang="en-US" sz="2400" b="1" dirty="0">
                <a:solidFill>
                  <a:srgbClr val="7030A0"/>
                </a:solidFill>
                <a:latin typeface="+mj-ea"/>
                <a:ea typeface="+mj-ea"/>
              </a:rPr>
              <a:t>右运算分量</a:t>
            </a:r>
            <a:r>
              <a:rPr lang="en-US" altLang="zh-CN" sz="2400" b="1" dirty="0">
                <a:solidFill>
                  <a:srgbClr val="7030A0"/>
                </a:solidFill>
                <a:latin typeface="+mj-ea"/>
                <a:ea typeface="+mj-ea"/>
              </a:rPr>
              <a:t>&gt;</a:t>
            </a:r>
          </a:p>
          <a:p>
            <a:pPr lvl="2">
              <a:lnSpc>
                <a:spcPct val="130000"/>
              </a:lnSpc>
            </a:pPr>
            <a:r>
              <a:rPr lang="zh-CN" altLang="en-US" sz="2400" b="1" dirty="0">
                <a:latin typeface="+mj-ea"/>
                <a:ea typeface="+mj-ea"/>
              </a:rPr>
              <a:t>等价于</a:t>
            </a:r>
            <a:r>
              <a:rPr lang="en-US" altLang="zh-CN" sz="2400" b="1" dirty="0">
                <a:latin typeface="+mj-ea"/>
                <a:ea typeface="+mj-ea"/>
              </a:rPr>
              <a:t>:</a:t>
            </a:r>
            <a:br>
              <a:rPr lang="en-US" altLang="zh-CN" sz="2400" b="1" dirty="0">
                <a:latin typeface="+mj-ea"/>
                <a:ea typeface="+mj-ea"/>
              </a:rPr>
            </a:br>
            <a:r>
              <a:rPr lang="en-US" altLang="zh-CN" sz="2400" b="1" dirty="0">
                <a:latin typeface="+mj-ea"/>
                <a:ea typeface="+mj-ea"/>
              </a:rPr>
              <a:t>&lt;</a:t>
            </a:r>
            <a:r>
              <a:rPr lang="zh-CN" altLang="en-US" sz="2400" b="1" dirty="0">
                <a:latin typeface="+mj-ea"/>
                <a:ea typeface="+mj-ea"/>
              </a:rPr>
              <a:t>左运算分量</a:t>
            </a:r>
            <a:r>
              <a:rPr lang="en-US" altLang="zh-CN" sz="2400" b="1" dirty="0">
                <a:latin typeface="+mj-ea"/>
                <a:ea typeface="+mj-ea"/>
              </a:rPr>
              <a:t>&gt; = </a:t>
            </a:r>
            <a:br>
              <a:rPr lang="en-US" altLang="zh-CN" sz="2400" b="1" dirty="0">
                <a:latin typeface="+mj-ea"/>
                <a:ea typeface="+mj-ea"/>
              </a:rPr>
            </a:br>
            <a:r>
              <a:rPr lang="en-US" altLang="zh-CN" sz="2400" b="1" dirty="0">
                <a:latin typeface="+mj-ea"/>
                <a:ea typeface="+mj-ea"/>
              </a:rPr>
              <a:t>      &lt;</a:t>
            </a:r>
            <a:r>
              <a:rPr lang="zh-CN" altLang="en-US" sz="2400" b="1" dirty="0">
                <a:latin typeface="+mj-ea"/>
                <a:ea typeface="+mj-ea"/>
              </a:rPr>
              <a:t>左运算分量</a:t>
            </a:r>
            <a:r>
              <a:rPr lang="en-US" altLang="zh-CN" sz="2400" b="1" dirty="0">
                <a:latin typeface="+mj-ea"/>
                <a:ea typeface="+mj-ea"/>
              </a:rPr>
              <a:t>&gt; </a:t>
            </a:r>
            <a:r>
              <a:rPr lang="en-US" altLang="zh-CN" sz="2400" b="1" dirty="0">
                <a:solidFill>
                  <a:srgbClr val="C00000"/>
                </a:solidFill>
                <a:latin typeface="+mj-ea"/>
                <a:ea typeface="+mj-ea"/>
              </a:rPr>
              <a:t>&lt;</a:t>
            </a:r>
            <a:r>
              <a:rPr lang="zh-CN" altLang="en-US" sz="2400" b="1" dirty="0">
                <a:solidFill>
                  <a:srgbClr val="C00000"/>
                </a:solidFill>
                <a:latin typeface="+mj-ea"/>
                <a:ea typeface="+mj-ea"/>
              </a:rPr>
              <a:t>算术或位运算符</a:t>
            </a:r>
            <a:r>
              <a:rPr lang="en-US" altLang="zh-CN" sz="2400" b="1" dirty="0">
                <a:solidFill>
                  <a:srgbClr val="C00000"/>
                </a:solidFill>
                <a:latin typeface="+mj-ea"/>
                <a:ea typeface="+mj-ea"/>
              </a:rPr>
              <a:t>&gt;</a:t>
            </a:r>
            <a:r>
              <a:rPr lang="en-US" altLang="zh-CN" sz="2400" b="1" dirty="0">
                <a:latin typeface="+mj-ea"/>
                <a:ea typeface="+mj-ea"/>
              </a:rPr>
              <a:t> &lt;</a:t>
            </a:r>
            <a:r>
              <a:rPr lang="zh-CN" altLang="en-US" sz="2400" b="1" dirty="0">
                <a:latin typeface="+mj-ea"/>
                <a:ea typeface="+mj-ea"/>
              </a:rPr>
              <a:t>右运算分量</a:t>
            </a:r>
            <a:r>
              <a:rPr lang="en-US" altLang="zh-CN" sz="2400" b="1" dirty="0">
                <a:latin typeface="+mj-ea"/>
                <a:ea typeface="+mj-ea"/>
              </a:rPr>
              <a:t>&gt;</a:t>
            </a:r>
            <a:endParaRPr lang="zh-CN" altLang="en-US" sz="2400" b="1" dirty="0">
              <a:solidFill>
                <a:srgbClr val="002060"/>
              </a:solidFill>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赋值运算</a:t>
            </a:r>
          </a:p>
        </p:txBody>
      </p:sp>
      <p:sp>
        <p:nvSpPr>
          <p:cNvPr id="3" name="内容占位符 2"/>
          <p:cNvSpPr>
            <a:spLocks noGrp="1"/>
          </p:cNvSpPr>
          <p:nvPr>
            <p:ph idx="1"/>
          </p:nvPr>
        </p:nvSpPr>
        <p:spPr>
          <a:xfrm>
            <a:off x="457200" y="692696"/>
            <a:ext cx="8363272" cy="5527066"/>
          </a:xfrm>
        </p:spPr>
        <p:txBody>
          <a:bodyPr>
            <a:noAutofit/>
          </a:bodyPr>
          <a:lstStyle/>
          <a:p>
            <a:pPr>
              <a:lnSpc>
                <a:spcPct val="130000"/>
              </a:lnSpc>
            </a:pPr>
            <a:r>
              <a:rPr lang="zh-CN" altLang="en-US" sz="3200" b="1" dirty="0">
                <a:latin typeface="+mj-ea"/>
                <a:ea typeface="+mj-ea"/>
              </a:rPr>
              <a:t>运算步骤</a:t>
            </a:r>
            <a:endParaRPr lang="en-US" altLang="zh-CN" sz="3200" b="1" dirty="0">
              <a:latin typeface="+mj-ea"/>
              <a:ea typeface="+mj-ea"/>
            </a:endParaRPr>
          </a:p>
          <a:p>
            <a:pPr lvl="1">
              <a:lnSpc>
                <a:spcPct val="130000"/>
              </a:lnSpc>
            </a:pPr>
            <a:r>
              <a:rPr lang="zh-CN" altLang="en-US" sz="2800" b="1" dirty="0">
                <a:solidFill>
                  <a:srgbClr val="002060"/>
                </a:solidFill>
                <a:latin typeface="+mj-ea"/>
                <a:ea typeface="+mj-ea"/>
              </a:rPr>
              <a:t>计算右运算分量的值</a:t>
            </a:r>
            <a:endParaRPr lang="en-US" altLang="zh-CN" sz="2800" b="1" dirty="0">
              <a:solidFill>
                <a:srgbClr val="002060"/>
              </a:solidFill>
              <a:latin typeface="+mj-ea"/>
              <a:ea typeface="+mj-ea"/>
            </a:endParaRPr>
          </a:p>
          <a:p>
            <a:pPr lvl="2">
              <a:lnSpc>
                <a:spcPct val="130000"/>
              </a:lnSpc>
            </a:pPr>
            <a:r>
              <a:rPr lang="zh-CN" altLang="en-US" sz="2800" b="1" dirty="0">
                <a:latin typeface="+mj-ea"/>
                <a:ea typeface="+mj-ea"/>
              </a:rPr>
              <a:t>表达式的值</a:t>
            </a:r>
            <a:endParaRPr lang="en-US" altLang="zh-CN" sz="2800" b="1" dirty="0">
              <a:latin typeface="+mj-ea"/>
              <a:ea typeface="+mj-ea"/>
            </a:endParaRPr>
          </a:p>
          <a:p>
            <a:pPr lvl="1">
              <a:lnSpc>
                <a:spcPct val="130000"/>
              </a:lnSpc>
            </a:pPr>
            <a:r>
              <a:rPr lang="zh-CN" altLang="en-US" sz="2800" b="1" dirty="0">
                <a:solidFill>
                  <a:srgbClr val="002060"/>
                </a:solidFill>
                <a:latin typeface="+mj-ea"/>
                <a:ea typeface="+mj-ea"/>
              </a:rPr>
              <a:t>将该值赋给左运算分量</a:t>
            </a:r>
            <a:endParaRPr lang="en-US" altLang="zh-CN" sz="2800" b="1" dirty="0">
              <a:solidFill>
                <a:srgbClr val="002060"/>
              </a:solidFill>
              <a:latin typeface="+mj-ea"/>
              <a:ea typeface="+mj-ea"/>
            </a:endParaRPr>
          </a:p>
          <a:p>
            <a:pPr lvl="2">
              <a:lnSpc>
                <a:spcPct val="130000"/>
              </a:lnSpc>
            </a:pPr>
            <a:r>
              <a:rPr lang="zh-CN" altLang="en-US" sz="2800" b="1" dirty="0">
                <a:latin typeface="+mj-ea"/>
                <a:ea typeface="+mj-ea"/>
              </a:rPr>
              <a:t>变量</a:t>
            </a:r>
            <a:endParaRPr lang="en-US" altLang="zh-CN" sz="2800" b="1" dirty="0">
              <a:latin typeface="+mj-ea"/>
              <a:ea typeface="+mj-ea"/>
            </a:endParaRPr>
          </a:p>
          <a:p>
            <a:pPr>
              <a:lnSpc>
                <a:spcPct val="130000"/>
              </a:lnSpc>
            </a:pPr>
            <a:r>
              <a:rPr lang="zh-CN" altLang="en-US" sz="3200" b="1" dirty="0">
                <a:latin typeface="+mj-ea"/>
                <a:ea typeface="+mj-ea"/>
              </a:rPr>
              <a:t>赋值表达式的值</a:t>
            </a:r>
            <a:endParaRPr lang="en-US" altLang="zh-CN" sz="3200" b="1" dirty="0">
              <a:latin typeface="+mj-ea"/>
              <a:ea typeface="+mj-ea"/>
            </a:endParaRPr>
          </a:p>
          <a:p>
            <a:pPr lvl="1">
              <a:lnSpc>
                <a:spcPct val="130000"/>
              </a:lnSpc>
            </a:pPr>
            <a:r>
              <a:rPr lang="zh-CN" altLang="en-US" sz="2800" b="1" dirty="0">
                <a:solidFill>
                  <a:srgbClr val="002060"/>
                </a:solidFill>
                <a:latin typeface="+mj-ea"/>
                <a:ea typeface="+mj-ea"/>
              </a:rPr>
              <a:t>赋值表达式的值是左运算分量的值</a:t>
            </a:r>
            <a:endParaRPr lang="en-US" altLang="zh-CN" sz="2800" b="1" dirty="0">
              <a:solidFill>
                <a:srgbClr val="002060"/>
              </a:solidFill>
              <a:latin typeface="+mj-ea"/>
              <a:ea typeface="+mj-ea"/>
            </a:endParaRPr>
          </a:p>
          <a:p>
            <a:pPr lvl="2">
              <a:lnSpc>
                <a:spcPct val="130000"/>
              </a:lnSpc>
            </a:pPr>
            <a:r>
              <a:rPr lang="zh-CN" altLang="en-US" sz="2800" b="1" dirty="0">
                <a:latin typeface="+mj-ea"/>
                <a:ea typeface="+mj-ea"/>
              </a:rPr>
              <a:t>赋值运算结束后，右运算分量的值赋给左运算分量，该值同时也是赋值表达式的值</a:t>
            </a:r>
            <a:endParaRPr lang="zh-CN" altLang="en-US" sz="2400" b="1" dirty="0">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算术运算</a:t>
            </a:r>
          </a:p>
        </p:txBody>
      </p:sp>
      <p:sp>
        <p:nvSpPr>
          <p:cNvPr id="3" name="内容占位符 2"/>
          <p:cNvSpPr>
            <a:spLocks noGrp="1"/>
          </p:cNvSpPr>
          <p:nvPr>
            <p:ph idx="1"/>
          </p:nvPr>
        </p:nvSpPr>
        <p:spPr>
          <a:xfrm>
            <a:off x="214282" y="785794"/>
            <a:ext cx="8390166" cy="5527066"/>
          </a:xfrm>
        </p:spPr>
        <p:txBody>
          <a:bodyPr>
            <a:normAutofit fontScale="92500" lnSpcReduction="20000"/>
          </a:bodyPr>
          <a:lstStyle/>
          <a:p>
            <a:pPr>
              <a:lnSpc>
                <a:spcPct val="140000"/>
              </a:lnSpc>
            </a:pPr>
            <a:r>
              <a:rPr lang="zh-CN" altLang="en-US" sz="3200" b="1" dirty="0">
                <a:latin typeface="+mj-ea"/>
                <a:ea typeface="+mj-ea"/>
              </a:rPr>
              <a:t>算术运算符</a:t>
            </a:r>
            <a:endParaRPr lang="en-US" altLang="zh-CN" sz="3200" b="1" dirty="0">
              <a:latin typeface="+mj-ea"/>
              <a:ea typeface="+mj-ea"/>
            </a:endParaRPr>
          </a:p>
          <a:p>
            <a:pPr lvl="1">
              <a:lnSpc>
                <a:spcPct val="140000"/>
              </a:lnSpc>
            </a:pPr>
            <a:r>
              <a:rPr lang="zh-CN" altLang="en-US" sz="2800" b="1" dirty="0">
                <a:solidFill>
                  <a:srgbClr val="002060"/>
                </a:solidFill>
                <a:latin typeface="+mj-ea"/>
                <a:ea typeface="+mj-ea"/>
              </a:rPr>
              <a:t>单目</a:t>
            </a:r>
            <a:r>
              <a:rPr lang="en-US" altLang="zh-CN" sz="2800" b="1" dirty="0">
                <a:solidFill>
                  <a:srgbClr val="002060"/>
                </a:solidFill>
                <a:latin typeface="+mj-ea"/>
                <a:ea typeface="+mj-ea"/>
              </a:rPr>
              <a:t>-</a:t>
            </a:r>
            <a:r>
              <a:rPr lang="zh-CN" altLang="en-US" sz="2800" b="1" dirty="0">
                <a:solidFill>
                  <a:srgbClr val="002060"/>
                </a:solidFill>
                <a:latin typeface="+mj-ea"/>
                <a:ea typeface="+mj-ea"/>
              </a:rPr>
              <a:t>、增量运算符</a:t>
            </a:r>
            <a:r>
              <a:rPr lang="en-US" altLang="zh-CN" sz="2800" b="1" dirty="0">
                <a:solidFill>
                  <a:srgbClr val="002060"/>
                </a:solidFill>
                <a:latin typeface="+mj-ea"/>
                <a:ea typeface="+mj-ea"/>
              </a:rPr>
              <a:t>++</a:t>
            </a:r>
            <a:r>
              <a:rPr lang="zh-CN" altLang="en-US" sz="2800" b="1" dirty="0">
                <a:solidFill>
                  <a:srgbClr val="002060"/>
                </a:solidFill>
                <a:latin typeface="+mj-ea"/>
                <a:ea typeface="+mj-ea"/>
              </a:rPr>
              <a:t>、减量运算符</a:t>
            </a:r>
            <a:r>
              <a:rPr lang="en-US" altLang="zh-CN" sz="2800" b="1" dirty="0">
                <a:solidFill>
                  <a:srgbClr val="002060"/>
                </a:solidFill>
                <a:latin typeface="+mj-ea"/>
                <a:ea typeface="+mj-ea"/>
              </a:rPr>
              <a:t>--</a:t>
            </a:r>
          </a:p>
          <a:p>
            <a:pPr lvl="1">
              <a:lnSpc>
                <a:spcPct val="140000"/>
              </a:lnSpc>
            </a:pPr>
            <a:r>
              <a:rPr lang="zh-CN" altLang="en-US" sz="2800" b="1" dirty="0">
                <a:solidFill>
                  <a:srgbClr val="002060"/>
                </a:solidFill>
                <a:latin typeface="+mj-ea"/>
                <a:ea typeface="+mj-ea"/>
              </a:rPr>
              <a:t>双目</a:t>
            </a:r>
            <a:r>
              <a:rPr lang="en-US" altLang="zh-CN" sz="2800" b="1" dirty="0">
                <a:solidFill>
                  <a:srgbClr val="002060"/>
                </a:solidFill>
                <a:latin typeface="+mj-ea"/>
                <a:ea typeface="+mj-ea"/>
              </a:rPr>
              <a:t>+</a:t>
            </a:r>
            <a:r>
              <a:rPr lang="zh-CN" altLang="en-US" sz="2800" b="1" dirty="0">
                <a:solidFill>
                  <a:srgbClr val="002060"/>
                </a:solidFill>
                <a:latin typeface="+mj-ea"/>
                <a:ea typeface="+mj-ea"/>
              </a:rPr>
              <a:t>、</a:t>
            </a:r>
            <a:r>
              <a:rPr lang="en-US" altLang="zh-CN" sz="2800" b="1" dirty="0">
                <a:solidFill>
                  <a:srgbClr val="002060"/>
                </a:solidFill>
                <a:latin typeface="+mj-ea"/>
                <a:ea typeface="+mj-ea"/>
              </a:rPr>
              <a:t>-</a:t>
            </a:r>
            <a:r>
              <a:rPr lang="zh-CN" altLang="en-US" sz="2800" b="1" dirty="0">
                <a:solidFill>
                  <a:srgbClr val="002060"/>
                </a:solidFill>
                <a:latin typeface="+mj-ea"/>
                <a:ea typeface="+mj-ea"/>
              </a:rPr>
              <a:t>、</a:t>
            </a:r>
            <a:r>
              <a:rPr lang="en-US" altLang="zh-CN" sz="2800" b="1" dirty="0">
                <a:solidFill>
                  <a:srgbClr val="002060"/>
                </a:solidFill>
                <a:latin typeface="+mj-ea"/>
                <a:ea typeface="+mj-ea"/>
              </a:rPr>
              <a:t>*</a:t>
            </a:r>
            <a:r>
              <a:rPr lang="zh-CN" altLang="en-US" sz="2800" b="1" dirty="0">
                <a:solidFill>
                  <a:srgbClr val="002060"/>
                </a:solidFill>
                <a:latin typeface="+mj-ea"/>
                <a:ea typeface="+mj-ea"/>
              </a:rPr>
              <a:t>、</a:t>
            </a:r>
            <a:r>
              <a:rPr lang="en-US" altLang="zh-CN" sz="2800" b="1" dirty="0">
                <a:solidFill>
                  <a:srgbClr val="002060"/>
                </a:solidFill>
                <a:latin typeface="+mj-ea"/>
                <a:ea typeface="+mj-ea"/>
              </a:rPr>
              <a:t>/</a:t>
            </a:r>
            <a:r>
              <a:rPr lang="zh-CN" altLang="en-US" sz="2800" b="1" dirty="0">
                <a:solidFill>
                  <a:srgbClr val="002060"/>
                </a:solidFill>
                <a:latin typeface="+mj-ea"/>
                <a:ea typeface="+mj-ea"/>
              </a:rPr>
              <a:t>、</a:t>
            </a:r>
            <a:r>
              <a:rPr lang="en-US" altLang="zh-CN" sz="2800" b="1" dirty="0">
                <a:solidFill>
                  <a:srgbClr val="002060"/>
                </a:solidFill>
                <a:latin typeface="+mj-ea"/>
                <a:ea typeface="+mj-ea"/>
              </a:rPr>
              <a:t>%</a:t>
            </a:r>
          </a:p>
          <a:p>
            <a:pPr>
              <a:lnSpc>
                <a:spcPct val="140000"/>
              </a:lnSpc>
            </a:pPr>
            <a:r>
              <a:rPr lang="zh-CN" altLang="en-US" sz="3200" b="1" dirty="0">
                <a:latin typeface="+mj-ea"/>
                <a:ea typeface="+mj-ea"/>
              </a:rPr>
              <a:t>算术表达式</a:t>
            </a:r>
            <a:endParaRPr lang="en-US" altLang="zh-CN" sz="3200" b="1" dirty="0">
              <a:latin typeface="+mj-ea"/>
              <a:ea typeface="+mj-ea"/>
            </a:endParaRPr>
          </a:p>
          <a:p>
            <a:pPr lvl="1">
              <a:lnSpc>
                <a:spcPct val="140000"/>
              </a:lnSpc>
            </a:pPr>
            <a:r>
              <a:rPr lang="en-US" altLang="zh-CN" sz="2800" b="1" dirty="0">
                <a:solidFill>
                  <a:srgbClr val="002060"/>
                </a:solidFill>
                <a:latin typeface="+mj-ea"/>
                <a:ea typeface="+mj-ea"/>
              </a:rPr>
              <a:t>-&lt;</a:t>
            </a:r>
            <a:r>
              <a:rPr lang="zh-CN" altLang="en-US" sz="2800" b="1" dirty="0">
                <a:solidFill>
                  <a:srgbClr val="002060"/>
                </a:solidFill>
                <a:latin typeface="+mj-ea"/>
                <a:ea typeface="+mj-ea"/>
              </a:rPr>
              <a:t>运算分量</a:t>
            </a:r>
            <a:r>
              <a:rPr lang="en-US" altLang="zh-CN" sz="2800" b="1" dirty="0">
                <a:solidFill>
                  <a:srgbClr val="002060"/>
                </a:solidFill>
                <a:latin typeface="+mj-ea"/>
                <a:ea typeface="+mj-ea"/>
              </a:rPr>
              <a:t>&gt;</a:t>
            </a:r>
          </a:p>
          <a:p>
            <a:pPr lvl="1">
              <a:lnSpc>
                <a:spcPct val="140000"/>
              </a:lnSpc>
            </a:pPr>
            <a:r>
              <a:rPr lang="en-US" altLang="zh-CN" sz="2800" b="1" dirty="0">
                <a:solidFill>
                  <a:srgbClr val="002060"/>
                </a:solidFill>
                <a:latin typeface="+mj-ea"/>
                <a:ea typeface="+mj-ea"/>
              </a:rPr>
              <a:t>&lt;</a:t>
            </a:r>
            <a:r>
              <a:rPr lang="zh-CN" altLang="en-US" sz="2800" b="1" dirty="0">
                <a:solidFill>
                  <a:srgbClr val="002060"/>
                </a:solidFill>
                <a:latin typeface="+mj-ea"/>
                <a:ea typeface="+mj-ea"/>
              </a:rPr>
              <a:t>运算分量</a:t>
            </a:r>
            <a:r>
              <a:rPr lang="en-US" altLang="zh-CN" sz="2800" b="1" dirty="0">
                <a:solidFill>
                  <a:srgbClr val="002060"/>
                </a:solidFill>
                <a:latin typeface="+mj-ea"/>
                <a:ea typeface="+mj-ea"/>
              </a:rPr>
              <a:t>&gt;++(--)</a:t>
            </a:r>
          </a:p>
          <a:p>
            <a:pPr lvl="1">
              <a:lnSpc>
                <a:spcPct val="140000"/>
              </a:lnSpc>
            </a:pPr>
            <a:r>
              <a:rPr lang="en-US" altLang="zh-CN" sz="2800" b="1" dirty="0">
                <a:solidFill>
                  <a:srgbClr val="002060"/>
                </a:solidFill>
                <a:latin typeface="+mj-ea"/>
                <a:ea typeface="+mj-ea"/>
              </a:rPr>
              <a:t>++(--) &lt;</a:t>
            </a:r>
            <a:r>
              <a:rPr lang="zh-CN" altLang="en-US" sz="2800" b="1" dirty="0">
                <a:solidFill>
                  <a:srgbClr val="002060"/>
                </a:solidFill>
                <a:latin typeface="+mj-ea"/>
                <a:ea typeface="+mj-ea"/>
              </a:rPr>
              <a:t>运算分量</a:t>
            </a:r>
            <a:r>
              <a:rPr lang="en-US" altLang="zh-CN" sz="2800" b="1" dirty="0">
                <a:solidFill>
                  <a:srgbClr val="002060"/>
                </a:solidFill>
                <a:latin typeface="+mj-ea"/>
                <a:ea typeface="+mj-ea"/>
              </a:rPr>
              <a:t>&gt;</a:t>
            </a:r>
          </a:p>
          <a:p>
            <a:pPr lvl="1">
              <a:lnSpc>
                <a:spcPct val="140000"/>
              </a:lnSpc>
            </a:pPr>
            <a:r>
              <a:rPr lang="en-US" altLang="zh-CN" sz="2800" b="1" dirty="0">
                <a:solidFill>
                  <a:srgbClr val="002060"/>
                </a:solidFill>
                <a:latin typeface="+mj-ea"/>
                <a:ea typeface="+mj-ea"/>
              </a:rPr>
              <a:t>&lt;</a:t>
            </a:r>
            <a:r>
              <a:rPr lang="zh-CN" altLang="en-US" sz="2800" b="1" dirty="0">
                <a:solidFill>
                  <a:srgbClr val="002060"/>
                </a:solidFill>
                <a:latin typeface="+mj-ea"/>
                <a:ea typeface="+mj-ea"/>
              </a:rPr>
              <a:t>运算分量</a:t>
            </a:r>
            <a:r>
              <a:rPr lang="en-US" altLang="zh-CN" sz="2800" b="1" dirty="0">
                <a:solidFill>
                  <a:srgbClr val="002060"/>
                </a:solidFill>
                <a:latin typeface="+mj-ea"/>
                <a:ea typeface="+mj-ea"/>
              </a:rPr>
              <a:t>&gt; &lt;</a:t>
            </a:r>
            <a:r>
              <a:rPr lang="zh-CN" altLang="en-US" sz="2800" b="1" dirty="0">
                <a:solidFill>
                  <a:srgbClr val="002060"/>
                </a:solidFill>
                <a:latin typeface="+mj-ea"/>
                <a:ea typeface="+mj-ea"/>
              </a:rPr>
              <a:t>双目算术运算符</a:t>
            </a:r>
            <a:r>
              <a:rPr lang="en-US" altLang="zh-CN" sz="2800" b="1" dirty="0">
                <a:solidFill>
                  <a:srgbClr val="002060"/>
                </a:solidFill>
                <a:latin typeface="+mj-ea"/>
                <a:ea typeface="+mj-ea"/>
              </a:rPr>
              <a:t>&gt; &lt;</a:t>
            </a:r>
            <a:r>
              <a:rPr lang="zh-CN" altLang="en-US" sz="2800" b="1" dirty="0">
                <a:solidFill>
                  <a:srgbClr val="002060"/>
                </a:solidFill>
                <a:latin typeface="+mj-ea"/>
                <a:ea typeface="+mj-ea"/>
              </a:rPr>
              <a:t>运算分量</a:t>
            </a:r>
            <a:r>
              <a:rPr lang="en-US" altLang="zh-CN" sz="2800" b="1" dirty="0">
                <a:solidFill>
                  <a:srgbClr val="002060"/>
                </a:solidFill>
                <a:latin typeface="+mj-ea"/>
                <a:ea typeface="+mj-ea"/>
              </a:rPr>
              <a:t>&gt;</a:t>
            </a:r>
          </a:p>
          <a:p>
            <a:pPr lvl="2">
              <a:lnSpc>
                <a:spcPct val="140000"/>
              </a:lnSpc>
            </a:pPr>
            <a:r>
              <a:rPr lang="zh-CN" altLang="en-US" sz="2800" b="1" dirty="0">
                <a:latin typeface="+mj-ea"/>
                <a:ea typeface="+mj-ea"/>
              </a:rPr>
              <a:t>运算分量为数值类型，运算结果的数据类型与运算分量的数据类型相同</a:t>
            </a:r>
            <a:endParaRPr lang="zh-CN" altLang="en-US" b="1" dirty="0">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677246"/>
          </a:xfrm>
        </p:spPr>
        <p:txBody>
          <a:bodyPr/>
          <a:lstStyle/>
          <a:p>
            <a:r>
              <a:rPr lang="zh-CN" altLang="en-US" dirty="0"/>
              <a:t>算术运算</a:t>
            </a:r>
          </a:p>
        </p:txBody>
      </p:sp>
      <p:sp>
        <p:nvSpPr>
          <p:cNvPr id="3" name="内容占位符 2"/>
          <p:cNvSpPr>
            <a:spLocks noGrp="1"/>
          </p:cNvSpPr>
          <p:nvPr>
            <p:ph idx="1"/>
          </p:nvPr>
        </p:nvSpPr>
        <p:spPr>
          <a:xfrm>
            <a:off x="357158" y="857232"/>
            <a:ext cx="4043362" cy="5643602"/>
          </a:xfrm>
        </p:spPr>
        <p:txBody>
          <a:bodyPr>
            <a:normAutofit lnSpcReduction="10000"/>
          </a:bodyPr>
          <a:lstStyle/>
          <a:p>
            <a:pPr>
              <a:lnSpc>
                <a:spcPct val="120000"/>
              </a:lnSpc>
            </a:pPr>
            <a:r>
              <a:rPr lang="zh-CN" altLang="en-US" sz="2800" b="1" dirty="0">
                <a:latin typeface="+mj-ea"/>
                <a:ea typeface="+mj-ea"/>
              </a:rPr>
              <a:t>单目减运算</a:t>
            </a:r>
            <a:r>
              <a:rPr lang="en-US" altLang="zh-CN" sz="2800" b="1" dirty="0">
                <a:latin typeface="+mj-ea"/>
                <a:ea typeface="+mj-ea"/>
              </a:rPr>
              <a:t>-</a:t>
            </a:r>
          </a:p>
          <a:p>
            <a:pPr lvl="1">
              <a:lnSpc>
                <a:spcPct val="120000"/>
              </a:lnSpc>
            </a:pPr>
            <a:r>
              <a:rPr lang="en-US" altLang="zh-CN" sz="2400" b="1" dirty="0">
                <a:solidFill>
                  <a:srgbClr val="002060"/>
                </a:solidFill>
                <a:latin typeface="+mj-ea"/>
                <a:ea typeface="+mj-ea"/>
              </a:rPr>
              <a:t>-1 * &lt;</a:t>
            </a:r>
            <a:r>
              <a:rPr lang="zh-CN" altLang="en-US" sz="2400" b="1" dirty="0">
                <a:solidFill>
                  <a:srgbClr val="002060"/>
                </a:solidFill>
                <a:latin typeface="+mj-ea"/>
                <a:ea typeface="+mj-ea"/>
              </a:rPr>
              <a:t>运算分量</a:t>
            </a:r>
            <a:r>
              <a:rPr lang="en-US" altLang="zh-CN" sz="2400" b="1" dirty="0">
                <a:solidFill>
                  <a:srgbClr val="002060"/>
                </a:solidFill>
                <a:latin typeface="+mj-ea"/>
                <a:ea typeface="+mj-ea"/>
              </a:rPr>
              <a:t>&gt; </a:t>
            </a:r>
          </a:p>
          <a:p>
            <a:pPr>
              <a:lnSpc>
                <a:spcPct val="120000"/>
              </a:lnSpc>
            </a:pPr>
            <a:r>
              <a:rPr lang="zh-CN" altLang="en-US" sz="2800" b="1" dirty="0">
                <a:latin typeface="+mj-ea"/>
                <a:ea typeface="+mj-ea"/>
              </a:rPr>
              <a:t>增量运算</a:t>
            </a:r>
            <a:r>
              <a:rPr lang="en-US" altLang="zh-CN" sz="2800" b="1" dirty="0">
                <a:latin typeface="+mj-ea"/>
                <a:ea typeface="+mj-ea"/>
              </a:rPr>
              <a:t>++</a:t>
            </a:r>
          </a:p>
          <a:p>
            <a:pPr lvl="1">
              <a:lnSpc>
                <a:spcPct val="120000"/>
              </a:lnSpc>
            </a:pPr>
            <a:r>
              <a:rPr lang="zh-CN" altLang="en-US" sz="2400" b="1" dirty="0">
                <a:solidFill>
                  <a:srgbClr val="002060"/>
                </a:solidFill>
                <a:latin typeface="+mj-ea"/>
                <a:ea typeface="+mj-ea"/>
              </a:rPr>
              <a:t>前缀增量</a:t>
            </a:r>
            <a:endParaRPr lang="en-US" altLang="zh-CN" sz="2400" b="1" dirty="0">
              <a:solidFill>
                <a:srgbClr val="002060"/>
              </a:solidFill>
              <a:latin typeface="+mj-ea"/>
              <a:ea typeface="+mj-ea"/>
            </a:endParaRPr>
          </a:p>
          <a:p>
            <a:pPr lvl="2">
              <a:lnSpc>
                <a:spcPct val="120000"/>
              </a:lnSpc>
            </a:pPr>
            <a:r>
              <a:rPr lang="en-US" altLang="zh-CN" sz="2400" b="1" dirty="0">
                <a:latin typeface="+mj-ea"/>
                <a:ea typeface="+mj-ea"/>
              </a:rPr>
              <a:t>++&lt;</a:t>
            </a:r>
            <a:r>
              <a:rPr lang="zh-CN" altLang="en-US" sz="2400" b="1" dirty="0">
                <a:latin typeface="+mj-ea"/>
                <a:ea typeface="+mj-ea"/>
              </a:rPr>
              <a:t>运算分量</a:t>
            </a:r>
            <a:r>
              <a:rPr lang="en-US" altLang="zh-CN" sz="2400" b="1" dirty="0">
                <a:latin typeface="+mj-ea"/>
                <a:ea typeface="+mj-ea"/>
              </a:rPr>
              <a:t>&gt;</a:t>
            </a:r>
          </a:p>
          <a:p>
            <a:pPr lvl="3">
              <a:lnSpc>
                <a:spcPct val="120000"/>
              </a:lnSpc>
            </a:pPr>
            <a:r>
              <a:rPr lang="zh-CN" altLang="en-US" sz="2400" b="1" dirty="0">
                <a:solidFill>
                  <a:srgbClr val="002060"/>
                </a:solidFill>
                <a:latin typeface="+mj-ea"/>
                <a:ea typeface="+mj-ea"/>
              </a:rPr>
              <a:t>运算分量值加</a:t>
            </a:r>
            <a:r>
              <a:rPr lang="en-US" altLang="zh-CN" sz="2400" b="1" dirty="0">
                <a:solidFill>
                  <a:srgbClr val="002060"/>
                </a:solidFill>
                <a:latin typeface="+mj-ea"/>
                <a:ea typeface="+mj-ea"/>
              </a:rPr>
              <a:t>1</a:t>
            </a:r>
          </a:p>
          <a:p>
            <a:pPr lvl="3">
              <a:lnSpc>
                <a:spcPct val="120000"/>
              </a:lnSpc>
            </a:pPr>
            <a:r>
              <a:rPr lang="zh-CN" altLang="en-US" sz="2400" b="1" dirty="0">
                <a:solidFill>
                  <a:srgbClr val="002060"/>
                </a:solidFill>
                <a:latin typeface="+mj-ea"/>
                <a:ea typeface="+mj-ea"/>
              </a:rPr>
              <a:t>表达式值加</a:t>
            </a:r>
            <a:r>
              <a:rPr lang="en-US" altLang="zh-CN" sz="2400" b="1" dirty="0">
                <a:solidFill>
                  <a:srgbClr val="002060"/>
                </a:solidFill>
                <a:latin typeface="+mj-ea"/>
                <a:ea typeface="+mj-ea"/>
              </a:rPr>
              <a:t>1</a:t>
            </a:r>
          </a:p>
          <a:p>
            <a:pPr lvl="1">
              <a:lnSpc>
                <a:spcPct val="120000"/>
              </a:lnSpc>
            </a:pPr>
            <a:r>
              <a:rPr lang="zh-CN" altLang="en-US" sz="2400" b="1" dirty="0">
                <a:solidFill>
                  <a:srgbClr val="002060"/>
                </a:solidFill>
                <a:latin typeface="+mj-ea"/>
                <a:ea typeface="+mj-ea"/>
              </a:rPr>
              <a:t>后缀增量</a:t>
            </a:r>
            <a:endParaRPr lang="en-US" altLang="zh-CN" sz="2400" b="1" dirty="0">
              <a:solidFill>
                <a:srgbClr val="002060"/>
              </a:solidFill>
              <a:latin typeface="+mj-ea"/>
              <a:ea typeface="+mj-ea"/>
            </a:endParaRPr>
          </a:p>
          <a:p>
            <a:pPr lvl="2">
              <a:lnSpc>
                <a:spcPct val="120000"/>
              </a:lnSpc>
            </a:pPr>
            <a:r>
              <a:rPr lang="en-US" altLang="zh-CN" sz="2400" b="1" dirty="0">
                <a:latin typeface="+mj-ea"/>
                <a:ea typeface="+mj-ea"/>
              </a:rPr>
              <a:t>&lt;</a:t>
            </a:r>
            <a:r>
              <a:rPr lang="zh-CN" altLang="en-US" sz="2400" b="1" dirty="0">
                <a:latin typeface="+mj-ea"/>
                <a:ea typeface="+mj-ea"/>
              </a:rPr>
              <a:t>运算分量</a:t>
            </a:r>
            <a:r>
              <a:rPr lang="en-US" altLang="zh-CN" sz="2400" b="1" dirty="0">
                <a:latin typeface="+mj-ea"/>
                <a:ea typeface="+mj-ea"/>
              </a:rPr>
              <a:t>&gt;++</a:t>
            </a:r>
          </a:p>
          <a:p>
            <a:pPr lvl="3">
              <a:lnSpc>
                <a:spcPct val="120000"/>
              </a:lnSpc>
            </a:pPr>
            <a:r>
              <a:rPr lang="zh-CN" altLang="en-US" sz="2400" b="1" dirty="0">
                <a:solidFill>
                  <a:srgbClr val="002060"/>
                </a:solidFill>
                <a:latin typeface="+mj-ea"/>
                <a:ea typeface="+mj-ea"/>
              </a:rPr>
              <a:t>运算分量值加</a:t>
            </a:r>
            <a:r>
              <a:rPr lang="en-US" altLang="zh-CN" sz="2400" b="1" dirty="0">
                <a:solidFill>
                  <a:srgbClr val="002060"/>
                </a:solidFill>
                <a:latin typeface="+mj-ea"/>
                <a:ea typeface="+mj-ea"/>
              </a:rPr>
              <a:t>1</a:t>
            </a:r>
          </a:p>
          <a:p>
            <a:pPr lvl="3">
              <a:lnSpc>
                <a:spcPct val="120000"/>
              </a:lnSpc>
            </a:pPr>
            <a:r>
              <a:rPr lang="zh-CN" altLang="en-US" sz="2400" b="1" dirty="0">
                <a:solidFill>
                  <a:srgbClr val="002060"/>
                </a:solidFill>
                <a:latin typeface="+mj-ea"/>
                <a:ea typeface="+mj-ea"/>
              </a:rPr>
              <a:t>表达式值不变</a:t>
            </a:r>
            <a:endParaRPr lang="en-US" altLang="zh-CN" sz="2400" b="1" dirty="0">
              <a:solidFill>
                <a:srgbClr val="002060"/>
              </a:solidFill>
              <a:latin typeface="+mj-ea"/>
              <a:ea typeface="+mj-ea"/>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25</a:t>
            </a:fld>
            <a:endParaRPr lang="en-US" altLang="zh-CN" dirty="0"/>
          </a:p>
        </p:txBody>
      </p:sp>
      <p:sp>
        <p:nvSpPr>
          <p:cNvPr id="6" name="内容占位符 2"/>
          <p:cNvSpPr txBox="1">
            <a:spLocks/>
          </p:cNvSpPr>
          <p:nvPr/>
        </p:nvSpPr>
        <p:spPr bwMode="auto">
          <a:xfrm>
            <a:off x="3286116" y="2285992"/>
            <a:ext cx="5572164" cy="4286280"/>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p>
            <a:pPr marL="742950" marR="0" lvl="1" indent="-285750" algn="l" defTabSz="914400" rtl="0" eaLnBrk="1" fontAlgn="base" latinLnBrk="0" hangingPunct="1">
              <a:lnSpc>
                <a:spcPct val="120000"/>
              </a:lnSpc>
              <a:spcBef>
                <a:spcPct val="20000"/>
              </a:spcBef>
              <a:spcAft>
                <a:spcPct val="0"/>
              </a:spcAft>
              <a:buClr>
                <a:schemeClr val="accent1"/>
              </a:buClr>
              <a:buSzTx/>
              <a:buFont typeface="Wingdings" pitchFamily="2" charset="2"/>
              <a:buChar char="§"/>
              <a:tabLst/>
              <a:defRPr/>
            </a:pPr>
            <a:r>
              <a:rPr kumimoji="0" lang="zh-CN" altLang="en-US" sz="2400" b="1" i="0" u="none" strike="noStrike" kern="0" cap="none" spc="0" normalizeH="0" baseline="0" noProof="0" dirty="0">
                <a:ln>
                  <a:noFill/>
                </a:ln>
                <a:solidFill>
                  <a:srgbClr val="0000FF"/>
                </a:solidFill>
                <a:effectLst/>
                <a:uLnTx/>
                <a:uFillTx/>
                <a:latin typeface="黑体" pitchFamily="49" charset="-122"/>
                <a:ea typeface="黑体" pitchFamily="49" charset="-122"/>
              </a:rPr>
              <a:t>表达式</a:t>
            </a:r>
            <a:r>
              <a:rPr kumimoji="0" lang="en-US" altLang="zh-CN" sz="2400" b="1" i="0" u="none" strike="noStrike" kern="0" cap="none" spc="0" normalizeH="0" baseline="0" noProof="0" dirty="0">
                <a:ln>
                  <a:noFill/>
                </a:ln>
                <a:solidFill>
                  <a:srgbClr val="0000FF"/>
                </a:solidFill>
                <a:effectLst/>
                <a:uLnTx/>
                <a:uFillTx/>
                <a:latin typeface="黑体" pitchFamily="49" charset="-122"/>
                <a:ea typeface="黑体" pitchFamily="49" charset="-122"/>
                <a:cs typeface="Courier New" pitchFamily="49" charset="0"/>
              </a:rPr>
              <a:t>++</a:t>
            </a:r>
            <a:r>
              <a:rPr kumimoji="0" lang="en-US" altLang="zh-CN" sz="2400" b="1" i="0" u="none" strike="noStrike" kern="0" cap="none" spc="0" normalizeH="0" baseline="0" noProof="0" dirty="0" err="1">
                <a:ln>
                  <a:noFill/>
                </a:ln>
                <a:solidFill>
                  <a:srgbClr val="0000FF"/>
                </a:solidFill>
                <a:effectLst/>
                <a:uLnTx/>
                <a:uFillTx/>
                <a:latin typeface="黑体" pitchFamily="49" charset="-122"/>
                <a:ea typeface="黑体" pitchFamily="49" charset="-122"/>
                <a:cs typeface="Courier New" pitchFamily="49" charset="0"/>
              </a:rPr>
              <a:t>i</a:t>
            </a:r>
            <a:r>
              <a:rPr kumimoji="0" lang="en-US" altLang="zh-CN" sz="2400" b="1" i="0" u="none" strike="noStrike" kern="0" cap="none" spc="0" normalizeH="0" baseline="0" noProof="0" dirty="0">
                <a:ln>
                  <a:noFill/>
                </a:ln>
                <a:solidFill>
                  <a:srgbClr val="0000FF"/>
                </a:solidFill>
                <a:effectLst/>
                <a:uLnTx/>
                <a:uFillTx/>
                <a:latin typeface="黑体" pitchFamily="49" charset="-122"/>
                <a:ea typeface="黑体" pitchFamily="49" charset="-122"/>
                <a:cs typeface="Courier New" pitchFamily="49" charset="0"/>
              </a:rPr>
              <a:t>;</a:t>
            </a:r>
          </a:p>
          <a:p>
            <a:pPr marL="1200150" lvl="2" indent="-285750">
              <a:lnSpc>
                <a:spcPct val="120000"/>
              </a:lnSpc>
              <a:spcBef>
                <a:spcPct val="20000"/>
              </a:spcBef>
              <a:buClr>
                <a:schemeClr val="accent1"/>
              </a:buClr>
              <a:buFont typeface="Wingdings" pitchFamily="2" charset="2"/>
              <a:buChar char="§"/>
            </a:pPr>
            <a:r>
              <a:rPr lang="zh-CN" altLang="en-US" sz="2400" b="1" kern="0" dirty="0">
                <a:latin typeface="黑体" pitchFamily="49" charset="-122"/>
                <a:ea typeface="黑体" pitchFamily="49" charset="-122"/>
              </a:rPr>
              <a:t>如果</a:t>
            </a:r>
            <a:r>
              <a:rPr lang="en-US" altLang="zh-CN" sz="2400" b="1" kern="0" dirty="0" err="1">
                <a:latin typeface="黑体" pitchFamily="49" charset="-122"/>
                <a:ea typeface="黑体" pitchFamily="49" charset="-122"/>
              </a:rPr>
              <a:t>i</a:t>
            </a:r>
            <a:r>
              <a:rPr lang="zh-CN" altLang="en-US" sz="2400" b="1" kern="0" dirty="0">
                <a:latin typeface="黑体" pitchFamily="49" charset="-122"/>
                <a:ea typeface="黑体" pitchFamily="49" charset="-122"/>
              </a:rPr>
              <a:t>的初始值为</a:t>
            </a:r>
            <a:r>
              <a:rPr lang="en-US" altLang="zh-CN" sz="2400" b="1" kern="0" dirty="0">
                <a:latin typeface="黑体" pitchFamily="49" charset="-122"/>
                <a:ea typeface="黑体" pitchFamily="49" charset="-122"/>
              </a:rPr>
              <a:t>3</a:t>
            </a:r>
            <a:r>
              <a:rPr lang="zh-CN" altLang="en-US" sz="2400" b="1" kern="0" dirty="0">
                <a:latin typeface="黑体" pitchFamily="49" charset="-122"/>
                <a:ea typeface="黑体" pitchFamily="49" charset="-122"/>
              </a:rPr>
              <a:t>，运算过程中，首先</a:t>
            </a:r>
            <a:r>
              <a:rPr lang="en-US" altLang="zh-CN" sz="2400" b="1" kern="0" dirty="0" err="1">
                <a:latin typeface="黑体" pitchFamily="49" charset="-122"/>
                <a:ea typeface="黑体" pitchFamily="49" charset="-122"/>
              </a:rPr>
              <a:t>i</a:t>
            </a:r>
            <a:r>
              <a:rPr lang="zh-CN" altLang="en-US" sz="2400" b="1" kern="0" dirty="0">
                <a:latin typeface="黑体" pitchFamily="49" charset="-122"/>
                <a:ea typeface="黑体" pitchFamily="49" charset="-122"/>
              </a:rPr>
              <a:t>的值加</a:t>
            </a:r>
            <a:r>
              <a:rPr lang="en-US" altLang="zh-CN" sz="2400" b="1" kern="0" dirty="0">
                <a:latin typeface="黑体" pitchFamily="49" charset="-122"/>
                <a:ea typeface="黑体" pitchFamily="49" charset="-122"/>
              </a:rPr>
              <a:t>1</a:t>
            </a:r>
            <a:r>
              <a:rPr lang="zh-CN" altLang="en-US" sz="2400" b="1" kern="0" dirty="0">
                <a:latin typeface="黑体" pitchFamily="49" charset="-122"/>
                <a:ea typeface="黑体" pitchFamily="49" charset="-122"/>
              </a:rPr>
              <a:t>（</a:t>
            </a:r>
            <a:r>
              <a:rPr lang="en-US" altLang="zh-CN" sz="2400" b="1" kern="0" dirty="0" err="1">
                <a:latin typeface="黑体" pitchFamily="49" charset="-122"/>
                <a:ea typeface="黑体" pitchFamily="49" charset="-122"/>
              </a:rPr>
              <a:t>i</a:t>
            </a:r>
            <a:r>
              <a:rPr lang="zh-CN" altLang="en-US" sz="2400" b="1" kern="0" dirty="0">
                <a:latin typeface="黑体" pitchFamily="49" charset="-122"/>
                <a:ea typeface="黑体" pitchFamily="49" charset="-122"/>
              </a:rPr>
              <a:t>值变为</a:t>
            </a:r>
            <a:r>
              <a:rPr lang="en-US" altLang="zh-CN" sz="2400" b="1" kern="0" dirty="0">
                <a:latin typeface="黑体" pitchFamily="49" charset="-122"/>
                <a:ea typeface="黑体" pitchFamily="49" charset="-122"/>
              </a:rPr>
              <a:t>4</a:t>
            </a:r>
            <a:r>
              <a:rPr lang="zh-CN" altLang="en-US" sz="2400" b="1" kern="0" dirty="0">
                <a:latin typeface="黑体" pitchFamily="49" charset="-122"/>
                <a:ea typeface="黑体" pitchFamily="49" charset="-122"/>
              </a:rPr>
              <a:t>），然后表达式的值加</a:t>
            </a:r>
            <a:r>
              <a:rPr lang="en-US" altLang="zh-CN" sz="2400" b="1" kern="0" dirty="0">
                <a:latin typeface="黑体" pitchFamily="49" charset="-122"/>
                <a:ea typeface="黑体" pitchFamily="49" charset="-122"/>
              </a:rPr>
              <a:t>1</a:t>
            </a:r>
            <a:r>
              <a:rPr lang="zh-CN" altLang="en-US" sz="2400" b="1" kern="0" dirty="0">
                <a:latin typeface="黑体" pitchFamily="49" charset="-122"/>
                <a:ea typeface="黑体" pitchFamily="49" charset="-122"/>
              </a:rPr>
              <a:t>（</a:t>
            </a:r>
            <a:r>
              <a:rPr lang="en-US" altLang="zh-CN" sz="2400" b="1" kern="0" dirty="0">
                <a:latin typeface="黑体" pitchFamily="49" charset="-122"/>
                <a:ea typeface="黑体" pitchFamily="49" charset="-122"/>
              </a:rPr>
              <a:t>++</a:t>
            </a:r>
            <a:r>
              <a:rPr lang="en-US" altLang="zh-CN" sz="2400" b="1" kern="0" dirty="0" err="1">
                <a:latin typeface="黑体" pitchFamily="49" charset="-122"/>
                <a:ea typeface="黑体" pitchFamily="49" charset="-122"/>
              </a:rPr>
              <a:t>i</a:t>
            </a:r>
            <a:r>
              <a:rPr lang="zh-CN" altLang="en-US" sz="2400" b="1" kern="0" dirty="0">
                <a:latin typeface="黑体" pitchFamily="49" charset="-122"/>
                <a:ea typeface="黑体" pitchFamily="49" charset="-122"/>
              </a:rPr>
              <a:t>的值为</a:t>
            </a:r>
            <a:r>
              <a:rPr lang="en-US" altLang="zh-CN" sz="2400" b="1" kern="0" dirty="0">
                <a:latin typeface="黑体" pitchFamily="49" charset="-122"/>
                <a:ea typeface="黑体" pitchFamily="49" charset="-122"/>
              </a:rPr>
              <a:t>4</a:t>
            </a:r>
            <a:r>
              <a:rPr lang="zh-CN" altLang="en-US" sz="2400" b="1" kern="0" dirty="0">
                <a:latin typeface="黑体" pitchFamily="49" charset="-122"/>
                <a:ea typeface="黑体" pitchFamily="49" charset="-122"/>
              </a:rPr>
              <a:t>）</a:t>
            </a:r>
            <a:endParaRPr lang="en-US" altLang="zh-CN" sz="2400" b="1" kern="0" dirty="0">
              <a:latin typeface="黑体" pitchFamily="49" charset="-122"/>
              <a:ea typeface="黑体" pitchFamily="49" charset="-122"/>
            </a:endParaRPr>
          </a:p>
          <a:p>
            <a:pPr marL="742950" lvl="1" indent="-285750">
              <a:lnSpc>
                <a:spcPct val="120000"/>
              </a:lnSpc>
              <a:spcBef>
                <a:spcPct val="20000"/>
              </a:spcBef>
              <a:buClr>
                <a:schemeClr val="accent1"/>
              </a:buClr>
              <a:buFont typeface="Wingdings" pitchFamily="2" charset="2"/>
              <a:buChar char="§"/>
            </a:pPr>
            <a:r>
              <a:rPr kumimoji="0" lang="zh-CN" altLang="en-US" sz="2400" b="1" i="0" u="none" strike="noStrike" kern="0" cap="none" spc="0" normalizeH="0" baseline="0" noProof="0" dirty="0">
                <a:ln>
                  <a:noFill/>
                </a:ln>
                <a:solidFill>
                  <a:srgbClr val="0000FF"/>
                </a:solidFill>
                <a:effectLst/>
                <a:uLnTx/>
                <a:uFillTx/>
                <a:latin typeface="黑体" pitchFamily="49" charset="-122"/>
                <a:ea typeface="黑体" pitchFamily="49" charset="-122"/>
              </a:rPr>
              <a:t>表达式</a:t>
            </a:r>
            <a:r>
              <a:rPr kumimoji="0" lang="en-US" altLang="zh-CN" sz="2400" b="1" i="0" u="none" strike="noStrike" kern="0" cap="none" spc="0" normalizeH="0" baseline="0" noProof="0" dirty="0" err="1">
                <a:ln>
                  <a:noFill/>
                </a:ln>
                <a:solidFill>
                  <a:srgbClr val="0000FF"/>
                </a:solidFill>
                <a:effectLst/>
                <a:uLnTx/>
                <a:uFillTx/>
                <a:latin typeface="黑体" pitchFamily="49" charset="-122"/>
                <a:ea typeface="黑体" pitchFamily="49" charset="-122"/>
                <a:cs typeface="Courier New" pitchFamily="49" charset="0"/>
              </a:rPr>
              <a:t>i</a:t>
            </a:r>
            <a:r>
              <a:rPr kumimoji="0" lang="en-US" altLang="zh-CN" sz="2400" b="1" i="0" u="none" strike="noStrike" kern="0" cap="none" spc="0" normalizeH="0" baseline="0" noProof="0" dirty="0">
                <a:ln>
                  <a:noFill/>
                </a:ln>
                <a:solidFill>
                  <a:srgbClr val="0000FF"/>
                </a:solidFill>
                <a:effectLst/>
                <a:uLnTx/>
                <a:uFillTx/>
                <a:latin typeface="黑体" pitchFamily="49" charset="-122"/>
                <a:ea typeface="黑体" pitchFamily="49" charset="-122"/>
                <a:cs typeface="Courier New" pitchFamily="49" charset="0"/>
              </a:rPr>
              <a:t>++;</a:t>
            </a:r>
          </a:p>
          <a:p>
            <a:pPr marL="1200150" lvl="2" indent="-285750">
              <a:lnSpc>
                <a:spcPct val="120000"/>
              </a:lnSpc>
              <a:spcBef>
                <a:spcPct val="20000"/>
              </a:spcBef>
              <a:buClr>
                <a:schemeClr val="accent1"/>
              </a:buClr>
              <a:buFont typeface="Wingdings" pitchFamily="2" charset="2"/>
              <a:buChar char="§"/>
            </a:pPr>
            <a:r>
              <a:rPr lang="zh-CN" altLang="en-US" sz="2400" b="1" kern="0" dirty="0">
                <a:latin typeface="黑体" pitchFamily="49" charset="-122"/>
                <a:ea typeface="黑体" pitchFamily="49" charset="-122"/>
              </a:rPr>
              <a:t>如果</a:t>
            </a:r>
            <a:r>
              <a:rPr lang="en-US" altLang="zh-CN" sz="2400" b="1" kern="0" dirty="0" err="1">
                <a:latin typeface="黑体" pitchFamily="49" charset="-122"/>
                <a:ea typeface="黑体" pitchFamily="49" charset="-122"/>
              </a:rPr>
              <a:t>i</a:t>
            </a:r>
            <a:r>
              <a:rPr lang="zh-CN" altLang="en-US" sz="2400" b="1" kern="0" dirty="0">
                <a:latin typeface="黑体" pitchFamily="49" charset="-122"/>
                <a:ea typeface="黑体" pitchFamily="49" charset="-122"/>
              </a:rPr>
              <a:t>的初始值为</a:t>
            </a:r>
            <a:r>
              <a:rPr lang="en-US" altLang="zh-CN" sz="2400" b="1" kern="0" dirty="0">
                <a:latin typeface="黑体" pitchFamily="49" charset="-122"/>
                <a:ea typeface="黑体" pitchFamily="49" charset="-122"/>
              </a:rPr>
              <a:t>3</a:t>
            </a:r>
            <a:r>
              <a:rPr lang="zh-CN" altLang="en-US" sz="2400" b="1" kern="0" dirty="0">
                <a:latin typeface="黑体" pitchFamily="49" charset="-122"/>
                <a:ea typeface="黑体" pitchFamily="49" charset="-122"/>
              </a:rPr>
              <a:t>，运算过程中，首先表达式的值不变（</a:t>
            </a:r>
            <a:r>
              <a:rPr lang="en-US" altLang="zh-CN" sz="2400" b="1" kern="0" dirty="0" err="1">
                <a:latin typeface="黑体" pitchFamily="49" charset="-122"/>
                <a:ea typeface="黑体" pitchFamily="49" charset="-122"/>
              </a:rPr>
              <a:t>i</a:t>
            </a:r>
            <a:r>
              <a:rPr lang="en-US" altLang="zh-CN" sz="2400" b="1" kern="0" dirty="0">
                <a:latin typeface="黑体" pitchFamily="49" charset="-122"/>
                <a:ea typeface="黑体" pitchFamily="49" charset="-122"/>
              </a:rPr>
              <a:t>++</a:t>
            </a:r>
            <a:r>
              <a:rPr lang="zh-CN" altLang="en-US" sz="2400" b="1" kern="0" dirty="0">
                <a:latin typeface="黑体" pitchFamily="49" charset="-122"/>
                <a:ea typeface="黑体" pitchFamily="49" charset="-122"/>
              </a:rPr>
              <a:t>的值仍然为</a:t>
            </a:r>
            <a:r>
              <a:rPr lang="en-US" altLang="zh-CN" sz="2400" b="1" kern="0" dirty="0">
                <a:latin typeface="黑体" pitchFamily="49" charset="-122"/>
                <a:ea typeface="黑体" pitchFamily="49" charset="-122"/>
              </a:rPr>
              <a:t>3</a:t>
            </a:r>
            <a:r>
              <a:rPr lang="zh-CN" altLang="en-US" sz="2400" b="1" kern="0" dirty="0">
                <a:latin typeface="黑体" pitchFamily="49" charset="-122"/>
                <a:ea typeface="黑体" pitchFamily="49" charset="-122"/>
              </a:rPr>
              <a:t>），然后</a:t>
            </a:r>
            <a:r>
              <a:rPr lang="en-US" altLang="zh-CN" sz="2400" b="1" kern="0" dirty="0" err="1">
                <a:latin typeface="黑体" pitchFamily="49" charset="-122"/>
                <a:ea typeface="黑体" pitchFamily="49" charset="-122"/>
              </a:rPr>
              <a:t>i</a:t>
            </a:r>
            <a:r>
              <a:rPr lang="zh-CN" altLang="en-US" sz="2400" b="1" kern="0" dirty="0">
                <a:latin typeface="黑体" pitchFamily="49" charset="-122"/>
                <a:ea typeface="黑体" pitchFamily="49" charset="-122"/>
              </a:rPr>
              <a:t>的值加</a:t>
            </a:r>
            <a:r>
              <a:rPr lang="en-US" altLang="zh-CN" sz="2400" b="1" kern="0" dirty="0">
                <a:latin typeface="黑体" pitchFamily="49" charset="-122"/>
                <a:ea typeface="黑体" pitchFamily="49" charset="-122"/>
              </a:rPr>
              <a:t>1</a:t>
            </a:r>
            <a:r>
              <a:rPr lang="zh-CN" altLang="en-US" sz="2400" b="1" kern="0" dirty="0">
                <a:latin typeface="黑体" pitchFamily="49" charset="-122"/>
                <a:ea typeface="黑体" pitchFamily="49" charset="-122"/>
              </a:rPr>
              <a:t>（</a:t>
            </a:r>
            <a:r>
              <a:rPr lang="en-US" altLang="zh-CN" sz="2400" b="1" kern="0" dirty="0" err="1">
                <a:latin typeface="黑体" pitchFamily="49" charset="-122"/>
                <a:ea typeface="黑体" pitchFamily="49" charset="-122"/>
              </a:rPr>
              <a:t>i</a:t>
            </a:r>
            <a:r>
              <a:rPr lang="zh-CN" altLang="en-US" sz="2400" b="1" kern="0" dirty="0">
                <a:latin typeface="黑体" pitchFamily="49" charset="-122"/>
                <a:ea typeface="黑体" pitchFamily="49" charset="-122"/>
              </a:rPr>
              <a:t>值变为</a:t>
            </a:r>
            <a:r>
              <a:rPr lang="en-US" altLang="zh-CN" sz="2400" b="1" kern="0" dirty="0">
                <a:latin typeface="黑体" pitchFamily="49" charset="-122"/>
                <a:ea typeface="黑体" pitchFamily="49" charset="-122"/>
              </a:rPr>
              <a:t>4</a:t>
            </a:r>
            <a:r>
              <a:rPr lang="zh-CN" altLang="en-US" sz="2400" b="1" kern="0" dirty="0">
                <a:latin typeface="黑体" pitchFamily="49" charset="-122"/>
                <a:ea typeface="黑体" pitchFamily="49" charset="-122"/>
              </a:rPr>
              <a:t>）</a:t>
            </a:r>
            <a:endParaRPr kumimoji="0" lang="en-US" altLang="zh-CN" sz="2400" b="1" i="0" u="none" strike="noStrike" kern="0" cap="none" spc="0" normalizeH="0" baseline="0" noProof="0" dirty="0">
              <a:ln>
                <a:noFill/>
              </a:ln>
              <a:solidFill>
                <a:schemeClr val="tx1"/>
              </a:solidFill>
              <a:effectLst/>
              <a:uLnTx/>
              <a:uFillTx/>
              <a:latin typeface="黑体" pitchFamily="49" charset="-122"/>
              <a:ea typeface="黑体"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357158" y="142852"/>
            <a:ext cx="7239000" cy="605808"/>
          </a:xfrm>
        </p:spPr>
        <p:txBody>
          <a:bodyPr/>
          <a:lstStyle/>
          <a:p>
            <a:r>
              <a:rPr lang="zh-CN" altLang="en-US" dirty="0"/>
              <a:t>算术运算</a:t>
            </a:r>
          </a:p>
        </p:txBody>
      </p:sp>
      <p:sp>
        <p:nvSpPr>
          <p:cNvPr id="3" name="内容占位符 2"/>
          <p:cNvSpPr>
            <a:spLocks noGrp="1"/>
          </p:cNvSpPr>
          <p:nvPr>
            <p:ph idx="1"/>
          </p:nvPr>
        </p:nvSpPr>
        <p:spPr>
          <a:xfrm>
            <a:off x="142844" y="928670"/>
            <a:ext cx="3829048" cy="5029200"/>
          </a:xfrm>
        </p:spPr>
        <p:txBody>
          <a:bodyPr>
            <a:normAutofit/>
          </a:bodyPr>
          <a:lstStyle/>
          <a:p>
            <a:pPr>
              <a:lnSpc>
                <a:spcPct val="130000"/>
              </a:lnSpc>
            </a:pPr>
            <a:r>
              <a:rPr lang="zh-CN" altLang="en-US" sz="2800" b="1" dirty="0">
                <a:latin typeface="+mj-ea"/>
                <a:ea typeface="+mj-ea"/>
              </a:rPr>
              <a:t>减量运算</a:t>
            </a:r>
            <a:r>
              <a:rPr lang="en-US" altLang="zh-CN" sz="2800" b="1" dirty="0">
                <a:latin typeface="+mj-ea"/>
                <a:ea typeface="+mj-ea"/>
              </a:rPr>
              <a:t>--</a:t>
            </a:r>
          </a:p>
          <a:p>
            <a:pPr lvl="1">
              <a:lnSpc>
                <a:spcPct val="130000"/>
              </a:lnSpc>
            </a:pPr>
            <a:r>
              <a:rPr lang="zh-CN" altLang="en-US" sz="2400" b="1" dirty="0">
                <a:solidFill>
                  <a:srgbClr val="002060"/>
                </a:solidFill>
                <a:latin typeface="+mj-ea"/>
                <a:ea typeface="+mj-ea"/>
              </a:rPr>
              <a:t>前缀减量</a:t>
            </a:r>
            <a:endParaRPr lang="en-US" altLang="zh-CN" sz="2400" b="1" dirty="0">
              <a:solidFill>
                <a:srgbClr val="002060"/>
              </a:solidFill>
              <a:latin typeface="+mj-ea"/>
              <a:ea typeface="+mj-ea"/>
            </a:endParaRPr>
          </a:p>
          <a:p>
            <a:pPr lvl="2">
              <a:lnSpc>
                <a:spcPct val="130000"/>
              </a:lnSpc>
            </a:pPr>
            <a:r>
              <a:rPr lang="en-US" altLang="zh-CN" sz="2400" b="1" dirty="0">
                <a:latin typeface="+mj-ea"/>
                <a:ea typeface="+mj-ea"/>
              </a:rPr>
              <a:t>--&lt;</a:t>
            </a:r>
            <a:r>
              <a:rPr lang="zh-CN" altLang="en-US" sz="2400" b="1" dirty="0">
                <a:latin typeface="+mj-ea"/>
                <a:ea typeface="+mj-ea"/>
              </a:rPr>
              <a:t>运算分量</a:t>
            </a:r>
            <a:r>
              <a:rPr lang="en-US" altLang="zh-CN" sz="2400" b="1" dirty="0">
                <a:latin typeface="+mj-ea"/>
                <a:ea typeface="+mj-ea"/>
              </a:rPr>
              <a:t>&gt;</a:t>
            </a:r>
          </a:p>
          <a:p>
            <a:pPr lvl="3">
              <a:lnSpc>
                <a:spcPct val="130000"/>
              </a:lnSpc>
            </a:pPr>
            <a:r>
              <a:rPr lang="zh-CN" altLang="en-US" sz="2400" b="1" dirty="0">
                <a:solidFill>
                  <a:srgbClr val="002060"/>
                </a:solidFill>
                <a:latin typeface="+mj-ea"/>
                <a:ea typeface="+mj-ea"/>
              </a:rPr>
              <a:t>运算分量值减</a:t>
            </a:r>
            <a:r>
              <a:rPr lang="en-US" altLang="zh-CN" sz="2400" b="1" dirty="0">
                <a:solidFill>
                  <a:srgbClr val="002060"/>
                </a:solidFill>
                <a:latin typeface="+mj-ea"/>
                <a:ea typeface="+mj-ea"/>
              </a:rPr>
              <a:t>1</a:t>
            </a:r>
          </a:p>
          <a:p>
            <a:pPr lvl="3">
              <a:lnSpc>
                <a:spcPct val="130000"/>
              </a:lnSpc>
            </a:pPr>
            <a:r>
              <a:rPr lang="zh-CN" altLang="en-US" sz="2400" b="1" dirty="0">
                <a:solidFill>
                  <a:srgbClr val="002060"/>
                </a:solidFill>
                <a:latin typeface="+mj-ea"/>
                <a:ea typeface="+mj-ea"/>
              </a:rPr>
              <a:t>表达式值减</a:t>
            </a:r>
            <a:r>
              <a:rPr lang="en-US" altLang="zh-CN" sz="2400" b="1" dirty="0">
                <a:solidFill>
                  <a:srgbClr val="002060"/>
                </a:solidFill>
                <a:latin typeface="+mj-ea"/>
                <a:ea typeface="+mj-ea"/>
              </a:rPr>
              <a:t>1</a:t>
            </a:r>
          </a:p>
          <a:p>
            <a:pPr lvl="1">
              <a:lnSpc>
                <a:spcPct val="130000"/>
              </a:lnSpc>
            </a:pPr>
            <a:r>
              <a:rPr lang="zh-CN" altLang="en-US" sz="2400" b="1" dirty="0">
                <a:solidFill>
                  <a:srgbClr val="002060"/>
                </a:solidFill>
                <a:latin typeface="+mj-ea"/>
                <a:ea typeface="+mj-ea"/>
              </a:rPr>
              <a:t>后缀减量</a:t>
            </a:r>
            <a:endParaRPr lang="en-US" altLang="zh-CN" sz="2400" b="1" dirty="0">
              <a:solidFill>
                <a:srgbClr val="002060"/>
              </a:solidFill>
              <a:latin typeface="+mj-ea"/>
              <a:ea typeface="+mj-ea"/>
            </a:endParaRPr>
          </a:p>
          <a:p>
            <a:pPr lvl="2">
              <a:lnSpc>
                <a:spcPct val="130000"/>
              </a:lnSpc>
            </a:pPr>
            <a:r>
              <a:rPr lang="en-US" altLang="zh-CN" sz="2400" b="1" dirty="0">
                <a:latin typeface="+mj-ea"/>
                <a:ea typeface="+mj-ea"/>
              </a:rPr>
              <a:t>&lt;</a:t>
            </a:r>
            <a:r>
              <a:rPr lang="zh-CN" altLang="en-US" sz="2400" b="1" dirty="0">
                <a:latin typeface="+mj-ea"/>
                <a:ea typeface="+mj-ea"/>
              </a:rPr>
              <a:t>运算分量</a:t>
            </a:r>
            <a:r>
              <a:rPr lang="en-US" altLang="zh-CN" sz="2400" b="1" dirty="0">
                <a:latin typeface="+mj-ea"/>
                <a:ea typeface="+mj-ea"/>
              </a:rPr>
              <a:t>&gt;--</a:t>
            </a:r>
          </a:p>
          <a:p>
            <a:pPr lvl="3">
              <a:lnSpc>
                <a:spcPct val="130000"/>
              </a:lnSpc>
            </a:pPr>
            <a:r>
              <a:rPr lang="zh-CN" altLang="en-US" sz="2400" b="1" dirty="0">
                <a:solidFill>
                  <a:srgbClr val="002060"/>
                </a:solidFill>
                <a:latin typeface="+mj-ea"/>
                <a:ea typeface="+mj-ea"/>
              </a:rPr>
              <a:t>运算分量值减</a:t>
            </a:r>
            <a:r>
              <a:rPr lang="en-US" altLang="zh-CN" sz="2400" b="1" dirty="0">
                <a:solidFill>
                  <a:srgbClr val="002060"/>
                </a:solidFill>
                <a:latin typeface="+mj-ea"/>
                <a:ea typeface="+mj-ea"/>
              </a:rPr>
              <a:t>1</a:t>
            </a:r>
          </a:p>
          <a:p>
            <a:pPr lvl="3">
              <a:lnSpc>
                <a:spcPct val="130000"/>
              </a:lnSpc>
            </a:pPr>
            <a:r>
              <a:rPr lang="zh-CN" altLang="en-US" sz="2400" b="1" dirty="0">
                <a:solidFill>
                  <a:srgbClr val="002060"/>
                </a:solidFill>
                <a:latin typeface="+mj-ea"/>
                <a:ea typeface="+mj-ea"/>
              </a:rPr>
              <a:t>表达式值不变</a:t>
            </a:r>
            <a:endParaRPr lang="en-US" altLang="zh-CN" sz="2400" b="1" dirty="0">
              <a:solidFill>
                <a:srgbClr val="002060"/>
              </a:solidFill>
              <a:latin typeface="+mj-ea"/>
              <a:ea typeface="+mj-ea"/>
            </a:endParaRPr>
          </a:p>
        </p:txBody>
      </p:sp>
      <p:sp>
        <p:nvSpPr>
          <p:cNvPr id="5" name="灯片编号占位符 4"/>
          <p:cNvSpPr>
            <a:spLocks noGrp="1"/>
          </p:cNvSpPr>
          <p:nvPr>
            <p:ph type="sldNum" sz="quarter" idx="4294967295"/>
          </p:nvPr>
        </p:nvSpPr>
        <p:spPr>
          <a:xfrm>
            <a:off x="214282" y="6429396"/>
            <a:ext cx="1652590" cy="292100"/>
          </a:xfrm>
          <a:prstGeom prst="rect">
            <a:avLst/>
          </a:prstGeom>
        </p:spPr>
        <p:txBody>
          <a:bodyPr/>
          <a:lstStyle/>
          <a:p>
            <a:fld id="{E24BA5DA-9399-4747-BBF5-65A2C2316885}" type="slidenum">
              <a:rPr lang="en-US" altLang="zh-CN" smtClean="0"/>
              <a:pPr/>
              <a:t>26</a:t>
            </a:fld>
            <a:endParaRPr lang="en-US" altLang="zh-CN" dirty="0"/>
          </a:p>
        </p:txBody>
      </p:sp>
      <p:sp>
        <p:nvSpPr>
          <p:cNvPr id="6" name="内容占位符 2"/>
          <p:cNvSpPr txBox="1">
            <a:spLocks/>
          </p:cNvSpPr>
          <p:nvPr/>
        </p:nvSpPr>
        <p:spPr bwMode="auto">
          <a:xfrm>
            <a:off x="3143240" y="2000240"/>
            <a:ext cx="5786478" cy="3571900"/>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p>
            <a:pPr marL="742950" marR="0" lvl="1" indent="-285750" algn="l" defTabSz="914400" rtl="0" eaLnBrk="1" fontAlgn="base" latinLnBrk="0" hangingPunct="1">
              <a:lnSpc>
                <a:spcPct val="130000"/>
              </a:lnSpc>
              <a:spcBef>
                <a:spcPct val="20000"/>
              </a:spcBef>
              <a:spcAft>
                <a:spcPct val="0"/>
              </a:spcAft>
              <a:buClr>
                <a:schemeClr val="accent1"/>
              </a:buClr>
              <a:buSzTx/>
              <a:buFont typeface="Wingdings" pitchFamily="2" charset="2"/>
              <a:buChar char="§"/>
              <a:tabLst/>
              <a:defRPr/>
            </a:pPr>
            <a:r>
              <a:rPr kumimoji="0" lang="zh-CN" altLang="en-US" sz="2400" b="1" i="0" u="none" strike="noStrike" kern="0" cap="none" spc="0" normalizeH="0" baseline="0" noProof="0" dirty="0">
                <a:ln>
                  <a:noFill/>
                </a:ln>
                <a:solidFill>
                  <a:srgbClr val="0000FF"/>
                </a:solidFill>
                <a:effectLst/>
                <a:uLnTx/>
                <a:uFillTx/>
                <a:latin typeface="+mj-ea"/>
                <a:ea typeface="+mj-ea"/>
              </a:rPr>
              <a:t>表达式</a:t>
            </a:r>
            <a:r>
              <a:rPr kumimoji="0" lang="en-US" altLang="zh-CN" sz="2400" b="1" i="0" u="none" strike="noStrike" kern="0" cap="none" spc="0" normalizeH="0" baseline="0" noProof="0" dirty="0">
                <a:ln>
                  <a:noFill/>
                </a:ln>
                <a:solidFill>
                  <a:srgbClr val="0000FF"/>
                </a:solidFill>
                <a:effectLst/>
                <a:uLnTx/>
                <a:uFillTx/>
                <a:latin typeface="+mj-ea"/>
                <a:ea typeface="+mj-ea"/>
                <a:cs typeface="Courier New" pitchFamily="49" charset="0"/>
              </a:rPr>
              <a:t>--</a:t>
            </a:r>
            <a:r>
              <a:rPr kumimoji="0" lang="en-US" altLang="zh-CN" sz="2400" b="1" i="0" u="none" strike="noStrike" kern="0" cap="none" spc="0" normalizeH="0" baseline="0" noProof="0" dirty="0" err="1">
                <a:ln>
                  <a:noFill/>
                </a:ln>
                <a:solidFill>
                  <a:srgbClr val="0000FF"/>
                </a:solidFill>
                <a:effectLst/>
                <a:uLnTx/>
                <a:uFillTx/>
                <a:latin typeface="+mj-ea"/>
                <a:ea typeface="+mj-ea"/>
                <a:cs typeface="Courier New" pitchFamily="49" charset="0"/>
              </a:rPr>
              <a:t>i</a:t>
            </a:r>
            <a:r>
              <a:rPr kumimoji="0" lang="en-US" altLang="zh-CN" sz="2400" b="1" i="0" u="none" strike="noStrike" kern="0" cap="none" spc="0" normalizeH="0" baseline="0" noProof="0" dirty="0">
                <a:ln>
                  <a:noFill/>
                </a:ln>
                <a:solidFill>
                  <a:srgbClr val="0000FF"/>
                </a:solidFill>
                <a:effectLst/>
                <a:uLnTx/>
                <a:uFillTx/>
                <a:latin typeface="+mj-ea"/>
                <a:ea typeface="+mj-ea"/>
                <a:cs typeface="Courier New" pitchFamily="49" charset="0"/>
              </a:rPr>
              <a:t>;</a:t>
            </a:r>
          </a:p>
          <a:p>
            <a:pPr marL="1200150" lvl="2" indent="-285750">
              <a:lnSpc>
                <a:spcPct val="130000"/>
              </a:lnSpc>
              <a:spcBef>
                <a:spcPct val="20000"/>
              </a:spcBef>
              <a:buClr>
                <a:schemeClr val="accent1"/>
              </a:buClr>
              <a:buFont typeface="Wingdings" pitchFamily="2" charset="2"/>
              <a:buChar char="§"/>
            </a:pPr>
            <a:r>
              <a:rPr lang="zh-CN" altLang="en-US" sz="2400" b="1" kern="0" dirty="0">
                <a:latin typeface="+mj-ea"/>
                <a:ea typeface="+mj-ea"/>
              </a:rPr>
              <a:t>如果</a:t>
            </a:r>
            <a:r>
              <a:rPr lang="en-US" altLang="zh-CN" sz="2400" b="1" kern="0" dirty="0" err="1">
                <a:latin typeface="+mj-ea"/>
                <a:ea typeface="+mj-ea"/>
              </a:rPr>
              <a:t>i</a:t>
            </a:r>
            <a:r>
              <a:rPr lang="zh-CN" altLang="en-US" sz="2400" b="1" kern="0" dirty="0">
                <a:latin typeface="+mj-ea"/>
                <a:ea typeface="+mj-ea"/>
              </a:rPr>
              <a:t>的初始值为</a:t>
            </a:r>
            <a:r>
              <a:rPr lang="en-US" altLang="zh-CN" sz="2400" b="1" kern="0" dirty="0">
                <a:latin typeface="+mj-ea"/>
                <a:ea typeface="+mj-ea"/>
              </a:rPr>
              <a:t>3</a:t>
            </a:r>
            <a:r>
              <a:rPr lang="zh-CN" altLang="en-US" sz="2400" b="1" kern="0" dirty="0">
                <a:latin typeface="+mj-ea"/>
                <a:ea typeface="+mj-ea"/>
              </a:rPr>
              <a:t>，运算过程中，首先</a:t>
            </a:r>
            <a:r>
              <a:rPr lang="en-US" altLang="zh-CN" sz="2400" b="1" kern="0" dirty="0" err="1">
                <a:latin typeface="+mj-ea"/>
                <a:ea typeface="+mj-ea"/>
              </a:rPr>
              <a:t>i</a:t>
            </a:r>
            <a:r>
              <a:rPr lang="zh-CN" altLang="en-US" sz="2400" b="1" kern="0" dirty="0">
                <a:latin typeface="+mj-ea"/>
                <a:ea typeface="+mj-ea"/>
              </a:rPr>
              <a:t>的值减</a:t>
            </a:r>
            <a:r>
              <a:rPr lang="en-US" altLang="zh-CN" sz="2400" b="1" kern="0" dirty="0">
                <a:latin typeface="+mj-ea"/>
                <a:ea typeface="+mj-ea"/>
              </a:rPr>
              <a:t>1</a:t>
            </a:r>
            <a:r>
              <a:rPr lang="zh-CN" altLang="en-US" sz="2400" b="1" kern="0" dirty="0">
                <a:latin typeface="+mj-ea"/>
                <a:ea typeface="+mj-ea"/>
              </a:rPr>
              <a:t>（</a:t>
            </a:r>
            <a:r>
              <a:rPr lang="en-US" altLang="zh-CN" sz="2400" b="1" kern="0" dirty="0" err="1">
                <a:latin typeface="+mj-ea"/>
                <a:ea typeface="+mj-ea"/>
              </a:rPr>
              <a:t>i</a:t>
            </a:r>
            <a:r>
              <a:rPr lang="zh-CN" altLang="en-US" sz="2400" b="1" kern="0" dirty="0">
                <a:latin typeface="+mj-ea"/>
                <a:ea typeface="+mj-ea"/>
              </a:rPr>
              <a:t>值变为</a:t>
            </a:r>
            <a:r>
              <a:rPr lang="en-US" altLang="zh-CN" sz="2400" b="1" kern="0" dirty="0">
                <a:latin typeface="+mj-ea"/>
                <a:ea typeface="+mj-ea"/>
              </a:rPr>
              <a:t>2</a:t>
            </a:r>
            <a:r>
              <a:rPr lang="zh-CN" altLang="en-US" sz="2400" b="1" kern="0" dirty="0">
                <a:latin typeface="+mj-ea"/>
                <a:ea typeface="+mj-ea"/>
              </a:rPr>
              <a:t>），然后表达式的值减</a:t>
            </a:r>
            <a:r>
              <a:rPr lang="en-US" altLang="zh-CN" sz="2400" b="1" kern="0" dirty="0">
                <a:latin typeface="+mj-ea"/>
                <a:ea typeface="+mj-ea"/>
              </a:rPr>
              <a:t>1</a:t>
            </a:r>
            <a:r>
              <a:rPr lang="zh-CN" altLang="en-US" sz="2400" b="1" kern="0" dirty="0">
                <a:latin typeface="+mj-ea"/>
                <a:ea typeface="+mj-ea"/>
              </a:rPr>
              <a:t>（</a:t>
            </a:r>
            <a:r>
              <a:rPr lang="en-US" altLang="zh-CN" sz="2400" b="1" kern="0" dirty="0">
                <a:latin typeface="+mj-ea"/>
                <a:ea typeface="+mj-ea"/>
              </a:rPr>
              <a:t>--</a:t>
            </a:r>
            <a:r>
              <a:rPr lang="en-US" altLang="zh-CN" sz="2400" b="1" kern="0" dirty="0" err="1">
                <a:latin typeface="+mj-ea"/>
                <a:ea typeface="+mj-ea"/>
              </a:rPr>
              <a:t>i</a:t>
            </a:r>
            <a:r>
              <a:rPr lang="zh-CN" altLang="en-US" sz="2400" b="1" kern="0" dirty="0">
                <a:latin typeface="+mj-ea"/>
                <a:ea typeface="+mj-ea"/>
              </a:rPr>
              <a:t>的值为</a:t>
            </a:r>
            <a:r>
              <a:rPr lang="en-US" altLang="zh-CN" sz="2400" b="1" kern="0" dirty="0">
                <a:latin typeface="+mj-ea"/>
                <a:ea typeface="+mj-ea"/>
              </a:rPr>
              <a:t>2</a:t>
            </a:r>
            <a:r>
              <a:rPr lang="zh-CN" altLang="en-US" sz="2400" b="1" kern="0" dirty="0">
                <a:latin typeface="+mj-ea"/>
                <a:ea typeface="+mj-ea"/>
              </a:rPr>
              <a:t>）</a:t>
            </a:r>
            <a:endParaRPr lang="en-US" altLang="zh-CN" sz="2400" b="1" kern="0" dirty="0">
              <a:latin typeface="+mj-ea"/>
              <a:ea typeface="+mj-ea"/>
            </a:endParaRPr>
          </a:p>
          <a:p>
            <a:pPr marL="742950" lvl="1" indent="-285750">
              <a:lnSpc>
                <a:spcPct val="130000"/>
              </a:lnSpc>
              <a:spcBef>
                <a:spcPct val="20000"/>
              </a:spcBef>
              <a:buClr>
                <a:schemeClr val="accent1"/>
              </a:buClr>
              <a:buFont typeface="Wingdings" pitchFamily="2" charset="2"/>
              <a:buChar char="§"/>
            </a:pPr>
            <a:r>
              <a:rPr kumimoji="0" lang="zh-CN" altLang="en-US" sz="2400" b="1" i="0" u="none" strike="noStrike" kern="0" cap="none" spc="0" normalizeH="0" baseline="0" noProof="0" dirty="0">
                <a:ln>
                  <a:noFill/>
                </a:ln>
                <a:solidFill>
                  <a:srgbClr val="0000FF"/>
                </a:solidFill>
                <a:effectLst/>
                <a:uLnTx/>
                <a:uFillTx/>
                <a:latin typeface="+mj-ea"/>
                <a:ea typeface="+mj-ea"/>
              </a:rPr>
              <a:t>表达式</a:t>
            </a:r>
            <a:r>
              <a:rPr kumimoji="0" lang="en-US" altLang="zh-CN" sz="2400" b="1" i="0" u="none" strike="noStrike" kern="0" cap="none" spc="0" normalizeH="0" baseline="0" noProof="0" dirty="0" err="1">
                <a:ln>
                  <a:noFill/>
                </a:ln>
                <a:solidFill>
                  <a:srgbClr val="0000FF"/>
                </a:solidFill>
                <a:effectLst/>
                <a:uLnTx/>
                <a:uFillTx/>
                <a:latin typeface="+mj-ea"/>
                <a:ea typeface="+mj-ea"/>
                <a:cs typeface="Courier New" pitchFamily="49" charset="0"/>
              </a:rPr>
              <a:t>i</a:t>
            </a:r>
            <a:r>
              <a:rPr lang="en-US" altLang="zh-CN" sz="2400" b="1" kern="0" dirty="0">
                <a:solidFill>
                  <a:srgbClr val="0000FF"/>
                </a:solidFill>
                <a:latin typeface="+mj-ea"/>
                <a:ea typeface="+mj-ea"/>
                <a:cs typeface="Courier New" pitchFamily="49" charset="0"/>
              </a:rPr>
              <a:t>--</a:t>
            </a:r>
            <a:r>
              <a:rPr kumimoji="0" lang="en-US" altLang="zh-CN" sz="2400" b="1" i="0" u="none" strike="noStrike" kern="0" cap="none" spc="0" normalizeH="0" baseline="0" noProof="0" dirty="0">
                <a:ln>
                  <a:noFill/>
                </a:ln>
                <a:solidFill>
                  <a:srgbClr val="0000FF"/>
                </a:solidFill>
                <a:effectLst/>
                <a:uLnTx/>
                <a:uFillTx/>
                <a:latin typeface="+mj-ea"/>
                <a:ea typeface="+mj-ea"/>
                <a:cs typeface="Courier New" pitchFamily="49" charset="0"/>
              </a:rPr>
              <a:t>;</a:t>
            </a:r>
          </a:p>
          <a:p>
            <a:pPr marL="1200150" lvl="2" indent="-285750">
              <a:lnSpc>
                <a:spcPct val="130000"/>
              </a:lnSpc>
              <a:spcBef>
                <a:spcPct val="20000"/>
              </a:spcBef>
              <a:buClr>
                <a:schemeClr val="accent1"/>
              </a:buClr>
              <a:buFont typeface="Wingdings" pitchFamily="2" charset="2"/>
              <a:buChar char="§"/>
            </a:pPr>
            <a:r>
              <a:rPr lang="zh-CN" altLang="en-US" sz="2400" b="1" kern="0" dirty="0">
                <a:latin typeface="+mj-ea"/>
                <a:ea typeface="+mj-ea"/>
              </a:rPr>
              <a:t>如果</a:t>
            </a:r>
            <a:r>
              <a:rPr lang="en-US" altLang="zh-CN" sz="2400" b="1" kern="0" dirty="0" err="1">
                <a:latin typeface="+mj-ea"/>
                <a:ea typeface="+mj-ea"/>
              </a:rPr>
              <a:t>i</a:t>
            </a:r>
            <a:r>
              <a:rPr lang="zh-CN" altLang="en-US" sz="2400" b="1" kern="0" dirty="0">
                <a:latin typeface="+mj-ea"/>
                <a:ea typeface="+mj-ea"/>
              </a:rPr>
              <a:t>的初始值为</a:t>
            </a:r>
            <a:r>
              <a:rPr lang="en-US" altLang="zh-CN" sz="2400" b="1" kern="0" dirty="0">
                <a:latin typeface="+mj-ea"/>
                <a:ea typeface="+mj-ea"/>
              </a:rPr>
              <a:t>3</a:t>
            </a:r>
            <a:r>
              <a:rPr lang="zh-CN" altLang="en-US" sz="2400" b="1" kern="0" dirty="0">
                <a:latin typeface="+mj-ea"/>
                <a:ea typeface="+mj-ea"/>
              </a:rPr>
              <a:t>，运算过程中，首先表达式的值不变（</a:t>
            </a:r>
            <a:r>
              <a:rPr lang="en-US" altLang="zh-CN" sz="2400" b="1" kern="0" dirty="0" err="1">
                <a:latin typeface="+mj-ea"/>
                <a:ea typeface="+mj-ea"/>
              </a:rPr>
              <a:t>i</a:t>
            </a:r>
            <a:r>
              <a:rPr lang="en-US" altLang="zh-CN" sz="2400" b="1" kern="0" dirty="0">
                <a:latin typeface="+mj-ea"/>
                <a:ea typeface="+mj-ea"/>
              </a:rPr>
              <a:t>--</a:t>
            </a:r>
            <a:r>
              <a:rPr lang="zh-CN" altLang="en-US" sz="2400" b="1" kern="0" dirty="0">
                <a:latin typeface="+mj-ea"/>
                <a:ea typeface="+mj-ea"/>
              </a:rPr>
              <a:t>的值仍然为</a:t>
            </a:r>
            <a:r>
              <a:rPr lang="en-US" altLang="zh-CN" sz="2400" b="1" kern="0" dirty="0">
                <a:latin typeface="+mj-ea"/>
                <a:ea typeface="+mj-ea"/>
              </a:rPr>
              <a:t>3</a:t>
            </a:r>
            <a:r>
              <a:rPr lang="zh-CN" altLang="en-US" sz="2400" b="1" kern="0" dirty="0">
                <a:latin typeface="+mj-ea"/>
                <a:ea typeface="+mj-ea"/>
              </a:rPr>
              <a:t>），然后</a:t>
            </a:r>
            <a:r>
              <a:rPr lang="en-US" altLang="zh-CN" sz="2400" b="1" kern="0" dirty="0" err="1">
                <a:latin typeface="+mj-ea"/>
                <a:ea typeface="+mj-ea"/>
              </a:rPr>
              <a:t>i</a:t>
            </a:r>
            <a:r>
              <a:rPr lang="zh-CN" altLang="en-US" sz="2400" b="1" kern="0" dirty="0">
                <a:latin typeface="+mj-ea"/>
                <a:ea typeface="+mj-ea"/>
              </a:rPr>
              <a:t>的值减</a:t>
            </a:r>
            <a:r>
              <a:rPr lang="en-US" altLang="zh-CN" sz="2400" b="1" kern="0" dirty="0">
                <a:latin typeface="+mj-ea"/>
                <a:ea typeface="+mj-ea"/>
              </a:rPr>
              <a:t>1</a:t>
            </a:r>
            <a:r>
              <a:rPr lang="zh-CN" altLang="en-US" sz="2400" b="1" kern="0" dirty="0">
                <a:latin typeface="+mj-ea"/>
                <a:ea typeface="+mj-ea"/>
              </a:rPr>
              <a:t>（</a:t>
            </a:r>
            <a:r>
              <a:rPr lang="en-US" altLang="zh-CN" sz="2400" b="1" kern="0" dirty="0" err="1">
                <a:latin typeface="+mj-ea"/>
                <a:ea typeface="+mj-ea"/>
              </a:rPr>
              <a:t>i</a:t>
            </a:r>
            <a:r>
              <a:rPr lang="zh-CN" altLang="en-US" sz="2400" b="1" kern="0" dirty="0">
                <a:latin typeface="+mj-ea"/>
                <a:ea typeface="+mj-ea"/>
              </a:rPr>
              <a:t>值变为</a:t>
            </a:r>
            <a:r>
              <a:rPr lang="en-US" altLang="zh-CN" sz="2400" b="1" kern="0" dirty="0">
                <a:latin typeface="+mj-ea"/>
                <a:ea typeface="+mj-ea"/>
              </a:rPr>
              <a:t>2</a:t>
            </a:r>
            <a:r>
              <a:rPr lang="zh-CN" altLang="en-US" sz="2400" b="1" kern="0" dirty="0">
                <a:latin typeface="+mj-ea"/>
                <a:ea typeface="+mj-ea"/>
              </a:rPr>
              <a:t>）</a:t>
            </a:r>
            <a:endParaRPr kumimoji="0" lang="en-US" altLang="zh-CN" sz="2400" b="1" i="0" u="none" strike="noStrike" kern="0" cap="none" spc="0" normalizeH="0" baseline="0" noProof="0" dirty="0">
              <a:ln>
                <a:noFill/>
              </a:ln>
              <a:solidFill>
                <a:schemeClr val="tx1"/>
              </a:solidFill>
              <a:effectLst/>
              <a:uLnTx/>
              <a:uFillTx/>
              <a:latin typeface="+mj-ea"/>
              <a:ea typeface="+mj-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算术运算</a:t>
            </a:r>
          </a:p>
        </p:txBody>
      </p:sp>
      <p:sp>
        <p:nvSpPr>
          <p:cNvPr id="3" name="内容占位符 2"/>
          <p:cNvSpPr>
            <a:spLocks noGrp="1"/>
          </p:cNvSpPr>
          <p:nvPr>
            <p:ph idx="1"/>
          </p:nvPr>
        </p:nvSpPr>
        <p:spPr>
          <a:xfrm>
            <a:off x="457200" y="928670"/>
            <a:ext cx="7239000" cy="5527066"/>
          </a:xfrm>
        </p:spPr>
        <p:txBody>
          <a:bodyPr/>
          <a:lstStyle/>
          <a:p>
            <a:pPr>
              <a:lnSpc>
                <a:spcPct val="130000"/>
              </a:lnSpc>
            </a:pPr>
            <a:r>
              <a:rPr lang="zh-CN" altLang="en-US" sz="3200" dirty="0">
                <a:latin typeface="黑体" pitchFamily="49" charset="-122"/>
                <a:ea typeface="黑体" pitchFamily="49" charset="-122"/>
              </a:rPr>
              <a:t>取模运算</a:t>
            </a:r>
            <a:r>
              <a:rPr lang="en-US" altLang="zh-CN" sz="3200" dirty="0">
                <a:latin typeface="黑体" pitchFamily="49" charset="-122"/>
                <a:ea typeface="黑体" pitchFamily="49" charset="-122"/>
              </a:rPr>
              <a:t>%</a:t>
            </a:r>
          </a:p>
          <a:p>
            <a:pPr lvl="1">
              <a:lnSpc>
                <a:spcPct val="130000"/>
              </a:lnSpc>
            </a:pPr>
            <a:r>
              <a:rPr lang="zh-CN" altLang="en-US" sz="2800" dirty="0">
                <a:solidFill>
                  <a:srgbClr val="002060"/>
                </a:solidFill>
                <a:latin typeface="黑体" pitchFamily="49" charset="-122"/>
                <a:ea typeface="黑体" pitchFamily="49" charset="-122"/>
              </a:rPr>
              <a:t>运算分量都为整数</a:t>
            </a:r>
            <a:endParaRPr lang="en-US" altLang="zh-CN" sz="2800" dirty="0">
              <a:solidFill>
                <a:srgbClr val="002060"/>
              </a:solidFill>
              <a:latin typeface="黑体" pitchFamily="49" charset="-122"/>
              <a:ea typeface="黑体" pitchFamily="49" charset="-122"/>
            </a:endParaRPr>
          </a:p>
          <a:p>
            <a:pPr lvl="1">
              <a:lnSpc>
                <a:spcPct val="130000"/>
              </a:lnSpc>
            </a:pPr>
            <a:r>
              <a:rPr lang="zh-CN" altLang="en-US" sz="2800" dirty="0">
                <a:solidFill>
                  <a:srgbClr val="002060"/>
                </a:solidFill>
                <a:latin typeface="黑体" pitchFamily="49" charset="-122"/>
                <a:ea typeface="黑体" pitchFamily="49" charset="-122"/>
              </a:rPr>
              <a:t>右运算分量不为</a:t>
            </a:r>
            <a:r>
              <a:rPr lang="en-US" altLang="zh-CN" sz="2800" dirty="0">
                <a:solidFill>
                  <a:srgbClr val="002060"/>
                </a:solidFill>
                <a:latin typeface="黑体" pitchFamily="49" charset="-122"/>
                <a:ea typeface="黑体" pitchFamily="49" charset="-122"/>
              </a:rPr>
              <a:t>0</a:t>
            </a:r>
          </a:p>
          <a:p>
            <a:pPr lvl="1">
              <a:lnSpc>
                <a:spcPct val="130000"/>
              </a:lnSpc>
            </a:pPr>
            <a:r>
              <a:rPr lang="zh-CN" altLang="en-US" sz="2800" dirty="0">
                <a:solidFill>
                  <a:srgbClr val="002060"/>
                </a:solidFill>
                <a:latin typeface="黑体" pitchFamily="49" charset="-122"/>
                <a:ea typeface="黑体" pitchFamily="49" charset="-122"/>
              </a:rPr>
              <a:t>运算结果也为整数，是</a:t>
            </a:r>
            <a:r>
              <a:rPr lang="zh-CN" altLang="en-US" sz="2800" dirty="0">
                <a:solidFill>
                  <a:srgbClr val="FF0000"/>
                </a:solidFill>
                <a:latin typeface="黑体" pitchFamily="49" charset="-122"/>
                <a:ea typeface="黑体" pitchFamily="49" charset="-122"/>
              </a:rPr>
              <a:t>余数</a:t>
            </a:r>
            <a:endParaRPr lang="zh-CN" altLang="en-US" dirty="0">
              <a:latin typeface="黑体" pitchFamily="49" charset="-122"/>
              <a:ea typeface="黑体" pitchFamily="49"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关系运算</a:t>
            </a:r>
          </a:p>
        </p:txBody>
      </p:sp>
      <p:sp>
        <p:nvSpPr>
          <p:cNvPr id="3" name="内容占位符 2"/>
          <p:cNvSpPr>
            <a:spLocks noGrp="1"/>
          </p:cNvSpPr>
          <p:nvPr>
            <p:ph idx="1"/>
          </p:nvPr>
        </p:nvSpPr>
        <p:spPr>
          <a:xfrm>
            <a:off x="457200" y="928670"/>
            <a:ext cx="7239000" cy="5527066"/>
          </a:xfrm>
        </p:spPr>
        <p:txBody>
          <a:bodyPr/>
          <a:lstStyle/>
          <a:p>
            <a:pPr>
              <a:lnSpc>
                <a:spcPct val="130000"/>
              </a:lnSpc>
            </a:pPr>
            <a:r>
              <a:rPr lang="zh-CN" altLang="en-US" sz="2800" b="1" dirty="0">
                <a:latin typeface="黑体" pitchFamily="49" charset="-122"/>
                <a:ea typeface="黑体" pitchFamily="49" charset="-122"/>
              </a:rPr>
              <a:t>关系运算也称为比较运算，对相同类型数据进行关系运算，结果为布尔类型</a:t>
            </a:r>
            <a:endParaRPr lang="en-US" altLang="zh-CN" sz="2800" b="1" dirty="0">
              <a:latin typeface="黑体" pitchFamily="49" charset="-122"/>
              <a:ea typeface="黑体" pitchFamily="49" charset="-122"/>
            </a:endParaRPr>
          </a:p>
          <a:p>
            <a:pPr>
              <a:lnSpc>
                <a:spcPct val="130000"/>
              </a:lnSpc>
            </a:pPr>
            <a:r>
              <a:rPr lang="zh-CN" altLang="en-US" sz="2800" b="1" dirty="0">
                <a:latin typeface="黑体" pitchFamily="49" charset="-122"/>
                <a:ea typeface="黑体" pitchFamily="49" charset="-122"/>
              </a:rPr>
              <a:t>关系运算符</a:t>
            </a:r>
            <a:endParaRPr lang="en-US" altLang="zh-CN" sz="2800" b="1" dirty="0">
              <a:latin typeface="黑体" pitchFamily="49" charset="-122"/>
              <a:ea typeface="黑体" pitchFamily="49" charset="-122"/>
            </a:endParaRPr>
          </a:p>
          <a:p>
            <a:pPr lvl="1">
              <a:lnSpc>
                <a:spcPct val="130000"/>
              </a:lnSpc>
            </a:pPr>
            <a:r>
              <a:rPr lang="en-US" altLang="zh-CN" sz="2400" b="1" dirty="0">
                <a:solidFill>
                  <a:srgbClr val="002060"/>
                </a:solidFill>
                <a:latin typeface="黑体" pitchFamily="49" charset="-122"/>
                <a:ea typeface="黑体" pitchFamily="49" charset="-122"/>
              </a:rPr>
              <a:t>==</a:t>
            </a:r>
            <a:r>
              <a:rPr lang="zh-CN" altLang="en-US" sz="2400" b="1" dirty="0">
                <a:solidFill>
                  <a:srgbClr val="002060"/>
                </a:solidFill>
                <a:latin typeface="黑体" pitchFamily="49" charset="-122"/>
                <a:ea typeface="黑体" pitchFamily="49" charset="-122"/>
              </a:rPr>
              <a:t>、</a:t>
            </a:r>
            <a:r>
              <a:rPr lang="en-US" altLang="zh-CN" sz="2400" b="1" dirty="0">
                <a:solidFill>
                  <a:srgbClr val="002060"/>
                </a:solidFill>
                <a:latin typeface="黑体" pitchFamily="49" charset="-122"/>
                <a:ea typeface="黑体" pitchFamily="49" charset="-122"/>
              </a:rPr>
              <a:t>&gt;</a:t>
            </a:r>
            <a:r>
              <a:rPr lang="zh-CN" altLang="en-US" sz="2400" b="1" dirty="0">
                <a:solidFill>
                  <a:srgbClr val="002060"/>
                </a:solidFill>
                <a:latin typeface="黑体" pitchFamily="49" charset="-122"/>
                <a:ea typeface="黑体" pitchFamily="49" charset="-122"/>
              </a:rPr>
              <a:t>、</a:t>
            </a:r>
            <a:r>
              <a:rPr lang="en-US" altLang="zh-CN" sz="2400" b="1" dirty="0">
                <a:solidFill>
                  <a:srgbClr val="002060"/>
                </a:solidFill>
                <a:latin typeface="黑体" pitchFamily="49" charset="-122"/>
                <a:ea typeface="黑体" pitchFamily="49" charset="-122"/>
              </a:rPr>
              <a:t>&lt;</a:t>
            </a:r>
            <a:r>
              <a:rPr lang="zh-CN" altLang="en-US" sz="2400" b="1" dirty="0">
                <a:solidFill>
                  <a:srgbClr val="002060"/>
                </a:solidFill>
                <a:latin typeface="黑体" pitchFamily="49" charset="-122"/>
                <a:ea typeface="黑体" pitchFamily="49" charset="-122"/>
              </a:rPr>
              <a:t>、</a:t>
            </a:r>
            <a:r>
              <a:rPr lang="en-US" altLang="zh-CN" sz="2400" b="1" dirty="0">
                <a:solidFill>
                  <a:srgbClr val="002060"/>
                </a:solidFill>
                <a:latin typeface="黑体" pitchFamily="49" charset="-122"/>
                <a:ea typeface="黑体" pitchFamily="49" charset="-122"/>
              </a:rPr>
              <a:t>&gt;=</a:t>
            </a:r>
            <a:r>
              <a:rPr lang="zh-CN" altLang="en-US" sz="2400" b="1" dirty="0">
                <a:solidFill>
                  <a:srgbClr val="002060"/>
                </a:solidFill>
                <a:latin typeface="黑体" pitchFamily="49" charset="-122"/>
                <a:ea typeface="黑体" pitchFamily="49" charset="-122"/>
              </a:rPr>
              <a:t>、</a:t>
            </a:r>
            <a:r>
              <a:rPr lang="en-US" altLang="zh-CN" sz="2400" b="1" dirty="0">
                <a:solidFill>
                  <a:srgbClr val="002060"/>
                </a:solidFill>
                <a:latin typeface="黑体" pitchFamily="49" charset="-122"/>
                <a:ea typeface="黑体" pitchFamily="49" charset="-122"/>
              </a:rPr>
              <a:t>&lt;=</a:t>
            </a:r>
            <a:r>
              <a:rPr lang="zh-CN" altLang="en-US" sz="2400" b="1" dirty="0">
                <a:solidFill>
                  <a:srgbClr val="002060"/>
                </a:solidFill>
                <a:latin typeface="黑体" pitchFamily="49" charset="-122"/>
                <a:ea typeface="黑体" pitchFamily="49" charset="-122"/>
              </a:rPr>
              <a:t>、</a:t>
            </a:r>
            <a:r>
              <a:rPr lang="en-US" altLang="zh-CN" sz="2400" b="1" dirty="0">
                <a:solidFill>
                  <a:srgbClr val="002060"/>
                </a:solidFill>
                <a:latin typeface="黑体" pitchFamily="49" charset="-122"/>
                <a:ea typeface="黑体" pitchFamily="49" charset="-122"/>
              </a:rPr>
              <a:t>!=</a:t>
            </a:r>
          </a:p>
          <a:p>
            <a:pPr>
              <a:lnSpc>
                <a:spcPct val="130000"/>
              </a:lnSpc>
            </a:pPr>
            <a:r>
              <a:rPr lang="zh-CN" altLang="en-US" sz="2800" b="1" dirty="0">
                <a:latin typeface="黑体" pitchFamily="49" charset="-122"/>
                <a:ea typeface="黑体" pitchFamily="49" charset="-122"/>
              </a:rPr>
              <a:t>关系表达式</a:t>
            </a:r>
            <a:endParaRPr lang="en-US" altLang="zh-CN" sz="2800" b="1" dirty="0">
              <a:latin typeface="黑体" pitchFamily="49" charset="-122"/>
              <a:ea typeface="黑体" pitchFamily="49" charset="-122"/>
            </a:endParaRPr>
          </a:p>
          <a:p>
            <a:pPr lvl="1">
              <a:lnSpc>
                <a:spcPct val="130000"/>
              </a:lnSpc>
            </a:pPr>
            <a:r>
              <a:rPr lang="en-US" altLang="zh-CN" sz="2400" b="1" dirty="0">
                <a:solidFill>
                  <a:srgbClr val="002060"/>
                </a:solidFill>
                <a:latin typeface="黑体" pitchFamily="49" charset="-122"/>
                <a:ea typeface="黑体" pitchFamily="49" charset="-122"/>
              </a:rPr>
              <a:t>&lt;</a:t>
            </a:r>
            <a:r>
              <a:rPr lang="zh-CN" altLang="en-US" sz="2400" b="1" dirty="0">
                <a:solidFill>
                  <a:srgbClr val="002060"/>
                </a:solidFill>
                <a:latin typeface="黑体" pitchFamily="49" charset="-122"/>
                <a:ea typeface="黑体" pitchFamily="49" charset="-122"/>
              </a:rPr>
              <a:t>运算分量</a:t>
            </a:r>
            <a:r>
              <a:rPr lang="en-US" altLang="zh-CN" sz="2400" b="1" dirty="0">
                <a:solidFill>
                  <a:srgbClr val="002060"/>
                </a:solidFill>
                <a:latin typeface="黑体" pitchFamily="49" charset="-122"/>
                <a:ea typeface="黑体" pitchFamily="49" charset="-122"/>
              </a:rPr>
              <a:t>&gt; &lt;</a:t>
            </a:r>
            <a:r>
              <a:rPr lang="zh-CN" altLang="en-US" sz="2400" b="1" dirty="0">
                <a:solidFill>
                  <a:srgbClr val="002060"/>
                </a:solidFill>
                <a:latin typeface="黑体" pitchFamily="49" charset="-122"/>
                <a:ea typeface="黑体" pitchFamily="49" charset="-122"/>
              </a:rPr>
              <a:t>关系运算符</a:t>
            </a:r>
            <a:r>
              <a:rPr lang="en-US" altLang="zh-CN" sz="2400" b="1" dirty="0">
                <a:solidFill>
                  <a:srgbClr val="002060"/>
                </a:solidFill>
                <a:latin typeface="黑体" pitchFamily="49" charset="-122"/>
                <a:ea typeface="黑体" pitchFamily="49" charset="-122"/>
              </a:rPr>
              <a:t>&gt; &lt;</a:t>
            </a:r>
            <a:r>
              <a:rPr lang="zh-CN" altLang="en-US" sz="2400" b="1" dirty="0">
                <a:solidFill>
                  <a:srgbClr val="002060"/>
                </a:solidFill>
                <a:latin typeface="黑体" pitchFamily="49" charset="-122"/>
                <a:ea typeface="黑体" pitchFamily="49" charset="-122"/>
              </a:rPr>
              <a:t>运算分量</a:t>
            </a:r>
            <a:r>
              <a:rPr lang="en-US" altLang="zh-CN" sz="2400" b="1" dirty="0">
                <a:solidFill>
                  <a:srgbClr val="002060"/>
                </a:solidFill>
                <a:latin typeface="黑体" pitchFamily="49" charset="-122"/>
                <a:ea typeface="黑体" pitchFamily="49" charset="-122"/>
              </a:rPr>
              <a:t>&gt;</a:t>
            </a:r>
          </a:p>
          <a:p>
            <a:pPr lvl="2">
              <a:lnSpc>
                <a:spcPct val="130000"/>
              </a:lnSpc>
            </a:pPr>
            <a:r>
              <a:rPr lang="zh-CN" altLang="en-US" sz="2400" b="1" dirty="0">
                <a:latin typeface="黑体" pitchFamily="49" charset="-122"/>
                <a:ea typeface="黑体" pitchFamily="49" charset="-122"/>
              </a:rPr>
              <a:t>运算分量为数值类型或</a:t>
            </a:r>
            <a:r>
              <a:rPr lang="zh-CN" altLang="en-US" sz="2400" b="1" dirty="0">
                <a:solidFill>
                  <a:srgbClr val="007E39"/>
                </a:solidFill>
                <a:latin typeface="黑体" pitchFamily="49" charset="-122"/>
                <a:ea typeface="黑体" pitchFamily="49" charset="-122"/>
              </a:rPr>
              <a:t>指针类型</a:t>
            </a:r>
            <a:endParaRPr lang="en-US" altLang="zh-CN" sz="2400" b="1" dirty="0">
              <a:solidFill>
                <a:srgbClr val="007E39"/>
              </a:solidFill>
              <a:latin typeface="黑体" pitchFamily="49" charset="-122"/>
              <a:ea typeface="黑体" pitchFamily="49" charset="-122"/>
            </a:endParaRPr>
          </a:p>
          <a:p>
            <a:pPr lvl="2">
              <a:lnSpc>
                <a:spcPct val="130000"/>
              </a:lnSpc>
            </a:pPr>
            <a:r>
              <a:rPr lang="zh-CN" altLang="en-US" sz="2400" b="1" dirty="0">
                <a:latin typeface="黑体" pitchFamily="49" charset="-122"/>
                <a:ea typeface="黑体" pitchFamily="49" charset="-122"/>
              </a:rPr>
              <a:t>运算分量的数据类型相同</a:t>
            </a:r>
            <a:r>
              <a:rPr lang="zh-CN" altLang="en-US" sz="2400" b="1" dirty="0">
                <a:solidFill>
                  <a:srgbClr val="FF0000"/>
                </a:solidFill>
                <a:latin typeface="黑体" pitchFamily="49" charset="-122"/>
                <a:ea typeface="黑体" pitchFamily="49" charset="-122"/>
              </a:rPr>
              <a:t>（可支持隐式转换）</a:t>
            </a:r>
            <a:endParaRPr lang="en-US" altLang="zh-CN" b="1" dirty="0">
              <a:solidFill>
                <a:srgbClr val="FF0000"/>
              </a:solidFill>
              <a:latin typeface="黑体" pitchFamily="49" charset="-122"/>
              <a:ea typeface="黑体" pitchFamily="49"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关系运算</a:t>
            </a:r>
          </a:p>
        </p:txBody>
      </p:sp>
      <p:sp>
        <p:nvSpPr>
          <p:cNvPr id="3" name="内容占位符 2"/>
          <p:cNvSpPr>
            <a:spLocks noGrp="1"/>
          </p:cNvSpPr>
          <p:nvPr>
            <p:ph idx="1"/>
          </p:nvPr>
        </p:nvSpPr>
        <p:spPr>
          <a:xfrm>
            <a:off x="457200" y="928670"/>
            <a:ext cx="8543956" cy="5527066"/>
          </a:xfrm>
        </p:spPr>
        <p:txBody>
          <a:bodyPr>
            <a:noAutofit/>
          </a:bodyPr>
          <a:lstStyle/>
          <a:p>
            <a:pPr>
              <a:lnSpc>
                <a:spcPct val="125000"/>
              </a:lnSpc>
            </a:pPr>
            <a:r>
              <a:rPr lang="zh-CN" altLang="en-US" sz="2800" b="1" dirty="0">
                <a:latin typeface="+mj-ea"/>
                <a:ea typeface="+mj-ea"/>
              </a:rPr>
              <a:t>运算步骤</a:t>
            </a:r>
            <a:endParaRPr lang="en-US" altLang="zh-CN" sz="2800" b="1" dirty="0">
              <a:latin typeface="+mj-ea"/>
              <a:ea typeface="+mj-ea"/>
            </a:endParaRPr>
          </a:p>
          <a:p>
            <a:pPr lvl="1">
              <a:lnSpc>
                <a:spcPct val="125000"/>
              </a:lnSpc>
            </a:pPr>
            <a:r>
              <a:rPr lang="zh-CN" altLang="en-US" sz="2400" b="1" dirty="0">
                <a:solidFill>
                  <a:srgbClr val="002060"/>
                </a:solidFill>
                <a:latin typeface="+mj-ea"/>
                <a:ea typeface="+mj-ea"/>
              </a:rPr>
              <a:t>计算两个运算分量的值</a:t>
            </a:r>
            <a:endParaRPr lang="en-US" altLang="zh-CN" sz="2400" b="1" dirty="0">
              <a:solidFill>
                <a:srgbClr val="002060"/>
              </a:solidFill>
              <a:latin typeface="+mj-ea"/>
              <a:ea typeface="+mj-ea"/>
            </a:endParaRPr>
          </a:p>
          <a:p>
            <a:pPr lvl="1">
              <a:lnSpc>
                <a:spcPct val="125000"/>
              </a:lnSpc>
            </a:pPr>
            <a:r>
              <a:rPr lang="zh-CN" altLang="en-US" sz="2400" b="1" dirty="0">
                <a:solidFill>
                  <a:srgbClr val="002060"/>
                </a:solidFill>
                <a:latin typeface="+mj-ea"/>
                <a:ea typeface="+mj-ea"/>
              </a:rPr>
              <a:t>对上述两个值进行比较</a:t>
            </a:r>
            <a:endParaRPr lang="en-US" altLang="zh-CN" sz="2400" b="1" dirty="0">
              <a:solidFill>
                <a:srgbClr val="002060"/>
              </a:solidFill>
              <a:latin typeface="+mj-ea"/>
              <a:ea typeface="+mj-ea"/>
            </a:endParaRPr>
          </a:p>
          <a:p>
            <a:pPr lvl="2">
              <a:lnSpc>
                <a:spcPct val="125000"/>
              </a:lnSpc>
            </a:pPr>
            <a:r>
              <a:rPr lang="zh-CN" altLang="en-US" sz="2400" b="1" dirty="0">
                <a:latin typeface="+mj-ea"/>
                <a:ea typeface="+mj-ea"/>
              </a:rPr>
              <a:t>符合运算符表示的关系，运算结果为</a:t>
            </a:r>
            <a:r>
              <a:rPr lang="en-US" altLang="zh-CN" sz="2400" b="1" dirty="0">
                <a:latin typeface="+mj-ea"/>
                <a:ea typeface="+mj-ea"/>
              </a:rPr>
              <a:t>1</a:t>
            </a:r>
            <a:r>
              <a:rPr lang="zh-CN" altLang="en-US" sz="2400" b="1" dirty="0">
                <a:latin typeface="+mj-ea"/>
                <a:ea typeface="+mj-ea"/>
              </a:rPr>
              <a:t>（或</a:t>
            </a:r>
            <a:r>
              <a:rPr lang="en-US" altLang="zh-CN" sz="2400" b="1" dirty="0">
                <a:latin typeface="+mj-ea"/>
                <a:ea typeface="+mj-ea"/>
              </a:rPr>
              <a:t>true</a:t>
            </a:r>
            <a:r>
              <a:rPr lang="zh-CN" altLang="en-US" sz="2400" b="1" dirty="0">
                <a:latin typeface="+mj-ea"/>
                <a:ea typeface="+mj-ea"/>
              </a:rPr>
              <a:t>）</a:t>
            </a:r>
            <a:endParaRPr lang="en-US" altLang="zh-CN" sz="2400" b="1" dirty="0">
              <a:latin typeface="+mj-ea"/>
              <a:ea typeface="+mj-ea"/>
            </a:endParaRPr>
          </a:p>
          <a:p>
            <a:pPr lvl="2">
              <a:lnSpc>
                <a:spcPct val="125000"/>
              </a:lnSpc>
            </a:pPr>
            <a:r>
              <a:rPr lang="zh-CN" altLang="en-US" sz="2400" b="1" dirty="0">
                <a:latin typeface="+mj-ea"/>
                <a:ea typeface="+mj-ea"/>
              </a:rPr>
              <a:t>不符合运算符表示的关系，运算结果为</a:t>
            </a:r>
            <a:r>
              <a:rPr lang="en-US" altLang="zh-CN" sz="2400" b="1" dirty="0">
                <a:latin typeface="+mj-ea"/>
                <a:ea typeface="+mj-ea"/>
              </a:rPr>
              <a:t>0</a:t>
            </a:r>
            <a:r>
              <a:rPr lang="zh-CN" altLang="en-US" sz="2400" b="1" dirty="0">
                <a:latin typeface="+mj-ea"/>
                <a:ea typeface="+mj-ea"/>
              </a:rPr>
              <a:t>（或</a:t>
            </a:r>
            <a:r>
              <a:rPr lang="en-US" altLang="zh-CN" sz="2400" b="1" dirty="0">
                <a:latin typeface="+mj-ea"/>
                <a:ea typeface="+mj-ea"/>
              </a:rPr>
              <a:t>false</a:t>
            </a:r>
            <a:r>
              <a:rPr lang="zh-CN" altLang="en-US" sz="2400" b="1" dirty="0">
                <a:latin typeface="+mj-ea"/>
                <a:ea typeface="+mj-ea"/>
              </a:rPr>
              <a:t>）</a:t>
            </a:r>
            <a:endParaRPr lang="en-US" altLang="zh-CN" sz="2400" b="1" dirty="0">
              <a:latin typeface="+mj-ea"/>
              <a:ea typeface="+mj-ea"/>
            </a:endParaRPr>
          </a:p>
          <a:p>
            <a:pPr>
              <a:lnSpc>
                <a:spcPct val="125000"/>
              </a:lnSpc>
            </a:pPr>
            <a:r>
              <a:rPr lang="zh-CN" altLang="en-US" sz="2800" b="1" dirty="0">
                <a:latin typeface="+mj-ea"/>
                <a:ea typeface="+mj-ea"/>
              </a:rPr>
              <a:t>关系表达式的值</a:t>
            </a:r>
            <a:endParaRPr lang="en-US" altLang="zh-CN" sz="2800" b="1" dirty="0">
              <a:latin typeface="+mj-ea"/>
              <a:ea typeface="+mj-ea"/>
            </a:endParaRPr>
          </a:p>
          <a:p>
            <a:pPr lvl="1">
              <a:lnSpc>
                <a:spcPct val="125000"/>
              </a:lnSpc>
            </a:pPr>
            <a:r>
              <a:rPr lang="zh-CN" altLang="en-US" sz="2400" b="1" dirty="0">
                <a:solidFill>
                  <a:srgbClr val="002060"/>
                </a:solidFill>
                <a:latin typeface="+mj-ea"/>
                <a:ea typeface="+mj-ea"/>
              </a:rPr>
              <a:t>布尔类型</a:t>
            </a:r>
            <a:endParaRPr lang="en-US" altLang="zh-CN" sz="2400" b="1" dirty="0">
              <a:solidFill>
                <a:srgbClr val="002060"/>
              </a:solidFill>
              <a:latin typeface="+mj-ea"/>
              <a:ea typeface="+mj-ea"/>
            </a:endParaRPr>
          </a:p>
          <a:p>
            <a:pPr lvl="2">
              <a:lnSpc>
                <a:spcPct val="125000"/>
              </a:lnSpc>
            </a:pPr>
            <a:r>
              <a:rPr lang="zh-CN" altLang="en-US" sz="2400" b="1" dirty="0">
                <a:latin typeface="+mj-ea"/>
                <a:ea typeface="+mj-ea"/>
              </a:rPr>
              <a:t>符合运算符表示的关系，表达式的值为</a:t>
            </a:r>
            <a:r>
              <a:rPr lang="en-US" altLang="zh-CN" sz="2400" b="1" dirty="0">
                <a:latin typeface="+mj-ea"/>
                <a:ea typeface="+mj-ea"/>
              </a:rPr>
              <a:t>1</a:t>
            </a:r>
            <a:r>
              <a:rPr lang="zh-CN" altLang="en-US" sz="2400" b="1" dirty="0">
                <a:latin typeface="+mj-ea"/>
                <a:ea typeface="+mj-ea"/>
              </a:rPr>
              <a:t>（或</a:t>
            </a:r>
            <a:r>
              <a:rPr lang="en-US" altLang="zh-CN" sz="2400" b="1" dirty="0">
                <a:latin typeface="+mj-ea"/>
                <a:ea typeface="+mj-ea"/>
              </a:rPr>
              <a:t>true</a:t>
            </a:r>
            <a:r>
              <a:rPr lang="zh-CN" altLang="en-US" sz="2400" b="1" dirty="0">
                <a:latin typeface="+mj-ea"/>
                <a:ea typeface="+mj-ea"/>
              </a:rPr>
              <a:t>）</a:t>
            </a:r>
            <a:endParaRPr lang="en-US" altLang="zh-CN" sz="2400" b="1" dirty="0">
              <a:latin typeface="+mj-ea"/>
              <a:ea typeface="+mj-ea"/>
            </a:endParaRPr>
          </a:p>
          <a:p>
            <a:pPr lvl="2">
              <a:lnSpc>
                <a:spcPct val="125000"/>
              </a:lnSpc>
            </a:pPr>
            <a:r>
              <a:rPr lang="zh-CN" altLang="en-US" sz="2400" b="1" dirty="0">
                <a:latin typeface="+mj-ea"/>
                <a:ea typeface="+mj-ea"/>
              </a:rPr>
              <a:t>不符合运算符表示的关系，表达式的值为</a:t>
            </a:r>
            <a:r>
              <a:rPr lang="en-US" altLang="zh-CN" sz="2400" b="1" dirty="0">
                <a:latin typeface="+mj-ea"/>
                <a:ea typeface="+mj-ea"/>
              </a:rPr>
              <a:t>0</a:t>
            </a:r>
            <a:r>
              <a:rPr lang="zh-CN" altLang="en-US" sz="2400" b="1" dirty="0">
                <a:latin typeface="+mj-ea"/>
                <a:ea typeface="+mj-ea"/>
              </a:rPr>
              <a:t>（或</a:t>
            </a:r>
            <a:r>
              <a:rPr lang="en-US" altLang="zh-CN" sz="2400" b="1" dirty="0">
                <a:latin typeface="+mj-ea"/>
                <a:ea typeface="+mj-ea"/>
              </a:rPr>
              <a:t>false</a:t>
            </a:r>
            <a:r>
              <a:rPr lang="zh-CN" altLang="en-US" sz="2400" b="1" dirty="0">
                <a:latin typeface="+mj-ea"/>
                <a:ea typeface="+mj-ea"/>
              </a:rPr>
              <a:t>）</a:t>
            </a:r>
            <a:endParaRPr lang="zh-CN" altLang="en-US" b="1" dirty="0">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关系运算</a:t>
            </a:r>
          </a:p>
        </p:txBody>
      </p:sp>
      <p:sp>
        <p:nvSpPr>
          <p:cNvPr id="3" name="内容占位符 2"/>
          <p:cNvSpPr>
            <a:spLocks noGrp="1"/>
          </p:cNvSpPr>
          <p:nvPr>
            <p:ph idx="1"/>
          </p:nvPr>
        </p:nvSpPr>
        <p:spPr>
          <a:xfrm>
            <a:off x="457200" y="928670"/>
            <a:ext cx="7239000" cy="5527066"/>
          </a:xfrm>
        </p:spPr>
        <p:txBody>
          <a:bodyPr/>
          <a:lstStyle/>
          <a:p>
            <a:pPr>
              <a:lnSpc>
                <a:spcPct val="130000"/>
              </a:lnSpc>
            </a:pPr>
            <a:r>
              <a:rPr lang="zh-CN" altLang="en-US" sz="2800" b="1" dirty="0">
                <a:latin typeface="+mj-ea"/>
                <a:ea typeface="+mj-ea"/>
              </a:rPr>
              <a:t>优先级</a:t>
            </a:r>
            <a:endParaRPr lang="en-US" altLang="zh-CN" sz="2800" b="1" dirty="0">
              <a:latin typeface="+mj-ea"/>
              <a:ea typeface="+mj-ea"/>
            </a:endParaRPr>
          </a:p>
          <a:p>
            <a:pPr lvl="1">
              <a:lnSpc>
                <a:spcPct val="130000"/>
              </a:lnSpc>
            </a:pPr>
            <a:r>
              <a:rPr lang="zh-CN" altLang="en-US" sz="2400" b="1" dirty="0">
                <a:solidFill>
                  <a:srgbClr val="002060"/>
                </a:solidFill>
                <a:latin typeface="+mj-ea"/>
                <a:ea typeface="+mj-ea"/>
              </a:rPr>
              <a:t>算术运算符优先于关系运算符</a:t>
            </a:r>
            <a:endParaRPr lang="en-US" altLang="zh-CN" sz="2400" b="1" dirty="0">
              <a:solidFill>
                <a:srgbClr val="002060"/>
              </a:solidFill>
              <a:latin typeface="+mj-ea"/>
              <a:ea typeface="+mj-ea"/>
            </a:endParaRPr>
          </a:p>
          <a:p>
            <a:pPr lvl="1">
              <a:lnSpc>
                <a:spcPct val="130000"/>
              </a:lnSpc>
            </a:pPr>
            <a:r>
              <a:rPr lang="en-US" altLang="zh-CN" sz="2400" b="1" dirty="0">
                <a:solidFill>
                  <a:srgbClr val="002060"/>
                </a:solidFill>
                <a:latin typeface="+mj-ea"/>
                <a:ea typeface="+mj-ea"/>
              </a:rPr>
              <a:t>&lt;</a:t>
            </a:r>
            <a:r>
              <a:rPr lang="zh-CN" altLang="en-US" sz="2400" b="1" dirty="0">
                <a:solidFill>
                  <a:srgbClr val="002060"/>
                </a:solidFill>
                <a:latin typeface="+mj-ea"/>
                <a:ea typeface="+mj-ea"/>
              </a:rPr>
              <a:t>、</a:t>
            </a:r>
            <a:r>
              <a:rPr lang="en-US" altLang="zh-CN" sz="2400" b="1" dirty="0">
                <a:solidFill>
                  <a:srgbClr val="002060"/>
                </a:solidFill>
                <a:latin typeface="+mj-ea"/>
                <a:ea typeface="+mj-ea"/>
              </a:rPr>
              <a:t>&lt;=</a:t>
            </a:r>
            <a:r>
              <a:rPr lang="zh-CN" altLang="en-US" sz="2400" b="1" dirty="0">
                <a:solidFill>
                  <a:srgbClr val="002060"/>
                </a:solidFill>
                <a:latin typeface="+mj-ea"/>
                <a:ea typeface="+mj-ea"/>
              </a:rPr>
              <a:t>、</a:t>
            </a:r>
            <a:r>
              <a:rPr lang="en-US" altLang="zh-CN" sz="2400" b="1" dirty="0">
                <a:solidFill>
                  <a:srgbClr val="002060"/>
                </a:solidFill>
                <a:latin typeface="+mj-ea"/>
                <a:ea typeface="+mj-ea"/>
              </a:rPr>
              <a:t>&gt;</a:t>
            </a:r>
            <a:r>
              <a:rPr lang="zh-CN" altLang="en-US" sz="2400" b="1" dirty="0">
                <a:solidFill>
                  <a:srgbClr val="002060"/>
                </a:solidFill>
                <a:latin typeface="+mj-ea"/>
                <a:ea typeface="+mj-ea"/>
              </a:rPr>
              <a:t>、</a:t>
            </a:r>
            <a:r>
              <a:rPr lang="en-US" altLang="zh-CN" sz="2400" b="1" dirty="0">
                <a:solidFill>
                  <a:srgbClr val="002060"/>
                </a:solidFill>
                <a:latin typeface="+mj-ea"/>
                <a:ea typeface="+mj-ea"/>
              </a:rPr>
              <a:t>&gt;=</a:t>
            </a:r>
            <a:r>
              <a:rPr lang="zh-CN" altLang="en-US" sz="2400" b="1" dirty="0">
                <a:solidFill>
                  <a:srgbClr val="002060"/>
                </a:solidFill>
                <a:latin typeface="+mj-ea"/>
                <a:ea typeface="+mj-ea"/>
              </a:rPr>
              <a:t>优先于</a:t>
            </a:r>
            <a:r>
              <a:rPr lang="en-US" altLang="zh-CN" sz="2400" b="1" dirty="0">
                <a:solidFill>
                  <a:srgbClr val="002060"/>
                </a:solidFill>
                <a:latin typeface="+mj-ea"/>
                <a:ea typeface="+mj-ea"/>
              </a:rPr>
              <a:t>==</a:t>
            </a:r>
            <a:r>
              <a:rPr lang="zh-CN" altLang="en-US" sz="2400" b="1" dirty="0">
                <a:solidFill>
                  <a:srgbClr val="002060"/>
                </a:solidFill>
                <a:latin typeface="+mj-ea"/>
                <a:ea typeface="+mj-ea"/>
              </a:rPr>
              <a:t>和</a:t>
            </a:r>
            <a:r>
              <a:rPr lang="en-US" altLang="zh-CN" sz="2400" b="1" dirty="0">
                <a:solidFill>
                  <a:srgbClr val="002060"/>
                </a:solidFill>
                <a:latin typeface="+mj-ea"/>
                <a:ea typeface="+mj-ea"/>
              </a:rPr>
              <a:t>!=</a:t>
            </a:r>
          </a:p>
          <a:p>
            <a:pPr>
              <a:lnSpc>
                <a:spcPct val="130000"/>
              </a:lnSpc>
            </a:pPr>
            <a:r>
              <a:rPr lang="zh-CN" altLang="en-US" sz="2800" b="1" dirty="0">
                <a:latin typeface="+mj-ea"/>
                <a:ea typeface="+mj-ea"/>
              </a:rPr>
              <a:t>结合性</a:t>
            </a:r>
            <a:endParaRPr lang="en-US" altLang="zh-CN" sz="2800" b="1" dirty="0">
              <a:latin typeface="+mj-ea"/>
              <a:ea typeface="+mj-ea"/>
            </a:endParaRPr>
          </a:p>
          <a:p>
            <a:pPr lvl="1">
              <a:lnSpc>
                <a:spcPct val="130000"/>
              </a:lnSpc>
            </a:pPr>
            <a:r>
              <a:rPr lang="zh-CN" altLang="en-US" sz="2400" b="1" dirty="0">
                <a:solidFill>
                  <a:srgbClr val="002060"/>
                </a:solidFill>
                <a:latin typeface="+mj-ea"/>
                <a:ea typeface="+mj-ea"/>
              </a:rPr>
              <a:t>同优先级的运算符为左结合</a:t>
            </a:r>
            <a:endParaRPr lang="en-US" altLang="zh-CN" sz="2400" b="1" dirty="0">
              <a:solidFill>
                <a:srgbClr val="002060"/>
              </a:solidFill>
              <a:latin typeface="+mj-ea"/>
              <a:ea typeface="+mj-ea"/>
            </a:endParaRPr>
          </a:p>
          <a:p>
            <a:pPr>
              <a:lnSpc>
                <a:spcPct val="130000"/>
              </a:lnSpc>
            </a:pPr>
            <a:r>
              <a:rPr lang="zh-CN" altLang="en-US" sz="2800" b="1" dirty="0">
                <a:latin typeface="+mj-ea"/>
                <a:ea typeface="+mj-ea"/>
              </a:rPr>
              <a:t>数据类型转换</a:t>
            </a:r>
            <a:endParaRPr lang="en-US" altLang="zh-CN" sz="2800" b="1" dirty="0">
              <a:latin typeface="+mj-ea"/>
              <a:ea typeface="+mj-ea"/>
            </a:endParaRPr>
          </a:p>
          <a:p>
            <a:pPr lvl="1">
              <a:lnSpc>
                <a:spcPct val="130000"/>
              </a:lnSpc>
            </a:pPr>
            <a:r>
              <a:rPr lang="zh-CN" altLang="en-US" sz="2400" b="1" dirty="0">
                <a:solidFill>
                  <a:srgbClr val="002060"/>
                </a:solidFill>
                <a:latin typeface="+mj-ea"/>
                <a:ea typeface="+mj-ea"/>
              </a:rPr>
              <a:t>布尔型与整型的相互转换</a:t>
            </a:r>
            <a:endParaRPr lang="en-US" altLang="zh-CN" sz="2400" b="1" dirty="0">
              <a:solidFill>
                <a:srgbClr val="002060"/>
              </a:solidFill>
              <a:latin typeface="+mj-ea"/>
              <a:ea typeface="+mj-ea"/>
            </a:endParaRPr>
          </a:p>
          <a:p>
            <a:pPr lvl="2">
              <a:lnSpc>
                <a:spcPct val="130000"/>
              </a:lnSpc>
            </a:pPr>
            <a:r>
              <a:rPr lang="en-US" altLang="zh-CN" sz="2400" b="1" dirty="0" err="1">
                <a:latin typeface="+mj-ea"/>
                <a:ea typeface="+mj-ea"/>
              </a:rPr>
              <a:t>bool</a:t>
            </a:r>
            <a:r>
              <a:rPr lang="en-US" altLang="zh-CN" sz="2400" b="1" dirty="0">
                <a:latin typeface="+mj-ea"/>
                <a:ea typeface="+mj-ea"/>
              </a:rPr>
              <a:t> b = 7;</a:t>
            </a:r>
            <a:r>
              <a:rPr lang="zh-CN" altLang="en-US" sz="2400" b="1" dirty="0">
                <a:latin typeface="+mj-ea"/>
                <a:ea typeface="+mj-ea"/>
              </a:rPr>
              <a:t>（</a:t>
            </a:r>
            <a:r>
              <a:rPr lang="en-US" altLang="zh-CN" sz="2400" b="1" dirty="0">
                <a:latin typeface="+mj-ea"/>
                <a:ea typeface="+mj-ea"/>
              </a:rPr>
              <a:t>b</a:t>
            </a:r>
            <a:r>
              <a:rPr lang="zh-CN" altLang="en-US" sz="2400" b="1" dirty="0">
                <a:latin typeface="+mj-ea"/>
                <a:ea typeface="+mj-ea"/>
              </a:rPr>
              <a:t>的布尔值为</a:t>
            </a:r>
            <a:r>
              <a:rPr lang="en-US" altLang="zh-CN" sz="2400" b="1" dirty="0">
                <a:latin typeface="+mj-ea"/>
                <a:ea typeface="+mj-ea"/>
              </a:rPr>
              <a:t>true</a:t>
            </a:r>
            <a:r>
              <a:rPr lang="zh-CN" altLang="en-US" sz="2400" b="1" dirty="0">
                <a:latin typeface="+mj-ea"/>
                <a:ea typeface="+mj-ea"/>
              </a:rPr>
              <a:t>）</a:t>
            </a:r>
            <a:endParaRPr lang="en-US" altLang="zh-CN" sz="2400" b="1" dirty="0">
              <a:latin typeface="+mj-ea"/>
              <a:ea typeface="+mj-ea"/>
            </a:endParaRPr>
          </a:p>
          <a:p>
            <a:pPr lvl="2">
              <a:lnSpc>
                <a:spcPct val="130000"/>
              </a:lnSpc>
            </a:pPr>
            <a:r>
              <a:rPr lang="en-US" altLang="zh-CN" sz="2400" b="1" dirty="0" err="1">
                <a:latin typeface="+mj-ea"/>
                <a:ea typeface="+mj-ea"/>
              </a:rPr>
              <a:t>int</a:t>
            </a:r>
            <a:r>
              <a:rPr lang="en-US" altLang="zh-CN" sz="2400" b="1" dirty="0">
                <a:latin typeface="+mj-ea"/>
                <a:ea typeface="+mj-ea"/>
              </a:rPr>
              <a:t> n = true;</a:t>
            </a:r>
            <a:r>
              <a:rPr lang="zh-CN" altLang="en-US" sz="2400" b="1" dirty="0">
                <a:latin typeface="+mj-ea"/>
                <a:ea typeface="+mj-ea"/>
              </a:rPr>
              <a:t>（</a:t>
            </a:r>
            <a:r>
              <a:rPr lang="en-US" altLang="zh-CN" sz="2400" b="1" dirty="0">
                <a:latin typeface="+mj-ea"/>
                <a:ea typeface="+mj-ea"/>
              </a:rPr>
              <a:t>n</a:t>
            </a:r>
            <a:r>
              <a:rPr lang="zh-CN" altLang="en-US" sz="2400" b="1" dirty="0">
                <a:latin typeface="+mj-ea"/>
                <a:ea typeface="+mj-ea"/>
              </a:rPr>
              <a:t>的整型数值为</a:t>
            </a:r>
            <a:r>
              <a:rPr lang="en-US" altLang="zh-CN" sz="2400" b="1" dirty="0">
                <a:latin typeface="+mj-ea"/>
                <a:ea typeface="+mj-ea"/>
              </a:rPr>
              <a:t>1</a:t>
            </a:r>
            <a:r>
              <a:rPr lang="zh-CN" altLang="en-US" sz="2400" b="1" dirty="0">
                <a:latin typeface="+mj-ea"/>
                <a:ea typeface="+mj-ea"/>
              </a:rPr>
              <a:t>）</a:t>
            </a:r>
            <a:endParaRPr lang="zh-CN" altLang="en-US" b="1" dirty="0">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24"/>
            <a:ext cx="7239000" cy="748684"/>
          </a:xfrm>
        </p:spPr>
        <p:txBody>
          <a:bodyPr/>
          <a:lstStyle/>
          <a:p>
            <a:r>
              <a:rPr lang="zh-CN" altLang="en-US" dirty="0"/>
              <a:t>逻辑运算</a:t>
            </a:r>
          </a:p>
        </p:txBody>
      </p:sp>
      <p:sp>
        <p:nvSpPr>
          <p:cNvPr id="3" name="内容占位符 2"/>
          <p:cNvSpPr>
            <a:spLocks noGrp="1"/>
          </p:cNvSpPr>
          <p:nvPr>
            <p:ph idx="1"/>
          </p:nvPr>
        </p:nvSpPr>
        <p:spPr>
          <a:xfrm>
            <a:off x="457200" y="928670"/>
            <a:ext cx="8435280" cy="5527066"/>
          </a:xfrm>
        </p:spPr>
        <p:txBody>
          <a:bodyPr/>
          <a:lstStyle/>
          <a:p>
            <a:pPr>
              <a:lnSpc>
                <a:spcPct val="125000"/>
              </a:lnSpc>
            </a:pPr>
            <a:r>
              <a:rPr lang="zh-CN" altLang="en-US" sz="2800" b="1" dirty="0">
                <a:solidFill>
                  <a:srgbClr val="FF0000"/>
                </a:solidFill>
                <a:latin typeface="+mj-ea"/>
                <a:ea typeface="+mj-ea"/>
              </a:rPr>
              <a:t>逻辑运算符</a:t>
            </a:r>
            <a:r>
              <a:rPr lang="zh-CN" altLang="en-US" sz="2800" b="1" dirty="0">
                <a:latin typeface="+mj-ea"/>
                <a:ea typeface="+mj-ea"/>
              </a:rPr>
              <a:t>可以将关系表达式或者将具有数值类型或指针类型的一般表达式以及逻辑值</a:t>
            </a:r>
            <a:r>
              <a:rPr lang="zh-CN" altLang="en-US" sz="2800" b="1" dirty="0">
                <a:solidFill>
                  <a:srgbClr val="FF0000"/>
                </a:solidFill>
                <a:latin typeface="+mj-ea"/>
                <a:ea typeface="+mj-ea"/>
              </a:rPr>
              <a:t>连接</a:t>
            </a:r>
            <a:r>
              <a:rPr lang="zh-CN" altLang="en-US" sz="2800" b="1" dirty="0">
                <a:latin typeface="+mj-ea"/>
                <a:ea typeface="+mj-ea"/>
              </a:rPr>
              <a:t>在一起, 进而可用于</a:t>
            </a:r>
            <a:r>
              <a:rPr lang="zh-CN" altLang="en-US" sz="2800" b="1" dirty="0">
                <a:solidFill>
                  <a:srgbClr val="FF0000"/>
                </a:solidFill>
                <a:latin typeface="+mj-ea"/>
                <a:ea typeface="+mj-ea"/>
              </a:rPr>
              <a:t>表达更加复杂的具有某种关系的一个条件</a:t>
            </a:r>
            <a:endParaRPr lang="en-US" altLang="zh-CN" sz="2800" b="1" dirty="0">
              <a:solidFill>
                <a:srgbClr val="FF0000"/>
              </a:solidFill>
              <a:latin typeface="+mj-ea"/>
              <a:ea typeface="+mj-ea"/>
            </a:endParaRPr>
          </a:p>
          <a:p>
            <a:pPr>
              <a:lnSpc>
                <a:spcPct val="125000"/>
              </a:lnSpc>
            </a:pPr>
            <a:r>
              <a:rPr lang="zh-CN" altLang="en-US" sz="2800" b="1" dirty="0">
                <a:latin typeface="+mj-ea"/>
                <a:ea typeface="+mj-ea"/>
              </a:rPr>
              <a:t>逻辑运算符</a:t>
            </a:r>
            <a:endParaRPr lang="en-US" altLang="zh-CN" sz="2800" b="1" dirty="0">
              <a:latin typeface="+mj-ea"/>
              <a:ea typeface="+mj-ea"/>
            </a:endParaRPr>
          </a:p>
          <a:p>
            <a:pPr lvl="1">
              <a:lnSpc>
                <a:spcPct val="125000"/>
              </a:lnSpc>
            </a:pPr>
            <a:r>
              <a:rPr lang="zh-CN" altLang="en-US" sz="2400" b="1" dirty="0">
                <a:solidFill>
                  <a:srgbClr val="0000FF"/>
                </a:solidFill>
                <a:latin typeface="+mj-ea"/>
                <a:ea typeface="+mj-ea"/>
              </a:rPr>
              <a:t>单目运算符：逻辑非！</a:t>
            </a:r>
            <a:endParaRPr lang="en-US" altLang="zh-CN" sz="2400" b="1" dirty="0">
              <a:solidFill>
                <a:srgbClr val="0000FF"/>
              </a:solidFill>
              <a:latin typeface="+mj-ea"/>
              <a:ea typeface="+mj-ea"/>
            </a:endParaRPr>
          </a:p>
          <a:p>
            <a:pPr lvl="1">
              <a:lnSpc>
                <a:spcPct val="125000"/>
              </a:lnSpc>
            </a:pPr>
            <a:r>
              <a:rPr lang="zh-CN" altLang="en-US" sz="2400" b="1" dirty="0">
                <a:solidFill>
                  <a:srgbClr val="0000FF"/>
                </a:solidFill>
                <a:latin typeface="+mj-ea"/>
                <a:ea typeface="+mj-ea"/>
              </a:rPr>
              <a:t>双目运算符</a:t>
            </a:r>
            <a:endParaRPr lang="en-US" altLang="zh-CN" sz="2400" b="1" dirty="0">
              <a:solidFill>
                <a:srgbClr val="0000FF"/>
              </a:solidFill>
              <a:latin typeface="+mj-ea"/>
              <a:ea typeface="+mj-ea"/>
            </a:endParaRPr>
          </a:p>
          <a:p>
            <a:pPr lvl="2">
              <a:lnSpc>
                <a:spcPct val="125000"/>
              </a:lnSpc>
            </a:pPr>
            <a:r>
              <a:rPr lang="zh-CN" altLang="en-US" sz="2400" b="1" dirty="0">
                <a:solidFill>
                  <a:srgbClr val="0000FF"/>
                </a:solidFill>
                <a:latin typeface="+mj-ea"/>
                <a:ea typeface="+mj-ea"/>
              </a:rPr>
              <a:t>逻辑与</a:t>
            </a:r>
            <a:r>
              <a:rPr lang="en-US" altLang="zh-CN" sz="2400" b="1" dirty="0">
                <a:solidFill>
                  <a:srgbClr val="0000FF"/>
                </a:solidFill>
                <a:latin typeface="+mj-ea"/>
                <a:ea typeface="+mj-ea"/>
              </a:rPr>
              <a:t>&amp;&amp;</a:t>
            </a:r>
          </a:p>
          <a:p>
            <a:pPr lvl="2">
              <a:lnSpc>
                <a:spcPct val="125000"/>
              </a:lnSpc>
            </a:pPr>
            <a:r>
              <a:rPr lang="zh-CN" altLang="en-US" sz="2400" b="1" dirty="0">
                <a:solidFill>
                  <a:srgbClr val="0000FF"/>
                </a:solidFill>
                <a:latin typeface="+mj-ea"/>
                <a:ea typeface="+mj-ea"/>
              </a:rPr>
              <a:t>逻辑或</a:t>
            </a:r>
            <a:r>
              <a:rPr lang="en-US" altLang="zh-CN" sz="2400" b="1" dirty="0">
                <a:solidFill>
                  <a:srgbClr val="0000FF"/>
                </a:solidFill>
                <a:latin typeface="+mj-ea"/>
                <a:ea typeface="+mj-ea"/>
              </a:rPr>
              <a:t>||</a:t>
            </a:r>
            <a:endParaRPr lang="zh-CN" altLang="en-US" sz="2400" b="1" dirty="0">
              <a:solidFill>
                <a:srgbClr val="0000FF"/>
              </a:solidFill>
              <a:latin typeface="+mj-ea"/>
              <a:ea typeface="+mj-ea"/>
            </a:endParaRP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88640"/>
            <a:ext cx="8822214" cy="6336704"/>
          </a:xfrm>
        </p:spPr>
        <p:txBody>
          <a:bodyPr>
            <a:normAutofit lnSpcReduction="10000"/>
          </a:bodyPr>
          <a:lstStyle/>
          <a:p>
            <a:pPr>
              <a:lnSpc>
                <a:spcPct val="120000"/>
              </a:lnSpc>
            </a:pPr>
            <a:r>
              <a:rPr lang="zh-CN" altLang="en-US" sz="3000" b="1" dirty="0">
                <a:latin typeface="黑体" pitchFamily="49" charset="-122"/>
                <a:ea typeface="黑体" pitchFamily="49" charset="-122"/>
              </a:rPr>
              <a:t>逻辑表达式</a:t>
            </a:r>
            <a:endParaRPr lang="en-US" altLang="zh-CN" sz="3000" b="1" dirty="0">
              <a:latin typeface="黑体" pitchFamily="49" charset="-122"/>
              <a:ea typeface="黑体" pitchFamily="49" charset="-122"/>
            </a:endParaRPr>
          </a:p>
          <a:p>
            <a:pPr lvl="1">
              <a:lnSpc>
                <a:spcPct val="120000"/>
              </a:lnSpc>
            </a:pPr>
            <a:r>
              <a:rPr lang="en-US" altLang="zh-CN" sz="2600" b="1" dirty="0">
                <a:solidFill>
                  <a:srgbClr val="002060"/>
                </a:solidFill>
                <a:latin typeface="黑体" pitchFamily="49" charset="-122"/>
                <a:ea typeface="黑体" pitchFamily="49" charset="-122"/>
              </a:rPr>
              <a:t>!&lt;</a:t>
            </a:r>
            <a:r>
              <a:rPr lang="zh-CN" altLang="en-US" sz="2600" b="1" dirty="0">
                <a:solidFill>
                  <a:srgbClr val="002060"/>
                </a:solidFill>
                <a:latin typeface="黑体" pitchFamily="49" charset="-122"/>
                <a:ea typeface="黑体" pitchFamily="49" charset="-122"/>
              </a:rPr>
              <a:t>运算分量</a:t>
            </a:r>
            <a:r>
              <a:rPr lang="en-US" altLang="zh-CN" sz="2600" b="1" dirty="0">
                <a:solidFill>
                  <a:srgbClr val="002060"/>
                </a:solidFill>
                <a:latin typeface="黑体" pitchFamily="49" charset="-122"/>
                <a:ea typeface="黑体" pitchFamily="49" charset="-122"/>
              </a:rPr>
              <a:t>&gt;</a:t>
            </a:r>
          </a:p>
          <a:p>
            <a:pPr lvl="1">
              <a:lnSpc>
                <a:spcPct val="120000"/>
              </a:lnSpc>
            </a:pPr>
            <a:r>
              <a:rPr lang="en-US" altLang="zh-CN" sz="2600" b="1" dirty="0">
                <a:solidFill>
                  <a:srgbClr val="002060"/>
                </a:solidFill>
                <a:latin typeface="黑体" pitchFamily="49" charset="-122"/>
                <a:ea typeface="黑体" pitchFamily="49" charset="-122"/>
              </a:rPr>
              <a:t>&lt;</a:t>
            </a:r>
            <a:r>
              <a:rPr lang="zh-CN" altLang="en-US" sz="2600" b="1" dirty="0">
                <a:solidFill>
                  <a:srgbClr val="002060"/>
                </a:solidFill>
                <a:latin typeface="黑体" pitchFamily="49" charset="-122"/>
                <a:ea typeface="黑体" pitchFamily="49" charset="-122"/>
              </a:rPr>
              <a:t>运算分量</a:t>
            </a:r>
            <a:r>
              <a:rPr lang="en-US" altLang="zh-CN" sz="2600" b="1" dirty="0">
                <a:solidFill>
                  <a:srgbClr val="002060"/>
                </a:solidFill>
                <a:latin typeface="黑体" pitchFamily="49" charset="-122"/>
                <a:ea typeface="黑体" pitchFamily="49" charset="-122"/>
              </a:rPr>
              <a:t>&gt; &amp;&amp; &lt;</a:t>
            </a:r>
            <a:r>
              <a:rPr lang="zh-CN" altLang="en-US" sz="2600" b="1" dirty="0">
                <a:solidFill>
                  <a:srgbClr val="002060"/>
                </a:solidFill>
                <a:latin typeface="黑体" pitchFamily="49" charset="-122"/>
                <a:ea typeface="黑体" pitchFamily="49" charset="-122"/>
              </a:rPr>
              <a:t>运算分量</a:t>
            </a:r>
            <a:r>
              <a:rPr lang="en-US" altLang="zh-CN" sz="2600" b="1" dirty="0">
                <a:solidFill>
                  <a:srgbClr val="002060"/>
                </a:solidFill>
                <a:latin typeface="黑体" pitchFamily="49" charset="-122"/>
                <a:ea typeface="黑体" pitchFamily="49" charset="-122"/>
              </a:rPr>
              <a:t>&gt;</a:t>
            </a:r>
          </a:p>
          <a:p>
            <a:pPr lvl="1">
              <a:lnSpc>
                <a:spcPct val="120000"/>
              </a:lnSpc>
            </a:pPr>
            <a:r>
              <a:rPr lang="en-US" altLang="zh-CN" sz="2600" b="1" dirty="0">
                <a:solidFill>
                  <a:srgbClr val="002060"/>
                </a:solidFill>
                <a:latin typeface="黑体" pitchFamily="49" charset="-122"/>
                <a:ea typeface="黑体" pitchFamily="49" charset="-122"/>
              </a:rPr>
              <a:t>&lt;</a:t>
            </a:r>
            <a:r>
              <a:rPr lang="zh-CN" altLang="en-US" sz="2600" b="1" dirty="0">
                <a:solidFill>
                  <a:srgbClr val="002060"/>
                </a:solidFill>
                <a:latin typeface="黑体" pitchFamily="49" charset="-122"/>
                <a:ea typeface="黑体" pitchFamily="49" charset="-122"/>
              </a:rPr>
              <a:t>运算分量</a:t>
            </a:r>
            <a:r>
              <a:rPr lang="en-US" altLang="zh-CN" sz="2600" b="1" dirty="0">
                <a:solidFill>
                  <a:srgbClr val="002060"/>
                </a:solidFill>
                <a:latin typeface="黑体" pitchFamily="49" charset="-122"/>
                <a:ea typeface="黑体" pitchFamily="49" charset="-122"/>
              </a:rPr>
              <a:t>&gt; || &lt;</a:t>
            </a:r>
            <a:r>
              <a:rPr lang="zh-CN" altLang="en-US" sz="2600" b="1" dirty="0">
                <a:solidFill>
                  <a:srgbClr val="002060"/>
                </a:solidFill>
                <a:latin typeface="黑体" pitchFamily="49" charset="-122"/>
                <a:ea typeface="黑体" pitchFamily="49" charset="-122"/>
              </a:rPr>
              <a:t>运算分量</a:t>
            </a:r>
            <a:r>
              <a:rPr lang="en-US" altLang="zh-CN" sz="2600" b="1" dirty="0">
                <a:solidFill>
                  <a:srgbClr val="002060"/>
                </a:solidFill>
                <a:latin typeface="黑体" pitchFamily="49" charset="-122"/>
                <a:ea typeface="黑体" pitchFamily="49" charset="-122"/>
              </a:rPr>
              <a:t>&gt;</a:t>
            </a:r>
          </a:p>
          <a:p>
            <a:pPr lvl="2">
              <a:lnSpc>
                <a:spcPct val="120000"/>
              </a:lnSpc>
            </a:pPr>
            <a:r>
              <a:rPr lang="zh-CN" altLang="en-US" sz="2600" b="1" dirty="0">
                <a:latin typeface="黑体" pitchFamily="49" charset="-122"/>
                <a:ea typeface="黑体" pitchFamily="49" charset="-122"/>
              </a:rPr>
              <a:t>运算分量应是数值类型或指针类型的表达式</a:t>
            </a:r>
            <a:endParaRPr lang="en-US" altLang="zh-CN" sz="2600" b="1" dirty="0">
              <a:latin typeface="黑体" pitchFamily="49" charset="-122"/>
              <a:ea typeface="黑体" pitchFamily="49" charset="-122"/>
            </a:endParaRPr>
          </a:p>
          <a:p>
            <a:pPr lvl="2">
              <a:lnSpc>
                <a:spcPct val="120000"/>
              </a:lnSpc>
            </a:pPr>
            <a:r>
              <a:rPr lang="zh-CN" altLang="en-US" sz="2600" b="1" dirty="0">
                <a:latin typeface="黑体" pitchFamily="49" charset="-122"/>
                <a:ea typeface="黑体" pitchFamily="49" charset="-122"/>
              </a:rPr>
              <a:t>运算分量的值能够转换为布尔值</a:t>
            </a:r>
            <a:endParaRPr lang="en-US" altLang="zh-CN" sz="2600" b="1" dirty="0">
              <a:latin typeface="黑体" pitchFamily="49" charset="-122"/>
              <a:ea typeface="黑体" pitchFamily="49" charset="-122"/>
            </a:endParaRPr>
          </a:p>
          <a:p>
            <a:pPr>
              <a:lnSpc>
                <a:spcPct val="120000"/>
              </a:lnSpc>
            </a:pPr>
            <a:r>
              <a:rPr lang="zh-CN" altLang="en-US" b="1" dirty="0">
                <a:latin typeface="黑体" pitchFamily="49" charset="-122"/>
                <a:ea typeface="黑体" pitchFamily="49" charset="-122"/>
              </a:rPr>
              <a:t>运算步骤</a:t>
            </a:r>
            <a:endParaRPr lang="en-US" altLang="zh-CN" b="1" dirty="0">
              <a:latin typeface="黑体" pitchFamily="49" charset="-122"/>
              <a:ea typeface="黑体" pitchFamily="49" charset="-122"/>
            </a:endParaRPr>
          </a:p>
          <a:p>
            <a:pPr lvl="1">
              <a:lnSpc>
                <a:spcPct val="120000"/>
              </a:lnSpc>
            </a:pPr>
            <a:r>
              <a:rPr lang="zh-CN" altLang="en-US" sz="2600" b="1" dirty="0">
                <a:solidFill>
                  <a:schemeClr val="tx1"/>
                </a:solidFill>
                <a:latin typeface="黑体" pitchFamily="49" charset="-122"/>
                <a:ea typeface="黑体" pitchFamily="49" charset="-122"/>
              </a:rPr>
              <a:t>计算运算分量的值</a:t>
            </a:r>
            <a:endParaRPr lang="en-US" altLang="zh-CN" sz="2600" b="1" dirty="0">
              <a:solidFill>
                <a:schemeClr val="tx1"/>
              </a:solidFill>
              <a:latin typeface="黑体" pitchFamily="49" charset="-122"/>
              <a:ea typeface="黑体" pitchFamily="49" charset="-122"/>
            </a:endParaRPr>
          </a:p>
          <a:p>
            <a:pPr lvl="1">
              <a:lnSpc>
                <a:spcPct val="120000"/>
              </a:lnSpc>
            </a:pPr>
            <a:r>
              <a:rPr lang="zh-CN" altLang="en-US" sz="2600" b="1" dirty="0">
                <a:solidFill>
                  <a:schemeClr val="tx1"/>
                </a:solidFill>
                <a:latin typeface="黑体" pitchFamily="49" charset="-122"/>
                <a:ea typeface="黑体" pitchFamily="49" charset="-122"/>
              </a:rPr>
              <a:t>以值</a:t>
            </a:r>
            <a:r>
              <a:rPr lang="en-US" altLang="zh-CN" sz="2600" b="1" dirty="0">
                <a:solidFill>
                  <a:schemeClr val="tx1"/>
                </a:solidFill>
                <a:latin typeface="黑体" pitchFamily="49" charset="-122"/>
                <a:ea typeface="黑体" pitchFamily="49" charset="-122"/>
              </a:rPr>
              <a:t>0</a:t>
            </a:r>
            <a:r>
              <a:rPr lang="zh-CN" altLang="en-US" sz="2600" b="1" dirty="0">
                <a:solidFill>
                  <a:schemeClr val="tx1"/>
                </a:solidFill>
                <a:latin typeface="黑体" pitchFamily="49" charset="-122"/>
                <a:ea typeface="黑体" pitchFamily="49" charset="-122"/>
              </a:rPr>
              <a:t>为假（</a:t>
            </a:r>
            <a:r>
              <a:rPr lang="en-US" altLang="zh-CN" sz="2600" b="1" dirty="0">
                <a:solidFill>
                  <a:schemeClr val="tx1"/>
                </a:solidFill>
                <a:latin typeface="黑体" pitchFamily="49" charset="-122"/>
                <a:ea typeface="黑体" pitchFamily="49" charset="-122"/>
              </a:rPr>
              <a:t>false=0</a:t>
            </a:r>
            <a:r>
              <a:rPr lang="zh-CN" altLang="en-US" sz="2600" b="1" dirty="0">
                <a:solidFill>
                  <a:schemeClr val="tx1"/>
                </a:solidFill>
                <a:latin typeface="黑体" pitchFamily="49" charset="-122"/>
                <a:ea typeface="黑体" pitchFamily="49" charset="-122"/>
              </a:rPr>
              <a:t>），非</a:t>
            </a:r>
            <a:r>
              <a:rPr lang="en-US" altLang="zh-CN" sz="2600" b="1" dirty="0">
                <a:solidFill>
                  <a:schemeClr val="tx1"/>
                </a:solidFill>
                <a:latin typeface="黑体" pitchFamily="49" charset="-122"/>
                <a:ea typeface="黑体" pitchFamily="49" charset="-122"/>
              </a:rPr>
              <a:t>0</a:t>
            </a:r>
            <a:r>
              <a:rPr lang="zh-CN" altLang="en-US" sz="2600" b="1" dirty="0">
                <a:solidFill>
                  <a:schemeClr val="tx1"/>
                </a:solidFill>
                <a:latin typeface="黑体" pitchFamily="49" charset="-122"/>
                <a:ea typeface="黑体" pitchFamily="49" charset="-122"/>
              </a:rPr>
              <a:t>为真（</a:t>
            </a:r>
            <a:r>
              <a:rPr lang="en-US" altLang="zh-CN" sz="2600" b="1" dirty="0">
                <a:solidFill>
                  <a:schemeClr val="tx1"/>
                </a:solidFill>
                <a:latin typeface="黑体" pitchFamily="49" charset="-122"/>
                <a:ea typeface="黑体" pitchFamily="49" charset="-122"/>
              </a:rPr>
              <a:t>true=1</a:t>
            </a:r>
            <a:r>
              <a:rPr lang="zh-CN" altLang="en-US" sz="2600" b="1" dirty="0">
                <a:solidFill>
                  <a:schemeClr val="tx1"/>
                </a:solidFill>
                <a:latin typeface="黑体" pitchFamily="49" charset="-122"/>
                <a:ea typeface="黑体" pitchFamily="49" charset="-122"/>
              </a:rPr>
              <a:t>）</a:t>
            </a:r>
            <a:endParaRPr lang="en-US" altLang="zh-CN" sz="2600" b="1" dirty="0">
              <a:solidFill>
                <a:schemeClr val="tx1"/>
              </a:solidFill>
              <a:latin typeface="黑体" pitchFamily="49" charset="-122"/>
              <a:ea typeface="黑体" pitchFamily="49" charset="-122"/>
            </a:endParaRPr>
          </a:p>
          <a:p>
            <a:pPr lvl="1">
              <a:lnSpc>
                <a:spcPct val="120000"/>
              </a:lnSpc>
            </a:pPr>
            <a:r>
              <a:rPr lang="zh-CN" altLang="en-US" sz="2600" b="1" dirty="0">
                <a:solidFill>
                  <a:schemeClr val="tx1"/>
                </a:solidFill>
                <a:latin typeface="黑体" pitchFamily="49" charset="-122"/>
                <a:ea typeface="黑体" pitchFamily="49" charset="-122"/>
              </a:rPr>
              <a:t>按不同逻辑运算符的含义进行运算</a:t>
            </a:r>
            <a:endParaRPr lang="en-US" altLang="zh-CN" sz="2600" b="1" dirty="0">
              <a:solidFill>
                <a:schemeClr val="tx1"/>
              </a:solidFill>
              <a:latin typeface="黑体" pitchFamily="49" charset="-122"/>
              <a:ea typeface="黑体" pitchFamily="49" charset="-122"/>
            </a:endParaRPr>
          </a:p>
          <a:p>
            <a:pPr>
              <a:lnSpc>
                <a:spcPct val="120000"/>
              </a:lnSpc>
            </a:pPr>
            <a:r>
              <a:rPr lang="zh-CN" altLang="en-US" b="1" dirty="0">
                <a:latin typeface="黑体" pitchFamily="49" charset="-122"/>
                <a:ea typeface="黑体" pitchFamily="49" charset="-122"/>
              </a:rPr>
              <a:t>逻辑表达式的值</a:t>
            </a:r>
            <a:endParaRPr lang="en-US" altLang="zh-CN" b="1" dirty="0">
              <a:latin typeface="黑体" pitchFamily="49" charset="-122"/>
              <a:ea typeface="黑体" pitchFamily="49" charset="-122"/>
            </a:endParaRPr>
          </a:p>
          <a:p>
            <a:pPr lvl="1">
              <a:lnSpc>
                <a:spcPct val="120000"/>
              </a:lnSpc>
            </a:pPr>
            <a:r>
              <a:rPr lang="zh-CN" altLang="en-US" sz="2600" b="1" dirty="0">
                <a:solidFill>
                  <a:schemeClr val="tx1"/>
                </a:solidFill>
                <a:latin typeface="黑体" pitchFamily="49" charset="-122"/>
                <a:ea typeface="黑体" pitchFamily="49" charset="-122"/>
              </a:rPr>
              <a:t>逻辑运算的结果，布尔类型</a:t>
            </a:r>
            <a:endParaRPr lang="en-US" altLang="zh-CN" sz="2600" b="1" dirty="0">
              <a:solidFill>
                <a:schemeClr val="tx1"/>
              </a:solidFill>
              <a:latin typeface="黑体" pitchFamily="49" charset="-122"/>
              <a:ea typeface="黑体" pitchFamily="49" charset="-122"/>
            </a:endParaRPr>
          </a:p>
          <a:p>
            <a:pPr>
              <a:lnSpc>
                <a:spcPct val="130000"/>
              </a:lnSpc>
            </a:pPr>
            <a:endParaRPr lang="en-US" altLang="zh-CN" b="1" dirty="0">
              <a:solidFill>
                <a:srgbClr val="FF0000"/>
              </a:solidFill>
              <a:latin typeface="+mj-ea"/>
              <a:ea typeface="+mj-ea"/>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108548"/>
            <a:ext cx="7239000" cy="677246"/>
          </a:xfrm>
        </p:spPr>
        <p:txBody>
          <a:bodyPr/>
          <a:lstStyle/>
          <a:p>
            <a:r>
              <a:rPr lang="zh-CN" altLang="en-US" dirty="0"/>
              <a:t>逻辑运算</a:t>
            </a:r>
          </a:p>
        </p:txBody>
      </p:sp>
      <p:sp>
        <p:nvSpPr>
          <p:cNvPr id="3" name="内容占位符 2"/>
          <p:cNvSpPr>
            <a:spLocks noGrp="1"/>
          </p:cNvSpPr>
          <p:nvPr>
            <p:ph idx="1"/>
          </p:nvPr>
        </p:nvSpPr>
        <p:spPr>
          <a:xfrm>
            <a:off x="528638" y="866772"/>
            <a:ext cx="3829048" cy="561964"/>
          </a:xfrm>
        </p:spPr>
        <p:txBody>
          <a:bodyPr/>
          <a:lstStyle/>
          <a:p>
            <a:r>
              <a:rPr lang="zh-CN" altLang="en-US" dirty="0">
                <a:latin typeface="+mj-ea"/>
                <a:ea typeface="+mj-ea"/>
              </a:rPr>
              <a:t>逻辑非真值表</a:t>
            </a:r>
            <a:endParaRPr lang="en-US" altLang="zh-CN" dirty="0">
              <a:latin typeface="+mj-ea"/>
              <a:ea typeface="+mj-ea"/>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33</a:t>
            </a:fld>
            <a:endParaRPr lang="en-US" altLang="zh-CN" dirty="0"/>
          </a:p>
        </p:txBody>
      </p:sp>
      <p:sp>
        <p:nvSpPr>
          <p:cNvPr id="6" name="内容占位符 2"/>
          <p:cNvSpPr txBox="1">
            <a:spLocks/>
          </p:cNvSpPr>
          <p:nvPr/>
        </p:nvSpPr>
        <p:spPr bwMode="auto">
          <a:xfrm>
            <a:off x="528638" y="2285992"/>
            <a:ext cx="3043230" cy="5619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itchFamily="2" charset="2"/>
              <a:buChar char="v"/>
              <a:tabLst/>
              <a:defRPr/>
            </a:pPr>
            <a:r>
              <a:rPr lang="zh-CN" altLang="en-US" sz="2800" b="1" dirty="0">
                <a:solidFill>
                  <a:srgbClr val="692AA2"/>
                </a:solidFill>
                <a:latin typeface="黑体" pitchFamily="49" charset="-122"/>
                <a:ea typeface="黑体" pitchFamily="49" charset="-122"/>
              </a:rPr>
              <a:t>逻辑与真值表</a:t>
            </a:r>
            <a:endParaRPr lang="en-US" altLang="zh-CN" sz="2800" b="1" dirty="0">
              <a:solidFill>
                <a:srgbClr val="692AA2"/>
              </a:solidFill>
              <a:latin typeface="黑体" pitchFamily="49" charset="-122"/>
              <a:ea typeface="黑体" pitchFamily="49" charset="-122"/>
            </a:endParaRPr>
          </a:p>
        </p:txBody>
      </p:sp>
      <p:sp>
        <p:nvSpPr>
          <p:cNvPr id="7" name="内容占位符 2"/>
          <p:cNvSpPr txBox="1">
            <a:spLocks/>
          </p:cNvSpPr>
          <p:nvPr/>
        </p:nvSpPr>
        <p:spPr bwMode="auto">
          <a:xfrm>
            <a:off x="528638" y="4081482"/>
            <a:ext cx="4186238" cy="5619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spcBef>
                <a:spcPct val="20000"/>
              </a:spcBef>
              <a:buClr>
                <a:schemeClr val="hlink"/>
              </a:buClr>
              <a:buFont typeface="Wingdings" pitchFamily="2" charset="2"/>
              <a:buChar char="v"/>
              <a:defRPr/>
            </a:pPr>
            <a:r>
              <a:rPr lang="zh-CN" altLang="en-US" sz="2800" b="1" dirty="0">
                <a:solidFill>
                  <a:srgbClr val="692AA2"/>
                </a:solidFill>
                <a:latin typeface="黑体" pitchFamily="49" charset="-122"/>
                <a:ea typeface="黑体" pitchFamily="49" charset="-122"/>
              </a:rPr>
              <a:t>逻辑或真值表</a:t>
            </a:r>
            <a:endParaRPr lang="en-US" altLang="zh-CN" sz="2800" b="1" dirty="0">
              <a:solidFill>
                <a:srgbClr val="692AA2"/>
              </a:solidFill>
              <a:latin typeface="黑体" pitchFamily="49" charset="-122"/>
              <a:ea typeface="黑体" pitchFamily="49" charset="-122"/>
            </a:endParaRPr>
          </a:p>
        </p:txBody>
      </p:sp>
      <p:graphicFrame>
        <p:nvGraphicFramePr>
          <p:cNvPr id="8" name="表格 7"/>
          <p:cNvGraphicFramePr>
            <a:graphicFrameLocks noGrp="1"/>
          </p:cNvGraphicFramePr>
          <p:nvPr/>
        </p:nvGraphicFramePr>
        <p:xfrm>
          <a:off x="1238247" y="1472874"/>
          <a:ext cx="3548067" cy="741680"/>
        </p:xfrm>
        <a:graphic>
          <a:graphicData uri="http://schemas.openxmlformats.org/drawingml/2006/table">
            <a:tbl>
              <a:tblPr firstRow="1" bandRow="1">
                <a:tableStyleId>{5C22544A-7EE6-4342-B048-85BDC9FD1C3A}</a:tableStyleId>
              </a:tblPr>
              <a:tblGrid>
                <a:gridCol w="1182689">
                  <a:extLst>
                    <a:ext uri="{9D8B030D-6E8A-4147-A177-3AD203B41FA5}">
                      <a16:colId xmlns:a16="http://schemas.microsoft.com/office/drawing/2014/main" val="20000"/>
                    </a:ext>
                  </a:extLst>
                </a:gridCol>
                <a:gridCol w="1182689">
                  <a:extLst>
                    <a:ext uri="{9D8B030D-6E8A-4147-A177-3AD203B41FA5}">
                      <a16:colId xmlns:a16="http://schemas.microsoft.com/office/drawing/2014/main" val="20001"/>
                    </a:ext>
                  </a:extLst>
                </a:gridCol>
                <a:gridCol w="1182689">
                  <a:extLst>
                    <a:ext uri="{9D8B030D-6E8A-4147-A177-3AD203B41FA5}">
                      <a16:colId xmlns:a16="http://schemas.microsoft.com/office/drawing/2014/main" val="20002"/>
                    </a:ext>
                  </a:extLst>
                </a:gridCol>
              </a:tblGrid>
              <a:tr h="370840">
                <a:tc>
                  <a:txBody>
                    <a:bodyPr/>
                    <a:lstStyle/>
                    <a:p>
                      <a:r>
                        <a:rPr lang="zh-CN" altLang="en-US" dirty="0"/>
                        <a:t>分量</a:t>
                      </a:r>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10000"/>
                  </a:ext>
                </a:extLst>
              </a:tr>
              <a:tr h="370840">
                <a:tc>
                  <a:txBody>
                    <a:bodyPr/>
                    <a:lstStyle/>
                    <a:p>
                      <a:r>
                        <a:rPr lang="zh-CN" altLang="en-US" dirty="0">
                          <a:solidFill>
                            <a:srgbClr val="C00000"/>
                          </a:solidFill>
                        </a:rPr>
                        <a:t>结果</a:t>
                      </a:r>
                    </a:p>
                  </a:txBody>
                  <a:tcPr>
                    <a:solidFill>
                      <a:srgbClr val="FFCCCC"/>
                    </a:solidFill>
                  </a:tcPr>
                </a:tc>
                <a:tc>
                  <a:txBody>
                    <a:bodyPr/>
                    <a:lstStyle/>
                    <a:p>
                      <a:r>
                        <a:rPr lang="en-US" altLang="zh-CN" dirty="0">
                          <a:solidFill>
                            <a:srgbClr val="C00000"/>
                          </a:solidFill>
                        </a:rPr>
                        <a:t>1</a:t>
                      </a:r>
                      <a:endParaRPr lang="zh-CN" altLang="en-US" dirty="0">
                        <a:solidFill>
                          <a:srgbClr val="C00000"/>
                        </a:solidFill>
                      </a:endParaRPr>
                    </a:p>
                  </a:txBody>
                  <a:tcPr>
                    <a:solidFill>
                      <a:srgbClr val="FFCCCC"/>
                    </a:solidFill>
                  </a:tcPr>
                </a:tc>
                <a:tc>
                  <a:txBody>
                    <a:bodyPr/>
                    <a:lstStyle/>
                    <a:p>
                      <a:r>
                        <a:rPr lang="en-US" altLang="zh-CN" dirty="0">
                          <a:solidFill>
                            <a:srgbClr val="C00000"/>
                          </a:solidFill>
                        </a:rPr>
                        <a:t>0</a:t>
                      </a:r>
                      <a:endParaRPr lang="zh-CN" altLang="en-US" dirty="0">
                        <a:solidFill>
                          <a:srgbClr val="C00000"/>
                        </a:solidFill>
                      </a:endParaRPr>
                    </a:p>
                  </a:txBody>
                  <a:tcPr>
                    <a:solidFill>
                      <a:srgbClr val="FFCCCC"/>
                    </a:solidFill>
                  </a:tcPr>
                </a:tc>
                <a:extLst>
                  <a:ext uri="{0D108BD9-81ED-4DB2-BD59-A6C34878D82A}">
                    <a16:rowId xmlns:a16="http://schemas.microsoft.com/office/drawing/2014/main" val="10001"/>
                  </a:ext>
                </a:extLst>
              </a:tr>
            </a:tbl>
          </a:graphicData>
        </a:graphic>
      </p:graphicFrame>
      <p:graphicFrame>
        <p:nvGraphicFramePr>
          <p:cNvPr id="9" name="表格 8"/>
          <p:cNvGraphicFramePr>
            <a:graphicFrameLocks noGrp="1"/>
          </p:cNvGraphicFramePr>
          <p:nvPr/>
        </p:nvGraphicFramePr>
        <p:xfrm>
          <a:off x="1238249" y="2959422"/>
          <a:ext cx="4619635" cy="1112520"/>
        </p:xfrm>
        <a:graphic>
          <a:graphicData uri="http://schemas.openxmlformats.org/drawingml/2006/table">
            <a:tbl>
              <a:tblPr firstRow="1" bandRow="1">
                <a:tableStyleId>{5C22544A-7EE6-4342-B048-85BDC9FD1C3A}</a:tableStyleId>
              </a:tblPr>
              <a:tblGrid>
                <a:gridCol w="923927">
                  <a:extLst>
                    <a:ext uri="{9D8B030D-6E8A-4147-A177-3AD203B41FA5}">
                      <a16:colId xmlns:a16="http://schemas.microsoft.com/office/drawing/2014/main" val="20000"/>
                    </a:ext>
                  </a:extLst>
                </a:gridCol>
                <a:gridCol w="923927">
                  <a:extLst>
                    <a:ext uri="{9D8B030D-6E8A-4147-A177-3AD203B41FA5}">
                      <a16:colId xmlns:a16="http://schemas.microsoft.com/office/drawing/2014/main" val="20001"/>
                    </a:ext>
                  </a:extLst>
                </a:gridCol>
                <a:gridCol w="923927">
                  <a:extLst>
                    <a:ext uri="{9D8B030D-6E8A-4147-A177-3AD203B41FA5}">
                      <a16:colId xmlns:a16="http://schemas.microsoft.com/office/drawing/2014/main" val="20002"/>
                    </a:ext>
                  </a:extLst>
                </a:gridCol>
                <a:gridCol w="923927">
                  <a:extLst>
                    <a:ext uri="{9D8B030D-6E8A-4147-A177-3AD203B41FA5}">
                      <a16:colId xmlns:a16="http://schemas.microsoft.com/office/drawing/2014/main" val="20003"/>
                    </a:ext>
                  </a:extLst>
                </a:gridCol>
                <a:gridCol w="923927">
                  <a:extLst>
                    <a:ext uri="{9D8B030D-6E8A-4147-A177-3AD203B41FA5}">
                      <a16:colId xmlns:a16="http://schemas.microsoft.com/office/drawing/2014/main" val="20004"/>
                    </a:ext>
                  </a:extLst>
                </a:gridCol>
              </a:tblGrid>
              <a:tr h="370840">
                <a:tc>
                  <a:txBody>
                    <a:bodyPr/>
                    <a:lstStyle/>
                    <a:p>
                      <a:r>
                        <a:rPr lang="zh-CN" altLang="en-US" dirty="0"/>
                        <a:t>分量</a:t>
                      </a:r>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10000"/>
                  </a:ext>
                </a:extLst>
              </a:tr>
              <a:tr h="370840">
                <a:tc>
                  <a:txBody>
                    <a:bodyPr/>
                    <a:lstStyle/>
                    <a:p>
                      <a:r>
                        <a:rPr lang="zh-CN" altLang="en-US" dirty="0"/>
                        <a:t>分量</a:t>
                      </a:r>
                      <a:r>
                        <a:rPr lang="en-US" altLang="zh-CN" dirty="0"/>
                        <a:t>2</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lang="zh-CN" altLang="en-US" sz="1800" kern="1200" dirty="0">
                          <a:solidFill>
                            <a:srgbClr val="C00000"/>
                          </a:solidFill>
                          <a:latin typeface="+mn-lt"/>
                          <a:ea typeface="+mn-ea"/>
                          <a:cs typeface="+mn-cs"/>
                        </a:rPr>
                        <a:t>结果</a:t>
                      </a: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extLst>
                  <a:ext uri="{0D108BD9-81ED-4DB2-BD59-A6C34878D82A}">
                    <a16:rowId xmlns:a16="http://schemas.microsoft.com/office/drawing/2014/main" val="10002"/>
                  </a:ext>
                </a:extLst>
              </a:tr>
            </a:tbl>
          </a:graphicData>
        </a:graphic>
      </p:graphicFrame>
      <p:graphicFrame>
        <p:nvGraphicFramePr>
          <p:cNvPr id="10" name="表格 9"/>
          <p:cNvGraphicFramePr>
            <a:graphicFrameLocks noGrp="1"/>
          </p:cNvGraphicFramePr>
          <p:nvPr/>
        </p:nvGraphicFramePr>
        <p:xfrm>
          <a:off x="1238249" y="4888248"/>
          <a:ext cx="4619635" cy="1112520"/>
        </p:xfrm>
        <a:graphic>
          <a:graphicData uri="http://schemas.openxmlformats.org/drawingml/2006/table">
            <a:tbl>
              <a:tblPr firstRow="1" bandRow="1">
                <a:tableStyleId>{5C22544A-7EE6-4342-B048-85BDC9FD1C3A}</a:tableStyleId>
              </a:tblPr>
              <a:tblGrid>
                <a:gridCol w="923927">
                  <a:extLst>
                    <a:ext uri="{9D8B030D-6E8A-4147-A177-3AD203B41FA5}">
                      <a16:colId xmlns:a16="http://schemas.microsoft.com/office/drawing/2014/main" val="20000"/>
                    </a:ext>
                  </a:extLst>
                </a:gridCol>
                <a:gridCol w="923927">
                  <a:extLst>
                    <a:ext uri="{9D8B030D-6E8A-4147-A177-3AD203B41FA5}">
                      <a16:colId xmlns:a16="http://schemas.microsoft.com/office/drawing/2014/main" val="20001"/>
                    </a:ext>
                  </a:extLst>
                </a:gridCol>
                <a:gridCol w="923927">
                  <a:extLst>
                    <a:ext uri="{9D8B030D-6E8A-4147-A177-3AD203B41FA5}">
                      <a16:colId xmlns:a16="http://schemas.microsoft.com/office/drawing/2014/main" val="20002"/>
                    </a:ext>
                  </a:extLst>
                </a:gridCol>
                <a:gridCol w="923927">
                  <a:extLst>
                    <a:ext uri="{9D8B030D-6E8A-4147-A177-3AD203B41FA5}">
                      <a16:colId xmlns:a16="http://schemas.microsoft.com/office/drawing/2014/main" val="20003"/>
                    </a:ext>
                  </a:extLst>
                </a:gridCol>
                <a:gridCol w="923927">
                  <a:extLst>
                    <a:ext uri="{9D8B030D-6E8A-4147-A177-3AD203B41FA5}">
                      <a16:colId xmlns:a16="http://schemas.microsoft.com/office/drawing/2014/main" val="20004"/>
                    </a:ext>
                  </a:extLst>
                </a:gridCol>
              </a:tblGrid>
              <a:tr h="370840">
                <a:tc>
                  <a:txBody>
                    <a:bodyPr/>
                    <a:lstStyle/>
                    <a:p>
                      <a:r>
                        <a:rPr lang="zh-CN" altLang="en-US" dirty="0"/>
                        <a:t>分量</a:t>
                      </a:r>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10000"/>
                  </a:ext>
                </a:extLst>
              </a:tr>
              <a:tr h="370840">
                <a:tc>
                  <a:txBody>
                    <a:bodyPr/>
                    <a:lstStyle/>
                    <a:p>
                      <a:r>
                        <a:rPr lang="zh-CN" altLang="en-US" dirty="0"/>
                        <a:t>分量</a:t>
                      </a:r>
                      <a:r>
                        <a:rPr lang="en-US" altLang="zh-CN" dirty="0"/>
                        <a:t>2</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lang="zh-CN" altLang="en-US" sz="1800" kern="1200" dirty="0">
                          <a:solidFill>
                            <a:srgbClr val="C00000"/>
                          </a:solidFill>
                          <a:latin typeface="+mn-lt"/>
                          <a:ea typeface="+mn-ea"/>
                          <a:cs typeface="+mn-cs"/>
                        </a:rPr>
                        <a:t>结果</a:t>
                      </a: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0</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tc>
                  <a:txBody>
                    <a:bodyPr/>
                    <a:lstStyle/>
                    <a:p>
                      <a:pPr marL="0" algn="l" defTabSz="914400" rtl="0" eaLnBrk="1" latinLnBrk="0" hangingPunct="1"/>
                      <a:r>
                        <a:rPr lang="en-US" altLang="zh-CN" sz="1800" kern="1200" dirty="0">
                          <a:solidFill>
                            <a:srgbClr val="C00000"/>
                          </a:solidFill>
                          <a:latin typeface="+mn-lt"/>
                          <a:ea typeface="+mn-ea"/>
                          <a:cs typeface="+mn-cs"/>
                        </a:rPr>
                        <a:t>1</a:t>
                      </a:r>
                      <a:endParaRPr lang="zh-CN" altLang="en-US" sz="1800" kern="1200" dirty="0">
                        <a:solidFill>
                          <a:srgbClr val="C00000"/>
                        </a:solidFill>
                        <a:latin typeface="+mn-lt"/>
                        <a:ea typeface="+mn-ea"/>
                        <a:cs typeface="+mn-cs"/>
                      </a:endParaRPr>
                    </a:p>
                  </a:txBody>
                  <a:tcPr>
                    <a:solidFill>
                      <a:srgbClr val="FFCCCC"/>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位运算</a:t>
            </a:r>
          </a:p>
        </p:txBody>
      </p:sp>
      <p:sp>
        <p:nvSpPr>
          <p:cNvPr id="3" name="内容占位符 2"/>
          <p:cNvSpPr>
            <a:spLocks noGrp="1"/>
          </p:cNvSpPr>
          <p:nvPr>
            <p:ph idx="1"/>
          </p:nvPr>
        </p:nvSpPr>
        <p:spPr>
          <a:xfrm>
            <a:off x="323528" y="1609416"/>
            <a:ext cx="8712968" cy="4846320"/>
          </a:xfrm>
        </p:spPr>
        <p:txBody>
          <a:bodyPr>
            <a:normAutofit/>
          </a:bodyPr>
          <a:lstStyle/>
          <a:p>
            <a:pPr>
              <a:lnSpc>
                <a:spcPct val="150000"/>
              </a:lnSpc>
            </a:pPr>
            <a:r>
              <a:rPr lang="zh-CN" altLang="en-US" sz="3200" b="1" dirty="0">
                <a:latin typeface="+mj-ea"/>
                <a:ea typeface="+mj-ea"/>
              </a:rPr>
              <a:t>位运算是一种对运算分量按二进制位进行操作的运算，而且是</a:t>
            </a:r>
            <a:r>
              <a:rPr lang="zh-CN" altLang="en-US" sz="3200" b="1" dirty="0">
                <a:solidFill>
                  <a:srgbClr val="C00000"/>
                </a:solidFill>
                <a:latin typeface="+mj-ea"/>
                <a:ea typeface="+mj-ea"/>
              </a:rPr>
              <a:t>作用于运算分量的每一个二进制位上</a:t>
            </a:r>
            <a:r>
              <a:rPr lang="zh-CN" altLang="en-US" sz="3200" b="1" dirty="0">
                <a:latin typeface="+mj-ea"/>
                <a:ea typeface="+mj-ea"/>
              </a:rPr>
              <a:t>(并不是只对其中的某一个位进行运算)。位运算的</a:t>
            </a:r>
            <a:r>
              <a:rPr lang="zh-CN" altLang="en-US" sz="3200" b="1" dirty="0">
                <a:solidFill>
                  <a:srgbClr val="C00000"/>
                </a:solidFill>
                <a:latin typeface="+mj-ea"/>
                <a:ea typeface="+mj-ea"/>
              </a:rPr>
              <a:t>运算对象只能是整型数据</a:t>
            </a:r>
            <a:r>
              <a:rPr lang="zh-CN" altLang="en-US" sz="3200" b="1" dirty="0">
                <a:latin typeface="+mj-ea"/>
                <a:ea typeface="+mj-ea"/>
              </a:rPr>
              <a:t>(包括字符型), 且运算结果仍为整型数据</a:t>
            </a:r>
            <a:endParaRPr lang="en-US" altLang="zh-CN" sz="3200" b="1" dirty="0">
              <a:latin typeface="+mj-ea"/>
              <a:ea typeface="+mj-ea"/>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34</a:t>
            </a:fld>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332656"/>
            <a:ext cx="7239000" cy="5688632"/>
          </a:xfrm>
        </p:spPr>
        <p:txBody>
          <a:bodyPr>
            <a:normAutofit fontScale="92500" lnSpcReduction="10000"/>
          </a:bodyPr>
          <a:lstStyle/>
          <a:p>
            <a:pPr>
              <a:lnSpc>
                <a:spcPct val="150000"/>
              </a:lnSpc>
            </a:pPr>
            <a:r>
              <a:rPr lang="zh-CN" altLang="en-US" sz="3200" b="1" dirty="0">
                <a:latin typeface="+mj-ea"/>
                <a:ea typeface="+mj-ea"/>
              </a:rPr>
              <a:t>位运算符</a:t>
            </a:r>
            <a:endParaRPr lang="en-US" altLang="zh-CN" sz="3200" b="1" dirty="0">
              <a:latin typeface="+mj-ea"/>
              <a:ea typeface="+mj-ea"/>
            </a:endParaRPr>
          </a:p>
          <a:p>
            <a:pPr lvl="1">
              <a:lnSpc>
                <a:spcPct val="150000"/>
              </a:lnSpc>
            </a:pPr>
            <a:r>
              <a:rPr lang="zh-CN" altLang="en-US" sz="2800" b="1" dirty="0">
                <a:latin typeface="+mj-ea"/>
                <a:ea typeface="+mj-ea"/>
              </a:rPr>
              <a:t>单目按位取反</a:t>
            </a:r>
            <a:endParaRPr lang="en-US" altLang="zh-CN" sz="2800" b="1" dirty="0">
              <a:latin typeface="+mj-ea"/>
              <a:ea typeface="+mj-ea"/>
            </a:endParaRPr>
          </a:p>
          <a:p>
            <a:pPr lvl="2">
              <a:lnSpc>
                <a:spcPct val="150000"/>
              </a:lnSpc>
            </a:pPr>
            <a:r>
              <a:rPr lang="en-US" altLang="zh-CN" sz="2800" b="1" dirty="0">
                <a:solidFill>
                  <a:srgbClr val="FF0000"/>
                </a:solidFill>
                <a:latin typeface="+mj-ea"/>
                <a:ea typeface="+mj-ea"/>
              </a:rPr>
              <a:t>~</a:t>
            </a:r>
          </a:p>
          <a:p>
            <a:pPr lvl="1">
              <a:lnSpc>
                <a:spcPct val="150000"/>
              </a:lnSpc>
            </a:pPr>
            <a:r>
              <a:rPr lang="zh-CN" altLang="en-US" sz="2800" b="1" dirty="0">
                <a:latin typeface="+mj-ea"/>
                <a:ea typeface="+mj-ea"/>
              </a:rPr>
              <a:t>双目运算符</a:t>
            </a:r>
            <a:endParaRPr lang="en-US" altLang="zh-CN" sz="2800" b="1" dirty="0">
              <a:latin typeface="+mj-ea"/>
              <a:ea typeface="+mj-ea"/>
            </a:endParaRPr>
          </a:p>
          <a:p>
            <a:pPr lvl="2">
              <a:lnSpc>
                <a:spcPct val="150000"/>
              </a:lnSpc>
            </a:pPr>
            <a:r>
              <a:rPr lang="zh-CN" altLang="en-US" sz="2800" b="1" dirty="0">
                <a:latin typeface="+mj-ea"/>
                <a:ea typeface="+mj-ea"/>
              </a:rPr>
              <a:t>按位与</a:t>
            </a:r>
            <a:r>
              <a:rPr lang="en-US" altLang="zh-CN" sz="2800" b="1" dirty="0">
                <a:solidFill>
                  <a:srgbClr val="FF0000"/>
                </a:solidFill>
                <a:latin typeface="+mj-ea"/>
                <a:ea typeface="+mj-ea"/>
              </a:rPr>
              <a:t>&amp;</a:t>
            </a:r>
          </a:p>
          <a:p>
            <a:pPr lvl="2">
              <a:lnSpc>
                <a:spcPct val="150000"/>
              </a:lnSpc>
            </a:pPr>
            <a:r>
              <a:rPr lang="zh-CN" altLang="en-US" sz="2800" b="1" dirty="0">
                <a:latin typeface="+mj-ea"/>
                <a:ea typeface="+mj-ea"/>
              </a:rPr>
              <a:t>按位或</a:t>
            </a:r>
            <a:r>
              <a:rPr lang="en-US" altLang="zh-CN" sz="2800" b="1" dirty="0">
                <a:solidFill>
                  <a:srgbClr val="FF0000"/>
                </a:solidFill>
                <a:latin typeface="+mj-ea"/>
                <a:ea typeface="+mj-ea"/>
              </a:rPr>
              <a:t>|</a:t>
            </a:r>
          </a:p>
          <a:p>
            <a:pPr lvl="2">
              <a:lnSpc>
                <a:spcPct val="150000"/>
              </a:lnSpc>
            </a:pPr>
            <a:r>
              <a:rPr lang="zh-CN" altLang="en-US" sz="2800" b="1" dirty="0">
                <a:latin typeface="+mj-ea"/>
                <a:ea typeface="+mj-ea"/>
              </a:rPr>
              <a:t>按位异或</a:t>
            </a:r>
            <a:r>
              <a:rPr lang="en-US" altLang="zh-CN" sz="2800" b="1" dirty="0">
                <a:solidFill>
                  <a:srgbClr val="FF0000"/>
                </a:solidFill>
                <a:latin typeface="+mj-ea"/>
                <a:ea typeface="+mj-ea"/>
              </a:rPr>
              <a:t>^</a:t>
            </a:r>
          </a:p>
          <a:p>
            <a:pPr lvl="2">
              <a:lnSpc>
                <a:spcPct val="150000"/>
              </a:lnSpc>
            </a:pPr>
            <a:r>
              <a:rPr lang="zh-CN" altLang="en-US" sz="2800" b="1" dirty="0">
                <a:latin typeface="+mj-ea"/>
                <a:ea typeface="+mj-ea"/>
              </a:rPr>
              <a:t>按位左移</a:t>
            </a:r>
            <a:r>
              <a:rPr lang="en-US" altLang="zh-CN" sz="2800" b="1" dirty="0">
                <a:solidFill>
                  <a:srgbClr val="FF0000"/>
                </a:solidFill>
                <a:latin typeface="+mj-ea"/>
                <a:ea typeface="+mj-ea"/>
              </a:rPr>
              <a:t>&lt;&lt;</a:t>
            </a:r>
          </a:p>
          <a:p>
            <a:pPr lvl="2">
              <a:lnSpc>
                <a:spcPct val="150000"/>
              </a:lnSpc>
            </a:pPr>
            <a:r>
              <a:rPr lang="zh-CN" altLang="en-US" sz="2800" b="1" dirty="0">
                <a:latin typeface="+mj-ea"/>
                <a:ea typeface="+mj-ea"/>
              </a:rPr>
              <a:t>按位右移</a:t>
            </a:r>
            <a:r>
              <a:rPr lang="en-US" altLang="zh-CN" sz="2800" b="1" dirty="0">
                <a:solidFill>
                  <a:srgbClr val="FF0000"/>
                </a:solidFill>
                <a:latin typeface="+mj-ea"/>
                <a:ea typeface="+mj-ea"/>
              </a:rPr>
              <a:t>&gt;&gt;</a:t>
            </a:r>
            <a:endParaRPr lang="zh-CN" altLang="en-US" sz="2800" b="1" dirty="0">
              <a:solidFill>
                <a:srgbClr val="FF0000"/>
              </a:solidFill>
              <a:latin typeface="+mj-ea"/>
              <a:ea typeface="+mj-ea"/>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35</a:t>
            </a:fld>
            <a:endParaRPr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44624"/>
            <a:ext cx="8136904" cy="4846320"/>
          </a:xfrm>
        </p:spPr>
        <p:txBody>
          <a:bodyPr>
            <a:noAutofit/>
          </a:bodyPr>
          <a:lstStyle/>
          <a:p>
            <a:pPr>
              <a:lnSpc>
                <a:spcPct val="150000"/>
              </a:lnSpc>
            </a:pPr>
            <a:r>
              <a:rPr lang="zh-CN" altLang="en-US" sz="3200" b="1" dirty="0">
                <a:latin typeface="+mj-ea"/>
                <a:ea typeface="+mj-ea"/>
              </a:rPr>
              <a:t>运算步骤</a:t>
            </a:r>
            <a:endParaRPr lang="en-US" altLang="zh-CN" sz="3200" b="1" dirty="0">
              <a:latin typeface="+mj-ea"/>
              <a:ea typeface="+mj-ea"/>
            </a:endParaRPr>
          </a:p>
          <a:p>
            <a:pPr lvl="1">
              <a:lnSpc>
                <a:spcPct val="150000"/>
              </a:lnSpc>
            </a:pPr>
            <a:r>
              <a:rPr lang="zh-CN" altLang="en-US" sz="2800" b="1" dirty="0">
                <a:solidFill>
                  <a:srgbClr val="002060"/>
                </a:solidFill>
                <a:latin typeface="+mj-ea"/>
                <a:ea typeface="+mj-ea"/>
              </a:rPr>
              <a:t>将运算分量用相应位数的二进制表示</a:t>
            </a:r>
            <a:endParaRPr lang="en-US" altLang="zh-CN" sz="2800" b="1" dirty="0">
              <a:solidFill>
                <a:srgbClr val="002060"/>
              </a:solidFill>
              <a:latin typeface="+mj-ea"/>
              <a:ea typeface="+mj-ea"/>
            </a:endParaRPr>
          </a:p>
          <a:p>
            <a:pPr lvl="1">
              <a:lnSpc>
                <a:spcPct val="150000"/>
              </a:lnSpc>
            </a:pPr>
            <a:r>
              <a:rPr lang="zh-CN" altLang="en-US" sz="2800" b="1" dirty="0">
                <a:solidFill>
                  <a:srgbClr val="002060"/>
                </a:solidFill>
                <a:latin typeface="+mj-ea"/>
                <a:ea typeface="+mj-ea"/>
              </a:rPr>
              <a:t>将运算分量的二进制形式按位进行相应的运算</a:t>
            </a:r>
            <a:endParaRPr lang="en-US" altLang="zh-CN" sz="2800" b="1" dirty="0">
              <a:solidFill>
                <a:srgbClr val="002060"/>
              </a:solidFill>
              <a:latin typeface="+mj-ea"/>
              <a:ea typeface="+mj-ea"/>
            </a:endParaRPr>
          </a:p>
          <a:p>
            <a:pPr lvl="1">
              <a:lnSpc>
                <a:spcPct val="150000"/>
              </a:lnSpc>
            </a:pPr>
            <a:r>
              <a:rPr lang="zh-CN" altLang="en-US" sz="2800" b="1" dirty="0">
                <a:solidFill>
                  <a:srgbClr val="002060"/>
                </a:solidFill>
                <a:latin typeface="+mj-ea"/>
                <a:ea typeface="+mj-ea"/>
              </a:rPr>
              <a:t>运算结果需根据实际情况补</a:t>
            </a:r>
            <a:r>
              <a:rPr lang="en-US" altLang="zh-CN" sz="2800" b="1" dirty="0">
                <a:solidFill>
                  <a:srgbClr val="C00000"/>
                </a:solidFill>
                <a:latin typeface="+mj-ea"/>
                <a:ea typeface="+mj-ea"/>
              </a:rPr>
              <a:t>0</a:t>
            </a:r>
          </a:p>
          <a:p>
            <a:pPr>
              <a:lnSpc>
                <a:spcPct val="150000"/>
              </a:lnSpc>
            </a:pPr>
            <a:r>
              <a:rPr lang="zh-CN" altLang="en-US" sz="3200" b="1" dirty="0">
                <a:latin typeface="+mj-ea"/>
                <a:ea typeface="+mj-ea"/>
              </a:rPr>
              <a:t>位运算表达式的值</a:t>
            </a:r>
            <a:endParaRPr lang="en-US" altLang="zh-CN" sz="3200" b="1" dirty="0">
              <a:latin typeface="+mj-ea"/>
              <a:ea typeface="+mj-ea"/>
            </a:endParaRPr>
          </a:p>
          <a:p>
            <a:pPr lvl="1">
              <a:lnSpc>
                <a:spcPct val="150000"/>
              </a:lnSpc>
            </a:pPr>
            <a:r>
              <a:rPr lang="zh-CN" altLang="en-US" sz="2800" b="1" dirty="0">
                <a:solidFill>
                  <a:srgbClr val="002060"/>
                </a:solidFill>
                <a:latin typeface="+mj-ea"/>
                <a:ea typeface="+mj-ea"/>
              </a:rPr>
              <a:t>根据运算符的含义进行位运算得到的结果</a:t>
            </a:r>
            <a:endParaRPr lang="en-US" altLang="zh-CN" sz="2800" b="1" dirty="0">
              <a:solidFill>
                <a:srgbClr val="002060"/>
              </a:solidFill>
              <a:latin typeface="+mj-ea"/>
              <a:ea typeface="+mj-ea"/>
            </a:endParaRPr>
          </a:p>
          <a:p>
            <a:pPr lvl="2">
              <a:lnSpc>
                <a:spcPct val="150000"/>
              </a:lnSpc>
            </a:pPr>
            <a:r>
              <a:rPr lang="zh-CN" altLang="en-US" sz="2800" b="1" dirty="0">
                <a:latin typeface="+mj-ea"/>
                <a:ea typeface="+mj-ea"/>
              </a:rPr>
              <a:t>二进制形式</a:t>
            </a:r>
            <a:endParaRPr lang="en-US" altLang="zh-CN" sz="2800" b="1" dirty="0">
              <a:latin typeface="+mj-ea"/>
              <a:ea typeface="+mj-ea"/>
            </a:endParaRPr>
          </a:p>
          <a:p>
            <a:pPr lvl="1">
              <a:lnSpc>
                <a:spcPct val="150000"/>
              </a:lnSpc>
            </a:pPr>
            <a:r>
              <a:rPr lang="zh-CN" altLang="en-US" sz="2800" b="1" dirty="0">
                <a:solidFill>
                  <a:srgbClr val="002060"/>
                </a:solidFill>
                <a:latin typeface="+mj-ea"/>
                <a:ea typeface="+mj-ea"/>
              </a:rPr>
              <a:t>运算结果仍然以十进制的形式输出</a:t>
            </a: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36</a:t>
            </a:fld>
            <a:endParaRPr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27384"/>
            <a:ext cx="7920880" cy="6408712"/>
          </a:xfrm>
        </p:spPr>
        <p:txBody>
          <a:bodyPr>
            <a:normAutofit fontScale="92500" lnSpcReduction="20000"/>
          </a:bodyPr>
          <a:lstStyle/>
          <a:p>
            <a:pPr>
              <a:lnSpc>
                <a:spcPct val="150000"/>
              </a:lnSpc>
            </a:pPr>
            <a:r>
              <a:rPr lang="zh-CN" altLang="en-US" sz="3200" b="1" dirty="0">
                <a:latin typeface="+mj-ea"/>
                <a:ea typeface="+mj-ea"/>
              </a:rPr>
              <a:t>条件运算符</a:t>
            </a:r>
            <a:endParaRPr lang="en-US" altLang="zh-CN" sz="3200" b="1" dirty="0">
              <a:latin typeface="+mj-ea"/>
              <a:ea typeface="+mj-ea"/>
            </a:endParaRPr>
          </a:p>
          <a:p>
            <a:pPr lvl="1">
              <a:lnSpc>
                <a:spcPct val="150000"/>
              </a:lnSpc>
            </a:pPr>
            <a:r>
              <a:rPr lang="en-US" altLang="zh-CN" sz="2800" b="1" dirty="0">
                <a:solidFill>
                  <a:srgbClr val="FF0000"/>
                </a:solidFill>
                <a:latin typeface="+mj-ea"/>
                <a:ea typeface="+mj-ea"/>
              </a:rPr>
              <a:t>? :</a:t>
            </a:r>
          </a:p>
          <a:p>
            <a:pPr lvl="1">
              <a:lnSpc>
                <a:spcPct val="150000"/>
              </a:lnSpc>
            </a:pPr>
            <a:r>
              <a:rPr lang="zh-CN" altLang="en-US" sz="2800" b="1" dirty="0">
                <a:solidFill>
                  <a:srgbClr val="002060"/>
                </a:solidFill>
                <a:latin typeface="+mj-ea"/>
                <a:ea typeface="+mj-ea"/>
              </a:rPr>
              <a:t>三目运算符</a:t>
            </a:r>
            <a:endParaRPr lang="en-US" altLang="zh-CN" sz="2800" b="1" dirty="0">
              <a:solidFill>
                <a:srgbClr val="002060"/>
              </a:solidFill>
              <a:latin typeface="+mj-ea"/>
              <a:ea typeface="+mj-ea"/>
            </a:endParaRPr>
          </a:p>
          <a:p>
            <a:pPr>
              <a:lnSpc>
                <a:spcPct val="150000"/>
              </a:lnSpc>
            </a:pPr>
            <a:r>
              <a:rPr lang="zh-CN" altLang="en-US" sz="3200" b="1" dirty="0">
                <a:latin typeface="+mj-ea"/>
                <a:ea typeface="+mj-ea"/>
              </a:rPr>
              <a:t>条件表达式</a:t>
            </a:r>
            <a:endParaRPr lang="en-US" altLang="zh-CN" sz="3200" b="1" dirty="0">
              <a:latin typeface="+mj-ea"/>
              <a:ea typeface="+mj-ea"/>
            </a:endParaRPr>
          </a:p>
          <a:p>
            <a:pPr lvl="1">
              <a:lnSpc>
                <a:spcPct val="150000"/>
              </a:lnSpc>
            </a:pPr>
            <a:r>
              <a:rPr lang="en-US" altLang="zh-CN" sz="2800" b="1" dirty="0">
                <a:solidFill>
                  <a:srgbClr val="FF0000"/>
                </a:solidFill>
                <a:latin typeface="+mj-ea"/>
                <a:ea typeface="+mj-ea"/>
              </a:rPr>
              <a:t>&lt;</a:t>
            </a:r>
            <a:r>
              <a:rPr lang="zh-CN" altLang="en-US" sz="2800" b="1" dirty="0">
                <a:solidFill>
                  <a:srgbClr val="FF0000"/>
                </a:solidFill>
                <a:latin typeface="+mj-ea"/>
                <a:ea typeface="+mj-ea"/>
              </a:rPr>
              <a:t>表达式</a:t>
            </a:r>
            <a:r>
              <a:rPr lang="en-US" altLang="zh-CN" sz="2800" b="1" dirty="0">
                <a:solidFill>
                  <a:srgbClr val="FF0000"/>
                </a:solidFill>
                <a:latin typeface="+mj-ea"/>
                <a:ea typeface="+mj-ea"/>
              </a:rPr>
              <a:t>1&gt; ? &lt;</a:t>
            </a:r>
            <a:r>
              <a:rPr lang="zh-CN" altLang="en-US" sz="2800" b="1" dirty="0">
                <a:solidFill>
                  <a:srgbClr val="FF0000"/>
                </a:solidFill>
                <a:latin typeface="+mj-ea"/>
                <a:ea typeface="+mj-ea"/>
              </a:rPr>
              <a:t>表达式</a:t>
            </a:r>
            <a:r>
              <a:rPr lang="en-US" altLang="zh-CN" sz="2800" b="1" dirty="0">
                <a:solidFill>
                  <a:srgbClr val="FF0000"/>
                </a:solidFill>
                <a:latin typeface="+mj-ea"/>
                <a:ea typeface="+mj-ea"/>
              </a:rPr>
              <a:t>2&gt; : &lt;</a:t>
            </a:r>
            <a:r>
              <a:rPr lang="zh-CN" altLang="en-US" sz="2800" b="1" dirty="0">
                <a:solidFill>
                  <a:srgbClr val="FF0000"/>
                </a:solidFill>
                <a:latin typeface="+mj-ea"/>
                <a:ea typeface="+mj-ea"/>
              </a:rPr>
              <a:t>表达式</a:t>
            </a:r>
            <a:r>
              <a:rPr lang="en-US" altLang="zh-CN" sz="2800" b="1" dirty="0">
                <a:solidFill>
                  <a:srgbClr val="FF0000"/>
                </a:solidFill>
                <a:latin typeface="+mj-ea"/>
                <a:ea typeface="+mj-ea"/>
              </a:rPr>
              <a:t>3&gt;</a:t>
            </a:r>
          </a:p>
          <a:p>
            <a:pPr lvl="2">
              <a:lnSpc>
                <a:spcPct val="150000"/>
              </a:lnSpc>
            </a:pPr>
            <a:r>
              <a:rPr lang="zh-CN" altLang="en-US" sz="2800" b="1" dirty="0">
                <a:latin typeface="+mj-ea"/>
                <a:ea typeface="+mj-ea"/>
              </a:rPr>
              <a:t>表达式</a:t>
            </a:r>
            <a:r>
              <a:rPr lang="en-US" altLang="zh-CN" sz="2800" b="1" dirty="0">
                <a:latin typeface="+mj-ea"/>
                <a:ea typeface="+mj-ea"/>
              </a:rPr>
              <a:t>1</a:t>
            </a:r>
            <a:r>
              <a:rPr lang="zh-CN" altLang="en-US" sz="2800" b="1" dirty="0">
                <a:latin typeface="+mj-ea"/>
                <a:ea typeface="+mj-ea"/>
              </a:rPr>
              <a:t>：具有逻辑值的表达式</a:t>
            </a:r>
            <a:endParaRPr lang="en-US" altLang="zh-CN" sz="2800" b="1" dirty="0">
              <a:latin typeface="+mj-ea"/>
              <a:ea typeface="+mj-ea"/>
            </a:endParaRPr>
          </a:p>
          <a:p>
            <a:pPr lvl="2">
              <a:lnSpc>
                <a:spcPct val="150000"/>
              </a:lnSpc>
            </a:pPr>
            <a:r>
              <a:rPr lang="zh-CN" altLang="en-US" sz="2900" b="1" dirty="0">
                <a:latin typeface="+mj-ea"/>
                <a:ea typeface="+mj-ea"/>
              </a:rPr>
              <a:t>表达式</a:t>
            </a:r>
            <a:r>
              <a:rPr lang="en-US" altLang="zh-CN" sz="2900" b="1" dirty="0">
                <a:latin typeface="+mj-ea"/>
                <a:ea typeface="+mj-ea"/>
              </a:rPr>
              <a:t>2</a:t>
            </a:r>
            <a:r>
              <a:rPr lang="zh-CN" altLang="en-US" sz="2900" b="1" dirty="0">
                <a:latin typeface="+mj-ea"/>
                <a:ea typeface="+mj-ea"/>
              </a:rPr>
              <a:t>和表达式</a:t>
            </a:r>
            <a:r>
              <a:rPr lang="en-US" altLang="zh-CN" sz="2900" b="1" dirty="0">
                <a:latin typeface="+mj-ea"/>
                <a:ea typeface="+mj-ea"/>
              </a:rPr>
              <a:t>3</a:t>
            </a:r>
            <a:r>
              <a:rPr lang="zh-CN" altLang="en-US" sz="2900" b="1" dirty="0">
                <a:latin typeface="+mj-ea"/>
                <a:ea typeface="+mj-ea"/>
              </a:rPr>
              <a:t>为任意表达式</a:t>
            </a:r>
            <a:endParaRPr lang="en-US" altLang="zh-CN" sz="2900" b="1" dirty="0">
              <a:latin typeface="+mj-ea"/>
              <a:ea typeface="+mj-ea"/>
            </a:endParaRPr>
          </a:p>
          <a:p>
            <a:pPr>
              <a:lnSpc>
                <a:spcPct val="140000"/>
              </a:lnSpc>
            </a:pPr>
            <a:r>
              <a:rPr lang="zh-CN" altLang="en-US" sz="2900" b="1" dirty="0">
                <a:latin typeface="+mj-ea"/>
                <a:ea typeface="+mj-ea"/>
              </a:rPr>
              <a:t>运算步骤</a:t>
            </a:r>
            <a:endParaRPr lang="en-US" altLang="zh-CN" sz="2900" b="1" dirty="0">
              <a:latin typeface="+mj-ea"/>
              <a:ea typeface="+mj-ea"/>
            </a:endParaRPr>
          </a:p>
          <a:p>
            <a:pPr lvl="1"/>
            <a:r>
              <a:rPr lang="zh-CN" altLang="en-US" sz="2900" b="1" dirty="0">
                <a:solidFill>
                  <a:schemeClr val="tx1"/>
                </a:solidFill>
                <a:latin typeface="+mj-ea"/>
                <a:ea typeface="+mj-ea"/>
              </a:rPr>
              <a:t>（</a:t>
            </a:r>
            <a:r>
              <a:rPr lang="en-US" altLang="zh-CN" sz="2900" b="1" dirty="0">
                <a:solidFill>
                  <a:schemeClr val="tx1"/>
                </a:solidFill>
                <a:latin typeface="+mj-ea"/>
                <a:ea typeface="+mj-ea"/>
              </a:rPr>
              <a:t>1</a:t>
            </a:r>
            <a:r>
              <a:rPr lang="zh-CN" altLang="en-US" sz="2900" b="1" dirty="0">
                <a:solidFill>
                  <a:schemeClr val="tx1"/>
                </a:solidFill>
                <a:latin typeface="+mj-ea"/>
                <a:ea typeface="+mj-ea"/>
              </a:rPr>
              <a:t>）计算表达式</a:t>
            </a:r>
            <a:r>
              <a:rPr lang="en-US" altLang="zh-CN" sz="2900" b="1" dirty="0">
                <a:solidFill>
                  <a:schemeClr val="tx1"/>
                </a:solidFill>
                <a:latin typeface="+mj-ea"/>
                <a:ea typeface="+mj-ea"/>
              </a:rPr>
              <a:t>1</a:t>
            </a:r>
            <a:r>
              <a:rPr lang="zh-CN" altLang="en-US" sz="2900" b="1" dirty="0">
                <a:solidFill>
                  <a:schemeClr val="tx1"/>
                </a:solidFill>
                <a:latin typeface="+mj-ea"/>
                <a:ea typeface="+mj-ea"/>
              </a:rPr>
              <a:t>，如果非</a:t>
            </a:r>
            <a:r>
              <a:rPr lang="en-US" altLang="zh-CN" sz="2900" b="1" dirty="0">
                <a:solidFill>
                  <a:schemeClr val="tx1"/>
                </a:solidFill>
                <a:latin typeface="+mj-ea"/>
                <a:ea typeface="+mj-ea"/>
              </a:rPr>
              <a:t>0</a:t>
            </a:r>
            <a:r>
              <a:rPr lang="zh-CN" altLang="en-US" sz="2900" b="1" dirty="0">
                <a:solidFill>
                  <a:schemeClr val="tx1"/>
                </a:solidFill>
                <a:latin typeface="+mj-ea"/>
                <a:ea typeface="+mj-ea"/>
              </a:rPr>
              <a:t>则转（</a:t>
            </a:r>
            <a:r>
              <a:rPr lang="en-US" altLang="zh-CN" sz="2900" b="1" dirty="0">
                <a:solidFill>
                  <a:schemeClr val="tx1"/>
                </a:solidFill>
                <a:latin typeface="+mj-ea"/>
                <a:ea typeface="+mj-ea"/>
              </a:rPr>
              <a:t>3</a:t>
            </a:r>
            <a:r>
              <a:rPr lang="zh-CN" altLang="en-US" sz="2900" b="1" dirty="0">
                <a:solidFill>
                  <a:schemeClr val="tx1"/>
                </a:solidFill>
                <a:latin typeface="+mj-ea"/>
                <a:ea typeface="+mj-ea"/>
              </a:rPr>
              <a:t>）</a:t>
            </a:r>
            <a:endParaRPr lang="en-US" altLang="zh-CN" sz="2900" b="1" dirty="0">
              <a:solidFill>
                <a:schemeClr val="tx1"/>
              </a:solidFill>
              <a:latin typeface="+mj-ea"/>
              <a:ea typeface="+mj-ea"/>
            </a:endParaRPr>
          </a:p>
          <a:p>
            <a:pPr lvl="1"/>
            <a:r>
              <a:rPr lang="zh-CN" altLang="en-US" sz="2900" b="1" dirty="0">
                <a:solidFill>
                  <a:schemeClr val="tx1"/>
                </a:solidFill>
                <a:latin typeface="+mj-ea"/>
                <a:ea typeface="+mj-ea"/>
              </a:rPr>
              <a:t>（</a:t>
            </a:r>
            <a:r>
              <a:rPr lang="en-US" altLang="zh-CN" sz="2900" b="1" dirty="0">
                <a:solidFill>
                  <a:schemeClr val="tx1"/>
                </a:solidFill>
                <a:latin typeface="+mj-ea"/>
                <a:ea typeface="+mj-ea"/>
              </a:rPr>
              <a:t>2</a:t>
            </a:r>
            <a:r>
              <a:rPr lang="zh-CN" altLang="en-US" sz="2900" b="1" dirty="0">
                <a:solidFill>
                  <a:schemeClr val="tx1"/>
                </a:solidFill>
                <a:latin typeface="+mj-ea"/>
                <a:ea typeface="+mj-ea"/>
              </a:rPr>
              <a:t>）计算表达式</a:t>
            </a:r>
            <a:r>
              <a:rPr lang="en-US" altLang="zh-CN" sz="2900" b="1" dirty="0">
                <a:solidFill>
                  <a:schemeClr val="tx1"/>
                </a:solidFill>
                <a:latin typeface="+mj-ea"/>
                <a:ea typeface="+mj-ea"/>
              </a:rPr>
              <a:t>3</a:t>
            </a:r>
            <a:r>
              <a:rPr lang="zh-CN" altLang="en-US" sz="2900" b="1" dirty="0">
                <a:solidFill>
                  <a:schemeClr val="tx1"/>
                </a:solidFill>
                <a:latin typeface="+mj-ea"/>
                <a:ea typeface="+mj-ea"/>
              </a:rPr>
              <a:t>，转（</a:t>
            </a:r>
            <a:r>
              <a:rPr lang="en-US" altLang="zh-CN" sz="2900" b="1" dirty="0">
                <a:solidFill>
                  <a:schemeClr val="tx1"/>
                </a:solidFill>
                <a:latin typeface="+mj-ea"/>
                <a:ea typeface="+mj-ea"/>
              </a:rPr>
              <a:t>4</a:t>
            </a:r>
            <a:r>
              <a:rPr lang="zh-CN" altLang="en-US" sz="2900" b="1" dirty="0">
                <a:solidFill>
                  <a:schemeClr val="tx1"/>
                </a:solidFill>
                <a:latin typeface="+mj-ea"/>
                <a:ea typeface="+mj-ea"/>
              </a:rPr>
              <a:t>）</a:t>
            </a:r>
            <a:endParaRPr lang="en-US" altLang="zh-CN" sz="2900" b="1" dirty="0">
              <a:solidFill>
                <a:schemeClr val="tx1"/>
              </a:solidFill>
              <a:latin typeface="+mj-ea"/>
              <a:ea typeface="+mj-ea"/>
            </a:endParaRPr>
          </a:p>
          <a:p>
            <a:pPr lvl="1"/>
            <a:r>
              <a:rPr lang="zh-CN" altLang="en-US" sz="2900" b="1" dirty="0">
                <a:solidFill>
                  <a:schemeClr val="tx1"/>
                </a:solidFill>
                <a:latin typeface="+mj-ea"/>
                <a:ea typeface="+mj-ea"/>
              </a:rPr>
              <a:t>（</a:t>
            </a:r>
            <a:r>
              <a:rPr lang="en-US" altLang="zh-CN" sz="2900" b="1" dirty="0">
                <a:solidFill>
                  <a:schemeClr val="tx1"/>
                </a:solidFill>
                <a:latin typeface="+mj-ea"/>
                <a:ea typeface="+mj-ea"/>
              </a:rPr>
              <a:t>3</a:t>
            </a:r>
            <a:r>
              <a:rPr lang="zh-CN" altLang="en-US" sz="2900" b="1" dirty="0">
                <a:solidFill>
                  <a:schemeClr val="tx1"/>
                </a:solidFill>
                <a:latin typeface="+mj-ea"/>
                <a:ea typeface="+mj-ea"/>
              </a:rPr>
              <a:t>）计算表达式</a:t>
            </a:r>
            <a:r>
              <a:rPr lang="en-US" altLang="zh-CN" sz="2900" b="1" dirty="0">
                <a:solidFill>
                  <a:schemeClr val="tx1"/>
                </a:solidFill>
                <a:latin typeface="+mj-ea"/>
                <a:ea typeface="+mj-ea"/>
              </a:rPr>
              <a:t>2</a:t>
            </a:r>
          </a:p>
          <a:p>
            <a:pPr lvl="1"/>
            <a:r>
              <a:rPr lang="zh-CN" altLang="en-US" sz="2900" b="1" dirty="0">
                <a:solidFill>
                  <a:schemeClr val="tx1"/>
                </a:solidFill>
                <a:latin typeface="+mj-ea"/>
                <a:ea typeface="+mj-ea"/>
              </a:rPr>
              <a:t>（</a:t>
            </a:r>
            <a:r>
              <a:rPr lang="en-US" altLang="zh-CN" sz="2900" b="1" dirty="0">
                <a:solidFill>
                  <a:schemeClr val="tx1"/>
                </a:solidFill>
                <a:latin typeface="+mj-ea"/>
                <a:ea typeface="+mj-ea"/>
              </a:rPr>
              <a:t>4</a:t>
            </a:r>
            <a:r>
              <a:rPr lang="zh-CN" altLang="en-US" sz="2900" b="1" dirty="0">
                <a:solidFill>
                  <a:schemeClr val="tx1"/>
                </a:solidFill>
                <a:latin typeface="+mj-ea"/>
                <a:ea typeface="+mj-ea"/>
              </a:rPr>
              <a:t>）完成运算</a:t>
            </a:r>
          </a:p>
          <a:p>
            <a:pPr lvl="2">
              <a:lnSpc>
                <a:spcPct val="150000"/>
              </a:lnSpc>
            </a:pPr>
            <a:endParaRPr lang="en-US" altLang="zh-CN" sz="2800" b="1" dirty="0">
              <a:latin typeface="+mj-ea"/>
              <a:ea typeface="+mj-ea"/>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37</a:t>
            </a:fld>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620688"/>
            <a:ext cx="8579296" cy="4846320"/>
          </a:xfrm>
        </p:spPr>
        <p:txBody>
          <a:bodyPr>
            <a:normAutofit/>
          </a:bodyPr>
          <a:lstStyle/>
          <a:p>
            <a:pPr>
              <a:lnSpc>
                <a:spcPct val="150000"/>
              </a:lnSpc>
            </a:pPr>
            <a:r>
              <a:rPr lang="en-US" altLang="zh-CN" sz="3200" b="1" dirty="0">
                <a:solidFill>
                  <a:srgbClr val="C00000"/>
                </a:solidFill>
                <a:latin typeface="+mj-ea"/>
                <a:ea typeface="+mj-ea"/>
                <a:cs typeface="Courier New" pitchFamily="49" charset="0"/>
              </a:rPr>
              <a:t>x&gt;0?x:-x</a:t>
            </a:r>
            <a:r>
              <a:rPr lang="zh-CN" altLang="en-US" sz="3200" b="1" dirty="0">
                <a:solidFill>
                  <a:srgbClr val="0000FF"/>
                </a:solidFill>
                <a:latin typeface="+mj-ea"/>
                <a:ea typeface="+mj-ea"/>
              </a:rPr>
              <a:t>的结果为</a:t>
            </a:r>
            <a:r>
              <a:rPr lang="en-US" altLang="zh-CN" sz="3200" b="1" dirty="0">
                <a:solidFill>
                  <a:srgbClr val="0000FF"/>
                </a:solidFill>
                <a:latin typeface="+mj-ea"/>
                <a:ea typeface="+mj-ea"/>
              </a:rPr>
              <a:t>x</a:t>
            </a:r>
            <a:r>
              <a:rPr lang="zh-CN" altLang="en-US" sz="3200" b="1" dirty="0">
                <a:solidFill>
                  <a:srgbClr val="0000FF"/>
                </a:solidFill>
                <a:latin typeface="+mj-ea"/>
                <a:ea typeface="+mj-ea"/>
              </a:rPr>
              <a:t>的绝对值</a:t>
            </a:r>
            <a:br>
              <a:rPr lang="en-US" altLang="zh-CN" sz="3200" b="1" dirty="0">
                <a:solidFill>
                  <a:srgbClr val="0000FF"/>
                </a:solidFill>
                <a:latin typeface="+mj-ea"/>
                <a:ea typeface="+mj-ea"/>
              </a:rPr>
            </a:br>
            <a:r>
              <a:rPr lang="zh-CN" altLang="en-US" sz="3200" b="1" dirty="0">
                <a:solidFill>
                  <a:srgbClr val="0000FF"/>
                </a:solidFill>
                <a:latin typeface="+mj-ea"/>
                <a:ea typeface="+mj-ea"/>
              </a:rPr>
              <a:t>而</a:t>
            </a:r>
            <a:r>
              <a:rPr lang="en-US" altLang="zh-CN" sz="3200" b="1" dirty="0">
                <a:solidFill>
                  <a:srgbClr val="C00000"/>
                </a:solidFill>
                <a:latin typeface="+mj-ea"/>
                <a:ea typeface="+mj-ea"/>
                <a:cs typeface="Courier New" pitchFamily="49" charset="0"/>
              </a:rPr>
              <a:t>s=(a&gt;b)?a:b; </a:t>
            </a:r>
            <a:r>
              <a:rPr lang="zh-CN" altLang="en-US" sz="3200" b="1" dirty="0">
                <a:solidFill>
                  <a:srgbClr val="0000FF"/>
                </a:solidFill>
                <a:latin typeface="+mj-ea"/>
                <a:ea typeface="+mj-ea"/>
              </a:rPr>
              <a:t>等价于条件语句 </a:t>
            </a:r>
            <a:br>
              <a:rPr lang="en-US" altLang="zh-CN" sz="3200" b="1" dirty="0">
                <a:solidFill>
                  <a:srgbClr val="0000FF"/>
                </a:solidFill>
                <a:latin typeface="+mj-ea"/>
                <a:ea typeface="+mj-ea"/>
              </a:rPr>
            </a:br>
            <a:r>
              <a:rPr lang="en-US" altLang="zh-CN" sz="3200" b="1" dirty="0">
                <a:solidFill>
                  <a:schemeClr val="tx2"/>
                </a:solidFill>
                <a:latin typeface="+mj-ea"/>
                <a:ea typeface="+mj-ea"/>
                <a:cs typeface="Courier New" pitchFamily="49" charset="0"/>
              </a:rPr>
              <a:t>if(a&gt;b) s=a; else s=b;</a:t>
            </a:r>
          </a:p>
          <a:p>
            <a:pPr>
              <a:lnSpc>
                <a:spcPct val="150000"/>
              </a:lnSpc>
            </a:pPr>
            <a:r>
              <a:rPr lang="en-US" altLang="zh-CN" sz="3200" b="1" dirty="0">
                <a:solidFill>
                  <a:srgbClr val="0000FF"/>
                </a:solidFill>
                <a:latin typeface="+mj-ea"/>
                <a:ea typeface="+mj-ea"/>
              </a:rPr>
              <a:t>C++</a:t>
            </a:r>
            <a:r>
              <a:rPr lang="zh-CN" altLang="en-US" sz="3200" b="1" dirty="0">
                <a:solidFill>
                  <a:srgbClr val="0000FF"/>
                </a:solidFill>
                <a:latin typeface="+mj-ea"/>
                <a:ea typeface="+mj-ea"/>
              </a:rPr>
              <a:t>中具有最低优先级的3个运算符依次为(从高到低): 条件运算符, 赋值运算符, 逗号运算符</a:t>
            </a:r>
            <a:endParaRPr lang="zh-CN" altLang="en-US" sz="3200" b="1" dirty="0">
              <a:latin typeface="+mj-ea"/>
              <a:ea typeface="+mj-ea"/>
            </a:endParaRPr>
          </a:p>
        </p:txBody>
      </p:sp>
      <p:sp>
        <p:nvSpPr>
          <p:cNvPr id="5" name="灯片编号占位符 4"/>
          <p:cNvSpPr>
            <a:spLocks noGrp="1"/>
          </p:cNvSpPr>
          <p:nvPr>
            <p:ph type="sldNum" sz="quarter" idx="4294967295"/>
          </p:nvPr>
        </p:nvSpPr>
        <p:spPr>
          <a:xfrm>
            <a:off x="3705228" y="6481786"/>
            <a:ext cx="1652590" cy="292100"/>
          </a:xfrm>
          <a:prstGeom prst="rect">
            <a:avLst/>
          </a:prstGeom>
        </p:spPr>
        <p:txBody>
          <a:bodyPr/>
          <a:lstStyle/>
          <a:p>
            <a:fld id="{E24BA5DA-9399-4747-BBF5-65A2C2316885}" type="slidenum">
              <a:rPr lang="en-US" altLang="zh-CN" smtClean="0"/>
              <a:pPr/>
              <a:t>38</a:t>
            </a:fld>
            <a:endParaRPr lang="en-US" altLang="zh-C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华丽">
  <a:themeElements>
    <a:clrScheme name="华丽">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华丽">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华丽">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1733</TotalTime>
  <Words>2375</Words>
  <Application>Microsoft Office PowerPoint</Application>
  <PresentationFormat>全屏显示(4:3)</PresentationFormat>
  <Paragraphs>471</Paragraphs>
  <Slides>38</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黑体</vt:lpstr>
      <vt:lpstr>宋体</vt:lpstr>
      <vt:lpstr>华文新魏</vt:lpstr>
      <vt:lpstr>Calibri</vt:lpstr>
      <vt:lpstr>Courier New</vt:lpstr>
      <vt:lpstr>Trebuchet MS</vt:lpstr>
      <vt:lpstr>Wingdings</vt:lpstr>
      <vt:lpstr>Wingdings 2</vt:lpstr>
      <vt:lpstr>华丽</vt:lpstr>
      <vt:lpstr>c/c++程序设计</vt:lpstr>
      <vt:lpstr>常量</vt:lpstr>
      <vt:lpstr>变量</vt:lpstr>
      <vt:lpstr>说明变量</vt:lpstr>
      <vt:lpstr>整型</vt:lpstr>
      <vt:lpstr>整型</vt:lpstr>
      <vt:lpstr>浮点型</vt:lpstr>
      <vt:lpstr>PowerPoint 演示文稿</vt:lpstr>
      <vt:lpstr>字符型</vt:lpstr>
      <vt:lpstr>PowerPoint 演示文稿</vt:lpstr>
      <vt:lpstr>布尔型</vt:lpstr>
      <vt:lpstr>PowerPoint 演示文稿</vt:lpstr>
      <vt:lpstr>无值型</vt:lpstr>
      <vt:lpstr>C++语句简介</vt:lpstr>
      <vt:lpstr>说明语句</vt:lpstr>
      <vt:lpstr>说明语句</vt:lpstr>
      <vt:lpstr>运算符</vt:lpstr>
      <vt:lpstr>表达式</vt:lpstr>
      <vt:lpstr>PowerPoint 演示文稿</vt:lpstr>
      <vt:lpstr>运算符的优先级</vt:lpstr>
      <vt:lpstr>运算符的结合性</vt:lpstr>
      <vt:lpstr>PowerPoint 演示文稿</vt:lpstr>
      <vt:lpstr>赋值运算</vt:lpstr>
      <vt:lpstr>算术运算</vt:lpstr>
      <vt:lpstr>算术运算</vt:lpstr>
      <vt:lpstr>算术运算</vt:lpstr>
      <vt:lpstr>算术运算</vt:lpstr>
      <vt:lpstr>关系运算</vt:lpstr>
      <vt:lpstr>关系运算</vt:lpstr>
      <vt:lpstr>关系运算</vt:lpstr>
      <vt:lpstr>逻辑运算</vt:lpstr>
      <vt:lpstr>PowerPoint 演示文稿</vt:lpstr>
      <vt:lpstr>逻辑运算</vt:lpstr>
      <vt:lpstr>位运算</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c/c++程序设计</dc:title>
  <dc:creator>user</dc:creator>
  <cp:lastModifiedBy>86186</cp:lastModifiedBy>
  <cp:revision>63</cp:revision>
  <dcterms:created xsi:type="dcterms:W3CDTF">2016-10-08T03:28:16Z</dcterms:created>
  <dcterms:modified xsi:type="dcterms:W3CDTF">2020-10-21T04:18:26Z</dcterms:modified>
</cp:coreProperties>
</file>