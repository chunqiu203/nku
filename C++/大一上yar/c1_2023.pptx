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55"/>
  </p:notesMasterIdLst>
  <p:sldIdLst>
    <p:sldId id="256" r:id="rId2"/>
    <p:sldId id="298" r:id="rId3"/>
    <p:sldId id="675" r:id="rId4"/>
    <p:sldId id="676" r:id="rId5"/>
    <p:sldId id="257" r:id="rId6"/>
    <p:sldId id="672" r:id="rId7"/>
    <p:sldId id="677" r:id="rId8"/>
    <p:sldId id="678" r:id="rId9"/>
    <p:sldId id="681" r:id="rId10"/>
    <p:sldId id="682" r:id="rId11"/>
    <p:sldId id="679" r:id="rId12"/>
    <p:sldId id="683" r:id="rId13"/>
    <p:sldId id="673" r:id="rId14"/>
    <p:sldId id="674" r:id="rId15"/>
    <p:sldId id="284" r:id="rId16"/>
    <p:sldId id="299" r:id="rId17"/>
    <p:sldId id="285" r:id="rId18"/>
    <p:sldId id="286" r:id="rId19"/>
    <p:sldId id="287" r:id="rId20"/>
    <p:sldId id="258" r:id="rId21"/>
    <p:sldId id="259" r:id="rId22"/>
    <p:sldId id="260" r:id="rId23"/>
    <p:sldId id="261" r:id="rId24"/>
    <p:sldId id="262" r:id="rId25"/>
    <p:sldId id="264" r:id="rId26"/>
    <p:sldId id="297" r:id="rId27"/>
    <p:sldId id="266" r:id="rId28"/>
    <p:sldId id="265" r:id="rId29"/>
    <p:sldId id="267" r:id="rId30"/>
    <p:sldId id="268" r:id="rId31"/>
    <p:sldId id="269" r:id="rId32"/>
    <p:sldId id="270" r:id="rId33"/>
    <p:sldId id="289" r:id="rId34"/>
    <p:sldId id="271" r:id="rId35"/>
    <p:sldId id="290" r:id="rId36"/>
    <p:sldId id="291" r:id="rId37"/>
    <p:sldId id="292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94" r:id="rId50"/>
    <p:sldId id="295" r:id="rId51"/>
    <p:sldId id="296" r:id="rId52"/>
    <p:sldId id="283" r:id="rId53"/>
    <p:sldId id="293" r:id="rId5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857"/>
    <a:srgbClr val="3A3E47"/>
    <a:srgbClr val="956205"/>
    <a:srgbClr val="00091A"/>
    <a:srgbClr val="001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468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36885-8360-4B9C-802C-5F0060CCC6B5}" type="datetimeFigureOut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9941A-A36F-41FC-9386-2CF22D1AB20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82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95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ＲＩＳＣ　Ｖ　　</a:t>
            </a:r>
            <a:r>
              <a:rPr lang="en-US" altLang="zh-CN" dirty="0"/>
              <a:t>OS , </a:t>
            </a:r>
            <a:r>
              <a:rPr lang="zh-CN" altLang="en-US" dirty="0"/>
              <a:t>华为的限制条件，有一天冷战出现， 有可能出现任何都不能用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67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ＲＩＳＣ　Ｖ　　</a:t>
            </a:r>
            <a:r>
              <a:rPr lang="en-US" altLang="zh-CN" dirty="0"/>
              <a:t>OS , </a:t>
            </a:r>
            <a:r>
              <a:rPr lang="zh-CN" altLang="en-US" dirty="0"/>
              <a:t>华为的限制条件，有一天冷战出现， 有可能出现任何都不能用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57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/>
              <a:t>C++</a:t>
            </a:r>
            <a:r>
              <a:rPr lang="zh-CN" altLang="en-US" dirty="0"/>
              <a:t>中的数据类型举例，</a:t>
            </a:r>
            <a:r>
              <a:rPr lang="en-US" altLang="zh-CN" dirty="0" err="1"/>
              <a:t>int</a:t>
            </a:r>
            <a:r>
              <a:rPr lang="zh-CN" altLang="en-US" dirty="0"/>
              <a:t>型</a:t>
            </a:r>
            <a:r>
              <a:rPr lang="en-US" altLang="zh-CN" dirty="0"/>
              <a:t>4</a:t>
            </a:r>
            <a:r>
              <a:rPr lang="zh-CN" altLang="en-US" dirty="0"/>
              <a:t>个字节，</a:t>
            </a:r>
            <a:r>
              <a:rPr lang="en-US" altLang="zh-CN" dirty="0"/>
              <a:t>float</a:t>
            </a:r>
            <a:r>
              <a:rPr lang="zh-CN" altLang="en-US" dirty="0"/>
              <a:t>型</a:t>
            </a:r>
            <a:r>
              <a:rPr lang="en-US" altLang="zh-CN" dirty="0"/>
              <a:t>4</a:t>
            </a:r>
            <a:r>
              <a:rPr lang="zh-CN" altLang="en-US" dirty="0"/>
              <a:t>个字节，</a:t>
            </a:r>
            <a:r>
              <a:rPr lang="en-US" altLang="zh-CN" dirty="0"/>
              <a:t>double</a:t>
            </a:r>
            <a:r>
              <a:rPr lang="zh-CN" altLang="en-US" dirty="0"/>
              <a:t>型</a:t>
            </a:r>
            <a:r>
              <a:rPr lang="en-US" altLang="zh-CN" dirty="0"/>
              <a:t>8</a:t>
            </a:r>
            <a:r>
              <a:rPr lang="zh-CN" altLang="en-US" dirty="0"/>
              <a:t>个字节，</a:t>
            </a:r>
            <a:r>
              <a:rPr lang="en-US" altLang="zh-CN" dirty="0"/>
              <a:t>char</a:t>
            </a:r>
            <a:r>
              <a:rPr lang="zh-CN" altLang="en-US" dirty="0"/>
              <a:t>型</a:t>
            </a:r>
            <a:r>
              <a:rPr lang="en-US" altLang="zh-CN" dirty="0"/>
              <a:t>1</a:t>
            </a:r>
            <a:r>
              <a:rPr lang="zh-CN" altLang="en-US" dirty="0"/>
              <a:t>个字节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06DC0BB-F6F8-428F-8EC8-19A800F8C1D2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901B-FCF8-4B93-9217-EF223F391D60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5B54CCE-D686-4419-9675-9E26F6765165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AF324-BB54-4B18-A670-AC8CCC293060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54C19-4D62-468B-B4DC-AE7E24FB94D3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6AD0-C89E-4A01-9DB9-7A8604E6F970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B9D556E-A8AA-4A62-A31D-0337A39A5CF9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B5556-C32D-4389-95D5-14A8AC485FFD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5DA53-904A-4643-9F58-38724CB5E99C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010D-6F80-41EA-9A24-1C9ABA451B2C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0B0D753-CFB0-4A0C-96FC-DA8F1303334D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489B143D-59D8-41C3-8930-35C8B7F2668A}" type="datetime1">
              <a:rPr lang="zh-CN" altLang="en-US" smtClean="0"/>
              <a:pPr/>
              <a:t>2021/9/16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hyperlink" Target="https://www.hackerrank.com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高级语言程序设计</a:t>
            </a:r>
            <a:r>
              <a:rPr lang="en-US" altLang="zh-CN"/>
              <a:t>-1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503838" cy="324672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C/C++</a:t>
            </a:r>
            <a:r>
              <a:rPr lang="zh-CN" altLang="en-US" sz="2400" dirty="0"/>
              <a:t>程序设计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algn="ctr"/>
            <a:r>
              <a:rPr lang="zh-CN" altLang="en-US" sz="2400" dirty="0"/>
              <a:t>殷爱茹</a:t>
            </a:r>
            <a:endParaRPr lang="en-US" altLang="zh-CN" sz="2400" dirty="0"/>
          </a:p>
          <a:p>
            <a:pPr algn="ctr"/>
            <a:r>
              <a:rPr lang="zh-CN" altLang="en-US" sz="2400" dirty="0"/>
              <a:t>南开大学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15416"/>
            <a:ext cx="7239000" cy="1143000"/>
          </a:xfrm>
        </p:spPr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课前调查与准备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91264" cy="484632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大学生活与高中生活有不同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专业学习与以往以高考为目标的学习有不同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热爱专业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动手能力与逻辑思维并重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知行合一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大家是否有编程基础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熟悉编程，建立编程思维需要一个过程，不要着急</a:t>
            </a:r>
            <a:endParaRPr lang="en-US" altLang="zh-CN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不管是否有基础，经过一段时间的训练和学习，大家都可以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CB81A-99DD-483E-8E51-08C323E5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548680"/>
            <a:ext cx="8568952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近二十年来，大一结束后学生问卷反馈，最难的课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3A3E4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C++</a:t>
            </a: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3A3E47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数学（包括高数、线性代数）</a:t>
            </a:r>
            <a:endParaRPr lang="en-US" altLang="zh-CN" b="1" dirty="0">
              <a:solidFill>
                <a:srgbClr val="3A3E47"/>
              </a:solidFill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2">
              <a:lnSpc>
                <a:spcPct val="130000"/>
              </a:lnSpc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近二十年来，计算机大四学生的问卷反馈，最难的课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比较分散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: 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编译原理、算法、计算机原理、数字逻辑等</a:t>
            </a:r>
            <a:endParaRPr lang="en-US" altLang="zh-CN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从未包括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C++</a:t>
            </a: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数学也少</a:t>
            </a:r>
            <a:endParaRPr lang="en-US" altLang="zh-CN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9E5E1-548C-4111-B117-0FC88B52C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15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7309EF-C4E8-4422-B2BB-E96602E6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E2681A6-0890-4109-9FFC-32CAAB4256F3}"/>
              </a:ext>
            </a:extLst>
          </p:cNvPr>
          <p:cNvSpPr txBox="1">
            <a:spLocks/>
          </p:cNvSpPr>
          <p:nvPr/>
        </p:nvSpPr>
        <p:spPr>
          <a:xfrm>
            <a:off x="313184" y="476672"/>
            <a:ext cx="8435280" cy="5616624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 kumimoji="0"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208" indent="-228600" algn="l" rtl="0" eaLnBrk="1" latinLnBrk="0" hangingPunct="1">
              <a:spcBef>
                <a:spcPts val="5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23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8952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0000"/>
              <a:buFont typeface="Wingdings"/>
              <a:buChar char="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70000"/>
              <a:buFont typeface="Wingdings"/>
              <a:buChar char="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72184" indent="-182880" algn="l" rtl="0" eaLnBrk="1" latinLnBrk="0" hangingPunct="1">
              <a:spcBef>
                <a:spcPts val="4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733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47088" indent="-182880" algn="l" rtl="0" eaLnBrk="1" latinLnBrk="0" hangingPunct="1">
              <a:spcBef>
                <a:spcPts val="300"/>
              </a:spcBef>
              <a:buClr>
                <a:schemeClr val="accent4"/>
              </a:buClr>
              <a:buSzPct val="100000"/>
              <a:buChar char="•"/>
              <a:defRPr kumimoji="0" sz="16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4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中学注重知识记忆和解题的熟练程度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>
              <a:lnSpc>
                <a:spcPct val="14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大学注重</a:t>
            </a:r>
            <a:r>
              <a:rPr lang="zh-CN" altLang="en-US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学习方法的培养 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learn how to learn </a:t>
            </a:r>
          </a:p>
          <a:p>
            <a:pPr lvl="1">
              <a:lnSpc>
                <a:spcPct val="140000"/>
              </a:lnSpc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1">
              <a:lnSpc>
                <a:spcPct val="140000"/>
              </a:lnSpc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1">
              <a:lnSpc>
                <a:spcPct val="140000"/>
              </a:lnSpc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1">
              <a:lnSpc>
                <a:spcPct val="140000"/>
              </a:lnSpc>
            </a:pP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>
              <a:lnSpc>
                <a:spcPct val="1400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C++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和数学与中学的教学模式差异最大，大一同学最不适应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2">
              <a:lnSpc>
                <a:spcPct val="14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需要</a:t>
            </a:r>
            <a:r>
              <a:rPr lang="zh-CN" altLang="en-US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自我驱动、课下大量练习</a:t>
            </a:r>
            <a:endParaRPr lang="en-US" altLang="zh-CN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 lvl="2">
              <a:lnSpc>
                <a:spcPct val="140000"/>
              </a:lnSpc>
            </a:pPr>
            <a:r>
              <a:rPr lang="zh-CN" altLang="en-US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讲一 练二 考三</a:t>
            </a:r>
            <a:endParaRPr lang="en-US" altLang="zh-CN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  <a:p>
            <a:pPr>
              <a:lnSpc>
                <a:spcPct val="14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到了大四，已经适应大学学习方法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,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Courier New" pitchFamily="49" charset="0"/>
              </a:rPr>
              <a:t>就不觉得难了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Courier New" pitchFamily="49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31D8710-DF09-4BCB-A2B8-A21F11C1A18B}"/>
              </a:ext>
            </a:extLst>
          </p:cNvPr>
          <p:cNvGrpSpPr/>
          <p:nvPr/>
        </p:nvGrpSpPr>
        <p:grpSpPr>
          <a:xfrm>
            <a:off x="1187624" y="1734691"/>
            <a:ext cx="6210201" cy="1838325"/>
            <a:chOff x="1393031" y="1268760"/>
            <a:chExt cx="6210201" cy="1838325"/>
          </a:xfrm>
        </p:grpSpPr>
        <p:sp>
          <p:nvSpPr>
            <p:cNvPr id="7" name="Cloud">
              <a:extLst>
                <a:ext uri="{FF2B5EF4-FFF2-40B4-BE49-F238E27FC236}">
                  <a16:creationId xmlns:a16="http://schemas.microsoft.com/office/drawing/2014/main" id="{2D6CBC97-8EDF-4838-9087-595076FF5392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860032" y="1268760"/>
              <a:ext cx="2743200" cy="1838325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6A1DDE5-9778-4FAF-93EE-E907D1479692}"/>
                </a:ext>
              </a:extLst>
            </p:cNvPr>
            <p:cNvGrpSpPr/>
            <p:nvPr/>
          </p:nvGrpSpPr>
          <p:grpSpPr>
            <a:xfrm>
              <a:off x="1393031" y="1397603"/>
              <a:ext cx="6047531" cy="1400002"/>
              <a:chOff x="1763713" y="4797152"/>
              <a:chExt cx="6047531" cy="1400002"/>
            </a:xfrm>
          </p:grpSpPr>
          <p:sp>
            <p:nvSpPr>
              <p:cNvPr id="9" name="Oval 6">
                <a:extLst>
                  <a:ext uri="{FF2B5EF4-FFF2-40B4-BE49-F238E27FC236}">
                    <a16:creationId xmlns:a16="http://schemas.microsoft.com/office/drawing/2014/main" id="{5E8B7760-E21A-4D72-9C64-A5769044C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3713" y="4900166"/>
                <a:ext cx="1871662" cy="1296988"/>
              </a:xfrm>
              <a:prstGeom prst="ellipse">
                <a:avLst/>
              </a:prstGeom>
              <a:solidFill>
                <a:schemeClr val="accent1">
                  <a:alpha val="23921"/>
                </a:schemeClr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F21B9331-60ED-4327-B594-2A75605C36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3713" y="5012755"/>
                <a:ext cx="1800225" cy="968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中学知识是封闭集合</a:t>
                </a:r>
              </a:p>
            </p:txBody>
          </p:sp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91EFC2C3-679E-46D7-942A-BA58173A38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8144" y="4797152"/>
                <a:ext cx="1943100" cy="968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大学知识是开放的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304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37192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教学用书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435280" cy="545562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《C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语言程序设计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，谭浩强，清华大学出版社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《The C++ Programming 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Language》C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++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之父编写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《A Tour of C++》</a:t>
            </a:r>
          </a:p>
          <a:p>
            <a:pPr marL="274320" lvl="1" indent="-274320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</a:pPr>
            <a:r>
              <a:rPr lang="zh-CN" altLang="en-US" sz="2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高级语言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程序设计</a:t>
            </a:r>
            <a:r>
              <a:rPr lang="zh-CN" altLang="en-US" sz="2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》，刘璟、周玉龙编著，高等教育出版社</a:t>
            </a:r>
            <a:endParaRPr lang="en-US" altLang="zh-CN" sz="2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74320" lvl="1" indent="-274320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</a:pPr>
            <a:r>
              <a:rPr lang="en-US" altLang="zh-CN" sz="2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《C++ Primer》</a:t>
            </a:r>
            <a:endParaRPr lang="en-US" altLang="zh-CN" sz="23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74320" lvl="1" indent="-274320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</a:pPr>
            <a:r>
              <a:rPr lang="en-US" altLang="zh-CN" sz="2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《thinking in C++》 C++</a:t>
            </a:r>
            <a:r>
              <a:rPr lang="zh-CN" altLang="en-US" sz="2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编程思想</a:t>
            </a:r>
            <a:endParaRPr lang="en-US" altLang="zh-CN" sz="2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74320" lvl="1" indent="-274320">
              <a:lnSpc>
                <a:spcPct val="130000"/>
              </a:lnSpc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</a:pPr>
            <a:r>
              <a:rPr lang="en-US" altLang="zh-CN" sz="2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《C</a:t>
            </a:r>
            <a:r>
              <a:rPr lang="zh-CN" altLang="en-US" sz="2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语言大学实用教程</a:t>
            </a:r>
            <a:r>
              <a:rPr lang="en-US" altLang="zh-CN" sz="2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r>
              <a:rPr lang="zh-CN" altLang="en-US" sz="2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，苏小红等，电子工业出版社</a:t>
            </a:r>
            <a:endParaRPr lang="en-US" altLang="zh-CN" sz="2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824" y="-27384"/>
            <a:ext cx="8229600" cy="71437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accent4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上学期完成后，寒假学习建议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9168" y="764704"/>
            <a:ext cx="8435280" cy="45005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通过课程学习，完成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进阶： </a:t>
            </a:r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C++Primer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中文第五版</a:t>
            </a:r>
            <a:endParaRPr lang="en-US" altLang="zh-CN" sz="2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自学图形化编程，编写一个小图形化程序：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    MFC</a:t>
            </a:r>
          </a:p>
          <a:p>
            <a:pPr lvl="2"/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397875" y="6551613"/>
            <a:ext cx="746125" cy="306387"/>
          </a:xfrm>
        </p:spPr>
        <p:txBody>
          <a:bodyPr/>
          <a:lstStyle/>
          <a:p>
            <a:pPr>
              <a:defRPr/>
            </a:pPr>
            <a:fld id="{277FFC43-A6A0-4639-B029-A5349C7C89B2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  <p:sp>
        <p:nvSpPr>
          <p:cNvPr id="12" name="矩形 11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C++</a:t>
            </a: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为什么难 □</a:t>
            </a:r>
          </a:p>
        </p:txBody>
      </p:sp>
      <p:pic>
        <p:nvPicPr>
          <p:cNvPr id="5124" name="Picture 4" descr="https://timgsa.baidu.com/timg?image&amp;quality=80&amp;size=b9999_10000&amp;sec=1590982222502&amp;di=f7f75a00eddb36afde4fa4182077d533&amp;imgtype=0&amp;src=http%3A%2F%2Fwww.kfzimg.com%2FG05%2FM00%2FEB%2F9B%2Fp4YBAFhHspmAS6VKAAC3WS0dHeg998_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67" y="2420888"/>
            <a:ext cx="2916489" cy="401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325" y="2558267"/>
            <a:ext cx="5447163" cy="331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86"/>
    </mc:Choice>
    <mc:Fallback xmlns="">
      <p:transition spd="slow" advTm="3378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3EC76-2787-4695-A372-0C728799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525BB8E-39FF-4DCF-A12E-B1B7A1EBB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25" y="320040"/>
            <a:ext cx="7296265" cy="591727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384DF8-89F2-46A2-8A86-B850AADD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527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4607-C73A-4D39-B016-05DFB75B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</a:t>
            </a:r>
            <a:r>
              <a:rPr lang="zh-CN" altLang="en-US" dirty="0"/>
              <a:t>知识体系的思维导图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EDEE72-84D3-41E9-BF91-D99613B9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773AFF-4D21-42A1-878B-B21A2DB1B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355" y="0"/>
            <a:ext cx="5524949" cy="679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2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73411-C2AF-484B-9FE3-35CF5AEF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B9B37C3-D886-48AB-8ED9-D9116EA4C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52" y="260648"/>
            <a:ext cx="6153165" cy="62956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876E38-E337-45DF-8FFD-91CB3AE5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0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BB6A0-BFAB-4040-A235-53A1BB4C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E5D9558-E4E0-4A32-9119-A9D7DBA88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31096"/>
            <a:ext cx="5423863" cy="651366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58701E-EE4B-47D4-BF88-6A1798B5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546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18443-715F-4E52-B725-C524B1A9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EC4506E-B0A4-4175-BD39-720053639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67" y="73152"/>
            <a:ext cx="6314138" cy="671169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5D13A0-FB67-4255-837F-1D8FB2E1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14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AEE6A-5C34-47CA-B52A-43530177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0502146-1820-4402-911C-9D0248883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16632"/>
            <a:ext cx="4824536" cy="660339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B4AF6-42B4-490F-BC88-4A4407E8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28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229600" cy="71437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956205"/>
                </a:solidFill>
              </a:rPr>
              <a:t>下学期课程完成后，暑期学习建议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9168" y="764704"/>
            <a:ext cx="8435280" cy="45005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深入理解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原理与实践（基础篇、进阶篇）  </a:t>
            </a:r>
            <a:endParaRPr lang="en-US" altLang="zh-CN" sz="2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397875" y="6551613"/>
            <a:ext cx="746125" cy="306387"/>
          </a:xfrm>
        </p:spPr>
        <p:txBody>
          <a:bodyPr/>
          <a:lstStyle/>
          <a:p>
            <a:pPr>
              <a:defRPr/>
            </a:pPr>
            <a:fld id="{277FFC43-A6A0-4639-B029-A5349C7C89B2}" type="slidenum">
              <a:rPr lang="zh-CN" altLang="en-US" smtClean="0"/>
              <a:pPr>
                <a:defRPr/>
              </a:pPr>
              <a:t>13</a:t>
            </a:fld>
            <a:endParaRPr lang="zh-CN" altLang="en-US" dirty="0"/>
          </a:p>
        </p:txBody>
      </p:sp>
      <p:sp>
        <p:nvSpPr>
          <p:cNvPr id="12" name="矩形 11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C++</a:t>
            </a: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为什么难 □</a:t>
            </a:r>
          </a:p>
        </p:txBody>
      </p:sp>
      <p:pic>
        <p:nvPicPr>
          <p:cNvPr id="9220" name="Picture 4" descr="https://timgsa.baidu.com/timg?image&amp;quality=80&amp;size=b9999_10000&amp;sec=1590982667415&amp;di=70a33cecfe517e3b9c131b9df31dbacd&amp;imgtype=0&amp;src=http%3A%2F%2Fimg3x0.ddimg.cn%2F38%2F26%2F1149892760-1_u_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310" y="2169641"/>
            <a:ext cx="3275583" cy="327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239" y="2309200"/>
            <a:ext cx="2198563" cy="2996464"/>
          </a:xfrm>
          <a:prstGeom prst="rect">
            <a:avLst/>
          </a:prstGeom>
        </p:spPr>
      </p:pic>
      <p:pic>
        <p:nvPicPr>
          <p:cNvPr id="15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802" y="2862979"/>
            <a:ext cx="4370710" cy="246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94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75"/>
    </mc:Choice>
    <mc:Fallback xmlns="">
      <p:transition spd="slow" advTm="2957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229600" cy="714375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956205"/>
                </a:solidFill>
              </a:rPr>
              <a:t>课程完成后，暑期学习建议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7"/>
            <a:ext cx="8435280" cy="5045249"/>
          </a:xfrm>
        </p:spPr>
        <p:txBody>
          <a:bodyPr/>
          <a:lstStyle/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做练习，自己尝试做一个大型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例如游戏、文件系统、实用小工具等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CN" sz="9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开始编程训练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参加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ACM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协会的培训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acm.nankai.edu.cn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上刷题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b="1" dirty="0">
                <a:solidFill>
                  <a:srgbClr val="C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，找工作笔试用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b="1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https://www.hackerrank.com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进阶刷题，偏重算法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竞赛： 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Ｍ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/ICPC  </a:t>
            </a:r>
            <a:r>
              <a:rPr lang="en-US" altLang="zh-CN" b="1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TopCoder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百度之星 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Code Jam </a:t>
            </a:r>
          </a:p>
          <a:p>
            <a:pPr lvl="2"/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397875" y="6551613"/>
            <a:ext cx="746125" cy="306387"/>
          </a:xfrm>
        </p:spPr>
        <p:txBody>
          <a:bodyPr/>
          <a:lstStyle/>
          <a:p>
            <a:pPr>
              <a:defRPr/>
            </a:pPr>
            <a:fld id="{277FFC43-A6A0-4639-B029-A5349C7C89B2}" type="slidenum">
              <a:rPr lang="zh-CN" altLang="en-US" smtClean="0"/>
              <a:pPr>
                <a:defRPr/>
              </a:pPr>
              <a:t>14</a:t>
            </a:fld>
            <a:endParaRPr lang="zh-CN" altLang="en-US" dirty="0"/>
          </a:p>
        </p:txBody>
      </p:sp>
      <p:sp>
        <p:nvSpPr>
          <p:cNvPr id="12" name="矩形 11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C++</a:t>
            </a: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为什么难 □</a:t>
            </a:r>
          </a:p>
        </p:txBody>
      </p:sp>
    </p:spTree>
    <p:extLst>
      <p:ext uri="{BB962C8B-B14F-4D97-AF65-F5344CB8AC3E}">
        <p14:creationId xmlns:p14="http://schemas.microsoft.com/office/powerpoint/2010/main" val="89279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22"/>
    </mc:Choice>
    <mc:Fallback xmlns="">
      <p:transition spd="slow" advTm="4652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1958" y="-285768"/>
            <a:ext cx="7239000" cy="1143000"/>
          </a:xfrm>
        </p:spPr>
        <p:txBody>
          <a:bodyPr/>
          <a:lstStyle/>
          <a:p>
            <a:r>
              <a:rPr lang="zh-CN" altLang="en-US" dirty="0">
                <a:solidFill>
                  <a:srgbClr val="286857"/>
                </a:solidFill>
              </a:rPr>
              <a:t>计算机与人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57232"/>
            <a:ext cx="5328592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图灵测试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如果一台机器能够与人类展开对话（通过电传设备）而不能被辨别出其机器身份，那么称这台机器具有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智能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b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图灵测试：能够令人信服地说明“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思考的机器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”是可能的。</a:t>
            </a:r>
            <a:endParaRPr lang="en-US" altLang="zh-CN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图灵测试是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人工智能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哲学方面第一个严肃的提案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pic>
        <p:nvPicPr>
          <p:cNvPr id="5" name="图片 4" descr="tur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24128" y="86611"/>
            <a:ext cx="3314706" cy="44945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4C027F3-1DAE-4477-BF70-2B44E28FC442}"/>
              </a:ext>
            </a:extLst>
          </p:cNvPr>
          <p:cNvSpPr txBox="1"/>
          <p:nvPr/>
        </p:nvSpPr>
        <p:spPr>
          <a:xfrm>
            <a:off x="6228184" y="4859868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艾伦</a:t>
            </a:r>
            <a:r>
              <a:rPr lang="en-US" altLang="zh-CN" dirty="0"/>
              <a:t>·</a:t>
            </a:r>
            <a:r>
              <a:rPr lang="zh-CN" altLang="en-US" dirty="0"/>
              <a:t>图灵</a:t>
            </a:r>
            <a:r>
              <a:rPr lang="en-US" altLang="zh-CN" dirty="0"/>
              <a:t>(</a:t>
            </a:r>
            <a:r>
              <a:rPr lang="en-US" dirty="0"/>
              <a:t>Alan Turing)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D2A791-5CBC-4AC7-9D7A-F352DC59ACFB}"/>
              </a:ext>
            </a:extLst>
          </p:cNvPr>
          <p:cNvSpPr txBox="1"/>
          <p:nvPr/>
        </p:nvSpPr>
        <p:spPr>
          <a:xfrm>
            <a:off x="2555776" y="5674022"/>
            <a:ext cx="6408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1936 </a:t>
            </a:r>
            <a:r>
              <a:rPr lang="zh-CN" altLang="en-US" dirty="0"/>
              <a:t>年，图灵向伦敦权威的数学杂志投了一篇论文，题为</a:t>
            </a:r>
            <a:r>
              <a:rPr lang="en-US" altLang="zh-CN" dirty="0"/>
              <a:t>《</a:t>
            </a:r>
            <a:r>
              <a:rPr lang="zh-CN" altLang="en-US" dirty="0"/>
              <a:t>论数字计算在决断难题中的应用</a:t>
            </a:r>
            <a:r>
              <a:rPr lang="en-US" altLang="zh-CN" dirty="0"/>
              <a:t>》</a:t>
            </a:r>
            <a:r>
              <a:rPr lang="zh-CN" altLang="en-US" dirty="0"/>
              <a:t>，论文中提到的「图灵机」就是现代计算机的原形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1E07D-33B6-4176-94F3-17795879C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60648"/>
            <a:ext cx="8640960" cy="6295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图灵提出一个实验：几位评委通过计算机终端分别向几对看不见的回答者提出问题，再根据回答分辨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哪一方是人类，哪一方是计算机程序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。谈话内容无所不包，从八卦到哲学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完全随便。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图灵预计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2000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年计算机可以在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分钟的谈话后骗过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30%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的真人评委，人们将“毫无争议的说机器是会思考的”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2014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年，人工智能软件尤金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·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古斯特曼（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Eugene 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Goostman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）首次通过了图灵测试，得票率达到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33%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。尤金模拟一个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岁的乌克兰男孩，用他的天真幼稚第一次骗过成年评委。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3A3E4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小黄鸡一度风靡网络，机智无节操的回答常常让人捧腹大笑</a:t>
            </a:r>
            <a:endParaRPr lang="en-US" altLang="zh-CN" b="1" dirty="0">
              <a:solidFill>
                <a:srgbClr val="3A3E4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3A3E4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微软发布的人工智能机器人“小冰”</a:t>
            </a:r>
            <a:endParaRPr lang="en-US" altLang="zh-CN" b="1" dirty="0">
              <a:solidFill>
                <a:srgbClr val="3A3E4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3A3E4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SIRI</a:t>
            </a: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3A3E4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贤二机器僧</a:t>
            </a:r>
            <a:endParaRPr lang="en-US" altLang="zh-CN" b="1" dirty="0">
              <a:solidFill>
                <a:srgbClr val="3A3E4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C2ECCB-F8CB-4FD0-B6CE-16AA78B7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38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28598" y="942921"/>
            <a:ext cx="4714908" cy="203132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问：你会下国际象棋吗？</a:t>
            </a:r>
          </a:p>
          <a:p>
            <a:r>
              <a:rPr lang="zh-CN" altLang="en-US" dirty="0"/>
              <a:t>答：是的。</a:t>
            </a:r>
          </a:p>
          <a:p>
            <a:r>
              <a:rPr lang="zh-CN" altLang="en-US" dirty="0"/>
              <a:t>问：你会下国际象棋吗？</a:t>
            </a:r>
          </a:p>
          <a:p>
            <a:r>
              <a:rPr lang="zh-CN" altLang="en-US" dirty="0"/>
              <a:t>答：是的。</a:t>
            </a:r>
          </a:p>
          <a:p>
            <a:r>
              <a:rPr lang="zh-CN" altLang="en-US" dirty="0"/>
              <a:t>问：请再次回答，你会下国际象棋吗？</a:t>
            </a:r>
          </a:p>
          <a:p>
            <a:r>
              <a:rPr lang="zh-CN" altLang="en-US" dirty="0"/>
              <a:t>答：是的。</a:t>
            </a:r>
          </a:p>
          <a:p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57292" y="3197875"/>
            <a:ext cx="4714908" cy="203132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问： 你会下国际象棋吗？</a:t>
            </a:r>
          </a:p>
          <a:p>
            <a:r>
              <a:rPr lang="zh-CN" altLang="en-US" dirty="0"/>
              <a:t>答：是的。</a:t>
            </a:r>
          </a:p>
          <a:p>
            <a:r>
              <a:rPr lang="zh-CN" altLang="en-US" dirty="0"/>
              <a:t>问：你会下国际象棋吗？</a:t>
            </a:r>
          </a:p>
          <a:p>
            <a:r>
              <a:rPr lang="zh-CN" altLang="en-US" dirty="0"/>
              <a:t>答：是的，我不是已经说过了吗？</a:t>
            </a:r>
          </a:p>
          <a:p>
            <a:r>
              <a:rPr lang="zh-CN" altLang="en-US" dirty="0"/>
              <a:t>问：请再次回答，你会下国际象棋吗？</a:t>
            </a:r>
          </a:p>
          <a:p>
            <a:r>
              <a:rPr lang="zh-CN" altLang="en-US" dirty="0"/>
              <a:t>答：你烦不烦，干嘛老提同样的问题。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6D9B0C6-1500-4AB8-8674-715DCC45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95550"/>
            <a:ext cx="7228656" cy="669154"/>
          </a:xfrm>
        </p:spPr>
        <p:txBody>
          <a:bodyPr/>
          <a:lstStyle/>
          <a:p>
            <a:r>
              <a:rPr lang="en-US" altLang="zh-CN" dirty="0">
                <a:solidFill>
                  <a:srgbClr val="286857"/>
                </a:solidFill>
              </a:rPr>
              <a:t>QA</a:t>
            </a:r>
            <a:r>
              <a:rPr lang="zh-CN" altLang="en-US" dirty="0">
                <a:solidFill>
                  <a:srgbClr val="286857"/>
                </a:solidFill>
              </a:rPr>
              <a:t>体现的智能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1" name="内容占位符 10" descr="贤二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2844" y="71414"/>
            <a:ext cx="2726234" cy="4846638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pic>
        <p:nvPicPr>
          <p:cNvPr id="12" name="图片 11" descr="贤二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8662" y="71414"/>
            <a:ext cx="2772674" cy="4929198"/>
          </a:xfrm>
          <a:prstGeom prst="rect">
            <a:avLst/>
          </a:prstGeom>
        </p:spPr>
      </p:pic>
      <p:pic>
        <p:nvPicPr>
          <p:cNvPr id="13" name="图片 12" descr="贤二3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85918" y="0"/>
            <a:ext cx="3013777" cy="5357826"/>
          </a:xfrm>
          <a:prstGeom prst="rect">
            <a:avLst/>
          </a:prstGeom>
        </p:spPr>
      </p:pic>
      <p:pic>
        <p:nvPicPr>
          <p:cNvPr id="16" name="图片 15" descr="贤二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71869" y="0"/>
            <a:ext cx="3357586" cy="5969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95550"/>
            <a:ext cx="7228656" cy="669154"/>
          </a:xfrm>
        </p:spPr>
        <p:txBody>
          <a:bodyPr/>
          <a:lstStyle/>
          <a:p>
            <a:r>
              <a:rPr lang="zh-CN" altLang="en-US" dirty="0">
                <a:solidFill>
                  <a:srgbClr val="286857"/>
                </a:solidFill>
              </a:rPr>
              <a:t>棋类游戏体现的智能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85794"/>
            <a:ext cx="8749636" cy="557216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1997</a:t>
            </a:r>
            <a:r>
              <a:rPr lang="zh-CN" altLang="en-US" dirty="0"/>
              <a:t>年，</a:t>
            </a:r>
            <a:r>
              <a:rPr lang="en-US" altLang="zh-CN" dirty="0"/>
              <a:t>IBM</a:t>
            </a:r>
            <a:r>
              <a:rPr lang="zh-CN" altLang="en-US" dirty="0"/>
              <a:t>公司的深蓝（</a:t>
            </a:r>
            <a:r>
              <a:rPr lang="en-US" altLang="zh-CN" dirty="0"/>
              <a:t>Deep Blue</a:t>
            </a:r>
            <a:r>
              <a:rPr lang="zh-CN" altLang="en-US" dirty="0"/>
              <a:t>）超级计算机，“人机大战”战胜国际象棋大师卡斯帕罗夫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誉为“人工智能的一大胜利”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但另一面：“</a:t>
            </a:r>
            <a:r>
              <a:rPr lang="en-US" altLang="zh-CN" b="1" dirty="0">
                <a:solidFill>
                  <a:srgbClr val="002060"/>
                </a:solidFill>
              </a:rPr>
              <a:t>AI is bullshit</a:t>
            </a:r>
            <a:r>
              <a:rPr lang="zh-CN" altLang="en-US" b="1" dirty="0">
                <a:solidFill>
                  <a:srgbClr val="002060"/>
                </a:solidFill>
              </a:rPr>
              <a:t>”。计算机最大的本领也确实就是不知疲倦的高速运算。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影响了人类生活，改变了人类的生活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dirty="0" err="1"/>
              <a:t>AlphaGo</a:t>
            </a:r>
            <a:r>
              <a:rPr lang="zh-CN" altLang="en-US" dirty="0"/>
              <a:t>：由</a:t>
            </a:r>
            <a:r>
              <a:rPr lang="en-US" altLang="zh-CN" dirty="0"/>
              <a:t>Google</a:t>
            </a:r>
            <a:r>
              <a:rPr lang="zh-CN" altLang="en-US" dirty="0"/>
              <a:t>公司旗下的</a:t>
            </a:r>
            <a:r>
              <a:rPr lang="en-US" altLang="zh-CN" dirty="0" err="1"/>
              <a:t>DeepMind</a:t>
            </a:r>
            <a:r>
              <a:rPr lang="zh-CN" altLang="en-US" dirty="0"/>
              <a:t>开发，利用“价值网络”去计算局面，用“策略网络”去选择下子。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2060"/>
                </a:solidFill>
              </a:rPr>
              <a:t>2016</a:t>
            </a:r>
            <a:r>
              <a:rPr lang="zh-CN" altLang="en-US" b="1" dirty="0">
                <a:solidFill>
                  <a:srgbClr val="002060"/>
                </a:solidFill>
              </a:rPr>
              <a:t>年</a:t>
            </a:r>
            <a:r>
              <a:rPr lang="en-US" altLang="zh-CN" b="1" dirty="0">
                <a:solidFill>
                  <a:srgbClr val="002060"/>
                </a:solidFill>
              </a:rPr>
              <a:t>3</a:t>
            </a:r>
            <a:r>
              <a:rPr lang="zh-CN" altLang="en-US" b="1" dirty="0">
                <a:solidFill>
                  <a:srgbClr val="002060"/>
                </a:solidFill>
              </a:rPr>
              <a:t>月对战世界围棋冠军、职业九段选手李世石，并以</a:t>
            </a:r>
            <a:r>
              <a:rPr lang="en-US" altLang="zh-CN" b="1" dirty="0">
                <a:solidFill>
                  <a:srgbClr val="002060"/>
                </a:solidFill>
              </a:rPr>
              <a:t>4:1</a:t>
            </a:r>
            <a:r>
              <a:rPr lang="zh-CN" altLang="en-US" b="1" dirty="0">
                <a:solidFill>
                  <a:srgbClr val="002060"/>
                </a:solidFill>
              </a:rPr>
              <a:t>的总比分获胜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dirty="0"/>
              <a:t>计算已经涉及到生活的方方面面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无所不在的计算（</a:t>
            </a:r>
            <a:r>
              <a:rPr lang="en-US" altLang="zh-CN" b="1" dirty="0">
                <a:solidFill>
                  <a:srgbClr val="002060"/>
                </a:solidFill>
              </a:rPr>
              <a:t>Pervasive Computing</a:t>
            </a:r>
            <a:r>
              <a:rPr lang="zh-CN" altLang="en-US" b="1" dirty="0">
                <a:solidFill>
                  <a:srgbClr val="002060"/>
                </a:solidFill>
              </a:rPr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422"/>
            <a:ext cx="7239000" cy="1143000"/>
          </a:xfrm>
        </p:spPr>
        <p:txBody>
          <a:bodyPr/>
          <a:lstStyle/>
          <a:p>
            <a:r>
              <a:rPr lang="zh-CN" altLang="en-US" dirty="0"/>
              <a:t>计算机与程序设计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/>
              <a:t>什么是计算机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zh-CN" altLang="en-US" b="1" dirty="0"/>
              <a:t>计算机</a:t>
            </a:r>
            <a:r>
              <a:rPr lang="zh-CN" altLang="en-US" sz="2800" b="1" dirty="0">
                <a:solidFill>
                  <a:srgbClr val="FF0000"/>
                </a:solidFill>
              </a:rPr>
              <a:t>语言</a:t>
            </a:r>
            <a:r>
              <a:rPr lang="zh-CN" altLang="en-US" b="1" dirty="0"/>
              <a:t>是什么</a:t>
            </a:r>
            <a:endParaRPr lang="en-US" altLang="zh-CN" b="1" dirty="0"/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程序设计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b="1" dirty="0"/>
              <a:t>二进制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zh-CN" altLang="en-US" b="1" dirty="0"/>
              <a:t>程序设计语言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14330"/>
            <a:ext cx="7239000" cy="1143000"/>
          </a:xfrm>
        </p:spPr>
        <p:txBody>
          <a:bodyPr/>
          <a:lstStyle/>
          <a:p>
            <a:r>
              <a:rPr lang="zh-CN" altLang="en-US" dirty="0"/>
              <a:t>计算机体系结构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2984"/>
            <a:ext cx="7239000" cy="4846320"/>
          </a:xfrm>
        </p:spPr>
        <p:txBody>
          <a:bodyPr/>
          <a:lstStyle/>
          <a:p>
            <a:r>
              <a:rPr lang="zh-CN" altLang="en-US" b="1" dirty="0"/>
              <a:t>冯</a:t>
            </a:r>
            <a:r>
              <a:rPr lang="en-US" altLang="zh-CN" b="1" dirty="0"/>
              <a:t>·</a:t>
            </a:r>
            <a:r>
              <a:rPr lang="zh-CN" altLang="en-US" b="1" dirty="0"/>
              <a:t>诺依曼结构</a:t>
            </a:r>
          </a:p>
        </p:txBody>
      </p:sp>
      <p:pic>
        <p:nvPicPr>
          <p:cNvPr id="4" name="内容占位符 7" descr="冯诺依曼结构图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485" y="2323715"/>
            <a:ext cx="6734035" cy="2819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85768"/>
            <a:ext cx="7239000" cy="1143000"/>
          </a:xfrm>
        </p:spPr>
        <p:txBody>
          <a:bodyPr/>
          <a:lstStyle/>
          <a:p>
            <a:r>
              <a:rPr lang="zh-CN" altLang="en-US" dirty="0"/>
              <a:t>计算机的组成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06" y="940134"/>
            <a:ext cx="8001056" cy="4846320"/>
          </a:xfrm>
        </p:spPr>
        <p:txBody>
          <a:bodyPr>
            <a:normAutofit/>
          </a:bodyPr>
          <a:lstStyle/>
          <a:p>
            <a:pPr lvl="1">
              <a:lnSpc>
                <a:spcPct val="130000"/>
              </a:lnSpc>
            </a:pPr>
            <a:r>
              <a:rPr lang="zh-CN" altLang="en-US" sz="2600" b="1" dirty="0">
                <a:solidFill>
                  <a:schemeClr val="tx1"/>
                </a:solidFill>
              </a:rPr>
              <a:t>存储器（</a:t>
            </a:r>
            <a:r>
              <a:rPr lang="en-US" altLang="zh-CN" sz="2600" b="1" dirty="0">
                <a:solidFill>
                  <a:schemeClr val="tx1"/>
                </a:solidFill>
              </a:rPr>
              <a:t>RAM － Random Access Memory）</a:t>
            </a:r>
            <a:br>
              <a:rPr lang="en-US" altLang="zh-CN" sz="2600" b="1" dirty="0">
                <a:solidFill>
                  <a:schemeClr val="tx1"/>
                </a:solidFill>
              </a:rPr>
            </a:br>
            <a:r>
              <a:rPr lang="zh-CN" altLang="en-US" sz="2600" b="1" dirty="0">
                <a:solidFill>
                  <a:srgbClr val="002060"/>
                </a:solidFill>
              </a:rPr>
              <a:t>存储程序指令和数据，包括</a:t>
            </a:r>
            <a:r>
              <a:rPr lang="zh-CN" altLang="en-US" sz="2600" b="1" dirty="0">
                <a:solidFill>
                  <a:srgbClr val="7030A0"/>
                </a:solidFill>
              </a:rPr>
              <a:t>随机存取存储器</a:t>
            </a:r>
            <a:r>
              <a:rPr lang="zh-CN" altLang="en-US" sz="2600" b="1" dirty="0">
                <a:solidFill>
                  <a:srgbClr val="002060"/>
                </a:solidFill>
              </a:rPr>
              <a:t>和</a:t>
            </a:r>
            <a:r>
              <a:rPr lang="zh-CN" altLang="en-US" sz="2600" b="1" dirty="0">
                <a:solidFill>
                  <a:srgbClr val="7030A0"/>
                </a:solidFill>
              </a:rPr>
              <a:t>只读存储器（</a:t>
            </a:r>
            <a:r>
              <a:rPr lang="en-US" altLang="zh-CN" sz="2600" b="1" dirty="0">
                <a:solidFill>
                  <a:srgbClr val="7030A0"/>
                </a:solidFill>
              </a:rPr>
              <a:t>Read Only Memory</a:t>
            </a:r>
            <a:r>
              <a:rPr lang="zh-CN" altLang="en-US" sz="2600" b="1" dirty="0">
                <a:solidFill>
                  <a:srgbClr val="7030A0"/>
                </a:solidFill>
              </a:rPr>
              <a:t>）</a:t>
            </a:r>
            <a:endParaRPr lang="en-US" altLang="zh-CN" sz="2600" b="1" dirty="0">
              <a:solidFill>
                <a:srgbClr val="7030A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2600" b="1" dirty="0">
                <a:solidFill>
                  <a:schemeClr val="tx1"/>
                </a:solidFill>
              </a:rPr>
              <a:t>中央处理器（</a:t>
            </a:r>
            <a:r>
              <a:rPr lang="en-US" altLang="zh-CN" sz="2600" b="1" dirty="0">
                <a:solidFill>
                  <a:schemeClr val="tx1"/>
                </a:solidFill>
              </a:rPr>
              <a:t>CPU － Central Processing Unit）</a:t>
            </a:r>
            <a:br>
              <a:rPr lang="en-US" altLang="zh-CN" sz="2600" b="1" dirty="0">
                <a:solidFill>
                  <a:schemeClr val="tx1"/>
                </a:solidFill>
              </a:rPr>
            </a:br>
            <a:r>
              <a:rPr lang="zh-CN" altLang="en-US" sz="2600" b="1" dirty="0">
                <a:solidFill>
                  <a:srgbClr val="002060"/>
                </a:solidFill>
              </a:rPr>
              <a:t>又可细分为控制器（</a:t>
            </a:r>
            <a:r>
              <a:rPr lang="en-US" altLang="zh-CN" sz="2600" b="1" dirty="0">
                <a:solidFill>
                  <a:srgbClr val="002060"/>
                </a:solidFill>
              </a:rPr>
              <a:t>CU）</a:t>
            </a:r>
            <a:r>
              <a:rPr lang="zh-CN" altLang="en-US" sz="2600" b="1" dirty="0">
                <a:solidFill>
                  <a:srgbClr val="002060"/>
                </a:solidFill>
              </a:rPr>
              <a:t>和运算器（</a:t>
            </a:r>
            <a:r>
              <a:rPr lang="en-US" altLang="zh-CN" sz="2600" b="1" dirty="0">
                <a:solidFill>
                  <a:srgbClr val="002060"/>
                </a:solidFill>
              </a:rPr>
              <a:t>ALU），</a:t>
            </a:r>
            <a:r>
              <a:rPr lang="zh-CN" altLang="en-US" sz="2600" b="1" dirty="0">
                <a:solidFill>
                  <a:srgbClr val="002060"/>
                </a:solidFill>
              </a:rPr>
              <a:t>即，</a:t>
            </a:r>
            <a:r>
              <a:rPr lang="en-US" altLang="zh-CN" sz="2600" b="1" dirty="0">
                <a:solidFill>
                  <a:srgbClr val="002060"/>
                </a:solidFill>
              </a:rPr>
              <a:t>CPU = CU + ALU</a:t>
            </a:r>
          </a:p>
          <a:p>
            <a:pPr lvl="1">
              <a:lnSpc>
                <a:spcPct val="130000"/>
              </a:lnSpc>
            </a:pPr>
            <a:r>
              <a:rPr lang="zh-CN" altLang="en-US" sz="2600" b="1" dirty="0">
                <a:solidFill>
                  <a:schemeClr val="tx1"/>
                </a:solidFill>
              </a:rPr>
              <a:t>输入输出设备（</a:t>
            </a:r>
            <a:r>
              <a:rPr lang="en-US" altLang="zh-CN" sz="2600" b="1" dirty="0">
                <a:solidFill>
                  <a:schemeClr val="tx1"/>
                </a:solidFill>
              </a:rPr>
              <a:t>I/O － Input / Output）</a:t>
            </a:r>
            <a:br>
              <a:rPr lang="en-US" altLang="zh-CN" sz="2600" b="1" dirty="0">
                <a:solidFill>
                  <a:schemeClr val="tx1"/>
                </a:solidFill>
              </a:rPr>
            </a:br>
            <a:r>
              <a:rPr lang="zh-CN" altLang="en-US" sz="2600" b="1" dirty="0">
                <a:solidFill>
                  <a:srgbClr val="002060"/>
                </a:solidFill>
              </a:rPr>
              <a:t>也称外部设备，负责对数据和程序进行输入与输出</a:t>
            </a:r>
            <a:endParaRPr lang="zh-CN" altLang="en-US" sz="2600" dirty="0">
              <a:solidFill>
                <a:srgbClr val="00206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315360" y="836712"/>
            <a:ext cx="8001056" cy="4714908"/>
            <a:chOff x="315360" y="836712"/>
            <a:chExt cx="8001056" cy="4714908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gray">
            <a:xfrm rot="39573186">
              <a:off x="4235717" y="1875744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gray">
            <a:xfrm rot="3465783">
              <a:off x="4235718" y="4039506"/>
              <a:ext cx="792162" cy="288925"/>
            </a:xfrm>
            <a:prstGeom prst="rightArrow">
              <a:avLst>
                <a:gd name="adj1" fmla="val 35167"/>
                <a:gd name="adj2" fmla="val 111028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gray">
            <a:xfrm rot="35969022">
              <a:off x="3016517" y="1951944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gray">
            <a:xfrm rot="7535209">
              <a:off x="2978417" y="4006169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gray">
            <a:xfrm>
              <a:off x="4814361" y="3003663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gray">
            <a:xfrm rot="-10800000">
              <a:off x="2404536" y="2997313"/>
              <a:ext cx="863600" cy="288925"/>
            </a:xfrm>
            <a:prstGeom prst="rightArrow">
              <a:avLst>
                <a:gd name="adj1" fmla="val 35167"/>
                <a:gd name="adj2" fmla="val 121041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gray">
            <a:xfrm>
              <a:off x="2150536" y="1235188"/>
              <a:ext cx="3743325" cy="3744912"/>
            </a:xfrm>
            <a:prstGeom prst="ellips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2" name="Group 10"/>
            <p:cNvGrpSpPr>
              <a:grpSpLocks/>
            </p:cNvGrpSpPr>
            <p:nvPr/>
          </p:nvGrpSpPr>
          <p:grpSpPr bwMode="auto">
            <a:xfrm>
              <a:off x="2887136" y="1293925"/>
              <a:ext cx="360363" cy="360363"/>
              <a:chOff x="1973" y="1706"/>
              <a:chExt cx="227" cy="227"/>
            </a:xfrm>
          </p:grpSpPr>
          <p:sp>
            <p:nvSpPr>
              <p:cNvPr id="13" name="Oval 11"/>
              <p:cNvSpPr>
                <a:spLocks noChangeArrowheads="1"/>
              </p:cNvSpPr>
              <p:nvPr/>
            </p:nvSpPr>
            <p:spPr bwMode="gray">
              <a:xfrm>
                <a:off x="1973" y="1706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Oval 12"/>
              <p:cNvSpPr>
                <a:spLocks noChangeArrowheads="1"/>
              </p:cNvSpPr>
              <p:nvPr/>
            </p:nvSpPr>
            <p:spPr bwMode="gray">
              <a:xfrm>
                <a:off x="1983" y="1725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Group 13"/>
            <p:cNvGrpSpPr>
              <a:grpSpLocks/>
            </p:cNvGrpSpPr>
            <p:nvPr/>
          </p:nvGrpSpPr>
          <p:grpSpPr bwMode="auto">
            <a:xfrm>
              <a:off x="1942574" y="2949688"/>
              <a:ext cx="360362" cy="360362"/>
              <a:chOff x="1565" y="2659"/>
              <a:chExt cx="227" cy="227"/>
            </a:xfrm>
          </p:grpSpPr>
          <p:sp>
            <p:nvSpPr>
              <p:cNvPr id="16" name="Oval 14"/>
              <p:cNvSpPr>
                <a:spLocks noChangeArrowheads="1"/>
              </p:cNvSpPr>
              <p:nvPr/>
            </p:nvSpPr>
            <p:spPr bwMode="gray">
              <a:xfrm>
                <a:off x="1565" y="2659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Oval 15"/>
              <p:cNvSpPr>
                <a:spLocks noChangeArrowheads="1"/>
              </p:cNvSpPr>
              <p:nvPr/>
            </p:nvSpPr>
            <p:spPr bwMode="gray">
              <a:xfrm>
                <a:off x="1575" y="2678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16"/>
            <p:cNvGrpSpPr>
              <a:grpSpLocks/>
            </p:cNvGrpSpPr>
            <p:nvPr/>
          </p:nvGrpSpPr>
          <p:grpSpPr bwMode="auto">
            <a:xfrm>
              <a:off x="2806174" y="4492738"/>
              <a:ext cx="360362" cy="360362"/>
              <a:chOff x="2109" y="3612"/>
              <a:chExt cx="227" cy="227"/>
            </a:xfrm>
          </p:grpSpPr>
          <p:sp>
            <p:nvSpPr>
              <p:cNvPr id="19" name="Oval 17"/>
              <p:cNvSpPr>
                <a:spLocks noChangeArrowheads="1"/>
              </p:cNvSpPr>
              <p:nvPr/>
            </p:nvSpPr>
            <p:spPr bwMode="gray">
              <a:xfrm>
                <a:off x="2109" y="3612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18"/>
              <p:cNvSpPr>
                <a:spLocks noChangeArrowheads="1"/>
              </p:cNvSpPr>
              <p:nvPr/>
            </p:nvSpPr>
            <p:spPr bwMode="gray">
              <a:xfrm>
                <a:off x="2119" y="3631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Group 19"/>
            <p:cNvGrpSpPr>
              <a:grpSpLocks/>
            </p:cNvGrpSpPr>
            <p:nvPr/>
          </p:nvGrpSpPr>
          <p:grpSpPr bwMode="auto">
            <a:xfrm>
              <a:off x="4736574" y="1273288"/>
              <a:ext cx="360362" cy="360362"/>
              <a:chOff x="3470" y="1706"/>
              <a:chExt cx="227" cy="227"/>
            </a:xfrm>
          </p:grpSpPr>
          <p:sp>
            <p:nvSpPr>
              <p:cNvPr id="22" name="Oval 20"/>
              <p:cNvSpPr>
                <a:spLocks noChangeArrowheads="1"/>
              </p:cNvSpPr>
              <p:nvPr/>
            </p:nvSpPr>
            <p:spPr bwMode="gray">
              <a:xfrm>
                <a:off x="3470" y="1706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Oval 21"/>
              <p:cNvSpPr>
                <a:spLocks noChangeArrowheads="1"/>
              </p:cNvSpPr>
              <p:nvPr/>
            </p:nvSpPr>
            <p:spPr bwMode="gray">
              <a:xfrm>
                <a:off x="3480" y="1725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Group 22"/>
            <p:cNvGrpSpPr>
              <a:grpSpLocks/>
            </p:cNvGrpSpPr>
            <p:nvPr/>
          </p:nvGrpSpPr>
          <p:grpSpPr bwMode="auto">
            <a:xfrm>
              <a:off x="5685899" y="2949688"/>
              <a:ext cx="360362" cy="360362"/>
              <a:chOff x="3923" y="2659"/>
              <a:chExt cx="227" cy="227"/>
            </a:xfrm>
          </p:grpSpPr>
          <p:sp>
            <p:nvSpPr>
              <p:cNvPr id="25" name="Oval 23"/>
              <p:cNvSpPr>
                <a:spLocks noChangeArrowheads="1"/>
              </p:cNvSpPr>
              <p:nvPr/>
            </p:nvSpPr>
            <p:spPr bwMode="gray">
              <a:xfrm>
                <a:off x="3923" y="2659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24"/>
              <p:cNvSpPr>
                <a:spLocks noChangeArrowheads="1"/>
              </p:cNvSpPr>
              <p:nvPr/>
            </p:nvSpPr>
            <p:spPr bwMode="gray">
              <a:xfrm>
                <a:off x="3933" y="2678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" name="Group 25"/>
            <p:cNvGrpSpPr>
              <a:grpSpLocks/>
            </p:cNvGrpSpPr>
            <p:nvPr/>
          </p:nvGrpSpPr>
          <p:grpSpPr bwMode="auto">
            <a:xfrm>
              <a:off x="4792136" y="4549888"/>
              <a:ext cx="360363" cy="360362"/>
              <a:chOff x="3515" y="3521"/>
              <a:chExt cx="227" cy="227"/>
            </a:xfrm>
          </p:grpSpPr>
          <p:sp>
            <p:nvSpPr>
              <p:cNvPr id="28" name="Oval 26"/>
              <p:cNvSpPr>
                <a:spLocks noChangeArrowheads="1"/>
              </p:cNvSpPr>
              <p:nvPr/>
            </p:nvSpPr>
            <p:spPr bwMode="gray">
              <a:xfrm>
                <a:off x="3515" y="3521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Oval 27"/>
              <p:cNvSpPr>
                <a:spLocks noChangeArrowheads="1"/>
              </p:cNvSpPr>
              <p:nvPr/>
            </p:nvSpPr>
            <p:spPr bwMode="gray">
              <a:xfrm>
                <a:off x="3525" y="3540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" name="Oval 28"/>
            <p:cNvSpPr>
              <a:spLocks noChangeArrowheads="1"/>
            </p:cNvSpPr>
            <p:nvPr/>
          </p:nvSpPr>
          <p:spPr bwMode="gray">
            <a:xfrm>
              <a:off x="3082399" y="2187688"/>
              <a:ext cx="1944687" cy="1944687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Oval 29"/>
            <p:cNvSpPr>
              <a:spLocks noChangeArrowheads="1"/>
            </p:cNvSpPr>
            <p:nvPr/>
          </p:nvSpPr>
          <p:spPr bwMode="gray">
            <a:xfrm>
              <a:off x="3076049" y="2171813"/>
              <a:ext cx="1944687" cy="1944687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alpha val="32001"/>
                  </a:schemeClr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Oval 30"/>
            <p:cNvSpPr>
              <a:spLocks noChangeArrowheads="1"/>
            </p:cNvSpPr>
            <p:nvPr/>
          </p:nvSpPr>
          <p:spPr bwMode="gray">
            <a:xfrm>
              <a:off x="3209399" y="2314688"/>
              <a:ext cx="1690687" cy="1690687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Oval 31"/>
            <p:cNvSpPr>
              <a:spLocks noChangeArrowheads="1"/>
            </p:cNvSpPr>
            <p:nvPr/>
          </p:nvSpPr>
          <p:spPr bwMode="gray">
            <a:xfrm>
              <a:off x="3191936" y="2287700"/>
              <a:ext cx="1690688" cy="16906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63529"/>
                    <a:invGamma/>
                  </a:schemeClr>
                </a:gs>
                <a:gs pos="100000">
                  <a:schemeClr val="hlink">
                    <a:alpha val="0"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Oval 32"/>
            <p:cNvSpPr>
              <a:spLocks noChangeArrowheads="1"/>
            </p:cNvSpPr>
            <p:nvPr/>
          </p:nvSpPr>
          <p:spPr bwMode="gray">
            <a:xfrm>
              <a:off x="3293536" y="2398825"/>
              <a:ext cx="1522413" cy="1522413"/>
            </a:xfrm>
            <a:prstGeom prst="ellipse">
              <a:avLst/>
            </a:prstGeom>
            <a:solidFill>
              <a:srgbClr val="333333"/>
            </a:soli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Oval 33"/>
            <p:cNvSpPr>
              <a:spLocks noChangeArrowheads="1"/>
            </p:cNvSpPr>
            <p:nvPr/>
          </p:nvSpPr>
          <p:spPr bwMode="auto">
            <a:xfrm>
              <a:off x="3315761" y="2417875"/>
              <a:ext cx="1471613" cy="147320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36" name="Oval 34"/>
            <p:cNvSpPr>
              <a:spLocks noChangeArrowheads="1"/>
            </p:cNvSpPr>
            <p:nvPr/>
          </p:nvSpPr>
          <p:spPr bwMode="auto">
            <a:xfrm>
              <a:off x="3333224" y="2427400"/>
              <a:ext cx="1438275" cy="143510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auto">
            <a:xfrm>
              <a:off x="3349099" y="2441688"/>
              <a:ext cx="1366837" cy="134143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auto">
            <a:xfrm>
              <a:off x="3430061" y="2478200"/>
              <a:ext cx="1214438" cy="109061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3418243" y="2887775"/>
              <a:ext cx="1261885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800" dirty="0">
                  <a:solidFill>
                    <a:srgbClr val="000000"/>
                  </a:solidFill>
                  <a:ea typeface="宋体" pitchFamily="2" charset="-122"/>
                </a:rPr>
                <a:t>计算机</a:t>
              </a:r>
              <a:endParaRPr lang="en-US" altLang="zh-CN" sz="2800" dirty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40" name="Text Box 38"/>
            <p:cNvSpPr txBox="1">
              <a:spLocks noChangeArrowheads="1"/>
            </p:cNvSpPr>
            <p:nvPr/>
          </p:nvSpPr>
          <p:spPr bwMode="auto">
            <a:xfrm>
              <a:off x="5173136" y="1220900"/>
              <a:ext cx="59503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dirty="0">
                  <a:ea typeface="宋体" pitchFamily="2" charset="-122"/>
                </a:rPr>
                <a:t>主板</a:t>
              </a:r>
              <a:endParaRPr lang="en-US" altLang="zh-CN" sz="1600" dirty="0">
                <a:ea typeface="宋体" pitchFamily="2" charset="-122"/>
              </a:endParaRPr>
            </a:p>
          </p:txBody>
        </p:sp>
        <p:sp>
          <p:nvSpPr>
            <p:cNvPr id="41" name="Text Box 39"/>
            <p:cNvSpPr txBox="1">
              <a:spLocks noChangeArrowheads="1"/>
            </p:cNvSpPr>
            <p:nvPr/>
          </p:nvSpPr>
          <p:spPr bwMode="auto">
            <a:xfrm>
              <a:off x="1644798" y="1220900"/>
              <a:ext cx="1210588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1600" dirty="0">
                  <a:ea typeface="宋体" pitchFamily="2" charset="-122"/>
                </a:rPr>
                <a:t>中央处理器</a:t>
              </a:r>
              <a:endParaRPr lang="en-US" altLang="zh-CN" sz="1600" dirty="0">
                <a:ea typeface="宋体" pitchFamily="2" charset="-122"/>
              </a:endParaRPr>
            </a:p>
          </p:txBody>
        </p:sp>
        <p:sp>
          <p:nvSpPr>
            <p:cNvPr id="42" name="Text Box 40"/>
            <p:cNvSpPr txBox="1">
              <a:spLocks noChangeArrowheads="1"/>
            </p:cNvSpPr>
            <p:nvPr/>
          </p:nvSpPr>
          <p:spPr bwMode="auto">
            <a:xfrm>
              <a:off x="6087536" y="2973500"/>
              <a:ext cx="59503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dirty="0">
                  <a:ea typeface="宋体" pitchFamily="2" charset="-122"/>
                </a:rPr>
                <a:t>内存</a:t>
              </a:r>
              <a:endParaRPr lang="en-US" altLang="zh-CN" sz="1600" dirty="0">
                <a:ea typeface="宋体" pitchFamily="2" charset="-122"/>
              </a:endParaRPr>
            </a:p>
          </p:txBody>
        </p:sp>
        <p:sp>
          <p:nvSpPr>
            <p:cNvPr id="43" name="Text Box 41"/>
            <p:cNvSpPr txBox="1">
              <a:spLocks noChangeArrowheads="1"/>
            </p:cNvSpPr>
            <p:nvPr/>
          </p:nvSpPr>
          <p:spPr bwMode="auto">
            <a:xfrm>
              <a:off x="5173136" y="4573700"/>
              <a:ext cx="244169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dirty="0">
                  <a:ea typeface="宋体" pitchFamily="2" charset="-122"/>
                </a:rPr>
                <a:t>硬盘、光盘驱动器、</a:t>
              </a:r>
              <a:r>
                <a:rPr lang="en-US" altLang="zh-CN" sz="1600" dirty="0">
                  <a:ea typeface="宋体" pitchFamily="2" charset="-122"/>
                </a:rPr>
                <a:t>……</a:t>
              </a:r>
            </a:p>
          </p:txBody>
        </p:sp>
        <p:sp>
          <p:nvSpPr>
            <p:cNvPr id="44" name="Text Box 43"/>
            <p:cNvSpPr txBox="1">
              <a:spLocks noChangeArrowheads="1"/>
            </p:cNvSpPr>
            <p:nvPr/>
          </p:nvSpPr>
          <p:spPr bwMode="auto">
            <a:xfrm>
              <a:off x="542676" y="4511788"/>
              <a:ext cx="223651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1600" dirty="0">
                  <a:ea typeface="宋体" pitchFamily="2" charset="-122"/>
                </a:rPr>
                <a:t>声卡、显卡、网卡</a:t>
              </a:r>
              <a:r>
                <a:rPr lang="en-US" altLang="zh-CN" sz="1600" dirty="0">
                  <a:ea typeface="宋体" pitchFamily="2" charset="-122"/>
                </a:rPr>
                <a:t>……</a:t>
              </a:r>
            </a:p>
          </p:txBody>
        </p:sp>
        <p:pic>
          <p:nvPicPr>
            <p:cNvPr id="45" name="图片 44" descr="CPU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529674" y="1193902"/>
              <a:ext cx="819191" cy="571795"/>
            </a:xfrm>
            <a:prstGeom prst="rect">
              <a:avLst/>
            </a:prstGeom>
          </p:spPr>
        </p:pic>
        <p:pic>
          <p:nvPicPr>
            <p:cNvPr id="46" name="图片 45" descr="内存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6816218" y="2908414"/>
              <a:ext cx="1310705" cy="983029"/>
            </a:xfrm>
            <a:prstGeom prst="rect">
              <a:avLst/>
            </a:prstGeom>
          </p:spPr>
        </p:pic>
        <p:pic>
          <p:nvPicPr>
            <p:cNvPr id="47" name="图片 46" descr="显卡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flipH="1">
              <a:off x="315360" y="3337042"/>
              <a:ext cx="1310705" cy="983029"/>
            </a:xfrm>
            <a:prstGeom prst="rect">
              <a:avLst/>
            </a:prstGeom>
          </p:spPr>
        </p:pic>
        <p:pic>
          <p:nvPicPr>
            <p:cNvPr id="48" name="图片 47" descr="硬盘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flipH="1">
              <a:off x="6959094" y="4425895"/>
              <a:ext cx="897958" cy="1125725"/>
            </a:xfrm>
            <a:prstGeom prst="rect">
              <a:avLst/>
            </a:prstGeom>
          </p:spPr>
        </p:pic>
        <p:pic>
          <p:nvPicPr>
            <p:cNvPr id="49" name="图片 48" descr="主板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flipH="1">
              <a:off x="6316152" y="836712"/>
              <a:ext cx="2000264" cy="20002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7239000" cy="1143000"/>
          </a:xfrm>
        </p:spPr>
        <p:txBody>
          <a:bodyPr/>
          <a:lstStyle/>
          <a:p>
            <a:r>
              <a:rPr lang="zh-CN" altLang="en-US" dirty="0"/>
              <a:t>二进制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28670"/>
            <a:ext cx="7400948" cy="4846320"/>
          </a:xfrm>
        </p:spPr>
        <p:txBody>
          <a:bodyPr>
            <a:noAutofit/>
          </a:bodyPr>
          <a:lstStyle/>
          <a:p>
            <a:r>
              <a:rPr lang="zh-CN" altLang="en-US" sz="2800" b="1" dirty="0"/>
              <a:t>每个</a:t>
            </a:r>
            <a:r>
              <a:rPr lang="zh-CN" altLang="en-US" sz="2800" b="1" dirty="0">
                <a:solidFill>
                  <a:srgbClr val="FF0000"/>
                </a:solidFill>
              </a:rPr>
              <a:t>二进制数位（</a:t>
            </a:r>
            <a:r>
              <a:rPr lang="en-US" altLang="zh-CN" sz="2800" b="1" dirty="0">
                <a:solidFill>
                  <a:srgbClr val="FF0000"/>
                </a:solidFill>
              </a:rPr>
              <a:t>bit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r>
              <a:rPr lang="zh-CN" altLang="en-US" sz="2800" b="1" dirty="0"/>
              <a:t>只有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1</a:t>
            </a:r>
          </a:p>
          <a:p>
            <a:r>
              <a:rPr lang="zh-CN" altLang="en-US" sz="2800" b="1" dirty="0"/>
              <a:t>逢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进</a:t>
            </a:r>
            <a:r>
              <a:rPr lang="en-US" altLang="zh-CN" sz="2800" b="1" dirty="0"/>
              <a:t>1</a:t>
            </a:r>
          </a:p>
          <a:p>
            <a:r>
              <a:rPr lang="zh-CN" altLang="en-US" sz="2800" b="1" dirty="0"/>
              <a:t>每个二进制数位的权，从右向左依次为：</a:t>
            </a:r>
            <a:br>
              <a:rPr lang="en-US" altLang="zh-CN" sz="2800" b="1" dirty="0"/>
            </a:br>
            <a:r>
              <a:rPr lang="en-US" altLang="zh-CN" sz="2800" b="1" dirty="0"/>
              <a:t>        2</a:t>
            </a:r>
            <a:r>
              <a:rPr lang="en-US" altLang="zh-CN" sz="2800" b="1" baseline="30000" dirty="0"/>
              <a:t>n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n=0,1,2,3, …</a:t>
            </a:r>
            <a:r>
              <a:rPr lang="zh-CN" altLang="en-US" sz="2800" b="1" dirty="0"/>
              <a:t>）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二进制数的表示方法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</a:rPr>
              <a:t>1011</a:t>
            </a:r>
            <a:r>
              <a:rPr lang="zh-CN" altLang="en-US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</a:rPr>
              <a:t>）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转换为十进制数的方法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按“权”展开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</a:rPr>
              <a:t>1011(2) = 1</a:t>
            </a:r>
            <a:r>
              <a:rPr lang="zh-CN" altLang="en-US" sz="2400" b="1" dirty="0">
                <a:solidFill>
                  <a:srgbClr val="002060"/>
                </a:solidFill>
              </a:rPr>
              <a:t>×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3</a:t>
            </a:r>
            <a:r>
              <a:rPr lang="en-US" altLang="zh-CN" sz="2400" b="1" dirty="0">
                <a:solidFill>
                  <a:srgbClr val="002060"/>
                </a:solidFill>
              </a:rPr>
              <a:t>+0</a:t>
            </a:r>
            <a:r>
              <a:rPr lang="zh-CN" altLang="en-US" sz="2400" b="1" dirty="0">
                <a:solidFill>
                  <a:srgbClr val="002060"/>
                </a:solidFill>
              </a:rPr>
              <a:t>×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2</a:t>
            </a:r>
            <a:r>
              <a:rPr lang="en-US" altLang="zh-CN" sz="2400" b="1" dirty="0">
                <a:solidFill>
                  <a:srgbClr val="002060"/>
                </a:solidFill>
              </a:rPr>
              <a:t>+1</a:t>
            </a:r>
            <a:r>
              <a:rPr lang="zh-CN" altLang="en-US" sz="2400" b="1" dirty="0">
                <a:solidFill>
                  <a:srgbClr val="002060"/>
                </a:solidFill>
              </a:rPr>
              <a:t>×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1</a:t>
            </a:r>
            <a:r>
              <a:rPr lang="en-US" altLang="zh-CN" sz="2400" b="1" dirty="0">
                <a:solidFill>
                  <a:srgbClr val="002060"/>
                </a:solidFill>
              </a:rPr>
              <a:t>+1</a:t>
            </a:r>
            <a:r>
              <a:rPr lang="zh-CN" altLang="en-US" sz="2400" b="1" dirty="0">
                <a:solidFill>
                  <a:srgbClr val="002060"/>
                </a:solidFill>
              </a:rPr>
              <a:t>×</a:t>
            </a:r>
            <a:r>
              <a:rPr lang="en-US" altLang="zh-CN" sz="2400" b="1" dirty="0">
                <a:solidFill>
                  <a:srgbClr val="002060"/>
                </a:solidFill>
              </a:rPr>
              <a:t>2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0</a:t>
            </a:r>
            <a:r>
              <a:rPr lang="en-US" altLang="zh-CN" sz="2400" b="1" dirty="0">
                <a:solidFill>
                  <a:srgbClr val="002060"/>
                </a:solidFill>
              </a:rPr>
              <a:t>=8+0+2+1=11(10)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-428652"/>
            <a:ext cx="7239000" cy="1143000"/>
          </a:xfrm>
        </p:spPr>
        <p:txBody>
          <a:bodyPr/>
          <a:lstStyle/>
          <a:p>
            <a:r>
              <a:rPr lang="zh-CN" altLang="en-US" dirty="0"/>
              <a:t>八进制、十六进制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714356"/>
            <a:ext cx="8821644" cy="5857916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3200" b="1" dirty="0"/>
              <a:t>八进制</a:t>
            </a:r>
            <a:endParaRPr lang="en-US" altLang="zh-CN" sz="3200" b="1" dirty="0"/>
          </a:p>
          <a:p>
            <a:pPr lvl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每个八进制数位的数字：</a:t>
            </a:r>
            <a:r>
              <a:rPr lang="en-US" altLang="zh-CN" sz="2800" b="1" dirty="0">
                <a:solidFill>
                  <a:srgbClr val="002060"/>
                </a:solidFill>
              </a:rPr>
              <a:t>0</a:t>
            </a:r>
            <a:r>
              <a:rPr lang="zh-CN" altLang="en-US" sz="2800" b="1" dirty="0">
                <a:solidFill>
                  <a:srgbClr val="002060"/>
                </a:solidFill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</a:rPr>
              <a:t>…</a:t>
            </a:r>
            <a:r>
              <a:rPr lang="zh-CN" altLang="en-US" sz="2800" b="1" dirty="0">
                <a:solidFill>
                  <a:srgbClr val="002060"/>
                </a:solidFill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</a:rPr>
              <a:t>7</a:t>
            </a:r>
            <a:r>
              <a:rPr lang="zh-CN" altLang="en-US" sz="2800" b="1" dirty="0">
                <a:solidFill>
                  <a:srgbClr val="002060"/>
                </a:solidFill>
              </a:rPr>
              <a:t>；</a:t>
            </a:r>
            <a:br>
              <a:rPr lang="en-US" altLang="zh-CN" sz="2800" b="1" dirty="0">
                <a:solidFill>
                  <a:srgbClr val="002060"/>
                </a:solidFill>
              </a:rPr>
            </a:br>
            <a:r>
              <a:rPr lang="zh-CN" altLang="en-US" sz="2800" b="1" dirty="0">
                <a:solidFill>
                  <a:srgbClr val="002060"/>
                </a:solidFill>
              </a:rPr>
              <a:t>逢</a:t>
            </a:r>
            <a:r>
              <a:rPr lang="en-US" altLang="zh-CN" sz="2800" b="1" dirty="0">
                <a:solidFill>
                  <a:srgbClr val="002060"/>
                </a:solidFill>
              </a:rPr>
              <a:t>8</a:t>
            </a:r>
            <a:r>
              <a:rPr lang="zh-CN" altLang="en-US" sz="2800" b="1" dirty="0">
                <a:solidFill>
                  <a:srgbClr val="002060"/>
                </a:solidFill>
              </a:rPr>
              <a:t>进</a:t>
            </a:r>
            <a:r>
              <a:rPr lang="en-US" altLang="zh-CN" sz="2800" b="1" dirty="0">
                <a:solidFill>
                  <a:srgbClr val="002060"/>
                </a:solidFill>
              </a:rPr>
              <a:t>1</a:t>
            </a:r>
          </a:p>
          <a:p>
            <a:pPr lvl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</a:rPr>
              <a:t>每位的权（</a:t>
            </a:r>
            <a:r>
              <a:rPr lang="en-US" altLang="zh-CN" sz="2800" b="1" dirty="0">
                <a:solidFill>
                  <a:srgbClr val="002060"/>
                </a:solidFill>
              </a:rPr>
              <a:t>weight</a:t>
            </a:r>
            <a:r>
              <a:rPr lang="zh-CN" altLang="en-US" sz="2800" b="1" dirty="0">
                <a:solidFill>
                  <a:srgbClr val="002060"/>
                </a:solidFill>
              </a:rPr>
              <a:t>）从右往左依次为：</a:t>
            </a:r>
            <a:br>
              <a:rPr lang="en-US" altLang="zh-CN" sz="2800" b="1" dirty="0">
                <a:solidFill>
                  <a:srgbClr val="002060"/>
                </a:solidFill>
              </a:rPr>
            </a:br>
            <a:r>
              <a:rPr lang="en-US" altLang="zh-CN" sz="2800" b="1" dirty="0">
                <a:solidFill>
                  <a:srgbClr val="002060"/>
                </a:solidFill>
              </a:rPr>
              <a:t>       8</a:t>
            </a:r>
            <a:r>
              <a:rPr lang="en-US" altLang="zh-CN" sz="2800" b="1" baseline="30000" dirty="0">
                <a:solidFill>
                  <a:srgbClr val="002060"/>
                </a:solidFill>
              </a:rPr>
              <a:t>n</a:t>
            </a:r>
            <a:r>
              <a:rPr lang="zh-CN" altLang="en-US" sz="2800" b="1" dirty="0">
                <a:solidFill>
                  <a:srgbClr val="002060"/>
                </a:solidFill>
              </a:rPr>
              <a:t>（</a:t>
            </a:r>
            <a:r>
              <a:rPr lang="en-US" altLang="zh-CN" sz="2800" b="1" dirty="0">
                <a:solidFill>
                  <a:srgbClr val="002060"/>
                </a:solidFill>
              </a:rPr>
              <a:t>n</a:t>
            </a:r>
            <a:r>
              <a:rPr lang="zh-CN" altLang="en-US" sz="2800" b="1" dirty="0">
                <a:solidFill>
                  <a:srgbClr val="002060"/>
                </a:solidFill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</a:rPr>
              <a:t>= 0</a:t>
            </a:r>
            <a:r>
              <a:rPr lang="zh-CN" altLang="en-US" sz="2800" b="1" dirty="0">
                <a:solidFill>
                  <a:srgbClr val="002060"/>
                </a:solidFill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</a:rPr>
              <a:t>，</a:t>
            </a:r>
            <a:r>
              <a:rPr lang="en-US" altLang="zh-CN" sz="2800" b="1" dirty="0">
                <a:solidFill>
                  <a:srgbClr val="002060"/>
                </a:solidFill>
              </a:rPr>
              <a:t>3 … </a:t>
            </a:r>
            <a:r>
              <a:rPr lang="zh-CN" altLang="en-US" sz="2800" b="1" dirty="0">
                <a:solidFill>
                  <a:srgbClr val="002060"/>
                </a:solidFill>
              </a:rPr>
              <a:t>）</a:t>
            </a:r>
          </a:p>
          <a:p>
            <a:pPr lvl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ea typeface="楷体_GB2312" pitchFamily="49" charset="-122"/>
              </a:rPr>
              <a:t>表示方法</a:t>
            </a:r>
          </a:p>
          <a:p>
            <a:pPr lvl="2">
              <a:lnSpc>
                <a:spcPct val="140000"/>
              </a:lnSpc>
            </a:pPr>
            <a:r>
              <a:rPr lang="en-US" altLang="zh-CN" sz="2400" b="1" dirty="0">
                <a:solidFill>
                  <a:srgbClr val="002060"/>
                </a:solidFill>
              </a:rPr>
              <a:t>1011</a:t>
            </a:r>
            <a:r>
              <a:rPr lang="zh-CN" altLang="en-US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8</a:t>
            </a:r>
            <a:r>
              <a:rPr lang="zh-CN" altLang="en-US" sz="2400" b="1" dirty="0">
                <a:solidFill>
                  <a:srgbClr val="002060"/>
                </a:solidFill>
              </a:rPr>
              <a:t>） </a:t>
            </a:r>
            <a:br>
              <a:rPr lang="en-US" altLang="zh-CN" sz="2400" b="1" dirty="0">
                <a:solidFill>
                  <a:srgbClr val="002060"/>
                </a:solidFill>
              </a:rPr>
            </a:br>
            <a:r>
              <a:rPr lang="en-US" altLang="zh-CN" sz="2400" b="1" dirty="0">
                <a:solidFill>
                  <a:srgbClr val="002060"/>
                </a:solidFill>
              </a:rPr>
              <a:t>= 1×8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</a:rPr>
              <a:t>+ 0×8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2</a:t>
            </a:r>
            <a:r>
              <a:rPr lang="zh-CN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</a:rPr>
              <a:t>+ 1×8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1</a:t>
            </a:r>
            <a:r>
              <a:rPr lang="zh-CN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</a:rPr>
              <a:t>+ 1×8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0</a:t>
            </a:r>
            <a:r>
              <a:rPr lang="zh-CN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</a:rPr>
              <a:t>= 512 + 0 + 8 + 1 </a:t>
            </a:r>
            <a:br>
              <a:rPr lang="en-US" altLang="zh-CN" sz="2400" b="1" dirty="0">
                <a:solidFill>
                  <a:srgbClr val="002060"/>
                </a:solidFill>
              </a:rPr>
            </a:br>
            <a:r>
              <a:rPr lang="en-US" altLang="zh-CN" sz="2400" b="1" dirty="0">
                <a:solidFill>
                  <a:srgbClr val="002060"/>
                </a:solidFill>
              </a:rPr>
              <a:t>= 521</a:t>
            </a:r>
            <a:r>
              <a:rPr lang="zh-CN" altLang="en-US" sz="2400" b="1" dirty="0">
                <a:solidFill>
                  <a:srgbClr val="002060"/>
                </a:solidFill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</a:rPr>
              <a:t>10</a:t>
            </a:r>
            <a:r>
              <a:rPr lang="zh-CN" altLang="en-US" sz="2400" b="1" dirty="0">
                <a:solidFill>
                  <a:srgbClr val="002060"/>
                </a:solidFill>
              </a:rPr>
              <a:t>）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-428652"/>
            <a:ext cx="7239000" cy="1143000"/>
          </a:xfrm>
        </p:spPr>
        <p:txBody>
          <a:bodyPr/>
          <a:lstStyle/>
          <a:p>
            <a:r>
              <a:rPr lang="zh-CN" altLang="en-US" dirty="0"/>
              <a:t>八进制、十六进制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811444"/>
            <a:ext cx="9181684" cy="58579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sz="3400" b="1" dirty="0"/>
              <a:t>十六进制</a:t>
            </a:r>
            <a:endParaRPr lang="en-US" altLang="zh-CN" sz="3400" b="1" dirty="0"/>
          </a:p>
          <a:p>
            <a:pPr lvl="1">
              <a:lnSpc>
                <a:spcPct val="140000"/>
              </a:lnSpc>
            </a:pPr>
            <a:r>
              <a:rPr lang="zh-CN" altLang="en-US" sz="2900" b="1" dirty="0">
                <a:solidFill>
                  <a:srgbClr val="002060"/>
                </a:solidFill>
              </a:rPr>
              <a:t>每个十六进制数位只能够出现：</a:t>
            </a:r>
            <a:br>
              <a:rPr lang="en-US" altLang="zh-CN" sz="2900" b="1" dirty="0">
                <a:solidFill>
                  <a:srgbClr val="002060"/>
                </a:solidFill>
              </a:rPr>
            </a:br>
            <a:r>
              <a:rPr lang="en-US" altLang="zh-CN" sz="2900" b="1" dirty="0">
                <a:solidFill>
                  <a:srgbClr val="002060"/>
                </a:solidFill>
              </a:rPr>
              <a:t>       </a:t>
            </a:r>
            <a:r>
              <a:rPr lang="zh-CN" altLang="en-US" sz="2900" b="1" dirty="0">
                <a:solidFill>
                  <a:srgbClr val="002060"/>
                </a:solidFill>
              </a:rPr>
              <a:t>0、1、2、…、9、</a:t>
            </a:r>
            <a:r>
              <a:rPr lang="en-US" altLang="zh-CN" sz="2900" b="1" dirty="0">
                <a:solidFill>
                  <a:srgbClr val="002060"/>
                </a:solidFill>
              </a:rPr>
              <a:t>A、B、C、D、E、F。</a:t>
            </a:r>
            <a:br>
              <a:rPr lang="en-US" altLang="zh-CN" sz="2900" b="1" dirty="0">
                <a:solidFill>
                  <a:srgbClr val="002060"/>
                </a:solidFill>
              </a:rPr>
            </a:br>
            <a:r>
              <a:rPr lang="en-US" altLang="zh-CN" sz="2900" b="1" dirty="0">
                <a:solidFill>
                  <a:srgbClr val="002060"/>
                </a:solidFill>
              </a:rPr>
              <a:t>       </a:t>
            </a:r>
            <a:r>
              <a:rPr lang="zh-CN" altLang="en-US" sz="2900" b="1" dirty="0">
                <a:solidFill>
                  <a:srgbClr val="002060"/>
                </a:solidFill>
              </a:rPr>
              <a:t>逢</a:t>
            </a:r>
            <a:r>
              <a:rPr lang="en-US" altLang="zh-CN" sz="2900" b="1" dirty="0">
                <a:solidFill>
                  <a:srgbClr val="002060"/>
                </a:solidFill>
              </a:rPr>
              <a:t>16</a:t>
            </a:r>
            <a:r>
              <a:rPr lang="zh-CN" altLang="en-US" sz="2900" b="1" dirty="0">
                <a:solidFill>
                  <a:srgbClr val="002060"/>
                </a:solidFill>
              </a:rPr>
              <a:t>进</a:t>
            </a:r>
            <a:r>
              <a:rPr lang="en-US" altLang="zh-CN" sz="2900" b="1" dirty="0">
                <a:solidFill>
                  <a:srgbClr val="002060"/>
                </a:solidFill>
              </a:rPr>
              <a:t>1</a:t>
            </a:r>
          </a:p>
          <a:p>
            <a:pPr lvl="1">
              <a:lnSpc>
                <a:spcPct val="140000"/>
              </a:lnSpc>
            </a:pPr>
            <a:r>
              <a:rPr lang="zh-CN" altLang="en-US" sz="2900" b="1" dirty="0">
                <a:solidFill>
                  <a:srgbClr val="002060"/>
                </a:solidFill>
              </a:rPr>
              <a:t>每位的权（</a:t>
            </a:r>
            <a:r>
              <a:rPr lang="en-US" altLang="zh-CN" sz="2900" b="1" dirty="0">
                <a:solidFill>
                  <a:srgbClr val="002060"/>
                </a:solidFill>
              </a:rPr>
              <a:t>weight）</a:t>
            </a:r>
            <a:r>
              <a:rPr lang="zh-CN" altLang="en-US" sz="2900" b="1" dirty="0">
                <a:solidFill>
                  <a:srgbClr val="002060"/>
                </a:solidFill>
              </a:rPr>
              <a:t>从右往左依次为：</a:t>
            </a:r>
            <a:br>
              <a:rPr lang="en-US" altLang="zh-CN" sz="2900" b="1" dirty="0">
                <a:solidFill>
                  <a:srgbClr val="002060"/>
                </a:solidFill>
              </a:rPr>
            </a:br>
            <a:r>
              <a:rPr lang="en-US" altLang="zh-CN" sz="2900" b="1" dirty="0">
                <a:solidFill>
                  <a:srgbClr val="002060"/>
                </a:solidFill>
              </a:rPr>
              <a:t>       </a:t>
            </a:r>
            <a:r>
              <a:rPr lang="zh-CN" altLang="en-US" sz="2900" b="1" dirty="0">
                <a:solidFill>
                  <a:srgbClr val="002060"/>
                </a:solidFill>
              </a:rPr>
              <a:t>16</a:t>
            </a:r>
            <a:r>
              <a:rPr lang="en-US" altLang="zh-CN" sz="2900" b="1" baseline="30000" dirty="0" err="1">
                <a:solidFill>
                  <a:srgbClr val="002060"/>
                </a:solidFill>
              </a:rPr>
              <a:t>n</a:t>
            </a:r>
            <a:r>
              <a:rPr lang="en-US" altLang="zh-CN" sz="2900" b="1" dirty="0" err="1">
                <a:solidFill>
                  <a:srgbClr val="002060"/>
                </a:solidFill>
              </a:rPr>
              <a:t>（n</a:t>
            </a:r>
            <a:r>
              <a:rPr lang="en-US" altLang="zh-CN" sz="2900" b="1" dirty="0">
                <a:solidFill>
                  <a:srgbClr val="002060"/>
                </a:solidFill>
              </a:rPr>
              <a:t> = 0，1，2，3 … ）</a:t>
            </a:r>
          </a:p>
          <a:p>
            <a:pPr lvl="1">
              <a:lnSpc>
                <a:spcPct val="140000"/>
              </a:lnSpc>
            </a:pPr>
            <a:r>
              <a:rPr lang="zh-CN" altLang="en-US" sz="2900" b="1" dirty="0">
                <a:solidFill>
                  <a:srgbClr val="002060"/>
                </a:solidFill>
              </a:rPr>
              <a:t>表示方法</a:t>
            </a:r>
            <a:endParaRPr lang="en-US" altLang="zh-CN" sz="2900" b="1" dirty="0">
              <a:solidFill>
                <a:srgbClr val="002060"/>
              </a:solidFill>
            </a:endParaRPr>
          </a:p>
          <a:p>
            <a:pPr lvl="2">
              <a:lnSpc>
                <a:spcPct val="140000"/>
              </a:lnSpc>
            </a:pPr>
            <a:r>
              <a:rPr lang="zh-CN" altLang="en-US" sz="2600" b="1" dirty="0">
                <a:solidFill>
                  <a:srgbClr val="002060"/>
                </a:solidFill>
              </a:rPr>
              <a:t>1011（16） </a:t>
            </a:r>
            <a:br>
              <a:rPr lang="en-US" altLang="zh-CN" sz="2600" b="1" dirty="0">
                <a:solidFill>
                  <a:srgbClr val="002060"/>
                </a:solidFill>
              </a:rPr>
            </a:br>
            <a:r>
              <a:rPr lang="zh-CN" altLang="en-US" sz="2600" b="1" dirty="0">
                <a:solidFill>
                  <a:srgbClr val="002060"/>
                </a:solidFill>
              </a:rPr>
              <a:t>= 1×16</a:t>
            </a:r>
            <a:r>
              <a:rPr lang="zh-CN" altLang="en-US" sz="2600" b="1" baseline="30000" dirty="0">
                <a:solidFill>
                  <a:srgbClr val="002060"/>
                </a:solidFill>
              </a:rPr>
              <a:t>3</a:t>
            </a:r>
            <a:r>
              <a:rPr lang="zh-CN" altLang="en-US" sz="2600" b="1" dirty="0">
                <a:solidFill>
                  <a:srgbClr val="002060"/>
                </a:solidFill>
              </a:rPr>
              <a:t> + 0×16</a:t>
            </a:r>
            <a:r>
              <a:rPr lang="zh-CN" altLang="en-US" sz="2600" b="1" baseline="30000" dirty="0">
                <a:solidFill>
                  <a:srgbClr val="002060"/>
                </a:solidFill>
              </a:rPr>
              <a:t>2</a:t>
            </a:r>
            <a:r>
              <a:rPr lang="zh-CN" altLang="en-US" sz="2600" b="1" dirty="0">
                <a:solidFill>
                  <a:srgbClr val="002060"/>
                </a:solidFill>
              </a:rPr>
              <a:t> + 1×16</a:t>
            </a:r>
            <a:r>
              <a:rPr lang="zh-CN" altLang="en-US" sz="2600" b="1" baseline="30000" dirty="0">
                <a:solidFill>
                  <a:srgbClr val="002060"/>
                </a:solidFill>
              </a:rPr>
              <a:t>1</a:t>
            </a:r>
            <a:r>
              <a:rPr lang="zh-CN" altLang="en-US" sz="2600" b="1" dirty="0">
                <a:solidFill>
                  <a:srgbClr val="002060"/>
                </a:solidFill>
              </a:rPr>
              <a:t> + 1×16</a:t>
            </a:r>
            <a:r>
              <a:rPr lang="zh-CN" altLang="en-US" sz="2600" b="1" baseline="30000" dirty="0">
                <a:solidFill>
                  <a:srgbClr val="002060"/>
                </a:solidFill>
              </a:rPr>
              <a:t>0</a:t>
            </a:r>
            <a:r>
              <a:rPr lang="zh-CN" altLang="en-US" sz="2600" b="1" dirty="0">
                <a:solidFill>
                  <a:srgbClr val="002060"/>
                </a:solidFill>
              </a:rPr>
              <a:t> = 4096 + 0 + 16 + 1 </a:t>
            </a:r>
            <a:br>
              <a:rPr lang="en-US" altLang="zh-CN" sz="2600" b="1" dirty="0">
                <a:solidFill>
                  <a:srgbClr val="002060"/>
                </a:solidFill>
              </a:rPr>
            </a:br>
            <a:r>
              <a:rPr lang="zh-CN" altLang="en-US" sz="2600" b="1" dirty="0">
                <a:solidFill>
                  <a:srgbClr val="002060"/>
                </a:solidFill>
              </a:rPr>
              <a:t>= 4113（10）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7239000" cy="1143000"/>
          </a:xfrm>
        </p:spPr>
        <p:txBody>
          <a:bodyPr/>
          <a:lstStyle/>
          <a:p>
            <a:r>
              <a:rPr lang="zh-CN" altLang="en-US" dirty="0"/>
              <a:t>二进制与八进制对照表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27584" y="980728"/>
          <a:ext cx="7776864" cy="5023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二进制数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八进制数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1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20" y="-27384"/>
            <a:ext cx="7239000" cy="738890"/>
          </a:xfrm>
        </p:spPr>
        <p:txBody>
          <a:bodyPr/>
          <a:lstStyle/>
          <a:p>
            <a:r>
              <a:rPr lang="zh-CN" altLang="en-US" dirty="0"/>
              <a:t>二进制与十六进制对照表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27584" y="836712"/>
          <a:ext cx="7704856" cy="554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二进制数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十六进制数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二进制数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十六进制数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606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57206"/>
            <a:ext cx="72390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计算机内部采用二进制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40134"/>
            <a:ext cx="8677628" cy="5729226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3000" b="1" dirty="0"/>
              <a:t>技术实现简单</a:t>
            </a:r>
            <a:r>
              <a:rPr lang="zh-CN" altLang="en-US" b="1" dirty="0">
                <a:solidFill>
                  <a:srgbClr val="002060"/>
                </a:solidFill>
              </a:rPr>
              <a:t>，计算机是由逻辑电路组成，逻辑电路通常只有两个状态，开关的接通与断开，这两种状态正好可以用“</a:t>
            </a:r>
            <a:r>
              <a:rPr lang="en-US" altLang="zh-CN" b="1" dirty="0">
                <a:solidFill>
                  <a:srgbClr val="002060"/>
                </a:solidFill>
              </a:rPr>
              <a:t>1”</a:t>
            </a:r>
            <a:r>
              <a:rPr lang="zh-CN" altLang="en-US" b="1" dirty="0">
                <a:solidFill>
                  <a:srgbClr val="002060"/>
                </a:solidFill>
              </a:rPr>
              <a:t>和“</a:t>
            </a:r>
            <a:r>
              <a:rPr lang="en-US" altLang="zh-CN" b="1" dirty="0">
                <a:solidFill>
                  <a:srgbClr val="002060"/>
                </a:solidFill>
              </a:rPr>
              <a:t>0”</a:t>
            </a:r>
            <a:r>
              <a:rPr lang="zh-CN" altLang="en-US" b="1" dirty="0">
                <a:solidFill>
                  <a:srgbClr val="002060"/>
                </a:solidFill>
              </a:rPr>
              <a:t>表示。</a:t>
            </a:r>
          </a:p>
          <a:p>
            <a:pPr>
              <a:lnSpc>
                <a:spcPct val="130000"/>
              </a:lnSpc>
            </a:pPr>
            <a:r>
              <a:rPr lang="zh-CN" altLang="en-US" sz="3000" b="1" dirty="0"/>
              <a:t>简化运算规则</a:t>
            </a:r>
            <a:r>
              <a:rPr lang="zh-CN" altLang="en-US" b="1" dirty="0">
                <a:solidFill>
                  <a:srgbClr val="002060"/>
                </a:solidFill>
              </a:rPr>
              <a:t>：两个二进制数和、积运算组合各有三种，运算规则简单，有利于简化计算机内部结构，提高运算速度。</a:t>
            </a:r>
          </a:p>
          <a:p>
            <a:pPr>
              <a:lnSpc>
                <a:spcPct val="130000"/>
              </a:lnSpc>
            </a:pPr>
            <a:r>
              <a:rPr lang="zh-CN" altLang="en-US" sz="3000" b="1" dirty="0"/>
              <a:t>适合逻辑运算</a:t>
            </a:r>
            <a:r>
              <a:rPr lang="zh-CN" altLang="en-US" b="1" dirty="0">
                <a:solidFill>
                  <a:srgbClr val="002060"/>
                </a:solidFill>
              </a:rPr>
              <a:t>：逻辑代数是逻辑运算的理论依据，二进制只有两个数码，正好与逻辑代数中的“真”和“假”相吻合。</a:t>
            </a:r>
          </a:p>
          <a:p>
            <a:pPr>
              <a:lnSpc>
                <a:spcPct val="130000"/>
              </a:lnSpc>
            </a:pPr>
            <a:r>
              <a:rPr lang="zh-CN" altLang="en-US" sz="3000" b="1" dirty="0"/>
              <a:t>易于进行转换</a:t>
            </a:r>
            <a:r>
              <a:rPr lang="zh-CN" altLang="en-US" b="1" dirty="0">
                <a:solidFill>
                  <a:srgbClr val="002060"/>
                </a:solidFill>
              </a:rPr>
              <a:t>，二进制与十进制数易于转换。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八进制和十六进制是计算机的辅助数进制，用于</a:t>
            </a:r>
            <a:r>
              <a:rPr lang="zh-CN" altLang="en-US" sz="3000" b="1" dirty="0"/>
              <a:t>缩短</a:t>
            </a:r>
            <a:r>
              <a:rPr lang="zh-CN" altLang="en-US" b="1" dirty="0">
                <a:solidFill>
                  <a:srgbClr val="002060"/>
                </a:solidFill>
              </a:rPr>
              <a:t>二进制数的</a:t>
            </a:r>
            <a:r>
              <a:rPr lang="zh-CN" altLang="en-US" sz="3000" b="1" dirty="0"/>
              <a:t>长度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85776"/>
            <a:ext cx="7239000" cy="1143000"/>
          </a:xfrm>
        </p:spPr>
        <p:txBody>
          <a:bodyPr/>
          <a:lstStyle/>
          <a:p>
            <a:r>
              <a:rPr lang="zh-CN" altLang="en-US" dirty="0"/>
              <a:t>使用二进制数</a:t>
            </a:r>
            <a:endParaRPr lang="en-US" altLang="zh-CN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452710" y="1428736"/>
            <a:ext cx="3197225" cy="2890838"/>
            <a:chOff x="1872" y="1824"/>
            <a:chExt cx="2014" cy="1821"/>
          </a:xfrm>
        </p:grpSpPr>
        <p:sp>
          <p:nvSpPr>
            <p:cNvPr id="46084" name="AutoShape 4"/>
            <p:cNvSpPr>
              <a:spLocks noChangeArrowheads="1"/>
            </p:cNvSpPr>
            <p:nvPr/>
          </p:nvSpPr>
          <p:spPr bwMode="gray">
            <a:xfrm rot="16200000" flipH="1">
              <a:off x="1820" y="2528"/>
              <a:ext cx="309" cy="206"/>
            </a:xfrm>
            <a:prstGeom prst="upArrow">
              <a:avLst>
                <a:gd name="adj1" fmla="val 51676"/>
                <a:gd name="adj2" fmla="val 10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tint val="39216"/>
                    <a:invGamma/>
                  </a:schemeClr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5" name="AutoShape 5"/>
            <p:cNvSpPr>
              <a:spLocks noChangeArrowheads="1"/>
            </p:cNvSpPr>
            <p:nvPr/>
          </p:nvSpPr>
          <p:spPr bwMode="gray">
            <a:xfrm rot="5400000" flipH="1">
              <a:off x="3628" y="2494"/>
              <a:ext cx="309" cy="206"/>
            </a:xfrm>
            <a:prstGeom prst="upArrow">
              <a:avLst>
                <a:gd name="adj1" fmla="val 51676"/>
                <a:gd name="adj2" fmla="val 10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tint val="39216"/>
                    <a:invGamma/>
                  </a:schemeClr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6" name="AutoShape 6"/>
            <p:cNvSpPr>
              <a:spLocks noChangeArrowheads="1"/>
            </p:cNvSpPr>
            <p:nvPr/>
          </p:nvSpPr>
          <p:spPr bwMode="gray">
            <a:xfrm rot="10800000" flipH="1">
              <a:off x="2725" y="3439"/>
              <a:ext cx="308" cy="206"/>
            </a:xfrm>
            <a:prstGeom prst="upArrow">
              <a:avLst>
                <a:gd name="adj1" fmla="val 51676"/>
                <a:gd name="adj2" fmla="val 10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tint val="39216"/>
                    <a:invGamma/>
                  </a:schemeClr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7" name="Oval 7"/>
            <p:cNvSpPr>
              <a:spLocks noChangeArrowheads="1"/>
            </p:cNvSpPr>
            <p:nvPr/>
          </p:nvSpPr>
          <p:spPr bwMode="gray">
            <a:xfrm>
              <a:off x="2078" y="1824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8" name="Oval 8"/>
            <p:cNvSpPr>
              <a:spLocks noChangeArrowheads="1"/>
            </p:cNvSpPr>
            <p:nvPr/>
          </p:nvSpPr>
          <p:spPr bwMode="gray">
            <a:xfrm>
              <a:off x="2170" y="1915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9" name="Oval 9"/>
            <p:cNvSpPr>
              <a:spLocks noChangeArrowheads="1"/>
            </p:cNvSpPr>
            <p:nvPr/>
          </p:nvSpPr>
          <p:spPr bwMode="gray">
            <a:xfrm>
              <a:off x="2254" y="2000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gray">
            <a:xfrm>
              <a:off x="2254" y="2000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FFCC00">
                    <a:gamma/>
                    <a:shade val="0"/>
                    <a:invGamma/>
                  </a:srgbClr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gray">
            <a:xfrm>
              <a:off x="2337" y="2083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gray">
            <a:xfrm>
              <a:off x="2337" y="2083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00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093" name="AutoShape 13"/>
          <p:cNvSpPr>
            <a:spLocks noChangeArrowheads="1"/>
          </p:cNvSpPr>
          <p:nvPr/>
        </p:nvSpPr>
        <p:spPr bwMode="gray">
          <a:xfrm>
            <a:off x="395310" y="3028936"/>
            <a:ext cx="1828800" cy="609600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4" name="AutoShape 14"/>
          <p:cNvSpPr>
            <a:spLocks noChangeArrowheads="1"/>
          </p:cNvSpPr>
          <p:nvPr/>
        </p:nvSpPr>
        <p:spPr bwMode="gray">
          <a:xfrm>
            <a:off x="395310" y="2495536"/>
            <a:ext cx="1828800" cy="609600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5" name="AutoShape 15"/>
          <p:cNvSpPr>
            <a:spLocks noChangeArrowheads="1"/>
          </p:cNvSpPr>
          <p:nvPr/>
        </p:nvSpPr>
        <p:spPr bwMode="gray">
          <a:xfrm>
            <a:off x="395310" y="1962136"/>
            <a:ext cx="1828800" cy="609600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6" name="AutoShape 16"/>
          <p:cNvSpPr>
            <a:spLocks noChangeArrowheads="1"/>
          </p:cNvSpPr>
          <p:nvPr/>
        </p:nvSpPr>
        <p:spPr bwMode="gray">
          <a:xfrm>
            <a:off x="5881710" y="3028936"/>
            <a:ext cx="1905000" cy="609600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7" name="AutoShape 17"/>
          <p:cNvSpPr>
            <a:spLocks noChangeArrowheads="1"/>
          </p:cNvSpPr>
          <p:nvPr/>
        </p:nvSpPr>
        <p:spPr bwMode="gray">
          <a:xfrm>
            <a:off x="5881710" y="2495536"/>
            <a:ext cx="1905000" cy="609600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8" name="AutoShape 18"/>
          <p:cNvSpPr>
            <a:spLocks noChangeArrowheads="1"/>
          </p:cNvSpPr>
          <p:nvPr/>
        </p:nvSpPr>
        <p:spPr bwMode="gray">
          <a:xfrm>
            <a:off x="5881710" y="1962136"/>
            <a:ext cx="1905000" cy="609600"/>
          </a:xfrm>
          <a:prstGeom prst="can">
            <a:avLst>
              <a:gd name="adj" fmla="val 2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9" name="Text Box 19"/>
          <p:cNvSpPr txBox="1">
            <a:spLocks noChangeArrowheads="1"/>
          </p:cNvSpPr>
          <p:nvPr/>
        </p:nvSpPr>
        <p:spPr bwMode="gray">
          <a:xfrm>
            <a:off x="3357692" y="2495536"/>
            <a:ext cx="14221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 dirty="0">
                <a:solidFill>
                  <a:schemeClr val="bg1"/>
                </a:solidFill>
                <a:ea typeface="宋体" pitchFamily="2" charset="-122"/>
              </a:rPr>
              <a:t>二进制数</a:t>
            </a:r>
            <a:endParaRPr lang="en-US" altLang="zh-CN" sz="2400" b="1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46100" name="AutoShape 20"/>
          <p:cNvSpPr>
            <a:spLocks noChangeArrowheads="1"/>
          </p:cNvSpPr>
          <p:nvPr/>
        </p:nvSpPr>
        <p:spPr bwMode="auto">
          <a:xfrm>
            <a:off x="2114573" y="4476736"/>
            <a:ext cx="3886200" cy="533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3137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381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dirty="0">
                <a:latin typeface="Verdana" pitchFamily="34" charset="0"/>
                <a:ea typeface="宋体" pitchFamily="2" charset="-122"/>
              </a:rPr>
              <a:t>指令系统</a:t>
            </a:r>
            <a:endParaRPr lang="en-US" altLang="zh-CN" dirty="0"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6101" name="Text Box 21"/>
          <p:cNvSpPr txBox="1">
            <a:spLocks noChangeArrowheads="1"/>
          </p:cNvSpPr>
          <p:nvPr/>
        </p:nvSpPr>
        <p:spPr bwMode="gray">
          <a:xfrm>
            <a:off x="919869" y="2119299"/>
            <a:ext cx="646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bg1"/>
                </a:solidFill>
                <a:ea typeface="宋体" pitchFamily="2" charset="-122"/>
              </a:rPr>
              <a:t>指令</a:t>
            </a:r>
            <a:endParaRPr lang="en-US" altLang="zh-CN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46102" name="Text Box 22"/>
          <p:cNvSpPr txBox="1">
            <a:spLocks noChangeArrowheads="1"/>
          </p:cNvSpPr>
          <p:nvPr/>
        </p:nvSpPr>
        <p:spPr bwMode="gray">
          <a:xfrm>
            <a:off x="919869" y="2652699"/>
            <a:ext cx="646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bg1"/>
                </a:solidFill>
                <a:ea typeface="宋体" pitchFamily="2" charset="-122"/>
              </a:rPr>
              <a:t>指令</a:t>
            </a:r>
            <a:endParaRPr lang="en-US" altLang="zh-CN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46103" name="Text Box 23"/>
          <p:cNvSpPr txBox="1">
            <a:spLocks noChangeArrowheads="1"/>
          </p:cNvSpPr>
          <p:nvPr/>
        </p:nvSpPr>
        <p:spPr bwMode="gray">
          <a:xfrm>
            <a:off x="919868" y="3186099"/>
            <a:ext cx="646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chemeClr val="bg1"/>
                </a:solidFill>
                <a:ea typeface="宋体" pitchFamily="2" charset="-122"/>
              </a:rPr>
              <a:t>……</a:t>
            </a:r>
          </a:p>
        </p:txBody>
      </p:sp>
      <p:sp>
        <p:nvSpPr>
          <p:cNvPr id="46104" name="Text Box 24"/>
          <p:cNvSpPr txBox="1">
            <a:spLocks noChangeArrowheads="1"/>
          </p:cNvSpPr>
          <p:nvPr/>
        </p:nvSpPr>
        <p:spPr bwMode="gray">
          <a:xfrm>
            <a:off x="6539619" y="2119299"/>
            <a:ext cx="646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bg1"/>
                </a:solidFill>
                <a:ea typeface="宋体" pitchFamily="2" charset="-122"/>
              </a:rPr>
              <a:t>数据</a:t>
            </a:r>
            <a:endParaRPr lang="en-US" altLang="zh-CN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46105" name="Text Box 25"/>
          <p:cNvSpPr txBox="1">
            <a:spLocks noChangeArrowheads="1"/>
          </p:cNvSpPr>
          <p:nvPr/>
        </p:nvSpPr>
        <p:spPr bwMode="gray">
          <a:xfrm>
            <a:off x="6539619" y="2652699"/>
            <a:ext cx="646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dirty="0">
                <a:solidFill>
                  <a:schemeClr val="bg1"/>
                </a:solidFill>
                <a:ea typeface="宋体" pitchFamily="2" charset="-122"/>
              </a:rPr>
              <a:t>数据</a:t>
            </a:r>
            <a:endParaRPr lang="en-US" altLang="zh-CN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46106" name="Text Box 26"/>
          <p:cNvSpPr txBox="1">
            <a:spLocks noChangeArrowheads="1"/>
          </p:cNvSpPr>
          <p:nvPr/>
        </p:nvSpPr>
        <p:spPr bwMode="gray">
          <a:xfrm>
            <a:off x="6539619" y="3186099"/>
            <a:ext cx="6463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dirty="0">
                <a:solidFill>
                  <a:schemeClr val="bg1"/>
                </a:solidFill>
                <a:ea typeface="宋体" pitchFamily="2" charset="-122"/>
              </a:rPr>
              <a:t>……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29" name="TextBox 28"/>
          <p:cNvSpPr txBox="1"/>
          <p:nvPr/>
        </p:nvSpPr>
        <p:spPr>
          <a:xfrm>
            <a:off x="700086" y="1430872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存储单元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250" y="1502310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存储单元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7239000" cy="1143000"/>
          </a:xfrm>
        </p:spPr>
        <p:txBody>
          <a:bodyPr/>
          <a:lstStyle/>
          <a:p>
            <a:r>
              <a:rPr lang="zh-CN" altLang="en-US" dirty="0"/>
              <a:t>存储器单元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40134"/>
            <a:ext cx="7239000" cy="484632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字节（</a:t>
            </a:r>
            <a:r>
              <a:rPr lang="en-US" altLang="zh-CN" b="1" dirty="0">
                <a:solidFill>
                  <a:srgbClr val="002060"/>
                </a:solidFill>
              </a:rPr>
              <a:t>Byte</a:t>
            </a:r>
            <a:r>
              <a:rPr lang="zh-CN" altLang="en-US" b="1" dirty="0">
                <a:solidFill>
                  <a:srgbClr val="002060"/>
                </a:solidFill>
              </a:rPr>
              <a:t>）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rgbClr val="002060"/>
                </a:solidFill>
              </a:rPr>
              <a:t>8</a:t>
            </a:r>
            <a:r>
              <a:rPr lang="zh-CN" altLang="en-US" b="1" dirty="0">
                <a:solidFill>
                  <a:srgbClr val="002060"/>
                </a:solidFill>
              </a:rPr>
              <a:t>个二进制数位（</a:t>
            </a:r>
            <a:r>
              <a:rPr lang="en-US" altLang="zh-CN" b="1" dirty="0">
                <a:solidFill>
                  <a:srgbClr val="002060"/>
                </a:solidFill>
              </a:rPr>
              <a:t>bit</a:t>
            </a:r>
            <a:r>
              <a:rPr lang="zh-CN" altLang="en-US" b="1" dirty="0">
                <a:solidFill>
                  <a:srgbClr val="002060"/>
                </a:solidFill>
              </a:rPr>
              <a:t>）为一个字节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rgbClr val="002060"/>
                </a:solidFill>
              </a:rPr>
              <a:t>1</a:t>
            </a:r>
            <a:r>
              <a:rPr lang="zh-CN" altLang="en-US" b="1" dirty="0">
                <a:solidFill>
                  <a:srgbClr val="002060"/>
                </a:solidFill>
              </a:rPr>
              <a:t>个字节可以表示的范围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>
                <a:solidFill>
                  <a:srgbClr val="002060"/>
                </a:solidFill>
              </a:rPr>
              <a:t>0</a:t>
            </a:r>
            <a:r>
              <a:rPr lang="zh-CN" altLang="en-US" b="1" dirty="0">
                <a:solidFill>
                  <a:srgbClr val="002060"/>
                </a:solidFill>
              </a:rPr>
              <a:t>（</a:t>
            </a:r>
            <a:r>
              <a:rPr lang="en-US" altLang="zh-CN" b="1" dirty="0">
                <a:solidFill>
                  <a:srgbClr val="002060"/>
                </a:solidFill>
              </a:rPr>
              <a:t> 00000000</a:t>
            </a:r>
            <a:r>
              <a:rPr lang="zh-CN" altLang="en-US" b="1" dirty="0">
                <a:solidFill>
                  <a:srgbClr val="002060"/>
                </a:solidFill>
              </a:rPr>
              <a:t>）至</a:t>
            </a:r>
            <a:r>
              <a:rPr lang="en-US" altLang="zh-CN" b="1" dirty="0">
                <a:solidFill>
                  <a:srgbClr val="002060"/>
                </a:solidFill>
              </a:rPr>
              <a:t>255</a:t>
            </a:r>
            <a:r>
              <a:rPr lang="zh-CN" altLang="en-US" b="1" dirty="0">
                <a:solidFill>
                  <a:srgbClr val="002060"/>
                </a:solidFill>
              </a:rPr>
              <a:t>（</a:t>
            </a:r>
            <a:r>
              <a:rPr lang="en-US" altLang="zh-CN" b="1" dirty="0">
                <a:solidFill>
                  <a:srgbClr val="002060"/>
                </a:solidFill>
              </a:rPr>
              <a:t>11111111</a:t>
            </a:r>
            <a:r>
              <a:rPr lang="zh-CN" altLang="en-US" b="1" dirty="0">
                <a:solidFill>
                  <a:srgbClr val="002060"/>
                </a:solidFill>
              </a:rPr>
              <a:t>）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字节是计算机中指令和数据的基本存储单元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不同类型的</a:t>
            </a:r>
            <a:r>
              <a:rPr lang="zh-CN" altLang="en-US" sz="2400" b="1" dirty="0"/>
              <a:t>指令</a:t>
            </a:r>
            <a:r>
              <a:rPr lang="zh-CN" altLang="en-US" b="1" dirty="0">
                <a:solidFill>
                  <a:srgbClr val="002060"/>
                </a:solidFill>
              </a:rPr>
              <a:t>使用不同的字节数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不同类型的</a:t>
            </a:r>
            <a:r>
              <a:rPr lang="zh-CN" altLang="en-US" sz="2400" b="1" dirty="0"/>
              <a:t>数据</a:t>
            </a:r>
            <a:r>
              <a:rPr lang="zh-CN" altLang="en-US" b="1" dirty="0">
                <a:solidFill>
                  <a:srgbClr val="002060"/>
                </a:solidFill>
              </a:rPr>
              <a:t>用不同的字节数存储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4572008"/>
            <a:ext cx="5209479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7239000" cy="1143000"/>
          </a:xfrm>
        </p:spPr>
        <p:txBody>
          <a:bodyPr/>
          <a:lstStyle/>
          <a:p>
            <a:r>
              <a:rPr lang="zh-CN" altLang="en-US" dirty="0"/>
              <a:t>存储器单元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000108"/>
            <a:ext cx="7239000" cy="4846320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存储器单元</a:t>
            </a:r>
            <a:endParaRPr lang="en-US" altLang="zh-CN" sz="2800" b="1" dirty="0"/>
          </a:p>
          <a:p>
            <a:pPr lvl="1"/>
            <a:r>
              <a:rPr lang="zh-CN" altLang="en-US" sz="2400" b="1" dirty="0">
                <a:solidFill>
                  <a:srgbClr val="002060"/>
                </a:solidFill>
              </a:rPr>
              <a:t>按字节安排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r>
              <a:rPr lang="zh-CN" altLang="en-US" sz="2800" b="1" dirty="0"/>
              <a:t>存储地址</a:t>
            </a:r>
            <a:endParaRPr lang="en-US" altLang="zh-CN" sz="2800" b="1" dirty="0"/>
          </a:p>
          <a:p>
            <a:pPr lvl="1"/>
            <a:r>
              <a:rPr lang="zh-CN" altLang="en-US" sz="2400" b="1" dirty="0">
                <a:solidFill>
                  <a:srgbClr val="002060"/>
                </a:solidFill>
              </a:rPr>
              <a:t>顺序号，为每个存储器单元指定一个序号</a:t>
            </a:r>
            <a:endParaRPr lang="en-US" altLang="zh-CN" sz="2400" b="1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0234" y="3212976"/>
            <a:ext cx="4071966" cy="177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500090"/>
            <a:ext cx="7239000" cy="1143000"/>
          </a:xfrm>
        </p:spPr>
        <p:txBody>
          <a:bodyPr/>
          <a:lstStyle/>
          <a:p>
            <a:r>
              <a:rPr lang="zh-CN" altLang="en-US" dirty="0"/>
              <a:t>反码与补码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192" y="620688"/>
            <a:ext cx="8435280" cy="484632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源码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一个整数，按照绝对值大小转换成的二进制数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反码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将二进制数按位取反，所得的新二进制数称为原二进制数的反码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补码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反码加</a:t>
            </a:r>
            <a:r>
              <a:rPr lang="en-US" altLang="zh-CN" sz="2400" b="1" dirty="0">
                <a:solidFill>
                  <a:srgbClr val="002060"/>
                </a:solidFill>
              </a:rPr>
              <a:t>1</a:t>
            </a:r>
            <a:r>
              <a:rPr lang="zh-CN" altLang="en-US" sz="2400" b="1" dirty="0">
                <a:solidFill>
                  <a:srgbClr val="002060"/>
                </a:solidFill>
              </a:rPr>
              <a:t>称为补码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计算机内存中，负数以二进制补码形式表示和存放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将减法运算变为加法运算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</a:rPr>
              <a:t>0</a:t>
            </a:r>
            <a:r>
              <a:rPr lang="zh-CN" altLang="en-US" sz="2400" b="1" dirty="0">
                <a:solidFill>
                  <a:srgbClr val="002060"/>
                </a:solidFill>
              </a:rPr>
              <a:t>有了统一表示（</a:t>
            </a:r>
            <a:r>
              <a:rPr lang="en-US" altLang="zh-CN" sz="2400" b="1" dirty="0">
                <a:solidFill>
                  <a:srgbClr val="002060"/>
                </a:solidFill>
              </a:rPr>
              <a:t>+0</a:t>
            </a:r>
            <a:r>
              <a:rPr lang="zh-CN" altLang="en-US" sz="2400" b="1" dirty="0">
                <a:solidFill>
                  <a:srgbClr val="002060"/>
                </a:solidFill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</a:rPr>
              <a:t>-0</a:t>
            </a:r>
            <a:r>
              <a:rPr lang="zh-CN" altLang="en-US" sz="2400" b="1" dirty="0">
                <a:solidFill>
                  <a:srgbClr val="002060"/>
                </a:solidFill>
              </a:rPr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583706" y="5858108"/>
            <a:ext cx="3500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signed   unsigned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6"/>
            <a:ext cx="7239000" cy="1143000"/>
          </a:xfrm>
        </p:spPr>
        <p:txBody>
          <a:bodyPr/>
          <a:lstStyle/>
          <a:p>
            <a:r>
              <a:rPr lang="zh-CN" altLang="en-US" dirty="0"/>
              <a:t>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285860"/>
            <a:ext cx="7239000" cy="48463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程序设计语言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机器语言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汇编语言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高级语言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一个图像处理的例子</a:t>
            </a:r>
            <a:endParaRPr lang="en-US" altLang="zh-CN" sz="2800" b="1" dirty="0"/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黄蓉的原始剧照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经过</a:t>
            </a:r>
            <a:r>
              <a:rPr lang="en-US" altLang="zh-CN" sz="2400" b="1" dirty="0">
                <a:solidFill>
                  <a:srgbClr val="002060"/>
                </a:solidFill>
              </a:rPr>
              <a:t>15</a:t>
            </a:r>
            <a:r>
              <a:rPr lang="zh-CN" altLang="en-US" sz="2400" b="1" dirty="0">
                <a:solidFill>
                  <a:srgbClr val="002060"/>
                </a:solidFill>
              </a:rPr>
              <a:t>年的珍藏之后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简单的</a:t>
            </a:r>
            <a:r>
              <a:rPr lang="en-US" altLang="zh-CN" sz="2800" b="1" dirty="0"/>
              <a:t>c/</a:t>
            </a:r>
            <a:r>
              <a:rPr lang="en-US" altLang="zh-CN" sz="2800" b="1" dirty="0" err="1"/>
              <a:t>c++</a:t>
            </a:r>
            <a:r>
              <a:rPr lang="zh-CN" altLang="en-US" sz="2800" b="1" dirty="0"/>
              <a:t>程序</a:t>
            </a:r>
            <a:endParaRPr lang="en-US" altLang="zh-CN" sz="28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239000" cy="1143000"/>
          </a:xfrm>
        </p:spPr>
        <p:txBody>
          <a:bodyPr/>
          <a:lstStyle/>
          <a:p>
            <a:r>
              <a:rPr lang="zh-CN" altLang="en-US" dirty="0"/>
              <a:t>程序设计语言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928670"/>
            <a:ext cx="7786742" cy="4929222"/>
          </a:xfrm>
        </p:spPr>
        <p:txBody>
          <a:bodyPr>
            <a:normAutofit/>
          </a:bodyPr>
          <a:lstStyle/>
          <a:p>
            <a:r>
              <a:rPr lang="zh-CN" altLang="en-US" b="1" dirty="0"/>
              <a:t>机器语言</a:t>
            </a:r>
            <a:endParaRPr lang="en-US" altLang="zh-CN" b="1" dirty="0"/>
          </a:p>
          <a:p>
            <a:pPr lvl="1"/>
            <a:r>
              <a:rPr lang="zh-CN" altLang="en-US" b="1" dirty="0"/>
              <a:t>用二进制代码表示指令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r>
              <a:rPr lang="zh-CN" altLang="en-US" b="1" dirty="0"/>
              <a:t>汇编语言</a:t>
            </a:r>
            <a:r>
              <a:rPr lang="en-US" altLang="zh-CN" b="1" dirty="0"/>
              <a:t>Assemble Language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高级语言</a:t>
            </a:r>
            <a:endParaRPr lang="en-US" altLang="zh-CN" b="1" dirty="0"/>
          </a:p>
          <a:p>
            <a:pPr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357290" y="1857364"/>
            <a:ext cx="41434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0x86</a:t>
            </a:r>
            <a:r>
              <a:rPr lang="zh-CN" altLang="en-US" dirty="0">
                <a:solidFill>
                  <a:srgbClr val="C00000"/>
                </a:solidFill>
              </a:rPr>
              <a:t>下的机器语言：</a:t>
            </a:r>
            <a:r>
              <a:rPr lang="en-US" altLang="zh-CN" dirty="0">
                <a:solidFill>
                  <a:srgbClr val="C00000"/>
                </a:solidFill>
              </a:rPr>
              <a:t>1+1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10111000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00000001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00000000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00000101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00000001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00000000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57290" y="4357694"/>
            <a:ext cx="5357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汇编语言计算</a:t>
            </a:r>
            <a:r>
              <a:rPr lang="en-US" altLang="zh-CN" dirty="0"/>
              <a:t>1+1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MOV AX,1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ADD AX,1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7290" y="5786454"/>
            <a:ext cx="364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BASIC</a:t>
            </a:r>
            <a:r>
              <a:rPr lang="zh-CN" altLang="en-US" dirty="0"/>
              <a:t>语言计算并打印：</a:t>
            </a:r>
            <a:r>
              <a:rPr lang="en-US" altLang="zh-CN" dirty="0"/>
              <a:t>1+1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PRINT 1+1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7239000" cy="1143000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语言的产生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4324" y="785794"/>
            <a:ext cx="8650164" cy="571504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20</a:t>
            </a:r>
            <a:r>
              <a:rPr lang="zh-CN" altLang="en-US" sz="2800" dirty="0"/>
              <a:t>世纪</a:t>
            </a:r>
            <a:r>
              <a:rPr lang="en-US" altLang="zh-CN" sz="2800" dirty="0"/>
              <a:t>60</a:t>
            </a:r>
            <a:r>
              <a:rPr lang="zh-CN" altLang="en-US" sz="2800" dirty="0"/>
              <a:t>年代，贝尔实验室开发了</a:t>
            </a:r>
            <a:r>
              <a:rPr lang="en-US" altLang="zh-CN" sz="2800" dirty="0"/>
              <a:t>UNIX</a:t>
            </a:r>
            <a:r>
              <a:rPr lang="zh-CN" altLang="en-US" sz="2800" dirty="0"/>
              <a:t>操作系统</a:t>
            </a:r>
            <a:endParaRPr lang="en-US" altLang="zh-CN" sz="2800" dirty="0"/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</a:rPr>
              <a:t>Unix</a:t>
            </a:r>
            <a:r>
              <a:rPr lang="zh-CN" altLang="en-US" sz="2400" b="1" dirty="0">
                <a:solidFill>
                  <a:srgbClr val="002060"/>
                </a:solidFill>
              </a:rPr>
              <a:t>系统对计算机界的影响巨大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起初，用汇编语言书写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系统初具规模时，开发者无法忍受汇编语言的难写和难懂，寻找开发</a:t>
            </a:r>
            <a:r>
              <a:rPr lang="en-US" altLang="zh-CN" sz="2400" b="1" dirty="0">
                <a:solidFill>
                  <a:srgbClr val="002060"/>
                </a:solidFill>
              </a:rPr>
              <a:t>UNIX</a:t>
            </a:r>
            <a:r>
              <a:rPr lang="zh-CN" altLang="en-US" sz="2400" b="1" dirty="0">
                <a:solidFill>
                  <a:srgbClr val="002060"/>
                </a:solidFill>
              </a:rPr>
              <a:t>系统的合适的高级语言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b="1" dirty="0"/>
              <a:t>70</a:t>
            </a:r>
            <a:r>
              <a:rPr lang="zh-CN" altLang="en-US" sz="2400" b="1" dirty="0"/>
              <a:t>年代，将已有的</a:t>
            </a:r>
            <a:r>
              <a:rPr lang="en-US" altLang="zh-CN" sz="2400" b="1" dirty="0"/>
              <a:t>BCPL</a:t>
            </a:r>
            <a:r>
              <a:rPr lang="zh-CN" altLang="en-US" sz="2400" b="1" dirty="0"/>
              <a:t>改造成更适合开发</a:t>
            </a:r>
            <a:r>
              <a:rPr lang="en-US" altLang="zh-CN" sz="2400" b="1" dirty="0"/>
              <a:t>UNIX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语言，后来称为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</a:t>
            </a:r>
            <a:endParaRPr lang="en-US" altLang="zh-CN" sz="2400" b="1" dirty="0"/>
          </a:p>
          <a:p>
            <a:pPr>
              <a:lnSpc>
                <a:spcPct val="120000"/>
              </a:lnSpc>
            </a:pPr>
            <a:r>
              <a:rPr lang="en-US" altLang="zh-CN" sz="2800" dirty="0"/>
              <a:t>C</a:t>
            </a:r>
            <a:r>
              <a:rPr lang="zh-CN" altLang="en-US" sz="2800" dirty="0"/>
              <a:t>语言</a:t>
            </a:r>
            <a:endParaRPr lang="en-US" altLang="zh-CN" sz="2800" dirty="0"/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</a:rPr>
              <a:t>ANSI C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</a:rPr>
              <a:t>万能的</a:t>
            </a:r>
            <a:r>
              <a:rPr lang="en-US" altLang="zh-CN" sz="2400" b="1" dirty="0">
                <a:solidFill>
                  <a:srgbClr val="002060"/>
                </a:solidFill>
              </a:rPr>
              <a:t>C</a:t>
            </a:r>
            <a:r>
              <a:rPr lang="zh-CN" altLang="en-US" sz="2400" b="1" dirty="0">
                <a:solidFill>
                  <a:srgbClr val="002060"/>
                </a:solidFill>
              </a:rPr>
              <a:t>语言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/>
              <a:t>简单、灵活，对各种需求的适应性强</a:t>
            </a:r>
            <a:endParaRPr lang="en-US" altLang="zh-CN" sz="2400" b="1" dirty="0"/>
          </a:p>
          <a:p>
            <a:pPr lvl="2">
              <a:lnSpc>
                <a:spcPct val="120000"/>
              </a:lnSpc>
            </a:pPr>
            <a:r>
              <a:rPr lang="en-US" altLang="zh-CN" sz="2400" b="1" dirty="0"/>
              <a:t>BUT </a:t>
            </a:r>
            <a:r>
              <a:rPr lang="zh-CN" altLang="en-US" sz="2400" b="1" dirty="0"/>
              <a:t>难以专用性</a:t>
            </a:r>
            <a:endParaRPr lang="en-US" altLang="zh-CN" sz="24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-285768"/>
            <a:ext cx="7239000" cy="1143000"/>
          </a:xfrm>
        </p:spPr>
        <p:txBody>
          <a:bodyPr/>
          <a:lstStyle/>
          <a:p>
            <a:r>
              <a:rPr lang="en-US" altLang="zh-CN" dirty="0"/>
              <a:t>C/C++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886936"/>
            <a:ext cx="8352928" cy="484632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b="1" dirty="0"/>
              <a:t>C++</a:t>
            </a:r>
            <a:r>
              <a:rPr lang="zh-CN" altLang="en-US" b="1" dirty="0"/>
              <a:t>几乎完全兼容了</a:t>
            </a:r>
            <a:r>
              <a:rPr lang="en-US" altLang="zh-CN" b="1" dirty="0"/>
              <a:t>C</a:t>
            </a:r>
            <a:r>
              <a:rPr lang="zh-CN" altLang="en-US" b="1" dirty="0"/>
              <a:t>的语法，所谓“</a:t>
            </a:r>
            <a:r>
              <a:rPr lang="en-US" altLang="zh-CN" b="1" dirty="0"/>
              <a:t>++</a:t>
            </a:r>
            <a:r>
              <a:rPr lang="zh-CN" altLang="en-US" b="1" dirty="0"/>
              <a:t>”就是“面向对象（</a:t>
            </a:r>
            <a:r>
              <a:rPr lang="en-US" altLang="zh-CN" b="1" dirty="0"/>
              <a:t>Object Oriented</a:t>
            </a:r>
            <a:r>
              <a:rPr lang="zh-CN" altLang="en-US" b="1" dirty="0"/>
              <a:t>）”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过程化程序设计思想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面向对象程序设计思想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C++</a:t>
            </a:r>
            <a:r>
              <a:rPr lang="zh-CN" altLang="en-US" b="1" dirty="0"/>
              <a:t>兼有</a:t>
            </a:r>
            <a:r>
              <a:rPr lang="en-US" altLang="zh-CN" b="1" dirty="0"/>
              <a:t>C</a:t>
            </a:r>
            <a:r>
              <a:rPr lang="zh-CN" altLang="en-US" b="1" dirty="0"/>
              <a:t>语言的能力，通用性很强，“什么都能干”。学习和使用并不简单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rgbClr val="002060"/>
                </a:solidFill>
              </a:rPr>
              <a:t>JAVA</a:t>
            </a:r>
            <a:r>
              <a:rPr lang="zh-CN" altLang="en-US" b="1" dirty="0">
                <a:solidFill>
                  <a:srgbClr val="002060"/>
                </a:solidFill>
              </a:rPr>
              <a:t>语言，全面照搬了</a:t>
            </a:r>
            <a:r>
              <a:rPr lang="en-US" altLang="zh-CN" b="1" dirty="0">
                <a:solidFill>
                  <a:srgbClr val="002060"/>
                </a:solidFill>
              </a:rPr>
              <a:t>C++</a:t>
            </a:r>
            <a:r>
              <a:rPr lang="zh-CN" altLang="en-US" b="1" dirty="0">
                <a:solidFill>
                  <a:srgbClr val="002060"/>
                </a:solidFill>
              </a:rPr>
              <a:t>语言，去掉了不常用和不成功的部分，化繁为简，非常受欢迎；但是对于底层的占用资源少的程序无能为力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solidFill>
                  <a:srgbClr val="002060"/>
                </a:solidFill>
              </a:rPr>
              <a:t>C#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071538" y="5572140"/>
            <a:ext cx="6929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为什么我们选择</a:t>
            </a:r>
            <a:r>
              <a:rPr lang="en-US" altLang="zh-CN" sz="2400" b="1" dirty="0">
                <a:solidFill>
                  <a:srgbClr val="C00000"/>
                </a:solidFill>
              </a:rPr>
              <a:t>C</a:t>
            </a:r>
            <a:r>
              <a:rPr lang="zh-CN" altLang="en-US" sz="2400" b="1" dirty="0">
                <a:solidFill>
                  <a:srgbClr val="C00000"/>
                </a:solidFill>
              </a:rPr>
              <a:t>语言作为第一门要学习的语言？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en-US" altLang="zh-CN" sz="2400" b="1" dirty="0">
                <a:solidFill>
                  <a:srgbClr val="C00000"/>
                </a:solidFill>
              </a:rPr>
              <a:t>       </a:t>
            </a:r>
            <a:r>
              <a:rPr lang="zh-CN" altLang="en-US" sz="2400" b="1" dirty="0">
                <a:solidFill>
                  <a:srgbClr val="C00000"/>
                </a:solidFill>
              </a:rPr>
              <a:t>大家也许会有不同的意见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534525" cy="714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3" descr="hr1-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88" y="11113"/>
            <a:ext cx="5000625" cy="683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3" descr="hr1-n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88" y="11113"/>
            <a:ext cx="5008562" cy="684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52400" y="10668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Arial" charset="0"/>
              </a:rPr>
              <a:t>/* </a:t>
            </a: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The input image is in RAW format. The whole file has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   three sections: R section, G section and B section.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   Within each section, one byte is used to represent the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   color.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*/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#include &lt;</a:t>
            </a:r>
            <a:r>
              <a:rPr lang="en-US" altLang="zh-CN" sz="2800" dirty="0" err="1">
                <a:solidFill>
                  <a:schemeClr val="tx1"/>
                </a:solidFill>
                <a:latin typeface="Arial" charset="0"/>
              </a:rPr>
              <a:t>stdio.h</a:t>
            </a: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&gt;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#include &lt;</a:t>
            </a:r>
            <a:r>
              <a:rPr lang="en-US" altLang="zh-CN" sz="2800" dirty="0" err="1">
                <a:solidFill>
                  <a:schemeClr val="tx1"/>
                </a:solidFill>
                <a:latin typeface="Arial" charset="0"/>
              </a:rPr>
              <a:t>stdlib.h</a:t>
            </a: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&gt;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 dirty="0">
              <a:solidFill>
                <a:schemeClr val="tx1"/>
              </a:solidFill>
              <a:latin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" charset="0"/>
              </a:rPr>
              <a:t>#define W  300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Arial" charset="0"/>
              </a:rPr>
              <a:t>#define H  400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charset="0"/>
              </a:rPr>
              <a:t>/* to be continued */</a:t>
            </a: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5638800" y="3352800"/>
            <a:ext cx="1905000" cy="2057400"/>
          </a:xfrm>
          <a:prstGeom prst="wedgeRoundRectCallout">
            <a:avLst>
              <a:gd name="adj1" fmla="val -62500"/>
              <a:gd name="adj2" fmla="val -11319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zh-CN" altLang="en-US"/>
              <a:t>程序注释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514600" y="406400"/>
            <a:ext cx="3810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800">
                <a:solidFill>
                  <a:schemeClr val="folHlink"/>
                </a:solidFill>
              </a:rPr>
              <a:t>处理黄蓉图像的</a:t>
            </a:r>
            <a:r>
              <a:rPr lang="en-US" altLang="zh-CN" sz="2800">
                <a:solidFill>
                  <a:schemeClr val="folHlink"/>
                </a:solidFill>
              </a:rPr>
              <a:t>C</a:t>
            </a:r>
            <a:r>
              <a:rPr lang="zh-CN" altLang="en-US" sz="2800">
                <a:solidFill>
                  <a:schemeClr val="folHlink"/>
                </a:solidFill>
              </a:rPr>
              <a:t>程序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28600" y="3810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void sort(</a:t>
            </a: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char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x[], int n)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int i,j,k;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	char 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for (i=0; i&lt;n-1; i++)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       k=i;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for (j=i+1; j&lt;n; j++)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	if (x[j]&gt;x[k])  k=j;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if ( k!=i)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    t=x[i];  x[i]=x[k]; x[k]=t;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} /* to be continued */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762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void medfilt2(char * p1, char * p2, int width, int heigh)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{	int i, j, offset;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char colors[9], *p;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for (i=</a:t>
            </a: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2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; i&lt;</a:t>
            </a: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heigh-2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; i++)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for (j=2; j&lt;width-2; j++){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	</a:t>
            </a: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offset = i * width + j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; p=p1+offset-width-1;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             colors[0]=</a:t>
            </a: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*p++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; colors[1]=*p++; colors[2]=*p;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	p=p1+offset-1;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	colors[3]=*p++;colors[4]=*p++; colors[5]=*p;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	p=p1+offset+width-1;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	colors[6]=*p++; colors[7]=*p++;  colors[8]=*p;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	</a:t>
            </a: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sort(colors, 9); *(p2+offset)=colors[4];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	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}/* to be continued */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81000" y="1524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main()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{	FILE *f1, *f2; 	char * p1, *p2; 	long fsize;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>
              <a:solidFill>
                <a:schemeClr val="tx1"/>
              </a:solidFill>
              <a:latin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f1=fopen("hr1-n.raw", "rb");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   f2=fopen("hr1-c.raw", "wb");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if (f1==NULL || f2==NULL)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          printf("file open error\n"); exit(-1);  };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fseek(f1, 0, SEEK_END);	fsize=ftell (f1);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fseek(f1, 0, SEEK_SET);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p1=(char *) malloc(fsize);	p2=(char *) malloc(fsize);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if (p1==NULL || p2==NULL)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           printf("memory error\n"); exit(-1); };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  <a:latin typeface="Arial" charset="0"/>
              </a:rPr>
              <a:t>	fread(p1, fsize, 1, f1);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  /* to be continued */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1524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medfilt2(</a:t>
            </a:r>
            <a:r>
              <a:rPr lang="en-US" altLang="zh-CN" sz="2800" b="1">
                <a:solidFill>
                  <a:schemeClr val="hlink"/>
                </a:solidFill>
                <a:latin typeface="Arial" charset="0"/>
              </a:rPr>
              <a:t>p1,       p2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,      W, H);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medfilt2(</a:t>
            </a:r>
            <a:r>
              <a:rPr lang="en-US" altLang="zh-CN" sz="2800" b="1">
                <a:solidFill>
                  <a:srgbClr val="00FF99"/>
                </a:solidFill>
                <a:latin typeface="Arial" charset="0"/>
              </a:rPr>
              <a:t>p1+W*H,   p2+W*H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,  W, H);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medfilt2(</a:t>
            </a:r>
            <a:r>
              <a:rPr lang="en-US" altLang="zh-CN" sz="2800" b="1">
                <a:solidFill>
                  <a:schemeClr val="accent1"/>
                </a:solidFill>
                <a:latin typeface="Arial" charset="0"/>
              </a:rPr>
              <a:t>p1+W*H*2, p2+W*H*2</a:t>
            </a:r>
            <a:r>
              <a:rPr lang="en-US" altLang="zh-CN" sz="2800" b="1">
                <a:solidFill>
                  <a:schemeClr val="accent2"/>
                </a:solidFill>
                <a:latin typeface="Arial" charset="0"/>
              </a:rPr>
              <a:t>,</a:t>
            </a: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 W, H);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>
              <a:solidFill>
                <a:schemeClr val="tx1"/>
              </a:solidFill>
              <a:latin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fwrite(p2, fsize, 1, f2);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free(p1); free(p2);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	fclose(f1); fclose(f2);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Arial" charset="0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r1-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63650"/>
            <a:ext cx="3429000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3" descr="hr1-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295400"/>
            <a:ext cx="3429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533400" y="0"/>
            <a:ext cx="37973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3000">
                <a:solidFill>
                  <a:schemeClr val="tx1"/>
                </a:solidFill>
              </a:rPr>
              <a:t>Corrupted by the</a:t>
            </a:r>
          </a:p>
          <a:p>
            <a:pPr algn="ctr"/>
            <a:r>
              <a:rPr lang="en-US" altLang="zh-CN" sz="3000">
                <a:solidFill>
                  <a:schemeClr val="tx1"/>
                </a:solidFill>
              </a:rPr>
              <a:t>“Salt and pepper” noise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4845050" y="441325"/>
            <a:ext cx="3232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000">
                <a:solidFill>
                  <a:schemeClr val="tx1"/>
                </a:solidFill>
              </a:rPr>
              <a:t>中值滤波后的图像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-142892"/>
            <a:ext cx="7239000" cy="1143000"/>
          </a:xfrm>
        </p:spPr>
        <p:txBody>
          <a:bodyPr/>
          <a:lstStyle/>
          <a:p>
            <a:r>
              <a:rPr lang="zh-CN" altLang="en-US" dirty="0"/>
              <a:t>一个简单的</a:t>
            </a:r>
            <a:r>
              <a:rPr lang="en-US" altLang="zh-CN" dirty="0"/>
              <a:t>C</a:t>
            </a:r>
            <a:r>
              <a:rPr lang="zh-CN" altLang="en-US" dirty="0"/>
              <a:t>语言程序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2984"/>
            <a:ext cx="7239000" cy="484632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ea typeface="宋体" charset="-122"/>
              </a:rPr>
              <a:t>/* This program is to compare two   variables and output the larger one.*/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#include &lt;</a:t>
            </a:r>
            <a:r>
              <a:rPr lang="en-US" altLang="zh-CN" sz="2400" b="1" dirty="0" err="1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stdio.h</a:t>
            </a: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&gt;</a:t>
            </a:r>
          </a:p>
          <a:p>
            <a:pPr>
              <a:lnSpc>
                <a:spcPct val="90000"/>
              </a:lnSpc>
              <a:buNone/>
            </a:pPr>
            <a:endParaRPr lang="en-US" altLang="zh-CN" sz="2400" b="1" dirty="0">
              <a:latin typeface="Courier New" pitchFamily="49" charset="0"/>
              <a:ea typeface="宋体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int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main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()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{ 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int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a,b,c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scanf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("%d %d", &amp;a, &amp;b); /* input   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if (a&gt;b) c=a;  else c=b;/* compare 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printf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("max= %d\n", c); /* output  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return 0;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}</a:t>
            </a:r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-142900"/>
            <a:ext cx="7239000" cy="1143000"/>
          </a:xfrm>
        </p:spPr>
        <p:txBody>
          <a:bodyPr/>
          <a:lstStyle/>
          <a:p>
            <a:r>
              <a:rPr lang="zh-CN" altLang="en-US" dirty="0"/>
              <a:t>对应的</a:t>
            </a:r>
            <a:r>
              <a:rPr lang="en-US" altLang="zh-CN" dirty="0"/>
              <a:t>C++</a:t>
            </a:r>
            <a:r>
              <a:rPr lang="zh-CN" altLang="en-US" dirty="0"/>
              <a:t>版本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14348" y="1285860"/>
            <a:ext cx="635798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#include &lt;</a:t>
            </a:r>
            <a:r>
              <a:rPr lang="en-US" altLang="zh-CN" sz="2400" dirty="0" err="1"/>
              <a:t>iostream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/>
              <a:t>using namespace std;</a:t>
            </a:r>
          </a:p>
          <a:p>
            <a:endParaRPr lang="zh-CN" altLang="en-US" sz="2400" dirty="0"/>
          </a:p>
          <a:p>
            <a:r>
              <a:rPr lang="en-US" altLang="zh-CN" sz="2400" dirty="0"/>
              <a:t>void main()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 err="1"/>
              <a:t>cin</a:t>
            </a:r>
            <a:r>
              <a:rPr lang="en-US" altLang="zh-CN" sz="2400" dirty="0"/>
              <a:t>&gt;&gt;a&gt;&gt;b;</a:t>
            </a:r>
          </a:p>
          <a:p>
            <a:r>
              <a:rPr lang="en-US" altLang="zh-CN" sz="2400" dirty="0"/>
              <a:t>if(a&gt;b) c=</a:t>
            </a:r>
            <a:r>
              <a:rPr lang="en-US" altLang="zh-CN" sz="2400" dirty="0" err="1"/>
              <a:t>a;else</a:t>
            </a:r>
            <a:r>
              <a:rPr lang="en-US" altLang="zh-CN" sz="2400" dirty="0"/>
              <a:t> c=b;</a:t>
            </a:r>
          </a:p>
          <a:p>
            <a:r>
              <a:rPr lang="en-US" altLang="zh-CN" sz="2400" dirty="0" err="1"/>
              <a:t>cout</a:t>
            </a:r>
            <a:r>
              <a:rPr lang="en-US" altLang="zh-CN" sz="2400" dirty="0"/>
              <a:t>&lt;&lt;"max is:"&lt;&lt;c&lt;&lt;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-357206"/>
            <a:ext cx="7239000" cy="1143000"/>
          </a:xfrm>
        </p:spPr>
        <p:txBody>
          <a:bodyPr/>
          <a:lstStyle/>
          <a:p>
            <a:r>
              <a:rPr lang="zh-CN" altLang="en-US" dirty="0"/>
              <a:t>过程型结构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1357290" y="1428736"/>
            <a:ext cx="603100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&lt;&lt;"a=";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&lt;&lt;"b=";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&gt;&gt;b;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 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="&lt;&lt;c&lt;&lt;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8153400" cy="549424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过程型程序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-357214"/>
            <a:ext cx="7239000" cy="1143000"/>
          </a:xfrm>
        </p:spPr>
        <p:txBody>
          <a:bodyPr/>
          <a:lstStyle/>
          <a:p>
            <a:r>
              <a:rPr lang="zh-CN" altLang="en-US" dirty="0"/>
              <a:t>函数型结构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142844" y="1262139"/>
            <a:ext cx="37862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input(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&amp; x, 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&amp; y)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&lt;&lt;"a=";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&lt;&lt;"b=";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&gt;&gt;b;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x=a;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y=b;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add(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x+y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4071934" y="1260984"/>
            <a:ext cx="446392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output(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z)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=”&lt;&lt;z&lt;&lt;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input(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 = add(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output(c);	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8153400" cy="549424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函数型程序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082" y="-428644"/>
            <a:ext cx="7239000" cy="1143000"/>
          </a:xfrm>
        </p:spPr>
        <p:txBody>
          <a:bodyPr/>
          <a:lstStyle/>
          <a:p>
            <a:r>
              <a:rPr lang="zh-CN" altLang="en-US" dirty="0"/>
              <a:t>面向对象型结构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357158" y="1357298"/>
            <a:ext cx="34290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Calculator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b;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Calculator();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Add(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Sub(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Calculator::Calculator()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a=0;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b=0;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3780482" y="1429306"/>
            <a:ext cx="52920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Calculator::Add(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y){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x+y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Calculator::Sub(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y){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x-y;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Calculator cal;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m,n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&lt;&lt;"m=";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&gt;&gt;m;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&lt;&lt;"n=";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&gt;&gt;n;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m+n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cal.Add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m,n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)&lt;&lt;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&lt;&lt;"m-n="&lt;&lt;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cal.Sub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m,n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)&lt;&lt;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51</a:t>
            </a:fld>
            <a:endParaRPr lang="en-US" altLang="zh-CN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204814" y="714356"/>
            <a:ext cx="8153400" cy="549424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面向对象型程序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581376" y="1238272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编辑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581376" y="2076472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编译</a:t>
            </a: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3581376" y="2990872"/>
            <a:ext cx="1219200" cy="6858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有错?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3581376" y="4057672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连接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3581376" y="4972072"/>
            <a:ext cx="1219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dirty="0"/>
              <a:t>执行</a:t>
            </a: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3581376" y="5886472"/>
            <a:ext cx="1219200" cy="6858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   正确？</a:t>
            </a:r>
          </a:p>
        </p:txBody>
      </p:sp>
      <p:sp>
        <p:nvSpPr>
          <p:cNvPr id="11" name="Oval 15"/>
          <p:cNvSpPr>
            <a:spLocks noChangeArrowheads="1"/>
          </p:cNvSpPr>
          <p:nvPr/>
        </p:nvSpPr>
        <p:spPr bwMode="auto">
          <a:xfrm>
            <a:off x="5867376" y="1390672"/>
            <a:ext cx="14478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源程序</a:t>
            </a:r>
          </a:p>
          <a:p>
            <a:pPr algn="ctr"/>
            <a:r>
              <a:rPr lang="en-US" altLang="zh-CN"/>
              <a:t>f.c</a:t>
            </a:r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5943576" y="2533672"/>
            <a:ext cx="14478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目标程序</a:t>
            </a:r>
          </a:p>
          <a:p>
            <a:pPr algn="ctr"/>
            <a:r>
              <a:rPr lang="en-US" altLang="zh-CN"/>
              <a:t>f.obj</a:t>
            </a:r>
          </a:p>
        </p:txBody>
      </p:sp>
      <p:sp>
        <p:nvSpPr>
          <p:cNvPr id="13" name="Oval 17"/>
          <p:cNvSpPr>
            <a:spLocks noChangeArrowheads="1"/>
          </p:cNvSpPr>
          <p:nvPr/>
        </p:nvSpPr>
        <p:spPr bwMode="auto">
          <a:xfrm>
            <a:off x="5943576" y="4362472"/>
            <a:ext cx="182880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200" dirty="0"/>
              <a:t>库函数和</a:t>
            </a:r>
          </a:p>
          <a:p>
            <a:pPr algn="ctr"/>
            <a:r>
              <a:rPr lang="zh-CN" altLang="en-US" sz="2200" dirty="0"/>
              <a:t>其他目标程序</a:t>
            </a:r>
          </a:p>
        </p:txBody>
      </p:sp>
      <p:sp>
        <p:nvSpPr>
          <p:cNvPr id="14" name="Oval 18"/>
          <p:cNvSpPr>
            <a:spLocks noChangeArrowheads="1"/>
          </p:cNvSpPr>
          <p:nvPr/>
        </p:nvSpPr>
        <p:spPr bwMode="auto">
          <a:xfrm>
            <a:off x="1371576" y="4210072"/>
            <a:ext cx="1447800" cy="1219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200"/>
              <a:t>可执行程序</a:t>
            </a:r>
          </a:p>
          <a:p>
            <a:pPr algn="ctr"/>
            <a:r>
              <a:rPr lang="en-US" altLang="zh-CN" sz="2200"/>
              <a:t>f.exe</a:t>
            </a:r>
          </a:p>
        </p:txBody>
      </p: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5867376" y="5962672"/>
            <a:ext cx="1295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 flipV="1">
            <a:off x="1142976" y="1009672"/>
            <a:ext cx="0" cy="518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>
            <a:off x="1142976" y="6191272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26"/>
          <p:cNvSpPr>
            <a:spLocks noChangeShapeType="1"/>
          </p:cNvSpPr>
          <p:nvPr/>
        </p:nvSpPr>
        <p:spPr bwMode="auto">
          <a:xfrm>
            <a:off x="1219176" y="3295672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33"/>
          <p:cNvSpPr>
            <a:spLocks noChangeShapeType="1"/>
          </p:cNvSpPr>
          <p:nvPr/>
        </p:nvSpPr>
        <p:spPr bwMode="auto">
          <a:xfrm>
            <a:off x="2895576" y="5124472"/>
            <a:ext cx="533400" cy="228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Line 34"/>
          <p:cNvSpPr>
            <a:spLocks noChangeShapeType="1"/>
          </p:cNvSpPr>
          <p:nvPr/>
        </p:nvSpPr>
        <p:spPr bwMode="auto">
          <a:xfrm flipH="1">
            <a:off x="2895576" y="4286272"/>
            <a:ext cx="533400" cy="304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35"/>
          <p:cNvSpPr>
            <a:spLocks noChangeShapeType="1"/>
          </p:cNvSpPr>
          <p:nvPr/>
        </p:nvSpPr>
        <p:spPr bwMode="auto">
          <a:xfrm>
            <a:off x="4876776" y="1466872"/>
            <a:ext cx="914400" cy="304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37"/>
          <p:cNvSpPr>
            <a:spLocks noChangeShapeType="1"/>
          </p:cNvSpPr>
          <p:nvPr/>
        </p:nvSpPr>
        <p:spPr bwMode="auto">
          <a:xfrm flipH="1">
            <a:off x="4952976" y="2000272"/>
            <a:ext cx="838200" cy="304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38"/>
          <p:cNvSpPr>
            <a:spLocks noChangeShapeType="1"/>
          </p:cNvSpPr>
          <p:nvPr/>
        </p:nvSpPr>
        <p:spPr bwMode="auto">
          <a:xfrm>
            <a:off x="4876776" y="2457472"/>
            <a:ext cx="914400" cy="457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39"/>
          <p:cNvSpPr>
            <a:spLocks noChangeShapeType="1"/>
          </p:cNvSpPr>
          <p:nvPr/>
        </p:nvSpPr>
        <p:spPr bwMode="auto">
          <a:xfrm flipH="1">
            <a:off x="4876776" y="3219472"/>
            <a:ext cx="1143000" cy="1066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41"/>
          <p:cNvSpPr>
            <a:spLocks noChangeShapeType="1"/>
          </p:cNvSpPr>
          <p:nvPr/>
        </p:nvSpPr>
        <p:spPr bwMode="auto">
          <a:xfrm flipH="1" flipV="1">
            <a:off x="4952976" y="4362472"/>
            <a:ext cx="914400" cy="457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Line 42"/>
          <p:cNvSpPr>
            <a:spLocks noChangeShapeType="1"/>
          </p:cNvSpPr>
          <p:nvPr/>
        </p:nvSpPr>
        <p:spPr bwMode="auto">
          <a:xfrm>
            <a:off x="1142976" y="1009672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Line 43"/>
          <p:cNvSpPr>
            <a:spLocks noChangeShapeType="1"/>
          </p:cNvSpPr>
          <p:nvPr/>
        </p:nvSpPr>
        <p:spPr bwMode="auto">
          <a:xfrm>
            <a:off x="4190976" y="93347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44"/>
          <p:cNvSpPr>
            <a:spLocks noChangeShapeType="1"/>
          </p:cNvSpPr>
          <p:nvPr/>
        </p:nvSpPr>
        <p:spPr bwMode="auto">
          <a:xfrm>
            <a:off x="4190976" y="177167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45"/>
          <p:cNvSpPr>
            <a:spLocks noChangeShapeType="1"/>
          </p:cNvSpPr>
          <p:nvPr/>
        </p:nvSpPr>
        <p:spPr bwMode="auto">
          <a:xfrm>
            <a:off x="4190976" y="268607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46"/>
          <p:cNvSpPr>
            <a:spLocks noChangeShapeType="1"/>
          </p:cNvSpPr>
          <p:nvPr/>
        </p:nvSpPr>
        <p:spPr bwMode="auto">
          <a:xfrm>
            <a:off x="4190976" y="375287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Line 47"/>
          <p:cNvSpPr>
            <a:spLocks noChangeShapeType="1"/>
          </p:cNvSpPr>
          <p:nvPr/>
        </p:nvSpPr>
        <p:spPr bwMode="auto">
          <a:xfrm>
            <a:off x="4190976" y="466727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48"/>
          <p:cNvSpPr>
            <a:spLocks noChangeShapeType="1"/>
          </p:cNvSpPr>
          <p:nvPr/>
        </p:nvSpPr>
        <p:spPr bwMode="auto">
          <a:xfrm>
            <a:off x="4190976" y="5581672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3" name="Line 50"/>
          <p:cNvSpPr>
            <a:spLocks noChangeShapeType="1"/>
          </p:cNvSpPr>
          <p:nvPr/>
        </p:nvSpPr>
        <p:spPr bwMode="auto">
          <a:xfrm>
            <a:off x="4876776" y="619127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Text Box 51"/>
          <p:cNvSpPr txBox="1">
            <a:spLocks noChangeArrowheads="1"/>
          </p:cNvSpPr>
          <p:nvPr/>
        </p:nvSpPr>
        <p:spPr bwMode="auto">
          <a:xfrm>
            <a:off x="3870301" y="344510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开始</a:t>
            </a:r>
          </a:p>
        </p:txBody>
      </p:sp>
      <p:sp>
        <p:nvSpPr>
          <p:cNvPr id="35" name="Text Box 60"/>
          <p:cNvSpPr txBox="1">
            <a:spLocks noChangeArrowheads="1"/>
          </p:cNvSpPr>
          <p:nvPr/>
        </p:nvSpPr>
        <p:spPr bwMode="auto">
          <a:xfrm>
            <a:off x="6172176" y="5983310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结束</a:t>
            </a:r>
          </a:p>
        </p:txBody>
      </p:sp>
      <p:sp>
        <p:nvSpPr>
          <p:cNvPr id="36" name="Text Box 61"/>
          <p:cNvSpPr txBox="1">
            <a:spLocks noChangeArrowheads="1"/>
          </p:cNvSpPr>
          <p:nvPr/>
        </p:nvSpPr>
        <p:spPr bwMode="auto">
          <a:xfrm>
            <a:off x="1660501" y="5678510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不正确</a:t>
            </a:r>
          </a:p>
        </p:txBody>
      </p:sp>
      <p:sp>
        <p:nvSpPr>
          <p:cNvPr id="37" name="Text Box 62"/>
          <p:cNvSpPr txBox="1">
            <a:spLocks noChangeArrowheads="1"/>
          </p:cNvSpPr>
          <p:nvPr/>
        </p:nvSpPr>
        <p:spPr bwMode="auto">
          <a:xfrm>
            <a:off x="1812901" y="270671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有</a:t>
            </a:r>
          </a:p>
        </p:txBody>
      </p:sp>
      <p:sp>
        <p:nvSpPr>
          <p:cNvPr id="38" name="Text Box 66"/>
          <p:cNvSpPr txBox="1">
            <a:spLocks noChangeArrowheads="1"/>
          </p:cNvSpPr>
          <p:nvPr/>
        </p:nvSpPr>
        <p:spPr bwMode="auto">
          <a:xfrm>
            <a:off x="4937101" y="5526110"/>
            <a:ext cx="79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正确</a:t>
            </a:r>
          </a:p>
        </p:txBody>
      </p:sp>
      <p:sp>
        <p:nvSpPr>
          <p:cNvPr id="39" name="Text Box 69"/>
          <p:cNvSpPr txBox="1">
            <a:spLocks noChangeArrowheads="1"/>
          </p:cNvSpPr>
          <p:nvPr/>
        </p:nvSpPr>
        <p:spPr bwMode="auto">
          <a:xfrm>
            <a:off x="4327501" y="354491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720" y="142852"/>
            <a:ext cx="3214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如何调试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语言程序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7239000" cy="1143000"/>
          </a:xfrm>
        </p:spPr>
        <p:txBody>
          <a:bodyPr/>
          <a:lstStyle/>
          <a:p>
            <a:r>
              <a:rPr lang="zh-CN" altLang="en-US" dirty="0"/>
              <a:t>程序设计语言的工作原理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928670"/>
            <a:ext cx="8750206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b="1" dirty="0"/>
              <a:t>C/C++</a:t>
            </a:r>
            <a:r>
              <a:rPr lang="zh-CN" altLang="en-US" b="1" dirty="0"/>
              <a:t>采用</a:t>
            </a:r>
            <a:r>
              <a:rPr lang="zh-CN" altLang="en-US" sz="2800" b="1" dirty="0">
                <a:solidFill>
                  <a:srgbClr val="C00000"/>
                </a:solidFill>
              </a:rPr>
              <a:t>编译运行</a:t>
            </a:r>
            <a:r>
              <a:rPr lang="zh-CN" altLang="en-US" b="1" dirty="0"/>
              <a:t>方式，编译运行是最经典、效率最高的运行方式</a:t>
            </a:r>
            <a:endParaRPr lang="en-US" altLang="zh-CN" b="1" dirty="0"/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编辑、编译、链接、运行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b="1" dirty="0"/>
              <a:t>还有另外一种程序运行方式：</a:t>
            </a:r>
            <a:r>
              <a:rPr lang="zh-CN" altLang="en-US" sz="2800" b="1" dirty="0">
                <a:solidFill>
                  <a:srgbClr val="C00000"/>
                </a:solidFill>
              </a:rPr>
              <a:t>解释运行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速度慢，但简单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</a:rPr>
              <a:t>解释器：按照程序指令一步一步地工作，完成程序功能</a:t>
            </a:r>
            <a:endParaRPr lang="en-US" altLang="zh-CN" b="1" dirty="0">
              <a:solidFill>
                <a:srgbClr val="002060"/>
              </a:solidFill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2060"/>
                </a:solidFill>
              </a:rPr>
              <a:t>BASIC</a:t>
            </a:r>
            <a:r>
              <a:rPr lang="zh-CN" altLang="en-US" b="1" dirty="0">
                <a:solidFill>
                  <a:srgbClr val="002060"/>
                </a:solidFill>
              </a:rPr>
              <a:t>、</a:t>
            </a:r>
            <a:r>
              <a:rPr lang="en-US" altLang="zh-CN" b="1" dirty="0">
                <a:solidFill>
                  <a:srgbClr val="002060"/>
                </a:solidFill>
              </a:rPr>
              <a:t>JavaScript</a:t>
            </a:r>
            <a:r>
              <a:rPr lang="zh-CN" altLang="en-US" b="1" dirty="0">
                <a:solidFill>
                  <a:srgbClr val="002060"/>
                </a:solidFill>
              </a:rPr>
              <a:t>、</a:t>
            </a:r>
            <a:r>
              <a:rPr lang="en-US" altLang="zh-CN" b="1" dirty="0">
                <a:solidFill>
                  <a:srgbClr val="002060"/>
                </a:solidFill>
              </a:rPr>
              <a:t>PHP</a:t>
            </a:r>
            <a:r>
              <a:rPr lang="zh-CN" altLang="en-US" b="1" dirty="0">
                <a:solidFill>
                  <a:srgbClr val="002060"/>
                </a:solidFill>
              </a:rPr>
              <a:t>、</a:t>
            </a:r>
            <a:r>
              <a:rPr lang="en-US" altLang="zh-CN" b="1" dirty="0">
                <a:solidFill>
                  <a:srgbClr val="002060"/>
                </a:solidFill>
              </a:rPr>
              <a:t>ASP</a:t>
            </a:r>
            <a:r>
              <a:rPr lang="zh-CN" altLang="en-US" b="1" dirty="0">
                <a:solidFill>
                  <a:srgbClr val="002060"/>
                </a:solidFill>
              </a:rPr>
              <a:t>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2250</TotalTime>
  <Words>3322</Words>
  <Application>Microsoft Office PowerPoint</Application>
  <PresentationFormat>全屏显示(4:3)</PresentationFormat>
  <Paragraphs>535</Paragraphs>
  <Slides>53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6" baseType="lpstr">
      <vt:lpstr>楷体_GB2312</vt:lpstr>
      <vt:lpstr>微软雅黑</vt:lpstr>
      <vt:lpstr>黑体</vt:lpstr>
      <vt:lpstr>宋体</vt:lpstr>
      <vt:lpstr>华文新魏</vt:lpstr>
      <vt:lpstr>Arial</vt:lpstr>
      <vt:lpstr>Calibri</vt:lpstr>
      <vt:lpstr>Courier New</vt:lpstr>
      <vt:lpstr>Trebuchet MS</vt:lpstr>
      <vt:lpstr>Verdana</vt:lpstr>
      <vt:lpstr>Wingdings</vt:lpstr>
      <vt:lpstr>Wingdings 2</vt:lpstr>
      <vt:lpstr>华丽</vt:lpstr>
      <vt:lpstr>高级语言程序设计-1</vt:lpstr>
      <vt:lpstr>课前调查与准备</vt:lpstr>
      <vt:lpstr>PowerPoint 演示文稿</vt:lpstr>
      <vt:lpstr>PowerPoint 演示文稿</vt:lpstr>
      <vt:lpstr>教学用书</vt:lpstr>
      <vt:lpstr>上学期完成后，寒假学习建议</vt:lpstr>
      <vt:lpstr>PowerPoint 演示文稿</vt:lpstr>
      <vt:lpstr>C++知识体系的思维导图</vt:lpstr>
      <vt:lpstr>PowerPoint 演示文稿</vt:lpstr>
      <vt:lpstr>PowerPoint 演示文稿</vt:lpstr>
      <vt:lpstr>PowerPoint 演示文稿</vt:lpstr>
      <vt:lpstr>PowerPoint 演示文稿</vt:lpstr>
      <vt:lpstr>下学期课程完成后，暑期学习建议</vt:lpstr>
      <vt:lpstr>课程完成后，暑期学习建议</vt:lpstr>
      <vt:lpstr>计算机与人</vt:lpstr>
      <vt:lpstr>PowerPoint 演示文稿</vt:lpstr>
      <vt:lpstr>QA体现的智能</vt:lpstr>
      <vt:lpstr>PowerPoint 演示文稿</vt:lpstr>
      <vt:lpstr>棋类游戏体现的智能</vt:lpstr>
      <vt:lpstr>计算机与程序设计</vt:lpstr>
      <vt:lpstr>计算机体系结构</vt:lpstr>
      <vt:lpstr>计算机的组成</vt:lpstr>
      <vt:lpstr>PowerPoint 演示文稿</vt:lpstr>
      <vt:lpstr>二进制</vt:lpstr>
      <vt:lpstr>八进制、十六进制</vt:lpstr>
      <vt:lpstr>八进制、十六进制</vt:lpstr>
      <vt:lpstr>二进制与八进制对照表</vt:lpstr>
      <vt:lpstr>二进制与十六进制对照表</vt:lpstr>
      <vt:lpstr>计算机内部采用二进制</vt:lpstr>
      <vt:lpstr>使用二进制数</vt:lpstr>
      <vt:lpstr>存储器单元</vt:lpstr>
      <vt:lpstr>存储器单元</vt:lpstr>
      <vt:lpstr>反码与补码</vt:lpstr>
      <vt:lpstr>程序设计</vt:lpstr>
      <vt:lpstr>程序设计语言</vt:lpstr>
      <vt:lpstr>C语言的产生</vt:lpstr>
      <vt:lpstr>C/C++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一个简单的C语言程序</vt:lpstr>
      <vt:lpstr>对应的C++版本</vt:lpstr>
      <vt:lpstr>过程型结构</vt:lpstr>
      <vt:lpstr>函数型结构</vt:lpstr>
      <vt:lpstr>面向对象型结构</vt:lpstr>
      <vt:lpstr>PowerPoint 演示文稿</vt:lpstr>
      <vt:lpstr>程序设计语言的工作原理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高级语言程序设计-1</dc:title>
  <dc:creator>user</dc:creator>
  <cp:lastModifiedBy>86186</cp:lastModifiedBy>
  <cp:revision>53</cp:revision>
  <dcterms:created xsi:type="dcterms:W3CDTF">2016-09-21T01:52:41Z</dcterms:created>
  <dcterms:modified xsi:type="dcterms:W3CDTF">2021-09-16T00:43:44Z</dcterms:modified>
</cp:coreProperties>
</file>