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4" r:id="rId13"/>
    <p:sldId id="275" r:id="rId14"/>
    <p:sldId id="276" r:id="rId15"/>
    <p:sldId id="277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7033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55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038DB-E6B8-4AD0-BCC8-D7C4AD9B5D8C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2C783-12EF-4489-9B92-1CABAEF0BB2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347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88420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BEE0D7E-E91E-4996-B959-1AB1DFB7021B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C/C++</a:t>
            </a:r>
            <a:r>
              <a:rPr lang="zh-CN" altLang="en-US" dirty="0"/>
              <a:t>程序设计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sz="3200" dirty="0">
              <a:latin typeface="+mj-ea"/>
              <a:ea typeface="+mj-ea"/>
            </a:endParaRPr>
          </a:p>
          <a:p>
            <a:r>
              <a:rPr lang="zh-CN" altLang="en-US" sz="3200" dirty="0">
                <a:latin typeface="+mj-ea"/>
                <a:ea typeface="+mj-ea"/>
              </a:rPr>
              <a:t>控制语句</a:t>
            </a:r>
            <a:endParaRPr lang="zh-CN" altLang="en-US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214282" y="-24"/>
            <a:ext cx="7239000" cy="785818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黑体" pitchFamily="49" charset="-122"/>
                <a:ea typeface="黑体" pitchFamily="49" charset="-122"/>
              </a:rPr>
              <a:t>C++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语句概述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571472" y="928670"/>
            <a:ext cx="7239000" cy="484632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latin typeface="+mj-ea"/>
                <a:ea typeface="+mj-ea"/>
              </a:rPr>
              <a:t>C++</a:t>
            </a:r>
            <a:r>
              <a:rPr lang="zh-CN" altLang="en-US" b="1" dirty="0">
                <a:latin typeface="+mj-ea"/>
                <a:ea typeface="+mj-ea"/>
              </a:rPr>
              <a:t>语句的分类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007033"/>
                </a:solidFill>
                <a:latin typeface="+mj-ea"/>
                <a:ea typeface="+mj-ea"/>
              </a:rPr>
              <a:t>说明语句（</a:t>
            </a:r>
            <a:r>
              <a:rPr lang="en-US" altLang="zh-CN" b="1" dirty="0">
                <a:solidFill>
                  <a:srgbClr val="007033"/>
                </a:solidFill>
                <a:latin typeface="+mj-ea"/>
                <a:ea typeface="+mj-ea"/>
              </a:rPr>
              <a:t>Declaration statement</a:t>
            </a:r>
            <a:r>
              <a:rPr lang="zh-CN" altLang="en-US" b="1" dirty="0">
                <a:solidFill>
                  <a:srgbClr val="007033"/>
                </a:solidFill>
                <a:latin typeface="+mj-ea"/>
                <a:ea typeface="+mj-ea"/>
              </a:rPr>
              <a:t>）</a:t>
            </a:r>
            <a:endParaRPr lang="en-US" altLang="zh-CN" b="1" dirty="0">
              <a:solidFill>
                <a:srgbClr val="007033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表达式语句（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Expression statement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）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空语句（</a:t>
            </a:r>
            <a:r>
              <a:rPr lang="en-US" altLang="zh-CN" b="1" dirty="0">
                <a:latin typeface="+mj-ea"/>
                <a:ea typeface="+mj-ea"/>
              </a:rPr>
              <a:t>Null statement</a:t>
            </a:r>
            <a:r>
              <a:rPr lang="zh-CN" altLang="en-US" b="1" dirty="0">
                <a:latin typeface="+mj-ea"/>
                <a:ea typeface="+mj-ea"/>
              </a:rPr>
              <a:t>）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控制语句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分支语句（</a:t>
            </a:r>
            <a:r>
              <a:rPr lang="en-US" altLang="zh-CN" b="1" dirty="0">
                <a:latin typeface="+mj-ea"/>
                <a:ea typeface="+mj-ea"/>
              </a:rPr>
              <a:t>Selection statement</a:t>
            </a:r>
            <a:r>
              <a:rPr lang="zh-CN" altLang="en-US" b="1" dirty="0">
                <a:latin typeface="+mj-ea"/>
                <a:ea typeface="+mj-ea"/>
              </a:rPr>
              <a:t>）</a:t>
            </a:r>
            <a:endParaRPr lang="en-US" altLang="zh-CN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循环语句（</a:t>
            </a:r>
            <a:r>
              <a:rPr lang="en-US" altLang="zh-CN" b="1" dirty="0">
                <a:latin typeface="+mj-ea"/>
                <a:ea typeface="+mj-ea"/>
              </a:rPr>
              <a:t>iteration statement</a:t>
            </a:r>
            <a:r>
              <a:rPr lang="zh-CN" altLang="en-US" b="1" dirty="0">
                <a:latin typeface="+mj-ea"/>
                <a:ea typeface="+mj-ea"/>
              </a:rPr>
              <a:t>）</a:t>
            </a:r>
            <a:endParaRPr lang="en-US" altLang="zh-CN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无条件转向语句（</a:t>
            </a:r>
            <a:r>
              <a:rPr lang="en-US" altLang="zh-CN" b="1" dirty="0">
                <a:latin typeface="+mj-ea"/>
                <a:ea typeface="+mj-ea"/>
              </a:rPr>
              <a:t>Jump statement</a:t>
            </a:r>
            <a:r>
              <a:rPr lang="zh-CN" altLang="en-US" b="1" dirty="0">
                <a:latin typeface="+mj-ea"/>
                <a:ea typeface="+mj-ea"/>
              </a:rPr>
              <a:t>）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复合语句（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Compound statement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）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标签语句（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Labeled statement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DD4A8CF-8F61-4D86-AFB4-4DD7681567C8}" type="slidenum">
              <a:rPr lang="en-US" altLang="zh-CN"/>
              <a:pPr>
                <a:defRPr/>
              </a:pPr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457200" y="71414"/>
            <a:ext cx="7239000" cy="677246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黑体" pitchFamily="49" charset="-122"/>
                <a:ea typeface="黑体" pitchFamily="49" charset="-122"/>
              </a:rPr>
              <a:t>C++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语句概述</a:t>
            </a: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428596" y="857232"/>
            <a:ext cx="7500990" cy="484632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表达式语句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任意有效表达式都可以作为表达式语句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在表达式后面加上“</a:t>
            </a:r>
            <a:r>
              <a:rPr lang="en-US" altLang="zh-CN" sz="2400" b="1" dirty="0">
                <a:latin typeface="+mj-ea"/>
                <a:ea typeface="+mj-ea"/>
                <a:cs typeface="Courier New" pitchFamily="49" charset="0"/>
              </a:rPr>
              <a:t>;</a:t>
            </a:r>
            <a:r>
              <a:rPr lang="zh-CN" altLang="en-US" sz="2400" b="1" dirty="0">
                <a:latin typeface="+mj-ea"/>
                <a:ea typeface="+mj-ea"/>
              </a:rPr>
              <a:t>”</a:t>
            </a: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当表达式语句中不包含表达式时，该语句是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空语句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什么也不做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只由分割符“</a:t>
            </a:r>
            <a:r>
              <a:rPr lang="en-US" altLang="zh-CN" sz="2400" b="1" dirty="0">
                <a:latin typeface="+mj-ea"/>
                <a:ea typeface="+mj-ea"/>
              </a:rPr>
              <a:t>;</a:t>
            </a:r>
            <a:r>
              <a:rPr lang="zh-CN" altLang="en-US" sz="2400" b="1" dirty="0">
                <a:latin typeface="+mj-ea"/>
                <a:ea typeface="+mj-ea"/>
              </a:rPr>
              <a:t>”构成</a:t>
            </a: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常见的表达式语句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赋值表达式语句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函数调用语句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B22586C-6E6E-4D9F-9197-C303E57096CB}" type="slidenum">
              <a:rPr lang="en-US" altLang="zh-CN"/>
              <a:pPr>
                <a:defRPr/>
              </a:pPr>
              <a:t>3</a:t>
            </a:fld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457200" y="71414"/>
            <a:ext cx="7239000" cy="748684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黑体" pitchFamily="49" charset="-122"/>
                <a:ea typeface="黑体" pitchFamily="49" charset="-122"/>
              </a:rPr>
              <a:t>C++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语句概述</a:t>
            </a: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xfrm>
            <a:off x="404834" y="1000108"/>
            <a:ext cx="7239000" cy="4846320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控制语句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33CC"/>
                </a:solidFill>
                <a:latin typeface="+mj-ea"/>
                <a:ea typeface="+mj-ea"/>
              </a:rPr>
              <a:t>用来控制程序中各语句执行的次序</a:t>
            </a:r>
            <a:endParaRPr lang="en-US" altLang="zh-CN" sz="2400" b="1" dirty="0">
              <a:solidFill>
                <a:srgbClr val="0033CC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33CC"/>
                </a:solidFill>
                <a:latin typeface="+mj-ea"/>
                <a:ea typeface="+mj-ea"/>
              </a:rPr>
              <a:t>分类</a:t>
            </a:r>
            <a:endParaRPr lang="en-US" altLang="zh-CN" sz="2400" b="1" dirty="0">
              <a:solidFill>
                <a:srgbClr val="0033CC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条件控制语句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分支语句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循环语句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无条件控制语句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20AE00-72AF-4019-99EA-573382BE2841}" type="slidenum">
              <a:rPr lang="en-US" altLang="zh-CN"/>
              <a:pPr>
                <a:defRPr/>
              </a:pPr>
              <a:t>4</a:t>
            </a:fld>
            <a:endParaRPr lang="en-US" altLang="zh-CN" dirty="0"/>
          </a:p>
        </p:txBody>
      </p:sp>
      <p:pic>
        <p:nvPicPr>
          <p:cNvPr id="1741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10004" y="2714640"/>
            <a:ext cx="5176838" cy="278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357158" y="-24"/>
            <a:ext cx="7239000" cy="5343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dirty="0">
                <a:latin typeface="黑体" pitchFamily="49" charset="-122"/>
                <a:ea typeface="黑体" pitchFamily="49" charset="-122"/>
              </a:rPr>
              <a:t>C++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语句概述</a:t>
            </a:r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476272" y="500042"/>
            <a:ext cx="7239000" cy="4846320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2800" b="1" dirty="0">
                <a:latin typeface="+mj-ea"/>
                <a:ea typeface="+mj-ea"/>
              </a:rPr>
              <a:t>复合语句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也称为块语句、语句块（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block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）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若干语句的组合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由分割符“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{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”和“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}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”界定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构成复合语句的语句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/>
            <a:r>
              <a:rPr lang="zh-CN" altLang="en-US" b="1" dirty="0">
                <a:latin typeface="+mj-ea"/>
                <a:ea typeface="+mj-ea"/>
              </a:rPr>
              <a:t>说明语句</a:t>
            </a:r>
            <a:endParaRPr lang="en-US" altLang="zh-CN" b="1" dirty="0">
              <a:latin typeface="+mj-ea"/>
              <a:ea typeface="+mj-ea"/>
            </a:endParaRPr>
          </a:p>
          <a:p>
            <a:pPr lvl="2" eaLnBrk="1" hangingPunct="1"/>
            <a:r>
              <a:rPr lang="zh-CN" altLang="en-US" b="1" dirty="0">
                <a:latin typeface="+mj-ea"/>
                <a:ea typeface="+mj-ea"/>
              </a:rPr>
              <a:t>表达式语句</a:t>
            </a:r>
            <a:endParaRPr lang="en-US" altLang="zh-CN" b="1" dirty="0">
              <a:latin typeface="+mj-ea"/>
              <a:ea typeface="+mj-ea"/>
            </a:endParaRPr>
          </a:p>
          <a:p>
            <a:pPr lvl="2" eaLnBrk="1" hangingPunct="1"/>
            <a:r>
              <a:rPr lang="zh-CN" altLang="en-US" b="1" dirty="0">
                <a:latin typeface="+mj-ea"/>
                <a:ea typeface="+mj-ea"/>
              </a:rPr>
              <a:t>控制语句</a:t>
            </a:r>
            <a:endParaRPr lang="en-US" altLang="zh-CN" b="1" dirty="0">
              <a:latin typeface="+mj-ea"/>
              <a:ea typeface="+mj-ea"/>
            </a:endParaRPr>
          </a:p>
          <a:p>
            <a:pPr lvl="2" eaLnBrk="1" hangingPunct="1"/>
            <a:r>
              <a:rPr lang="zh-CN" altLang="en-US" b="1" dirty="0">
                <a:latin typeface="+mj-ea"/>
                <a:ea typeface="+mj-ea"/>
              </a:rPr>
              <a:t>复合语句</a:t>
            </a:r>
            <a:endParaRPr lang="en-US" altLang="zh-CN" b="1" dirty="0">
              <a:latin typeface="+mj-ea"/>
              <a:ea typeface="+mj-ea"/>
            </a:endParaRPr>
          </a:p>
          <a:p>
            <a:pPr lvl="2" eaLnBrk="1" hangingPunct="1"/>
            <a:r>
              <a:rPr lang="zh-CN" altLang="en-US" b="1" dirty="0">
                <a:latin typeface="+mj-ea"/>
                <a:ea typeface="+mj-ea"/>
              </a:rPr>
              <a:t>空语句</a:t>
            </a:r>
            <a:endParaRPr lang="en-US" altLang="zh-CN" b="1" dirty="0">
              <a:latin typeface="+mj-ea"/>
              <a:ea typeface="+mj-ea"/>
            </a:endParaRPr>
          </a:p>
          <a:p>
            <a:r>
              <a:rPr lang="zh-CN" altLang="en-US" sz="2800" b="1" dirty="0">
                <a:latin typeface="+mj-ea"/>
                <a:ea typeface="+mj-ea"/>
              </a:rPr>
              <a:t>主要出现位置</a:t>
            </a:r>
            <a:endParaRPr lang="en-US" altLang="zh-CN" sz="2800" b="1" dirty="0">
              <a:latin typeface="+mj-ea"/>
              <a:ea typeface="+mj-ea"/>
            </a:endParaRPr>
          </a:p>
          <a:p>
            <a:pPr lvl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函数体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循环体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分支语句的分支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/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……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F3C20F-BC2D-48FF-BE79-6F591C2B611F}" type="slidenum">
              <a:rPr lang="en-US" altLang="zh-CN"/>
              <a:pPr>
                <a:defRPr/>
              </a:pPr>
              <a:t>5</a:t>
            </a:fld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xfrm>
            <a:off x="214282" y="142852"/>
            <a:ext cx="7239000" cy="605808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黑体" pitchFamily="49" charset="-122"/>
                <a:ea typeface="黑体" pitchFamily="49" charset="-122"/>
              </a:rPr>
              <a:t>C++</a:t>
            </a:r>
            <a:r>
              <a:rPr lang="zh-CN" altLang="en-US" dirty="0">
                <a:latin typeface="黑体" pitchFamily="49" charset="-122"/>
                <a:ea typeface="黑体" pitchFamily="49" charset="-122"/>
              </a:rPr>
              <a:t>语句概述</a:t>
            </a: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476272" y="928670"/>
            <a:ext cx="7239000" cy="484632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标签语句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标签是为语句起的“名字”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语句的标签为标识符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标签加在语句所在程序代码行，用分割符“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: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”与标号指示的语句分开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L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: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 err="1">
                <a:latin typeface="+mj-ea"/>
                <a:ea typeface="+mj-ea"/>
              </a:rPr>
              <a:t>int</a:t>
            </a:r>
            <a:r>
              <a:rPr lang="en-US" altLang="zh-CN" sz="2400" b="1" dirty="0">
                <a:latin typeface="+mj-ea"/>
                <a:ea typeface="+mj-ea"/>
              </a:rPr>
              <a:t> a = 5;</a:t>
            </a:r>
          </a:p>
          <a:p>
            <a:pPr lvl="3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L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是语句的标号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/>
            <a:endParaRPr lang="en-US" altLang="zh-CN" dirty="0"/>
          </a:p>
          <a:p>
            <a:pPr lvl="3" eaLnBrk="1" hangingPunct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41E1A0C-3BA0-41BE-8C6F-1307BEBE49E4}" type="slidenum">
              <a:rPr lang="en-US" altLang="zh-CN"/>
              <a:pPr>
                <a:defRPr/>
              </a:pPr>
              <a:t>6</a:t>
            </a:fld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2852"/>
            <a:ext cx="7239000" cy="78581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  <a:endParaRPr lang="en-US" altLang="zh-CN" dirty="0">
              <a:latin typeface="黑体" pitchFamily="49" charset="-122"/>
              <a:ea typeface="宋体" charset="-122"/>
            </a:endParaRPr>
          </a:p>
        </p:txBody>
      </p:sp>
      <p:sp>
        <p:nvSpPr>
          <p:cNvPr id="24579" name="AutoShape 3"/>
          <p:cNvSpPr>
            <a:spLocks noChangeArrowheads="1"/>
          </p:cNvSpPr>
          <p:nvPr/>
        </p:nvSpPr>
        <p:spPr bwMode="auto">
          <a:xfrm>
            <a:off x="5143520" y="2795571"/>
            <a:ext cx="2286000" cy="26670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zh-CN">
              <a:latin typeface="Verdana" pitchFamily="34" charset="0"/>
            </a:endParaRP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5295920" y="2947971"/>
            <a:ext cx="2057400" cy="170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692AA2"/>
                </a:solidFill>
                <a:latin typeface="黑体" pitchFamily="49" charset="-122"/>
                <a:ea typeface="黑体" pitchFamily="49" charset="-122"/>
              </a:rPr>
              <a:t>开关语句</a:t>
            </a:r>
            <a:endParaRPr lang="en-US" altLang="zh-CN" sz="2400" b="1" dirty="0">
              <a:solidFill>
                <a:srgbClr val="692AA2"/>
              </a:solidFill>
              <a:latin typeface="黑体" pitchFamily="49" charset="-122"/>
              <a:ea typeface="黑体" pitchFamily="49" charset="-122"/>
            </a:endParaRPr>
          </a:p>
          <a:p>
            <a:pPr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switch</a:t>
            </a:r>
          </a:p>
          <a:p>
            <a:pPr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case</a:t>
            </a:r>
          </a:p>
          <a:p>
            <a:pPr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default</a:t>
            </a:r>
          </a:p>
        </p:txBody>
      </p:sp>
      <p:sp>
        <p:nvSpPr>
          <p:cNvPr id="24581" name="AutoShape 5"/>
          <p:cNvSpPr>
            <a:spLocks noChangeArrowheads="1"/>
          </p:cNvSpPr>
          <p:nvPr/>
        </p:nvSpPr>
        <p:spPr bwMode="auto">
          <a:xfrm>
            <a:off x="723920" y="2795571"/>
            <a:ext cx="2286000" cy="26670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zh-CN">
              <a:latin typeface="Verdana" pitchFamily="34" charset="0"/>
            </a:endParaRP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819170" y="2909871"/>
            <a:ext cx="2038350" cy="253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692AA2"/>
                </a:solidFill>
                <a:latin typeface="黑体" pitchFamily="49" charset="-122"/>
                <a:ea typeface="黑体" pitchFamily="49" charset="-122"/>
              </a:rPr>
              <a:t>条件语句</a:t>
            </a:r>
          </a:p>
          <a:p>
            <a:pPr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if</a:t>
            </a:r>
            <a:r>
              <a:rPr lang="zh-CN" altLang="en-US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语句</a:t>
            </a:r>
            <a:endParaRPr lang="en-US" altLang="zh-CN" b="1" dirty="0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  <a:p>
            <a:pPr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if…else</a:t>
            </a:r>
            <a:r>
              <a:rPr lang="zh-CN" altLang="en-US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语句</a:t>
            </a:r>
            <a:endParaRPr lang="en-US" altLang="zh-CN" b="1" dirty="0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  <a:p>
            <a:pPr eaLnBrk="0" hangingPunct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上述两种语句都可以再嵌套条件语句</a:t>
            </a:r>
            <a:endParaRPr lang="en-US" altLang="zh-CN" b="1" dirty="0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3016" name="Freeform 8"/>
          <p:cNvSpPr>
            <a:spLocks/>
          </p:cNvSpPr>
          <p:nvPr/>
        </p:nvSpPr>
        <p:spPr bwMode="gray">
          <a:xfrm>
            <a:off x="2803545" y="2698734"/>
            <a:ext cx="903288" cy="1241425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31765"/>
                  <a:invGamma/>
                </a:schemeClr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24584" name="AutoShape 9"/>
          <p:cNvSpPr>
            <a:spLocks noChangeAspect="1" noChangeArrowheads="1" noTextEdit="1"/>
          </p:cNvSpPr>
          <p:nvPr/>
        </p:nvSpPr>
        <p:spPr bwMode="gray">
          <a:xfrm flipH="1">
            <a:off x="4449783" y="2695559"/>
            <a:ext cx="909637" cy="124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018" name="Freeform 10"/>
          <p:cNvSpPr>
            <a:spLocks/>
          </p:cNvSpPr>
          <p:nvPr/>
        </p:nvSpPr>
        <p:spPr bwMode="gray">
          <a:xfrm flipH="1">
            <a:off x="4456133" y="2698734"/>
            <a:ext cx="903287" cy="1241425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31765"/>
                  <a:invGamma/>
                </a:schemeClr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628920" y="1071546"/>
            <a:ext cx="2998788" cy="1601788"/>
            <a:chOff x="1997" y="1314"/>
            <a:chExt cx="1889" cy="1009"/>
          </a:xfrm>
        </p:grpSpPr>
        <p:grpSp>
          <p:nvGrpSpPr>
            <p:cNvPr id="3" name="Group 12"/>
            <p:cNvGrpSpPr>
              <a:grpSpLocks/>
            </p:cNvGrpSpPr>
            <p:nvPr/>
          </p:nvGrpSpPr>
          <p:grpSpPr bwMode="auto">
            <a:xfrm>
              <a:off x="1997" y="1404"/>
              <a:ext cx="1889" cy="919"/>
              <a:chOff x="1973" y="1027"/>
              <a:chExt cx="1926" cy="937"/>
            </a:xfrm>
          </p:grpSpPr>
          <p:sp>
            <p:nvSpPr>
              <p:cNvPr id="43021" name="Oval 13"/>
              <p:cNvSpPr>
                <a:spLocks noChangeArrowheads="1"/>
              </p:cNvSpPr>
              <p:nvPr/>
            </p:nvSpPr>
            <p:spPr bwMode="gray">
              <a:xfrm>
                <a:off x="1994" y="105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8627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3022" name="Oval 14"/>
              <p:cNvSpPr>
                <a:spLocks noChangeArrowheads="1"/>
              </p:cNvSpPr>
              <p:nvPr/>
            </p:nvSpPr>
            <p:spPr bwMode="gray">
              <a:xfrm>
                <a:off x="1973" y="102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44314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43023" name="Oval 15"/>
            <p:cNvSpPr>
              <a:spLocks noChangeArrowheads="1"/>
            </p:cNvSpPr>
            <p:nvPr/>
          </p:nvSpPr>
          <p:spPr bwMode="gray">
            <a:xfrm>
              <a:off x="2086" y="1314"/>
              <a:ext cx="1691" cy="845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3024" name="Oval 16"/>
            <p:cNvSpPr>
              <a:spLocks noChangeArrowheads="1"/>
            </p:cNvSpPr>
            <p:nvPr/>
          </p:nvSpPr>
          <p:spPr bwMode="gray">
            <a:xfrm>
              <a:off x="2108" y="1319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gamma/>
                    <a:tint val="34902"/>
                    <a:invGamma/>
                  </a:schemeClr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3025" name="Oval 17"/>
            <p:cNvSpPr>
              <a:spLocks noChangeArrowheads="1"/>
            </p:cNvSpPr>
            <p:nvPr/>
          </p:nvSpPr>
          <p:spPr bwMode="gray">
            <a:xfrm>
              <a:off x="2125" y="1327"/>
              <a:ext cx="1570" cy="77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79216"/>
                    <a:invGamma/>
                  </a:schemeClr>
                </a:gs>
                <a:gs pos="100000">
                  <a:schemeClr val="accent1">
                    <a:alpha val="48000"/>
                  </a:schemeClr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3026" name="Oval 18"/>
            <p:cNvSpPr>
              <a:spLocks noChangeArrowheads="1"/>
            </p:cNvSpPr>
            <p:nvPr/>
          </p:nvSpPr>
          <p:spPr bwMode="gray">
            <a:xfrm>
              <a:off x="2208" y="1344"/>
              <a:ext cx="1382" cy="6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>
                    <a:alpha val="38000"/>
                  </a:schemeClr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4587" name="Text Box 19"/>
          <p:cNvSpPr txBox="1">
            <a:spLocks noChangeArrowheads="1"/>
          </p:cNvSpPr>
          <p:nvPr/>
        </p:nvSpPr>
        <p:spPr bwMode="auto">
          <a:xfrm>
            <a:off x="3295670" y="1343009"/>
            <a:ext cx="1627188" cy="52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分支语句</a:t>
            </a:r>
            <a:endParaRPr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29A543E-4845-44F7-9894-34DFF45E636A}" type="slidenum">
              <a:rPr lang="en-US" altLang="zh-CN"/>
              <a:pPr>
                <a:defRPr/>
              </a:pPr>
              <a:t>7</a:t>
            </a:fld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457200" y="71414"/>
            <a:ext cx="7239000" cy="748684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357158" y="1000108"/>
            <a:ext cx="7239000" cy="484632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条件语句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由关键字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if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和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else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组成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if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(</a:t>
            </a:r>
            <a:r>
              <a:rPr lang="en-US" altLang="zh-CN" sz="2400" b="1" dirty="0">
                <a:latin typeface="+mj-ea"/>
                <a:ea typeface="+mj-ea"/>
              </a:rPr>
              <a:t>&lt;</a:t>
            </a:r>
            <a:r>
              <a:rPr lang="zh-CN" altLang="en-US" sz="2400" b="1" dirty="0">
                <a:latin typeface="+mj-ea"/>
                <a:ea typeface="+mj-ea"/>
              </a:rPr>
              <a:t>表达式</a:t>
            </a:r>
            <a:r>
              <a:rPr lang="en-US" altLang="zh-CN" sz="2400" b="1" dirty="0">
                <a:latin typeface="+mj-ea"/>
                <a:ea typeface="+mj-ea"/>
              </a:rPr>
              <a:t>E&gt;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)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{</a:t>
            </a:r>
            <a:r>
              <a:rPr lang="en-US" altLang="zh-CN" sz="2400" b="1" dirty="0">
                <a:latin typeface="+mj-ea"/>
                <a:ea typeface="+mj-ea"/>
              </a:rPr>
              <a:t>&lt;</a:t>
            </a:r>
            <a:r>
              <a:rPr lang="zh-CN" altLang="en-US" sz="2400" b="1" dirty="0">
                <a:latin typeface="+mj-ea"/>
                <a:ea typeface="+mj-ea"/>
              </a:rPr>
              <a:t>语句</a:t>
            </a:r>
            <a:r>
              <a:rPr lang="en-US" altLang="zh-CN" sz="2400" b="1" dirty="0">
                <a:latin typeface="+mj-ea"/>
                <a:ea typeface="+mj-ea"/>
              </a:rPr>
              <a:t>S&gt;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}</a:t>
            </a:r>
          </a:p>
          <a:p>
            <a:pPr lvl="2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if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(</a:t>
            </a:r>
            <a:r>
              <a:rPr lang="en-US" altLang="zh-CN" sz="2400" b="1" dirty="0">
                <a:latin typeface="+mj-ea"/>
                <a:ea typeface="+mj-ea"/>
              </a:rPr>
              <a:t>&lt;</a:t>
            </a:r>
            <a:r>
              <a:rPr lang="zh-CN" altLang="en-US" sz="2400" b="1" dirty="0">
                <a:latin typeface="+mj-ea"/>
                <a:ea typeface="+mj-ea"/>
              </a:rPr>
              <a:t>表达式</a:t>
            </a:r>
            <a:r>
              <a:rPr lang="en-US" altLang="zh-CN" sz="2400" b="1" dirty="0">
                <a:latin typeface="+mj-ea"/>
                <a:ea typeface="+mj-ea"/>
              </a:rPr>
              <a:t>E&gt;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)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{</a:t>
            </a:r>
            <a:r>
              <a:rPr lang="en-US" altLang="zh-CN" sz="2400" b="1" dirty="0">
                <a:latin typeface="+mj-ea"/>
                <a:ea typeface="+mj-ea"/>
              </a:rPr>
              <a:t>&lt;</a:t>
            </a:r>
            <a:r>
              <a:rPr lang="zh-CN" altLang="en-US" sz="2400" b="1" dirty="0">
                <a:latin typeface="+mj-ea"/>
                <a:ea typeface="+mj-ea"/>
              </a:rPr>
              <a:t>语句</a:t>
            </a:r>
            <a:r>
              <a:rPr lang="en-US" altLang="zh-CN" sz="2400" b="1" dirty="0">
                <a:latin typeface="+mj-ea"/>
                <a:ea typeface="+mj-ea"/>
              </a:rPr>
              <a:t>S1&gt;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}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else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{</a:t>
            </a:r>
            <a:r>
              <a:rPr lang="en-US" altLang="zh-CN" sz="2400" b="1" dirty="0">
                <a:latin typeface="+mj-ea"/>
                <a:ea typeface="+mj-ea"/>
              </a:rPr>
              <a:t>&lt;</a:t>
            </a:r>
            <a:r>
              <a:rPr lang="zh-CN" altLang="en-US" sz="2400" b="1" dirty="0">
                <a:latin typeface="+mj-ea"/>
                <a:ea typeface="+mj-ea"/>
              </a:rPr>
              <a:t>语句</a:t>
            </a:r>
            <a:r>
              <a:rPr lang="en-US" altLang="zh-CN" sz="2400" b="1" dirty="0">
                <a:latin typeface="+mj-ea"/>
                <a:ea typeface="+mj-ea"/>
              </a:rPr>
              <a:t>S2&gt;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}</a:t>
            </a: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表达式</a:t>
            </a:r>
            <a:r>
              <a:rPr lang="en-US" altLang="zh-CN" sz="2400" b="1" dirty="0">
                <a:latin typeface="+mj-ea"/>
                <a:ea typeface="+mj-ea"/>
              </a:rPr>
              <a:t>E</a:t>
            </a: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其值能够等价为逻辑值的任何表达式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语句</a:t>
            </a:r>
            <a:r>
              <a:rPr lang="en-US" altLang="zh-CN" sz="2400" b="1" dirty="0">
                <a:latin typeface="+mj-ea"/>
                <a:ea typeface="+mj-ea"/>
              </a:rPr>
              <a:t>S</a:t>
            </a:r>
            <a:r>
              <a:rPr lang="zh-CN" altLang="en-US" sz="2400" b="1" dirty="0">
                <a:latin typeface="+mj-ea"/>
                <a:ea typeface="+mj-ea"/>
              </a:rPr>
              <a:t>、</a:t>
            </a:r>
            <a:r>
              <a:rPr lang="en-US" altLang="zh-CN" sz="2400" b="1" dirty="0">
                <a:latin typeface="+mj-ea"/>
                <a:ea typeface="+mj-ea"/>
              </a:rPr>
              <a:t>S1</a:t>
            </a:r>
            <a:r>
              <a:rPr lang="zh-CN" altLang="en-US" sz="2400" b="1" dirty="0">
                <a:latin typeface="+mj-ea"/>
                <a:ea typeface="+mj-ea"/>
              </a:rPr>
              <a:t>和</a:t>
            </a:r>
            <a:r>
              <a:rPr lang="en-US" altLang="zh-CN" sz="2400" b="1" dirty="0">
                <a:latin typeface="+mj-ea"/>
                <a:ea typeface="+mj-ea"/>
              </a:rPr>
              <a:t>S2</a:t>
            </a: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任何类型的语句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CDB3390-BCFC-4945-B5CA-6304C8D1F7AC}" type="slidenum">
              <a:rPr lang="en-US" altLang="zh-CN"/>
              <a:pPr>
                <a:defRPr/>
              </a:pPr>
              <a:t>8</a:t>
            </a:fld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457200" y="-24"/>
            <a:ext cx="7239000" cy="67724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>
          <a:xfrm>
            <a:off x="457200" y="857232"/>
            <a:ext cx="8153400" cy="1276350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+mj-ea"/>
                <a:ea typeface="+mj-ea"/>
              </a:rPr>
              <a:t>条件语句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执行流程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2B4C6E-F990-458B-81AA-80A9EB3D56CA}" type="slidenum">
              <a:rPr lang="en-US" altLang="zh-CN"/>
              <a:pPr>
                <a:defRPr/>
              </a:pPr>
              <a:t>9</a:t>
            </a:fld>
            <a:endParaRPr lang="en-US" altLang="zh-CN" dirty="0"/>
          </a:p>
        </p:txBody>
      </p:sp>
      <p:pic>
        <p:nvPicPr>
          <p:cNvPr id="2663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1813" y="3027363"/>
            <a:ext cx="277495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90938" y="3000375"/>
            <a:ext cx="16668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71875" y="3454400"/>
            <a:ext cx="13477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图片 14" descr="箭头1.pn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86313" y="2786063"/>
            <a:ext cx="22860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00375" y="4214813"/>
            <a:ext cx="1347788" cy="474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图片 16" descr="箭头2.png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665288" y="2786063"/>
            <a:ext cx="2049462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>
          <a:xfrm>
            <a:off x="457200" y="785794"/>
            <a:ext cx="7239000" cy="4846320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+mj-ea"/>
                <a:ea typeface="+mj-ea"/>
              </a:rPr>
              <a:t>条件语句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/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4.2】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如果输入字符为字母，则输出“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YES”</a:t>
            </a:r>
            <a:endParaRPr lang="zh-CN" altLang="en-US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DBA9BF9-7FC0-4E3F-A684-67E4CE7691CC}" type="slidenum">
              <a:rPr lang="en-US" altLang="zh-CN"/>
              <a:pPr>
                <a:defRPr/>
              </a:pPr>
              <a:t>10</a:t>
            </a:fld>
            <a:endParaRPr lang="en-US" altLang="zh-CN" dirty="0"/>
          </a:p>
        </p:txBody>
      </p:sp>
      <p:pic>
        <p:nvPicPr>
          <p:cNvPr id="276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785926"/>
            <a:ext cx="7500937" cy="286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xfrm>
            <a:off x="457200" y="108548"/>
            <a:ext cx="7239000" cy="67724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457200" y="857232"/>
            <a:ext cx="8153400" cy="1204913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+mj-ea"/>
                <a:ea typeface="+mj-ea"/>
              </a:rPr>
              <a:t>条件语句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执行流程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ED9C6B-5267-4359-86C6-D5EFD7E30889}" type="slidenum">
              <a:rPr lang="en-US" altLang="zh-CN"/>
              <a:pPr>
                <a:defRPr/>
              </a:pPr>
              <a:t>11</a:t>
            </a:fld>
            <a:endParaRPr lang="en-US" altLang="zh-CN" dirty="0"/>
          </a:p>
        </p:txBody>
      </p:sp>
      <p:pic>
        <p:nvPicPr>
          <p:cNvPr id="286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4688" y="2643188"/>
            <a:ext cx="2774950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7625" y="2643188"/>
            <a:ext cx="1666875" cy="43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图片 13" descr="箭头3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72063" y="2373313"/>
            <a:ext cx="1955800" cy="98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图片 14" descr="箭头4.pn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85938" y="2428875"/>
            <a:ext cx="2120900" cy="207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714750" y="4187825"/>
            <a:ext cx="147955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643313" y="3044825"/>
            <a:ext cx="147955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图片 17" descr="箭头5.png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714625" y="3214688"/>
            <a:ext cx="939800" cy="207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图片 18" descr="箭头6.png"/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357688" y="4357688"/>
            <a:ext cx="1214437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>
          <a:xfrm>
            <a:off x="214282" y="7141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xfrm>
            <a:off x="357158" y="857232"/>
            <a:ext cx="8501122" cy="1990725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条件语句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条件语句的嵌套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条件语句中的某个分支（</a:t>
            </a:r>
            <a:r>
              <a:rPr lang="en-US" altLang="zh-CN" sz="2400" b="1" dirty="0">
                <a:latin typeface="+mj-ea"/>
                <a:ea typeface="+mj-ea"/>
              </a:rPr>
              <a:t>if</a:t>
            </a:r>
            <a:r>
              <a:rPr lang="zh-CN" altLang="en-US" sz="2400" b="1" dirty="0">
                <a:latin typeface="+mj-ea"/>
                <a:ea typeface="+mj-ea"/>
              </a:rPr>
              <a:t>语句块或</a:t>
            </a:r>
            <a:r>
              <a:rPr lang="en-US" altLang="zh-CN" sz="2400" b="1" dirty="0">
                <a:latin typeface="+mj-ea"/>
                <a:ea typeface="+mj-ea"/>
              </a:rPr>
              <a:t>else</a:t>
            </a:r>
            <a:r>
              <a:rPr lang="zh-CN" altLang="en-US" sz="2400" b="1" dirty="0">
                <a:latin typeface="+mj-ea"/>
                <a:ea typeface="+mj-ea"/>
              </a:rPr>
              <a:t>语句块）中仍包含条件语句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75848C0-ED6B-4BCE-ABBA-3BB0AD582397}" type="slidenum">
              <a:rPr lang="en-US" altLang="zh-CN"/>
              <a:pPr>
                <a:defRPr/>
              </a:pPr>
              <a:t>12</a:t>
            </a:fld>
            <a:endParaRPr lang="en-US" altLang="zh-CN" dirty="0"/>
          </a:p>
        </p:txBody>
      </p:sp>
      <p:pic>
        <p:nvPicPr>
          <p:cNvPr id="358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8926" y="3083396"/>
            <a:ext cx="277495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>
          <a:xfrm>
            <a:off x="357158" y="71414"/>
            <a:ext cx="7239000" cy="5343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484632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5000"/>
              </a:lnSpc>
            </a:pPr>
            <a:r>
              <a:rPr lang="zh-CN" altLang="en-US" sz="3200" b="1" dirty="0">
                <a:latin typeface="+mj-ea"/>
                <a:ea typeface="+mj-ea"/>
              </a:rPr>
              <a:t>条件语句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5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if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与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else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的匹配原则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5000"/>
              </a:lnSpc>
            </a:pPr>
            <a:r>
              <a:rPr lang="en-US" altLang="zh-CN" sz="2800" b="1" dirty="0">
                <a:latin typeface="+mj-ea"/>
                <a:ea typeface="+mj-ea"/>
              </a:rPr>
              <a:t>else</a:t>
            </a:r>
            <a:r>
              <a:rPr lang="zh-CN" altLang="en-US" sz="2800" b="1" dirty="0">
                <a:latin typeface="+mj-ea"/>
                <a:ea typeface="+mj-ea"/>
              </a:rPr>
              <a:t>总是与其前面最近的</a:t>
            </a:r>
            <a:r>
              <a:rPr lang="en-US" altLang="zh-CN" sz="2800" b="1" dirty="0">
                <a:latin typeface="+mj-ea"/>
                <a:ea typeface="+mj-ea"/>
              </a:rPr>
              <a:t>if</a:t>
            </a:r>
            <a:r>
              <a:rPr lang="zh-CN" altLang="en-US" sz="2800" b="1" dirty="0">
                <a:latin typeface="+mj-ea"/>
                <a:ea typeface="+mj-ea"/>
              </a:rPr>
              <a:t>匹配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5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建议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5000"/>
              </a:lnSpc>
            </a:pPr>
            <a:r>
              <a:rPr lang="en-US" altLang="zh-CN" sz="2800" b="1" dirty="0">
                <a:latin typeface="+mj-ea"/>
                <a:ea typeface="+mj-ea"/>
              </a:rPr>
              <a:t>if</a:t>
            </a:r>
            <a:r>
              <a:rPr lang="zh-CN" altLang="en-US" sz="2800" b="1" dirty="0">
                <a:latin typeface="+mj-ea"/>
                <a:ea typeface="+mj-ea"/>
              </a:rPr>
              <a:t>和</a:t>
            </a:r>
            <a:r>
              <a:rPr lang="en-US" altLang="zh-CN" sz="2800" b="1" dirty="0">
                <a:latin typeface="+mj-ea"/>
                <a:ea typeface="+mj-ea"/>
              </a:rPr>
              <a:t>else</a:t>
            </a:r>
            <a:r>
              <a:rPr lang="zh-CN" altLang="en-US" sz="2800" b="1" dirty="0">
                <a:latin typeface="+mj-ea"/>
                <a:ea typeface="+mj-ea"/>
              </a:rPr>
              <a:t>的语句块最好用“</a:t>
            </a:r>
            <a:r>
              <a:rPr lang="en-US" altLang="zh-CN" sz="2800" b="1" dirty="0">
                <a:latin typeface="+mj-ea"/>
                <a:ea typeface="+mj-ea"/>
              </a:rPr>
              <a:t>{</a:t>
            </a:r>
            <a:r>
              <a:rPr lang="zh-CN" altLang="en-US" sz="2800" b="1" dirty="0">
                <a:latin typeface="+mj-ea"/>
                <a:ea typeface="+mj-ea"/>
              </a:rPr>
              <a:t>”和“</a:t>
            </a:r>
            <a:r>
              <a:rPr lang="en-US" altLang="zh-CN" sz="2800" b="1" dirty="0">
                <a:latin typeface="+mj-ea"/>
                <a:ea typeface="+mj-ea"/>
              </a:rPr>
              <a:t>}</a:t>
            </a:r>
            <a:r>
              <a:rPr lang="zh-CN" altLang="en-US" sz="2800" b="1" dirty="0">
                <a:latin typeface="+mj-ea"/>
                <a:ea typeface="+mj-ea"/>
              </a:rPr>
              <a:t>”界定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35000"/>
              </a:lnSpc>
            </a:pPr>
            <a:r>
              <a:rPr lang="zh-CN" altLang="en-US" sz="2800" b="1" dirty="0">
                <a:latin typeface="+mj-ea"/>
                <a:ea typeface="+mj-ea"/>
              </a:rPr>
              <a:t>当</a:t>
            </a:r>
            <a:r>
              <a:rPr lang="en-US" altLang="zh-CN" sz="2800" b="1" dirty="0">
                <a:latin typeface="+mj-ea"/>
                <a:ea typeface="+mj-ea"/>
              </a:rPr>
              <a:t>if</a:t>
            </a:r>
            <a:r>
              <a:rPr lang="zh-CN" altLang="en-US" sz="2800" b="1" dirty="0">
                <a:latin typeface="+mj-ea"/>
                <a:ea typeface="+mj-ea"/>
              </a:rPr>
              <a:t>或</a:t>
            </a:r>
            <a:r>
              <a:rPr lang="en-US" altLang="zh-CN" sz="2800" b="1" dirty="0">
                <a:latin typeface="+mj-ea"/>
                <a:ea typeface="+mj-ea"/>
              </a:rPr>
              <a:t>else</a:t>
            </a:r>
            <a:r>
              <a:rPr lang="zh-CN" altLang="en-US" sz="2800" b="1" dirty="0">
                <a:latin typeface="+mj-ea"/>
                <a:ea typeface="+mj-ea"/>
              </a:rPr>
              <a:t>的语句只有一句时，可以不加花括号</a:t>
            </a:r>
            <a:endParaRPr lang="en-US" altLang="zh-CN" sz="2800" b="1" dirty="0">
              <a:latin typeface="+mj-ea"/>
              <a:ea typeface="+mj-ea"/>
            </a:endParaRPr>
          </a:p>
          <a:p>
            <a:pPr lvl="3" eaLnBrk="1" hangingPunct="1">
              <a:lnSpc>
                <a:spcPct val="135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建议只用一条语句也加上花括号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6DB059-E099-4E2C-9012-248DEAE73B56}" type="slidenum">
              <a:rPr lang="en-US" altLang="zh-CN"/>
              <a:pPr>
                <a:defRPr/>
              </a:pPr>
              <a:t>13</a:t>
            </a:fld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333396" y="108548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490566" y="857232"/>
            <a:ext cx="8153400" cy="1276350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+mj-ea"/>
                <a:ea typeface="+mj-ea"/>
              </a:rPr>
              <a:t>条件语句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两种语句的区别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F87D469-EB51-41F7-824A-B2788781C206}" type="slidenum">
              <a:rPr lang="en-US" altLang="zh-CN"/>
              <a:pPr>
                <a:defRPr/>
              </a:pPr>
              <a:t>14</a:t>
            </a:fld>
            <a:endParaRPr lang="en-US" altLang="zh-CN" dirty="0"/>
          </a:p>
        </p:txBody>
      </p:sp>
      <p:pic>
        <p:nvPicPr>
          <p:cNvPr id="378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143136"/>
            <a:ext cx="2774950" cy="234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143136"/>
            <a:ext cx="2774950" cy="234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6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65738" y="2162186"/>
            <a:ext cx="2592387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7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65738" y="2162186"/>
            <a:ext cx="2592387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" name="直接连接符 16"/>
          <p:cNvCxnSpPr/>
          <p:nvPr/>
        </p:nvCxnSpPr>
        <p:spPr>
          <a:xfrm rot="5400000">
            <a:off x="2892425" y="3535374"/>
            <a:ext cx="3214687" cy="1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>
          <a:xfrm>
            <a:off x="285720" y="179986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>
          <a:xfrm>
            <a:off x="457200" y="785794"/>
            <a:ext cx="8153400" cy="1133475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800" b="1" dirty="0">
                <a:latin typeface="+mj-ea"/>
                <a:ea typeface="+mj-ea"/>
              </a:rPr>
              <a:t>条件语句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两种条件语句举例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89E4A65-B3B2-407F-9374-54ADF12962DF}" type="slidenum">
              <a:rPr lang="en-US" altLang="zh-CN"/>
              <a:pPr>
                <a:defRPr/>
              </a:pPr>
              <a:t>15</a:t>
            </a:fld>
            <a:endParaRPr lang="en-US" altLang="zh-CN" dirty="0"/>
          </a:p>
        </p:txBody>
      </p:sp>
      <p:pic>
        <p:nvPicPr>
          <p:cNvPr id="389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38" y="1714488"/>
            <a:ext cx="80105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00188" y="3786190"/>
            <a:ext cx="621030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>
          <a:xfrm>
            <a:off x="428596" y="-24"/>
            <a:ext cx="7239000" cy="67724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457200" y="581017"/>
            <a:ext cx="8153400" cy="1704975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条件语句的嵌套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4.7】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用条件语句嵌套实现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4.6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在</a:t>
            </a:r>
            <a:r>
              <a:rPr lang="en-US" altLang="zh-CN" sz="2400" b="1" dirty="0">
                <a:latin typeface="+mj-ea"/>
                <a:ea typeface="+mj-ea"/>
              </a:rPr>
              <a:t>if</a:t>
            </a:r>
            <a:r>
              <a:rPr lang="zh-CN" altLang="en-US" sz="2400" b="1" dirty="0">
                <a:latin typeface="+mj-ea"/>
                <a:ea typeface="+mj-ea"/>
              </a:rPr>
              <a:t>子句中嵌套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E8AA527-917E-4E88-8242-6B5EBA298FDD}" type="slidenum">
              <a:rPr lang="en-US" altLang="zh-CN"/>
              <a:pPr>
                <a:defRPr/>
              </a:pPr>
              <a:t>16</a:t>
            </a:fld>
            <a:endParaRPr lang="en-US" altLang="zh-CN" dirty="0"/>
          </a:p>
        </p:txBody>
      </p:sp>
      <p:pic>
        <p:nvPicPr>
          <p:cNvPr id="4096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52" y="2143116"/>
            <a:ext cx="6886548" cy="4454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>
          <a:xfrm>
            <a:off x="357158" y="108548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AA69C-EBDF-4F4E-B0C0-AAA856E804DD}" type="slidenum">
              <a:rPr lang="en-US" altLang="zh-CN"/>
              <a:pPr>
                <a:defRPr/>
              </a:pPr>
              <a:t>17</a:t>
            </a:fld>
            <a:endParaRPr lang="en-US" altLang="zh-CN" dirty="0"/>
          </a:p>
        </p:txBody>
      </p:sp>
      <p:pic>
        <p:nvPicPr>
          <p:cNvPr id="4198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500188"/>
            <a:ext cx="4202113" cy="321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内容占位符 2"/>
          <p:cNvSpPr>
            <a:spLocks noGrp="1"/>
          </p:cNvSpPr>
          <p:nvPr>
            <p:ph idx="1"/>
          </p:nvPr>
        </p:nvSpPr>
        <p:spPr>
          <a:xfrm>
            <a:off x="251520" y="116632"/>
            <a:ext cx="8153400" cy="1704975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800" b="1" dirty="0">
                <a:latin typeface="+mj-ea"/>
                <a:ea typeface="+mj-ea"/>
              </a:rPr>
              <a:t>条件语句的嵌套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/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4.7】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用条件语句嵌套实现</a:t>
            </a:r>
            <a:r>
              <a:rPr lang="zh-CN" altLang="en-US" sz="2400" b="1" dirty="0">
                <a:latin typeface="+mj-ea"/>
                <a:ea typeface="+mj-ea"/>
              </a:rPr>
              <a:t>例</a:t>
            </a:r>
            <a:r>
              <a:rPr lang="en-US" altLang="zh-CN" sz="2400" b="1" dirty="0">
                <a:latin typeface="+mj-ea"/>
                <a:ea typeface="+mj-ea"/>
              </a:rPr>
              <a:t>4.6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/>
            <a:r>
              <a:rPr lang="zh-CN" altLang="en-US" sz="2400" b="1" dirty="0">
                <a:latin typeface="+mj-ea"/>
                <a:ea typeface="+mj-ea"/>
              </a:rPr>
              <a:t>在</a:t>
            </a:r>
            <a:r>
              <a:rPr lang="en-US" altLang="zh-CN" sz="2400" b="1" dirty="0">
                <a:latin typeface="+mj-ea"/>
                <a:ea typeface="+mj-ea"/>
              </a:rPr>
              <a:t>else</a:t>
            </a:r>
            <a:r>
              <a:rPr lang="zh-CN" altLang="en-US" sz="2400" b="1" dirty="0">
                <a:latin typeface="+mj-ea"/>
                <a:ea typeface="+mj-ea"/>
              </a:rPr>
              <a:t>子句中嵌套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93E721-9DFD-47C7-BB17-A21A164FB63C}" type="slidenum">
              <a:rPr lang="en-US" altLang="zh-CN"/>
              <a:pPr>
                <a:defRPr/>
              </a:pPr>
              <a:t>18</a:t>
            </a:fld>
            <a:endParaRPr lang="en-US" altLang="zh-CN" dirty="0"/>
          </a:p>
        </p:txBody>
      </p:sp>
      <p:pic>
        <p:nvPicPr>
          <p:cNvPr id="430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9872" y="1556792"/>
            <a:ext cx="6760520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>
          <a:xfrm>
            <a:off x="457200" y="71414"/>
            <a:ext cx="7239000" cy="67724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251520" y="836712"/>
            <a:ext cx="8606760" cy="5256584"/>
          </a:xfrm>
        </p:spPr>
        <p:txBody>
          <a:bodyPr>
            <a:normAutofit/>
          </a:bodyPr>
          <a:lstStyle/>
          <a:p>
            <a:pPr eaLnBrk="1" hangingPunct="1">
              <a:lnSpc>
                <a:spcPct val="135000"/>
              </a:lnSpc>
            </a:pPr>
            <a:r>
              <a:rPr lang="zh-CN" altLang="en-US" sz="3200" b="1" dirty="0">
                <a:latin typeface="+mj-ea"/>
                <a:ea typeface="+mj-ea"/>
              </a:rPr>
              <a:t>条件语句的嵌套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5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4.8】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编程序，输入一个温度值，若输入的是摄氏值则将其转换为华氏值，若输入的是华氏值则将其转换为摄氏值，并将转换结果显示出来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5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转换公式：（其中</a:t>
            </a: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</a:rPr>
              <a:t>tc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表示摄氏度，</a:t>
            </a: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</a:rPr>
              <a:t>tf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表示华氏度）</a:t>
            </a:r>
            <a:endParaRPr lang="en-US" altLang="zh-CN" sz="2800" b="1" dirty="0">
              <a:solidFill>
                <a:srgbClr val="0000FF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5000"/>
              </a:lnSpc>
              <a:buFontTx/>
              <a:buNone/>
            </a:pPr>
            <a:r>
              <a:rPr lang="en-US" altLang="zh-CN" sz="3600" b="1" dirty="0" err="1">
                <a:solidFill>
                  <a:srgbClr val="002060"/>
                </a:solidFill>
              </a:rPr>
              <a:t>tf</a:t>
            </a:r>
            <a:r>
              <a:rPr lang="en-US" altLang="zh-CN" sz="3600" b="1" dirty="0">
                <a:solidFill>
                  <a:srgbClr val="002060"/>
                </a:solidFill>
              </a:rPr>
              <a:t> = </a:t>
            </a:r>
            <a:r>
              <a:rPr lang="en-US" altLang="zh-CN" sz="3600" b="1" dirty="0" err="1">
                <a:solidFill>
                  <a:srgbClr val="002060"/>
                </a:solidFill>
              </a:rPr>
              <a:t>tc</a:t>
            </a:r>
            <a:r>
              <a:rPr lang="en-US" altLang="zh-CN" sz="3600" b="1" dirty="0">
                <a:solidFill>
                  <a:srgbClr val="002060"/>
                </a:solidFill>
              </a:rPr>
              <a:t> * 1.8 + 32</a:t>
            </a:r>
          </a:p>
          <a:p>
            <a:pPr lvl="3" eaLnBrk="1" hangingPunct="1">
              <a:lnSpc>
                <a:spcPct val="135000"/>
              </a:lnSpc>
              <a:buFontTx/>
              <a:buNone/>
            </a:pPr>
            <a:r>
              <a:rPr lang="en-US" altLang="zh-CN" sz="3600" b="1" dirty="0" err="1">
                <a:solidFill>
                  <a:srgbClr val="002060"/>
                </a:solidFill>
              </a:rPr>
              <a:t>tc</a:t>
            </a:r>
            <a:r>
              <a:rPr lang="en-US" altLang="zh-CN" sz="3600" b="1" dirty="0">
                <a:solidFill>
                  <a:srgbClr val="002060"/>
                </a:solidFill>
              </a:rPr>
              <a:t> = (tf-32) / 1.8</a:t>
            </a:r>
            <a:endParaRPr lang="zh-CN" altLang="en-US" sz="3600" b="1" dirty="0">
              <a:solidFill>
                <a:srgbClr val="002060"/>
              </a:solidFill>
            </a:endParaRPr>
          </a:p>
          <a:p>
            <a:pPr lvl="1" eaLnBrk="1" hangingPunct="1"/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50EB37C-97E4-42CC-AA40-0FE59A367CD9}" type="slidenum">
              <a:rPr lang="en-US" altLang="zh-CN"/>
              <a:pPr>
                <a:defRPr/>
              </a:pPr>
              <a:t>19</a:t>
            </a:fld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0CC3-CB02-47A6-AD92-ACE88B704481}" type="slidenum">
              <a:rPr lang="en-US" altLang="zh-CN"/>
              <a:pPr>
                <a:defRPr/>
              </a:pPr>
              <a:t>20</a:t>
            </a:fld>
            <a:endParaRPr lang="en-US" altLang="zh-CN" dirty="0"/>
          </a:p>
        </p:txBody>
      </p:sp>
      <p:pic>
        <p:nvPicPr>
          <p:cNvPr id="4506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116632"/>
            <a:ext cx="7710684" cy="648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285720" y="-24"/>
            <a:ext cx="7239000" cy="67724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>
          <a:xfrm>
            <a:off x="142844" y="654382"/>
            <a:ext cx="8677628" cy="484632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条件语句的嵌套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4.9】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某商场优惠活动规定，某种商品单价为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80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元，一次购买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5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件以上（包含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5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件）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10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件以下（不包含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10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件）打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9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折，一次购买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10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件以上（包含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10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件）打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8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折。设计程序根据客户的购买量计算总价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输入购买件数</a:t>
            </a:r>
            <a:r>
              <a:rPr lang="en-US" altLang="zh-CN" sz="2400" b="1" dirty="0">
                <a:latin typeface="+mj-ea"/>
                <a:ea typeface="+mj-ea"/>
              </a:rPr>
              <a:t>count</a:t>
            </a:r>
            <a:r>
              <a:rPr lang="zh-CN" altLang="en-US" sz="2400" b="1" dirty="0">
                <a:latin typeface="+mj-ea"/>
                <a:ea typeface="+mj-ea"/>
              </a:rPr>
              <a:t>，设置单价</a:t>
            </a:r>
            <a:r>
              <a:rPr lang="en-US" altLang="zh-CN" sz="2400" b="1" dirty="0">
                <a:latin typeface="+mj-ea"/>
                <a:ea typeface="+mj-ea"/>
              </a:rPr>
              <a:t>price=80(</a:t>
            </a:r>
            <a:r>
              <a:rPr lang="zh-CN" altLang="en-US" sz="2400" b="1" dirty="0">
                <a:latin typeface="+mj-ea"/>
                <a:ea typeface="+mj-ea"/>
              </a:rPr>
              <a:t>元</a:t>
            </a:r>
            <a:r>
              <a:rPr lang="en-US" altLang="zh-CN" sz="2400" b="1" dirty="0">
                <a:latin typeface="+mj-ea"/>
                <a:ea typeface="+mj-ea"/>
              </a:rPr>
              <a:t>)</a:t>
            </a:r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根据</a:t>
            </a:r>
            <a:r>
              <a:rPr lang="en-US" altLang="zh-CN" sz="2400" b="1" dirty="0">
                <a:latin typeface="+mj-ea"/>
                <a:ea typeface="+mj-ea"/>
              </a:rPr>
              <a:t>count</a:t>
            </a:r>
            <a:r>
              <a:rPr lang="zh-CN" altLang="en-US" sz="2400" b="1" dirty="0">
                <a:latin typeface="+mj-ea"/>
                <a:ea typeface="+mj-ea"/>
              </a:rPr>
              <a:t>值确定折扣率</a:t>
            </a:r>
            <a:r>
              <a:rPr lang="en-US" altLang="zh-CN" sz="2400" b="1" dirty="0">
                <a:latin typeface="+mj-ea"/>
                <a:ea typeface="+mj-ea"/>
              </a:rPr>
              <a:t>discount</a:t>
            </a:r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实际售价</a:t>
            </a:r>
            <a:r>
              <a:rPr lang="en-US" altLang="zh-CN" sz="2400" b="1" dirty="0">
                <a:latin typeface="+mj-ea"/>
                <a:ea typeface="+mj-ea"/>
              </a:rPr>
              <a:t>amount=price*count*discount</a:t>
            </a:r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输出</a:t>
            </a:r>
            <a:r>
              <a:rPr lang="en-US" altLang="zh-CN" sz="2400" b="1" dirty="0">
                <a:latin typeface="+mj-ea"/>
                <a:ea typeface="+mj-ea"/>
              </a:rPr>
              <a:t>amount</a:t>
            </a:r>
            <a:r>
              <a:rPr lang="zh-CN" altLang="en-US" sz="2400" b="1" dirty="0">
                <a:latin typeface="+mj-ea"/>
                <a:ea typeface="+mj-ea"/>
              </a:rPr>
              <a:t>的值。</a:t>
            </a:r>
            <a:endParaRPr lang="zh-CN" altLang="en-US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9A4343-AFC7-40C4-8FBF-429BC8210DED}" type="slidenum">
              <a:rPr lang="en-US" altLang="zh-CN"/>
              <a:pPr>
                <a:defRPr/>
              </a:pPr>
              <a:t>21</a:t>
            </a:fld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B05CED-AB2C-4D75-ABE4-F9F0E4DBD9A6}" type="slidenum">
              <a:rPr lang="en-US" altLang="zh-CN"/>
              <a:pPr>
                <a:defRPr/>
              </a:pPr>
              <a:t>22</a:t>
            </a:fld>
            <a:endParaRPr lang="en-US" altLang="zh-CN" dirty="0"/>
          </a:p>
        </p:txBody>
      </p:sp>
      <p:pic>
        <p:nvPicPr>
          <p:cNvPr id="4710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16632"/>
            <a:ext cx="8178105" cy="6264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>
          <a:xfrm>
            <a:off x="285720" y="797258"/>
            <a:ext cx="8643998" cy="484632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条件语句的嵌套</a:t>
            </a:r>
            <a:endParaRPr lang="en-US" altLang="zh-CN" sz="3200" b="1" dirty="0">
              <a:latin typeface="+mj-ea"/>
              <a:ea typeface="+mj-ea"/>
            </a:endParaRPr>
          </a:p>
          <a:p>
            <a:pPr lvl="1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4.10】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求一元二次方程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ax</a:t>
            </a:r>
            <a:r>
              <a:rPr lang="en-US" altLang="zh-CN" sz="2800" b="1" baseline="30000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+bx+c=0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的根。其中系数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a(a≠0)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b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c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的值由键盘输入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 dirty="0">
                <a:latin typeface="+mj-ea"/>
                <a:ea typeface="+mj-ea"/>
              </a:rPr>
              <a:t>输入系数</a:t>
            </a:r>
            <a:r>
              <a:rPr lang="en-US" altLang="zh-CN" sz="2800" b="1" dirty="0">
                <a:latin typeface="+mj-ea"/>
                <a:ea typeface="+mj-ea"/>
              </a:rPr>
              <a:t>a(a≠0)</a:t>
            </a:r>
            <a:r>
              <a:rPr lang="zh-CN" altLang="en-US" sz="2800" b="1" dirty="0">
                <a:latin typeface="+mj-ea"/>
                <a:ea typeface="+mj-ea"/>
              </a:rPr>
              <a:t>、</a:t>
            </a:r>
            <a:r>
              <a:rPr lang="en-US" altLang="zh-CN" sz="2800" b="1" dirty="0">
                <a:latin typeface="+mj-ea"/>
                <a:ea typeface="+mj-ea"/>
              </a:rPr>
              <a:t>b</a:t>
            </a:r>
            <a:r>
              <a:rPr lang="zh-CN" altLang="en-US" sz="2800" b="1" dirty="0">
                <a:latin typeface="+mj-ea"/>
                <a:ea typeface="+mj-ea"/>
              </a:rPr>
              <a:t>、</a:t>
            </a:r>
            <a:r>
              <a:rPr lang="en-US" altLang="zh-CN" sz="2800" b="1" dirty="0">
                <a:latin typeface="+mj-ea"/>
                <a:ea typeface="+mj-ea"/>
              </a:rPr>
              <a:t>c</a:t>
            </a:r>
            <a:r>
              <a:rPr lang="zh-CN" altLang="en-US" sz="2800" b="1" dirty="0">
                <a:latin typeface="+mj-ea"/>
                <a:ea typeface="+mj-ea"/>
              </a:rPr>
              <a:t>后，令</a:t>
            </a:r>
            <a:r>
              <a:rPr lang="en-US" altLang="zh-CN" sz="2800" b="1" dirty="0">
                <a:latin typeface="+mj-ea"/>
                <a:ea typeface="+mj-ea"/>
              </a:rPr>
              <a:t>delta= b</a:t>
            </a:r>
            <a:r>
              <a:rPr lang="en-US" altLang="zh-CN" sz="2800" b="1" baseline="30000" dirty="0">
                <a:latin typeface="+mj-ea"/>
                <a:ea typeface="+mj-ea"/>
              </a:rPr>
              <a:t>2</a:t>
            </a:r>
            <a:r>
              <a:rPr lang="en-US" altLang="zh-CN" sz="2800" b="1" dirty="0">
                <a:latin typeface="+mj-ea"/>
                <a:ea typeface="+mj-ea"/>
              </a:rPr>
              <a:t>–4ac,</a:t>
            </a:r>
            <a:r>
              <a:rPr lang="zh-CN" altLang="en-US" sz="2800" b="1" dirty="0">
                <a:latin typeface="+mj-ea"/>
                <a:ea typeface="+mj-ea"/>
              </a:rPr>
              <a:t>结果有三种情况</a:t>
            </a:r>
            <a:endParaRPr lang="en-US" altLang="zh-CN" sz="2800" b="1" dirty="0">
              <a:latin typeface="+mj-ea"/>
              <a:ea typeface="+mj-ea"/>
            </a:endParaRPr>
          </a:p>
          <a:p>
            <a:pPr lvl="3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若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delta=0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，方程有两个相同实根；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若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delta&gt;0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，方程有两个不同实根；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若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delta&lt;0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，方程无实根。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CFE004-49AE-4BB1-B0C8-86D3D314A992}" type="slidenum">
              <a:rPr lang="en-US" altLang="zh-CN"/>
              <a:pPr>
                <a:defRPr/>
              </a:pPr>
              <a:t>23</a:t>
            </a:fld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53AD953-0E6B-4ACD-BDB7-C454B7AFF2D3}" type="slidenum">
              <a:rPr lang="en-US" altLang="zh-CN"/>
              <a:pPr>
                <a:defRPr/>
              </a:pPr>
              <a:t>24</a:t>
            </a:fld>
            <a:endParaRPr lang="en-US" altLang="zh-CN" dirty="0"/>
          </a:p>
        </p:txBody>
      </p:sp>
      <p:pic>
        <p:nvPicPr>
          <p:cNvPr id="4915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692696"/>
            <a:ext cx="8640960" cy="4515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F17280-72D5-4FFF-B946-6A34A8C5B275}" type="slidenum">
              <a:rPr lang="en-US" altLang="zh-CN"/>
              <a:pPr>
                <a:defRPr/>
              </a:pPr>
              <a:t>25</a:t>
            </a:fld>
            <a:endParaRPr lang="en-US" altLang="zh-CN" dirty="0"/>
          </a:p>
        </p:txBody>
      </p:sp>
      <p:pic>
        <p:nvPicPr>
          <p:cNvPr id="5018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687" y="404664"/>
            <a:ext cx="7719737" cy="5976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25F93F-53C0-46B0-AD35-98BCC997EF64}" type="slidenum">
              <a:rPr lang="en-US" altLang="zh-CN"/>
              <a:pPr>
                <a:defRPr/>
              </a:pPr>
              <a:t>26</a:t>
            </a:fld>
            <a:endParaRPr lang="en-US" altLang="zh-CN" dirty="0"/>
          </a:p>
        </p:txBody>
      </p:sp>
      <p:sp>
        <p:nvSpPr>
          <p:cNvPr id="7" name="内容占位符 2"/>
          <p:cNvSpPr txBox="1">
            <a:spLocks/>
          </p:cNvSpPr>
          <p:nvPr/>
        </p:nvSpPr>
        <p:spPr bwMode="auto">
          <a:xfrm>
            <a:off x="251520" y="116632"/>
            <a:ext cx="8153400" cy="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zh-CN" altLang="en-US" sz="3200" b="1" kern="0" dirty="0">
                <a:solidFill>
                  <a:srgbClr val="692AA2"/>
                </a:solidFill>
                <a:latin typeface="+mj-ea"/>
                <a:ea typeface="+mj-ea"/>
              </a:rPr>
              <a:t>条件语句处理多分支的情况</a:t>
            </a:r>
            <a:endParaRPr lang="en-US" altLang="zh-CN" sz="3200" b="1" kern="0" dirty="0">
              <a:solidFill>
                <a:srgbClr val="692AA2"/>
              </a:solidFill>
              <a:latin typeface="+mj-ea"/>
              <a:ea typeface="+mj-ea"/>
            </a:endParaRPr>
          </a:p>
        </p:txBody>
      </p:sp>
      <p:pic>
        <p:nvPicPr>
          <p:cNvPr id="51206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692696"/>
            <a:ext cx="8424936" cy="5976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>
          <a:xfrm>
            <a:off x="179512" y="4462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>
          <a:xfrm>
            <a:off x="467544" y="620688"/>
            <a:ext cx="7215238" cy="5062538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开关语句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由关键字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switch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case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和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default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构成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与</a:t>
            </a:r>
            <a:r>
              <a:rPr lang="en-US" altLang="zh-CN" sz="2400" b="1" dirty="0">
                <a:latin typeface="+mj-ea"/>
                <a:ea typeface="+mj-ea"/>
              </a:rPr>
              <a:t>break</a:t>
            </a:r>
            <a:r>
              <a:rPr lang="zh-CN" altLang="en-US" sz="2400" b="1" dirty="0">
                <a:latin typeface="+mj-ea"/>
                <a:ea typeface="+mj-ea"/>
              </a:rPr>
              <a:t>语句结合使用</a:t>
            </a: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多分支语句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en-US" altLang="zh-CN" sz="2400" b="1" dirty="0">
                <a:latin typeface="+mj-ea"/>
                <a:ea typeface="+mj-ea"/>
              </a:rPr>
              <a:t>if</a:t>
            </a:r>
            <a:r>
              <a:rPr lang="zh-CN" altLang="en-US" sz="2400" b="1" dirty="0">
                <a:latin typeface="+mj-ea"/>
                <a:ea typeface="+mj-ea"/>
              </a:rPr>
              <a:t>语句是两个分支的语句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实现多分支很复杂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4" eaLnBrk="1" hangingPunct="1">
              <a:lnSpc>
                <a:spcPct val="120000"/>
              </a:lnSpc>
            </a:pPr>
            <a:r>
              <a:rPr lang="en-US" altLang="zh-CN" sz="2000" b="1" dirty="0">
                <a:latin typeface="+mj-ea"/>
                <a:ea typeface="+mj-ea"/>
              </a:rPr>
              <a:t>if...else...</a:t>
            </a:r>
            <a:r>
              <a:rPr lang="zh-CN" altLang="en-US" sz="2000" b="1" dirty="0">
                <a:latin typeface="+mj-ea"/>
                <a:ea typeface="+mj-ea"/>
              </a:rPr>
              <a:t>语句的多重嵌套</a:t>
            </a:r>
            <a:endParaRPr lang="en-US" altLang="zh-CN" sz="20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形式多样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带</a:t>
            </a:r>
            <a:r>
              <a:rPr lang="en-US" altLang="zh-CN" sz="2400" b="1" dirty="0">
                <a:latin typeface="+mj-ea"/>
                <a:ea typeface="+mj-ea"/>
              </a:rPr>
              <a:t>break</a:t>
            </a:r>
            <a:r>
              <a:rPr lang="zh-CN" altLang="en-US" sz="2400" b="1" dirty="0">
                <a:latin typeface="+mj-ea"/>
                <a:ea typeface="+mj-ea"/>
              </a:rPr>
              <a:t>语句与不带</a:t>
            </a:r>
            <a:r>
              <a:rPr lang="en-US" altLang="zh-CN" sz="2400" b="1" dirty="0">
                <a:latin typeface="+mj-ea"/>
                <a:ea typeface="+mj-ea"/>
              </a:rPr>
              <a:t>break</a:t>
            </a:r>
            <a:r>
              <a:rPr lang="zh-CN" altLang="en-US" sz="2400" b="1" dirty="0">
                <a:latin typeface="+mj-ea"/>
                <a:ea typeface="+mj-ea"/>
              </a:rPr>
              <a:t>语句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带</a:t>
            </a:r>
            <a:r>
              <a:rPr lang="en-US" altLang="zh-CN" sz="2400" b="1" dirty="0">
                <a:latin typeface="+mj-ea"/>
                <a:ea typeface="+mj-ea"/>
              </a:rPr>
              <a:t>default</a:t>
            </a:r>
            <a:r>
              <a:rPr lang="zh-CN" altLang="en-US" sz="2400" b="1" dirty="0">
                <a:latin typeface="+mj-ea"/>
                <a:ea typeface="+mj-ea"/>
              </a:rPr>
              <a:t>与不带</a:t>
            </a:r>
            <a:r>
              <a:rPr lang="en-US" altLang="zh-CN" sz="2400" b="1" dirty="0">
                <a:latin typeface="+mj-ea"/>
                <a:ea typeface="+mj-ea"/>
              </a:rPr>
              <a:t>default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CN" sz="2400" b="1" dirty="0">
                <a:latin typeface="+mj-ea"/>
                <a:ea typeface="+mj-ea"/>
              </a:rPr>
              <a:t>case</a:t>
            </a:r>
            <a:r>
              <a:rPr lang="zh-CN" altLang="en-US" sz="2400" b="1" dirty="0">
                <a:latin typeface="+mj-ea"/>
                <a:ea typeface="+mj-ea"/>
              </a:rPr>
              <a:t>空语句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D1589A1-03C6-4826-8E1E-828115654040}" type="slidenum">
              <a:rPr lang="en-US" altLang="zh-CN"/>
              <a:pPr>
                <a:defRPr/>
              </a:pPr>
              <a:t>27</a:t>
            </a:fld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>
          <a:xfrm>
            <a:off x="323528" y="4462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>
          <a:xfrm>
            <a:off x="457200" y="692696"/>
            <a:ext cx="8153400" cy="120491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800" b="1" dirty="0">
                <a:latin typeface="+mj-ea"/>
                <a:ea typeface="+mj-ea"/>
              </a:rPr>
              <a:t>开关语句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sz="2400" b="1" dirty="0">
                <a:latin typeface="+mj-ea"/>
                <a:ea typeface="+mj-ea"/>
              </a:rPr>
              <a:t>使用方法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0384CE-00B2-4521-A56F-65C8453CC32E}" type="slidenum">
              <a:rPr lang="en-US" altLang="zh-CN"/>
              <a:pPr>
                <a:defRPr/>
              </a:pPr>
              <a:t>28</a:t>
            </a:fld>
            <a:endParaRPr lang="en-US" altLang="zh-CN" dirty="0"/>
          </a:p>
        </p:txBody>
      </p:sp>
      <p:sp>
        <p:nvSpPr>
          <p:cNvPr id="7" name="TextBox 6"/>
          <p:cNvSpPr txBox="1"/>
          <p:nvPr/>
        </p:nvSpPr>
        <p:spPr>
          <a:xfrm>
            <a:off x="1664702" y="1556792"/>
            <a:ext cx="5643602" cy="449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switch</a:t>
            </a:r>
            <a:r>
              <a:rPr lang="en-US" altLang="zh-CN" sz="2800" b="1" dirty="0">
                <a:latin typeface="+mj-ea"/>
                <a:ea typeface="+mj-ea"/>
              </a:rPr>
              <a:t>(&lt;</a:t>
            </a:r>
            <a:r>
              <a:rPr lang="zh-CN" altLang="en-US" sz="2800" b="1" dirty="0">
                <a:latin typeface="+mj-ea"/>
                <a:ea typeface="+mj-ea"/>
              </a:rPr>
              <a:t>条件表达式</a:t>
            </a:r>
            <a:r>
              <a:rPr lang="en-US" altLang="zh-CN" sz="2800" b="1" dirty="0">
                <a:latin typeface="+mj-ea"/>
                <a:ea typeface="+mj-ea"/>
              </a:rPr>
              <a:t>&gt;)</a:t>
            </a: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{</a:t>
            </a: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    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case</a:t>
            </a:r>
            <a:r>
              <a:rPr lang="en-US" altLang="zh-CN" sz="2800" b="1" dirty="0">
                <a:latin typeface="+mj-ea"/>
                <a:ea typeface="+mj-ea"/>
              </a:rPr>
              <a:t>&lt;</a:t>
            </a:r>
            <a:r>
              <a:rPr lang="zh-CN" altLang="en-US" sz="2800" b="1" dirty="0">
                <a:latin typeface="+mj-ea"/>
                <a:ea typeface="+mj-ea"/>
              </a:rPr>
              <a:t>常量表达式</a:t>
            </a:r>
            <a:r>
              <a:rPr lang="en-US" altLang="zh-CN" sz="2800" b="1" dirty="0">
                <a:latin typeface="+mj-ea"/>
                <a:ea typeface="+mj-ea"/>
              </a:rPr>
              <a:t>1&gt;:&lt;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r>
              <a:rPr lang="en-US" altLang="zh-CN" sz="2800" b="1" dirty="0">
                <a:latin typeface="+mj-ea"/>
                <a:ea typeface="+mj-ea"/>
              </a:rPr>
              <a:t>1&gt;</a:t>
            </a: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    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case</a:t>
            </a:r>
            <a:r>
              <a:rPr lang="en-US" altLang="zh-CN" sz="2800" b="1" dirty="0">
                <a:latin typeface="+mj-ea"/>
                <a:ea typeface="+mj-ea"/>
              </a:rPr>
              <a:t>&lt;</a:t>
            </a:r>
            <a:r>
              <a:rPr lang="zh-CN" altLang="en-US" sz="2800" b="1" dirty="0">
                <a:latin typeface="+mj-ea"/>
                <a:ea typeface="+mj-ea"/>
              </a:rPr>
              <a:t>常量表达式</a:t>
            </a:r>
            <a:r>
              <a:rPr lang="en-US" altLang="zh-CN" sz="2800" b="1" dirty="0">
                <a:latin typeface="+mj-ea"/>
                <a:ea typeface="+mj-ea"/>
              </a:rPr>
              <a:t>2&gt;:&lt;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r>
              <a:rPr lang="en-US" altLang="zh-CN" sz="2800" b="1" dirty="0">
                <a:latin typeface="+mj-ea"/>
                <a:ea typeface="+mj-ea"/>
              </a:rPr>
              <a:t>2&gt;</a:t>
            </a: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……</a:t>
            </a: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     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case</a:t>
            </a:r>
            <a:r>
              <a:rPr lang="en-US" altLang="zh-CN" sz="2800" b="1" dirty="0">
                <a:latin typeface="+mj-ea"/>
                <a:ea typeface="+mj-ea"/>
              </a:rPr>
              <a:t>&lt;</a:t>
            </a:r>
            <a:r>
              <a:rPr lang="zh-CN" altLang="en-US" sz="2800" b="1" dirty="0">
                <a:latin typeface="+mj-ea"/>
                <a:ea typeface="+mj-ea"/>
              </a:rPr>
              <a:t>常量表达式</a:t>
            </a:r>
            <a:r>
              <a:rPr lang="en-US" altLang="zh-CN" sz="2800" b="1" dirty="0">
                <a:latin typeface="+mj-ea"/>
                <a:ea typeface="+mj-ea"/>
              </a:rPr>
              <a:t>n&gt;:&lt;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r>
              <a:rPr lang="en-US" altLang="zh-CN" sz="2800" b="1" dirty="0">
                <a:latin typeface="+mj-ea"/>
                <a:ea typeface="+mj-ea"/>
              </a:rPr>
              <a:t>n&gt;</a:t>
            </a: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     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default</a:t>
            </a:r>
            <a:r>
              <a:rPr lang="en-US" altLang="zh-CN" sz="2800" b="1" dirty="0">
                <a:latin typeface="+mj-ea"/>
                <a:ea typeface="+mj-ea"/>
              </a:rPr>
              <a:t>:&lt;</a:t>
            </a:r>
            <a:r>
              <a:rPr lang="zh-CN" altLang="en-US" sz="2800" b="1" dirty="0">
                <a:latin typeface="+mj-ea"/>
                <a:ea typeface="+mj-ea"/>
              </a:rPr>
              <a:t>语句 </a:t>
            </a:r>
            <a:r>
              <a:rPr lang="en-US" altLang="zh-CN" sz="2800" b="1" dirty="0">
                <a:latin typeface="+mj-ea"/>
                <a:ea typeface="+mj-ea"/>
              </a:rPr>
              <a:t>n+1&gt;</a:t>
            </a: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>
          <a:xfrm>
            <a:off x="457200" y="108548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>
          <a:xfrm>
            <a:off x="285720" y="900130"/>
            <a:ext cx="8715436" cy="502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开关语句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&lt;条件表达式&gt;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给出进行分支的条件，其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值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必须是一个整型、字符型或枚举型的表达式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关键字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case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用于引出一个分支。</a:t>
            </a:r>
            <a:b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</a:b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case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后的各“&lt;常量表达式&gt;” 均为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switch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后“&lt;条件表达式&gt;”的一个可能值（类型应该相同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)</a:t>
            </a:r>
            <a:b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</a:b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实际上，每个“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case &lt;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常量表达式</a:t>
            </a:r>
            <a:r>
              <a:rPr lang="en-US" altLang="zh-CN" sz="2800" b="1" dirty="0" err="1">
                <a:solidFill>
                  <a:srgbClr val="FF0000"/>
                </a:solidFill>
                <a:latin typeface="+mj-ea"/>
                <a:ea typeface="+mj-ea"/>
              </a:rPr>
              <a:t>i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&gt; :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”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都只起一个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语句标号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的作用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8B23605-A9F3-41B7-91BB-FFBF3AC29DB9}" type="slidenum">
              <a:rPr lang="en-US" altLang="zh-CN"/>
              <a:pPr>
                <a:defRPr/>
              </a:pPr>
              <a:t>29</a:t>
            </a:fld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>
          <a:xfrm>
            <a:off x="357158" y="-2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55299" name="内容占位符 2"/>
          <p:cNvSpPr>
            <a:spLocks noGrp="1"/>
          </p:cNvSpPr>
          <p:nvPr>
            <p:ph idx="1"/>
          </p:nvPr>
        </p:nvSpPr>
        <p:spPr>
          <a:xfrm>
            <a:off x="357158" y="714356"/>
            <a:ext cx="8572560" cy="502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开关语句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若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switch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后“&lt;条件表达式&gt;”的取值恰与某个 “&lt;常量表达式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i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&gt;”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的值相同, 则直接跳转到“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case &lt;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常量表达式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i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 :”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后的那一分支的起始点处去执行（直到遇到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break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语句或者遇到了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switch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语句体的右花括号后结束本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switch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句）。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若“&lt;条件表达式&gt;”的值与任一个</a:t>
            </a:r>
            <a:b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</a:b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“&lt;常量表达式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i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&gt;”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的值都不相同, 那么: 若有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default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分支, 则跳转到“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default:”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后的那一分支的起始点处去执行, 否则什么都不执行(而结束本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switch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句)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384DB4-DDBF-4B37-8E75-59AD729D7453}" type="slidenum">
              <a:rPr lang="en-US" altLang="zh-CN"/>
              <a:pPr>
                <a:defRPr/>
              </a:pPr>
              <a:t>30</a:t>
            </a:fld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>
          <a:xfrm>
            <a:off x="285720" y="71414"/>
            <a:ext cx="7239000" cy="46293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>
          <a:xfrm>
            <a:off x="285720" y="642918"/>
            <a:ext cx="3257550" cy="38481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+mj-ea"/>
                <a:ea typeface="+mj-ea"/>
              </a:rPr>
              <a:t>开关语句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与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break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语句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一起使用的开关语句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FEF8787-B345-4F77-AB57-49F590DA933B}" type="slidenum">
              <a:rPr lang="en-US" altLang="zh-CN"/>
              <a:pPr>
                <a:defRPr/>
              </a:pPr>
              <a:t>31</a:t>
            </a:fld>
            <a:endParaRPr lang="en-US" altLang="zh-CN" dirty="0"/>
          </a:p>
        </p:txBody>
      </p:sp>
      <p:pic>
        <p:nvPicPr>
          <p:cNvPr id="5632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7183" y="914747"/>
            <a:ext cx="4467225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>
          <a:xfrm>
            <a:off x="285720" y="-24"/>
            <a:ext cx="7239000" cy="67724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>
          <a:xfrm>
            <a:off x="285720" y="714356"/>
            <a:ext cx="3114675" cy="50292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+mj-ea"/>
                <a:ea typeface="+mj-ea"/>
              </a:rPr>
              <a:t>开关语句</a:t>
            </a:r>
            <a:endParaRPr lang="en-US" altLang="zh-CN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dirty="0">
                <a:latin typeface="+mj-ea"/>
                <a:ea typeface="+mj-ea"/>
              </a:rPr>
              <a:t>不带</a:t>
            </a:r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break</a:t>
            </a:r>
            <a:r>
              <a:rPr lang="zh-CN" altLang="en-US" dirty="0">
                <a:latin typeface="+mj-ea"/>
                <a:ea typeface="+mj-ea"/>
              </a:rPr>
              <a:t>的开关语句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3F885C1-60A2-4055-95ED-DD0FE31418C4}" type="slidenum">
              <a:rPr lang="en-US" altLang="zh-CN"/>
              <a:pPr>
                <a:defRPr/>
              </a:pPr>
              <a:t>32</a:t>
            </a:fld>
            <a:endParaRPr lang="en-US" altLang="zh-CN" dirty="0"/>
          </a:p>
        </p:txBody>
      </p:sp>
      <p:pic>
        <p:nvPicPr>
          <p:cNvPr id="5735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95686" y="1285860"/>
            <a:ext cx="4533900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>
          <a:xfrm>
            <a:off x="357158" y="7141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>
          <a:xfrm>
            <a:off x="357158" y="785794"/>
            <a:ext cx="8501122" cy="2490788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+mj-ea"/>
                <a:ea typeface="+mj-ea"/>
              </a:rPr>
              <a:t>开关语句</a:t>
            </a:r>
            <a:endParaRPr lang="en-US" altLang="zh-CN" sz="2800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4.11】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若</a:t>
            </a:r>
            <a:r>
              <a:rPr lang="en-US" altLang="zh-CN" sz="2400" dirty="0" err="1">
                <a:solidFill>
                  <a:srgbClr val="C00000"/>
                </a:solidFill>
                <a:latin typeface="+mj-ea"/>
                <a:ea typeface="+mj-ea"/>
              </a:rPr>
              <a:t>int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型变量</a:t>
            </a:r>
            <a:r>
              <a:rPr lang="en-US" altLang="zh-CN" sz="2400" dirty="0" err="1">
                <a:solidFill>
                  <a:srgbClr val="C00000"/>
                </a:solidFill>
                <a:latin typeface="+mj-ea"/>
                <a:ea typeface="+mj-ea"/>
              </a:rPr>
              <a:t>i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=2, 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执行下述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switch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语句后, 将输出 “</a:t>
            </a:r>
            <a:r>
              <a:rPr lang="en-US" altLang="zh-CN" sz="2400" dirty="0" err="1">
                <a:solidFill>
                  <a:srgbClr val="C00000"/>
                </a:solidFill>
                <a:latin typeface="+mj-ea"/>
                <a:ea typeface="+mj-ea"/>
              </a:rPr>
              <a:t>i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=2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”以及“</a:t>
            </a:r>
            <a:r>
              <a:rPr lang="en-US" altLang="zh-CN" sz="2400" dirty="0" err="1">
                <a:solidFill>
                  <a:srgbClr val="C00000"/>
                </a:solidFill>
                <a:latin typeface="+mj-ea"/>
                <a:ea typeface="+mj-ea"/>
              </a:rPr>
              <a:t>i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=2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”两行；若</a:t>
            </a:r>
            <a:r>
              <a:rPr lang="en-US" altLang="zh-CN" sz="2400" dirty="0" err="1">
                <a:solidFill>
                  <a:srgbClr val="C00000"/>
                </a:solidFill>
                <a:latin typeface="+mj-ea"/>
                <a:ea typeface="+mj-ea"/>
              </a:rPr>
              <a:t>i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=5，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则什么也不输出（而结束该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switch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句）；若</a:t>
            </a:r>
            <a:r>
              <a:rPr lang="en-US" altLang="zh-CN" sz="2400" dirty="0" err="1">
                <a:solidFill>
                  <a:srgbClr val="C00000"/>
                </a:solidFill>
                <a:latin typeface="+mj-ea"/>
                <a:ea typeface="+mj-ea"/>
              </a:rPr>
              <a:t>i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=1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时，要输出3行“</a:t>
            </a:r>
            <a:r>
              <a:rPr lang="en-US" altLang="zh-CN" sz="2400" dirty="0" err="1">
                <a:solidFill>
                  <a:srgbClr val="C00000"/>
                </a:solidFill>
                <a:latin typeface="+mj-ea"/>
                <a:ea typeface="+mj-ea"/>
              </a:rPr>
              <a:t>i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=1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”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512175C-477A-44A8-9D73-503289E20A4F}" type="slidenum">
              <a:rPr lang="en-US" altLang="zh-CN"/>
              <a:pPr>
                <a:defRPr/>
              </a:pPr>
              <a:t>33</a:t>
            </a:fld>
            <a:endParaRPr lang="en-US" altLang="zh-CN" dirty="0"/>
          </a:p>
        </p:txBody>
      </p:sp>
      <p:pic>
        <p:nvPicPr>
          <p:cNvPr id="583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1750" y="3643313"/>
            <a:ext cx="4286250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71688" y="2709863"/>
            <a:ext cx="5068887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36763" y="2709863"/>
            <a:ext cx="5068887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36763" y="2709863"/>
            <a:ext cx="5068887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>
          <a:xfrm>
            <a:off x="285720" y="7141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428596" y="642918"/>
            <a:ext cx="8153400" cy="1204913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+mj-ea"/>
                <a:ea typeface="+mj-ea"/>
              </a:rPr>
              <a:t>开关语句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b="1" dirty="0">
                <a:latin typeface="+mj-ea"/>
                <a:ea typeface="+mj-ea"/>
              </a:rPr>
              <a:t>多个</a:t>
            </a:r>
            <a:r>
              <a:rPr lang="en-US" altLang="zh-CN" b="1" dirty="0">
                <a:latin typeface="+mj-ea"/>
                <a:ea typeface="+mj-ea"/>
              </a:rPr>
              <a:t>case</a:t>
            </a:r>
            <a:r>
              <a:rPr lang="zh-CN" altLang="en-US" b="1" dirty="0">
                <a:latin typeface="+mj-ea"/>
                <a:ea typeface="+mj-ea"/>
              </a:rPr>
              <a:t>并列的情况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7E835DC-507C-41C6-8414-02A153604781}" type="slidenum">
              <a:rPr lang="en-US" altLang="zh-CN"/>
              <a:pPr>
                <a:defRPr/>
              </a:pPr>
              <a:t>34</a:t>
            </a:fld>
            <a:endParaRPr lang="en-US" altLang="zh-CN" dirty="0"/>
          </a:p>
        </p:txBody>
      </p:sp>
      <p:pic>
        <p:nvPicPr>
          <p:cNvPr id="593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7422" y="1643050"/>
            <a:ext cx="4371975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>
          <a:xfrm>
            <a:off x="457200" y="71414"/>
            <a:ext cx="7239000" cy="5343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357218" y="714356"/>
            <a:ext cx="8501062" cy="502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latin typeface="+mj-ea"/>
                <a:ea typeface="+mj-ea"/>
              </a:rPr>
              <a:t>开关语句</a:t>
            </a:r>
            <a:endParaRPr lang="en-US" altLang="zh-CN" sz="2800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4.12】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输入成绩，输出成绩的等级。例如成绩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score=86, 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运行程序后, 将输出“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grade=B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”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；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若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score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处于90到100之间，将输出“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grade=A”； ... ；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若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score/10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不处于6到10之间（如, 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score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为59, 0, 123, -12等）, 将输出“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grade=E”</a:t>
            </a:r>
            <a:r>
              <a:rPr lang="en-US" altLang="zh-CN" sz="2400" dirty="0">
                <a:latin typeface="+mj-ea"/>
                <a:ea typeface="+mj-ea"/>
              </a:rPr>
              <a:t> 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8F5587C-67DD-4A81-B29A-18396B12FF38}" type="slidenum">
              <a:rPr lang="en-US" altLang="zh-CN"/>
              <a:pPr>
                <a:defRPr/>
              </a:pPr>
              <a:t>35</a:t>
            </a:fld>
            <a:endParaRPr lang="en-US" altLang="zh-C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3A74D4-B02F-445F-9F24-E9372BD97FE4}" type="slidenum">
              <a:rPr lang="en-US" altLang="zh-CN"/>
              <a:pPr>
                <a:defRPr/>
              </a:pPr>
              <a:t>36</a:t>
            </a:fld>
            <a:endParaRPr lang="en-US" altLang="zh-CN" dirty="0"/>
          </a:p>
        </p:txBody>
      </p:sp>
      <p:pic>
        <p:nvPicPr>
          <p:cNvPr id="6144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32187"/>
            <a:ext cx="4524534" cy="6393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>
          <a:xfrm>
            <a:off x="357158" y="-2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>
          <a:xfrm>
            <a:off x="457200" y="571480"/>
            <a:ext cx="2328863" cy="32766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+mj-ea"/>
                <a:ea typeface="+mj-ea"/>
              </a:rPr>
              <a:t>开关语句</a:t>
            </a:r>
            <a:endParaRPr lang="en-US" altLang="zh-CN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dirty="0">
                <a:latin typeface="+mj-ea"/>
                <a:ea typeface="+mj-ea"/>
              </a:rPr>
              <a:t>不含</a:t>
            </a:r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default</a:t>
            </a:r>
            <a:r>
              <a:rPr lang="zh-CN" altLang="en-US" dirty="0">
                <a:latin typeface="+mj-ea"/>
                <a:ea typeface="+mj-ea"/>
              </a:rPr>
              <a:t>语句的情况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5F7D89-429B-42EE-8005-56CB17C0CFBD}" type="slidenum">
              <a:rPr lang="en-US" altLang="zh-CN"/>
              <a:pPr>
                <a:defRPr/>
              </a:pPr>
              <a:t>37</a:t>
            </a:fld>
            <a:endParaRPr lang="en-US" altLang="zh-CN" dirty="0"/>
          </a:p>
        </p:txBody>
      </p:sp>
      <p:pic>
        <p:nvPicPr>
          <p:cNvPr id="624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1813" y="714356"/>
            <a:ext cx="5610225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>
          <a:xfrm>
            <a:off x="357158" y="108548"/>
            <a:ext cx="7239000" cy="5343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428596" y="714356"/>
            <a:ext cx="7239000" cy="4846320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+mj-ea"/>
                <a:ea typeface="+mj-ea"/>
              </a:rPr>
              <a:t>开关语句</a:t>
            </a:r>
            <a:endParaRPr lang="en-US" altLang="zh-CN" sz="2800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4.13】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利用开关语句设计计算器程序，实现运算：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+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-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*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/</a:t>
            </a:r>
            <a:r>
              <a:rPr lang="zh-CN" altLang="en-US" sz="2400" dirty="0">
                <a:solidFill>
                  <a:srgbClr val="C00000"/>
                </a:solidFill>
                <a:latin typeface="+mj-ea"/>
                <a:ea typeface="+mj-ea"/>
              </a:rPr>
              <a:t>和</a:t>
            </a:r>
            <a:r>
              <a:rPr lang="en-US" altLang="zh-CN" sz="2400" dirty="0">
                <a:solidFill>
                  <a:srgbClr val="C00000"/>
                </a:solidFill>
                <a:latin typeface="+mj-ea"/>
                <a:ea typeface="+mj-ea"/>
              </a:rPr>
              <a:t>%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dirty="0">
                <a:latin typeface="+mj-ea"/>
                <a:ea typeface="+mj-ea"/>
              </a:rPr>
              <a:t>由不同的运算产生分支</a:t>
            </a:r>
            <a:endParaRPr lang="en-US" altLang="zh-CN" sz="2400" dirty="0"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dirty="0">
                <a:solidFill>
                  <a:srgbClr val="002060"/>
                </a:solidFill>
                <a:latin typeface="+mj-ea"/>
                <a:ea typeface="+mj-ea"/>
              </a:rPr>
              <a:t>多个分支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64C2F0-505E-43DB-9DDC-19AABCD256AA}" type="slidenum">
              <a:rPr lang="en-US" altLang="zh-CN"/>
              <a:pPr>
                <a:defRPr/>
              </a:pPr>
              <a:t>38</a:t>
            </a:fld>
            <a:endParaRPr lang="en-US" altLang="zh-CN" dirty="0"/>
          </a:p>
        </p:txBody>
      </p:sp>
      <p:pic>
        <p:nvPicPr>
          <p:cNvPr id="634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7438" y="3214686"/>
            <a:ext cx="3643312" cy="2601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CACEB1-2309-469E-B40E-3316EE908501}" type="slidenum">
              <a:rPr lang="en-US" altLang="zh-CN"/>
              <a:pPr>
                <a:defRPr/>
              </a:pPr>
              <a:t>39</a:t>
            </a:fld>
            <a:endParaRPr lang="en-US" altLang="zh-CN" dirty="0"/>
          </a:p>
        </p:txBody>
      </p:sp>
      <p:pic>
        <p:nvPicPr>
          <p:cNvPr id="6451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59246"/>
            <a:ext cx="6253148" cy="6754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内容占位符 2"/>
          <p:cNvSpPr>
            <a:spLocks noGrp="1"/>
          </p:cNvSpPr>
          <p:nvPr>
            <p:ph idx="1"/>
          </p:nvPr>
        </p:nvSpPr>
        <p:spPr>
          <a:xfrm>
            <a:off x="179512" y="68564"/>
            <a:ext cx="8749636" cy="609674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zh-CN" altLang="en-US" b="1" dirty="0">
                <a:latin typeface="+mj-ea"/>
                <a:ea typeface="+mj-ea"/>
              </a:rPr>
              <a:t>开关语句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4.14】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运输公司对所运货物实行分段计费。设运输里程为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s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，则运费打折情况如下：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>
                <a:latin typeface="+mj-ea"/>
                <a:ea typeface="+mj-ea"/>
              </a:rPr>
              <a:t>    		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s&lt;250			        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不打折扣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		250&lt;=s&lt;500		         2%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折扣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		500&lt;=s&lt;1000	         5%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折扣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	1000&lt;=s&lt;2000	         8%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折扣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		2000&lt;=s&lt;3000	         10%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折扣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		3000&lt;=s		         15%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折扣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设每公里每吨的基本运费为</a:t>
            </a:r>
            <a:r>
              <a:rPr lang="en-US" altLang="zh-CN" sz="2400" b="1" dirty="0">
                <a:latin typeface="+mj-ea"/>
                <a:ea typeface="+mj-ea"/>
              </a:rPr>
              <a:t>p</a:t>
            </a:r>
            <a:r>
              <a:rPr lang="zh-CN" altLang="en-US" sz="2400" b="1" dirty="0">
                <a:latin typeface="+mj-ea"/>
                <a:ea typeface="+mj-ea"/>
              </a:rPr>
              <a:t>，货物重量为</a:t>
            </a:r>
            <a:r>
              <a:rPr lang="en-US" altLang="zh-CN" sz="2400" b="1" dirty="0">
                <a:latin typeface="+mj-ea"/>
                <a:ea typeface="+mj-ea"/>
              </a:rPr>
              <a:t>w</a:t>
            </a:r>
            <a:r>
              <a:rPr lang="zh-CN" altLang="en-US" sz="2400" b="1" dirty="0">
                <a:latin typeface="+mj-ea"/>
                <a:ea typeface="+mj-ea"/>
              </a:rPr>
              <a:t>，总运输里程在某段中的里程为</a:t>
            </a:r>
            <a:r>
              <a:rPr lang="en-US" altLang="zh-CN" sz="2400" b="1" dirty="0">
                <a:latin typeface="+mj-ea"/>
                <a:ea typeface="+mj-ea"/>
              </a:rPr>
              <a:t>Δs</a:t>
            </a:r>
            <a:r>
              <a:rPr lang="zh-CN" altLang="en-US" sz="2400" b="1" dirty="0">
                <a:latin typeface="+mj-ea"/>
                <a:ea typeface="+mj-ea"/>
              </a:rPr>
              <a:t>，折扣为</a:t>
            </a:r>
            <a:r>
              <a:rPr lang="en-US" altLang="zh-CN" sz="2400" b="1" dirty="0">
                <a:latin typeface="+mj-ea"/>
                <a:ea typeface="+mj-ea"/>
              </a:rPr>
              <a:t>d</a:t>
            </a:r>
            <a:r>
              <a:rPr lang="zh-CN" altLang="en-US" sz="2400" b="1" dirty="0">
                <a:latin typeface="+mj-ea"/>
                <a:ea typeface="+mj-ea"/>
              </a:rPr>
              <a:t>，则该段运费为：</a:t>
            </a:r>
            <a:r>
              <a:rPr lang="en-US" altLang="zh-CN" sz="2400" b="1" dirty="0">
                <a:latin typeface="+mj-ea"/>
                <a:ea typeface="+mj-ea"/>
              </a:rPr>
              <a:t>p*w*Δs*(1-d)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设计程序，当输入</a:t>
            </a:r>
            <a:r>
              <a:rPr lang="en-US" altLang="zh-CN" sz="2400" b="1" dirty="0">
                <a:latin typeface="+mj-ea"/>
                <a:ea typeface="+mj-ea"/>
              </a:rPr>
              <a:t>p</a:t>
            </a:r>
            <a:r>
              <a:rPr lang="zh-CN" altLang="en-US" sz="2400" b="1" dirty="0">
                <a:latin typeface="+mj-ea"/>
                <a:ea typeface="+mj-ea"/>
              </a:rPr>
              <a:t>、</a:t>
            </a:r>
            <a:r>
              <a:rPr lang="en-US" altLang="zh-CN" sz="2400" b="1" dirty="0">
                <a:latin typeface="+mj-ea"/>
                <a:ea typeface="+mj-ea"/>
              </a:rPr>
              <a:t>w</a:t>
            </a:r>
            <a:r>
              <a:rPr lang="zh-CN" altLang="en-US" sz="2400" b="1" dirty="0">
                <a:latin typeface="+mj-ea"/>
                <a:ea typeface="+mj-ea"/>
              </a:rPr>
              <a:t>和</a:t>
            </a:r>
            <a:r>
              <a:rPr lang="en-US" altLang="zh-CN" sz="2400" b="1" dirty="0">
                <a:latin typeface="+mj-ea"/>
                <a:ea typeface="+mj-ea"/>
              </a:rPr>
              <a:t>s</a:t>
            </a:r>
            <a:r>
              <a:rPr lang="zh-CN" altLang="en-US" sz="2400" b="1" dirty="0">
                <a:latin typeface="+mj-ea"/>
                <a:ea typeface="+mj-ea"/>
              </a:rPr>
              <a:t>后，计算运费</a:t>
            </a:r>
            <a:r>
              <a:rPr lang="en-US" altLang="zh-CN" sz="2400" b="1" dirty="0">
                <a:latin typeface="+mj-ea"/>
                <a:ea typeface="+mj-ea"/>
              </a:rPr>
              <a:t>f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A1B3A71-8F67-4633-A08C-0684629DAD17}" type="slidenum">
              <a:rPr lang="en-US" altLang="zh-CN"/>
              <a:pPr>
                <a:defRPr/>
              </a:pPr>
              <a:t>40</a:t>
            </a:fld>
            <a:endParaRPr lang="en-US" altLang="zh-C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>
          <a:xfrm>
            <a:off x="428596" y="-24"/>
            <a:ext cx="7239000" cy="748684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66563" name="内容占位符 2"/>
          <p:cNvSpPr>
            <a:spLocks noGrp="1"/>
          </p:cNvSpPr>
          <p:nvPr>
            <p:ph idx="1"/>
          </p:nvPr>
        </p:nvSpPr>
        <p:spPr>
          <a:xfrm>
            <a:off x="285720" y="797258"/>
            <a:ext cx="8678768" cy="484632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FF3300"/>
                </a:solidFill>
                <a:latin typeface="+mj-ea"/>
                <a:ea typeface="+mj-ea"/>
              </a:rPr>
              <a:t>总费用为各段费用之和，可采用不加</a:t>
            </a:r>
            <a:r>
              <a:rPr lang="en-US" altLang="zh-CN" sz="2800" b="1" dirty="0">
                <a:solidFill>
                  <a:srgbClr val="FF3300"/>
                </a:solidFill>
                <a:latin typeface="+mj-ea"/>
                <a:ea typeface="+mj-ea"/>
              </a:rPr>
              <a:t>break</a:t>
            </a:r>
            <a:r>
              <a:rPr lang="zh-CN" altLang="en-US" sz="2800" b="1" dirty="0">
                <a:solidFill>
                  <a:srgbClr val="FF3300"/>
                </a:solidFill>
                <a:latin typeface="+mj-ea"/>
                <a:ea typeface="+mj-ea"/>
              </a:rPr>
              <a:t>的</a:t>
            </a:r>
            <a:r>
              <a:rPr lang="en-US" altLang="zh-CN" sz="2800" b="1" dirty="0">
                <a:solidFill>
                  <a:srgbClr val="FF3300"/>
                </a:solidFill>
                <a:latin typeface="+mj-ea"/>
                <a:ea typeface="+mj-ea"/>
              </a:rPr>
              <a:t>switch</a:t>
            </a:r>
            <a:r>
              <a:rPr lang="zh-CN" altLang="en-US" sz="2800" b="1" dirty="0">
                <a:solidFill>
                  <a:srgbClr val="FF3300"/>
                </a:solidFill>
                <a:latin typeface="+mj-ea"/>
                <a:ea typeface="+mj-ea"/>
              </a:rPr>
              <a:t>语句</a:t>
            </a:r>
            <a:endParaRPr lang="en-US" altLang="zh-CN" sz="2800" b="1" dirty="0">
              <a:solidFill>
                <a:srgbClr val="FF3300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switch</a:t>
            </a:r>
            <a:r>
              <a:rPr lang="zh-CN" altLang="en-US" sz="2800" b="1" dirty="0">
                <a:latin typeface="+mj-ea"/>
                <a:ea typeface="+mj-ea"/>
              </a:rPr>
              <a:t>语句要求条件表达式取值为确定的若干个开关量，而不能使用关系表达式，用里程</a:t>
            </a:r>
            <a:r>
              <a:rPr lang="en-US" altLang="zh-CN" sz="2800" b="1" dirty="0">
                <a:latin typeface="+mj-ea"/>
                <a:ea typeface="+mj-ea"/>
              </a:rPr>
              <a:t>s</a:t>
            </a:r>
            <a:r>
              <a:rPr lang="zh-CN" altLang="en-US" sz="2800" b="1" dirty="0">
                <a:latin typeface="+mj-ea"/>
                <a:ea typeface="+mj-ea"/>
              </a:rPr>
              <a:t>进行判断似乎不符合条件。但是分析发现，里程</a:t>
            </a:r>
            <a:r>
              <a:rPr lang="en-US" altLang="zh-CN" sz="2800" b="1" dirty="0">
                <a:latin typeface="+mj-ea"/>
                <a:ea typeface="+mj-ea"/>
              </a:rPr>
              <a:t>s</a:t>
            </a:r>
            <a:r>
              <a:rPr lang="zh-CN" altLang="en-US" sz="2800" b="1" dirty="0">
                <a:latin typeface="+mj-ea"/>
                <a:ea typeface="+mj-ea"/>
              </a:rPr>
              <a:t>的分段点均是</a:t>
            </a:r>
            <a:r>
              <a:rPr lang="en-US" altLang="zh-CN" sz="2800" b="1" dirty="0">
                <a:latin typeface="+mj-ea"/>
                <a:ea typeface="+mj-ea"/>
              </a:rPr>
              <a:t>250</a:t>
            </a:r>
            <a:r>
              <a:rPr lang="zh-CN" altLang="en-US" sz="2800" b="1" dirty="0">
                <a:latin typeface="+mj-ea"/>
                <a:ea typeface="+mj-ea"/>
              </a:rPr>
              <a:t>的倍数，因此，将里程</a:t>
            </a:r>
            <a:r>
              <a:rPr lang="en-US" altLang="zh-CN" sz="2800" b="1" dirty="0">
                <a:latin typeface="+mj-ea"/>
                <a:ea typeface="+mj-ea"/>
              </a:rPr>
              <a:t>s</a:t>
            </a:r>
            <a:r>
              <a:rPr lang="zh-CN" altLang="en-US" sz="2800" b="1" dirty="0">
                <a:latin typeface="+mj-ea"/>
                <a:ea typeface="+mj-ea"/>
              </a:rPr>
              <a:t>除以</a:t>
            </a:r>
            <a:r>
              <a:rPr lang="en-US" altLang="zh-CN" sz="2800" b="1" dirty="0">
                <a:latin typeface="+mj-ea"/>
                <a:ea typeface="+mj-ea"/>
              </a:rPr>
              <a:t>250</a:t>
            </a:r>
            <a:r>
              <a:rPr lang="zh-CN" altLang="en-US" sz="2800" b="1" dirty="0">
                <a:latin typeface="+mj-ea"/>
                <a:ea typeface="+mj-ea"/>
              </a:rPr>
              <a:t>，取整数商</a:t>
            </a:r>
            <a:r>
              <a:rPr lang="en-US" altLang="zh-CN" sz="2800" b="1" dirty="0">
                <a:latin typeface="+mj-ea"/>
                <a:ea typeface="+mj-ea"/>
              </a:rPr>
              <a:t>c</a:t>
            </a:r>
            <a:r>
              <a:rPr lang="zh-CN" altLang="en-US" sz="2800" b="1" dirty="0">
                <a:latin typeface="+mj-ea"/>
                <a:ea typeface="+mj-ea"/>
              </a:rPr>
              <a:t>，可得到若干整数值。因此算法描述如下</a:t>
            </a:r>
            <a:r>
              <a:rPr lang="zh-CN" altLang="en-US" sz="2800" dirty="0">
                <a:latin typeface="+mj-ea"/>
                <a:ea typeface="+mj-ea"/>
              </a:rPr>
              <a:t>：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7C5951-844B-49D1-9620-FDE3C9166D4B}" type="slidenum">
              <a:rPr lang="en-US" altLang="zh-CN"/>
              <a:pPr>
                <a:defRPr/>
              </a:pPr>
              <a:t>41</a:t>
            </a:fld>
            <a:endParaRPr lang="en-US" altLang="zh-CN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>
          <a:xfrm>
            <a:off x="357158" y="142852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分支语句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56E8B3-007A-4F50-AB0E-681FF1E8599F}" type="slidenum">
              <a:rPr lang="en-US" altLang="zh-CN"/>
              <a:pPr>
                <a:defRPr/>
              </a:pPr>
              <a:t>42</a:t>
            </a:fld>
            <a:endParaRPr lang="en-US" altLang="zh-CN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143125" y="1482725"/>
            <a:ext cx="6697663" cy="437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3333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switch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(c){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default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: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 d=0.15;f+=p*w*(s-3000)*(1-d);s=3000;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8: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9: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10: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11: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 d=0.1;f+=p*w*(s-2000)*(1-d);s=2000;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4: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5: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6: 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7: 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 d=0.08;f+=p*w*(s-1000)*(1-d);s=1000;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2: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3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 d=0.05;f+=p*w*(s-500)*(1-d);s=500;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1: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 d=0.02;f+=p*w*(s-250)*(1-d);s=250;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</a:t>
            </a:r>
            <a:r>
              <a:rPr lang="en-US" altLang="zh-CN" sz="2000" b="1" kern="0" dirty="0">
                <a:solidFill>
                  <a:srgbClr val="3333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case</a:t>
            </a: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0: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 d=0;f+=p*w*s*(1-d);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altLang="zh-CN" sz="20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}</a:t>
            </a:r>
          </a:p>
        </p:txBody>
      </p:sp>
      <p:sp>
        <p:nvSpPr>
          <p:cNvPr id="67590" name="Text Box 3"/>
          <p:cNvSpPr txBox="1">
            <a:spLocks noChangeArrowheads="1"/>
          </p:cNvSpPr>
          <p:nvPr/>
        </p:nvSpPr>
        <p:spPr bwMode="auto">
          <a:xfrm>
            <a:off x="142875" y="1500188"/>
            <a:ext cx="1785938" cy="341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altLang="zh-CN" b="1">
                <a:latin typeface="Times New Roman" pitchFamily="18" charset="0"/>
              </a:rPr>
              <a:t>3000&gt;=s </a:t>
            </a:r>
          </a:p>
          <a:p>
            <a:pPr algn="just"/>
            <a:r>
              <a:rPr lang="en-US" altLang="zh-CN" b="1">
                <a:latin typeface="Times New Roman" pitchFamily="18" charset="0"/>
              </a:rPr>
              <a:t>    15%</a:t>
            </a:r>
            <a:r>
              <a:rPr lang="zh-CN" altLang="en-US" b="1">
                <a:latin typeface="Times New Roman" pitchFamily="18" charset="0"/>
              </a:rPr>
              <a:t>折扣</a:t>
            </a:r>
          </a:p>
          <a:p>
            <a:pPr algn="just"/>
            <a:r>
              <a:rPr lang="en-US" altLang="zh-CN" b="1">
                <a:latin typeface="Times New Roman" pitchFamily="18" charset="0"/>
              </a:rPr>
              <a:t>2000&lt;=s&lt;3000</a:t>
            </a:r>
          </a:p>
          <a:p>
            <a:pPr algn="just"/>
            <a:r>
              <a:rPr lang="en-US" altLang="zh-CN" b="1">
                <a:latin typeface="Times New Roman" pitchFamily="18" charset="0"/>
              </a:rPr>
              <a:t>    10%</a:t>
            </a:r>
            <a:r>
              <a:rPr lang="zh-CN" altLang="en-US" b="1">
                <a:latin typeface="Times New Roman" pitchFamily="18" charset="0"/>
              </a:rPr>
              <a:t>折扣</a:t>
            </a:r>
          </a:p>
          <a:p>
            <a:pPr algn="just"/>
            <a:r>
              <a:rPr lang="en-US" altLang="zh-CN" b="1">
                <a:latin typeface="Times New Roman" pitchFamily="18" charset="0"/>
              </a:rPr>
              <a:t>1000&lt;=s&lt;2000</a:t>
            </a:r>
          </a:p>
          <a:p>
            <a:pPr algn="just"/>
            <a:r>
              <a:rPr lang="en-US" altLang="zh-CN" b="1">
                <a:latin typeface="Times New Roman" pitchFamily="18" charset="0"/>
              </a:rPr>
              <a:t>    8%</a:t>
            </a:r>
            <a:r>
              <a:rPr lang="zh-CN" altLang="en-US" b="1">
                <a:latin typeface="Times New Roman" pitchFamily="18" charset="0"/>
              </a:rPr>
              <a:t>折扣</a:t>
            </a:r>
          </a:p>
          <a:p>
            <a:pPr algn="just"/>
            <a:r>
              <a:rPr lang="en-US" altLang="zh-CN" b="1">
                <a:latin typeface="Times New Roman" pitchFamily="18" charset="0"/>
              </a:rPr>
              <a:t>500&lt;=s&lt;1000 </a:t>
            </a:r>
          </a:p>
          <a:p>
            <a:pPr algn="just"/>
            <a:r>
              <a:rPr lang="en-US" altLang="zh-CN" b="1">
                <a:latin typeface="Times New Roman" pitchFamily="18" charset="0"/>
              </a:rPr>
              <a:t>    5%</a:t>
            </a:r>
            <a:r>
              <a:rPr lang="zh-CN" altLang="en-US" b="1">
                <a:latin typeface="Times New Roman" pitchFamily="18" charset="0"/>
              </a:rPr>
              <a:t>折扣</a:t>
            </a:r>
          </a:p>
          <a:p>
            <a:pPr algn="just"/>
            <a:r>
              <a:rPr lang="en-US" altLang="zh-CN" b="1">
                <a:latin typeface="Times New Roman" pitchFamily="18" charset="0"/>
              </a:rPr>
              <a:t>250&lt;=s&lt;500  </a:t>
            </a:r>
          </a:p>
          <a:p>
            <a:pPr algn="just"/>
            <a:r>
              <a:rPr lang="en-US" altLang="zh-CN" b="1">
                <a:latin typeface="Times New Roman" pitchFamily="18" charset="0"/>
              </a:rPr>
              <a:t>    2%</a:t>
            </a:r>
            <a:r>
              <a:rPr lang="zh-CN" altLang="en-US" b="1">
                <a:latin typeface="Times New Roman" pitchFamily="18" charset="0"/>
              </a:rPr>
              <a:t>折扣</a:t>
            </a:r>
          </a:p>
          <a:p>
            <a:pPr algn="just"/>
            <a:r>
              <a:rPr lang="en-US" altLang="zh-CN" b="1">
                <a:latin typeface="Times New Roman" pitchFamily="18" charset="0"/>
              </a:rPr>
              <a:t>s&lt;250</a:t>
            </a:r>
          </a:p>
          <a:p>
            <a:pPr algn="just"/>
            <a:r>
              <a:rPr lang="en-US" altLang="zh-CN" b="1">
                <a:latin typeface="Times New Roman" pitchFamily="18" charset="0"/>
              </a:rPr>
              <a:t>   </a:t>
            </a:r>
            <a:r>
              <a:rPr lang="zh-CN" altLang="en-US" b="1">
                <a:latin typeface="Times New Roman" pitchFamily="18" charset="0"/>
              </a:rPr>
              <a:t>不打折扣</a:t>
            </a:r>
          </a:p>
        </p:txBody>
      </p:sp>
      <p:sp>
        <p:nvSpPr>
          <p:cNvPr id="67591" name="Line 5"/>
          <p:cNvSpPr>
            <a:spLocks noChangeShapeType="1"/>
          </p:cNvSpPr>
          <p:nvPr/>
        </p:nvSpPr>
        <p:spPr bwMode="auto">
          <a:xfrm flipV="1">
            <a:off x="2000250" y="1125538"/>
            <a:ext cx="0" cy="5184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BF6F47-830F-45BD-9E69-20C396DE7DBC}" type="slidenum">
              <a:rPr lang="en-US" altLang="zh-CN"/>
              <a:pPr>
                <a:defRPr/>
              </a:pPr>
              <a:t>43</a:t>
            </a:fld>
            <a:endParaRPr lang="en-US" altLang="zh-CN" dirty="0"/>
          </a:p>
        </p:txBody>
      </p:sp>
      <p:pic>
        <p:nvPicPr>
          <p:cNvPr id="6861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4117" y="188640"/>
            <a:ext cx="8286355" cy="6120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318</TotalTime>
  <Words>1847</Words>
  <Application>Microsoft Office PowerPoint</Application>
  <PresentationFormat>全屏显示(4:3)</PresentationFormat>
  <Paragraphs>267</Paragraphs>
  <Slides>43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楷体_GB2312</vt:lpstr>
      <vt:lpstr>黑体</vt:lpstr>
      <vt:lpstr>宋体</vt:lpstr>
      <vt:lpstr>华文新魏</vt:lpstr>
      <vt:lpstr>Calibri</vt:lpstr>
      <vt:lpstr>Courier New</vt:lpstr>
      <vt:lpstr>Times New Roman</vt:lpstr>
      <vt:lpstr>Trebuchet MS</vt:lpstr>
      <vt:lpstr>Verdana</vt:lpstr>
      <vt:lpstr>Wingdings</vt:lpstr>
      <vt:lpstr>Wingdings 2</vt:lpstr>
      <vt:lpstr>华丽</vt:lpstr>
      <vt:lpstr>C/C++程序设计</vt:lpstr>
      <vt:lpstr>C++语句概述</vt:lpstr>
      <vt:lpstr>C++语句概述</vt:lpstr>
      <vt:lpstr>C++语句概述</vt:lpstr>
      <vt:lpstr>C++语句概述</vt:lpstr>
      <vt:lpstr>C++语句概述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PowerPoint 演示文稿</vt:lpstr>
      <vt:lpstr>分支语句</vt:lpstr>
      <vt:lpstr>PowerPoint 演示文稿</vt:lpstr>
      <vt:lpstr>分支语句</vt:lpstr>
      <vt:lpstr>PowerPoint 演示文稿</vt:lpstr>
      <vt:lpstr>分支语句</vt:lpstr>
      <vt:lpstr>PowerPoint 演示文稿</vt:lpstr>
      <vt:lpstr>PowerPoint 演示文稿</vt:lpstr>
      <vt:lpstr>PowerPoint 演示文稿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分支语句</vt:lpstr>
      <vt:lpstr>PowerPoint 演示文稿</vt:lpstr>
      <vt:lpstr>分支语句</vt:lpstr>
      <vt:lpstr>分支语句</vt:lpstr>
      <vt:lpstr>PowerPoint 演示文稿</vt:lpstr>
      <vt:lpstr>PowerPoint 演示文稿</vt:lpstr>
      <vt:lpstr>分支语句</vt:lpstr>
      <vt:lpstr>分支语句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86186</cp:lastModifiedBy>
  <cp:revision>25</cp:revision>
  <dcterms:created xsi:type="dcterms:W3CDTF">2016-10-20T06:46:04Z</dcterms:created>
  <dcterms:modified xsi:type="dcterms:W3CDTF">2020-10-28T05:47:41Z</dcterms:modified>
</cp:coreProperties>
</file>