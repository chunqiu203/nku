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306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49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5F4AD7-7AB1-49DF-8F37-BB1E1B8A5EC5}" type="doc">
      <dgm:prSet loTypeId="urn:microsoft.com/office/officeart/2005/8/layout/process5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7718547-56E4-4663-8BEC-F14392BAF9F4}">
      <dgm:prSet phldrT="[文本]"/>
      <dgm:spPr/>
      <dgm:t>
        <a:bodyPr/>
        <a:lstStyle/>
        <a:p>
          <a:r>
            <a:rPr lang="zh-CN" altLang="en-US" b="1" dirty="0">
              <a:latin typeface="+mj-ea"/>
              <a:ea typeface="+mj-ea"/>
            </a:rPr>
            <a:t>创建</a:t>
          </a:r>
          <a:r>
            <a:rPr lang="en-US" altLang="zh-CN" b="1" dirty="0">
              <a:latin typeface="+mj-ea"/>
              <a:ea typeface="+mj-ea"/>
            </a:rPr>
            <a:t>C++</a:t>
          </a:r>
          <a:r>
            <a:rPr lang="zh-CN" altLang="en-US" b="1" dirty="0">
              <a:latin typeface="+mj-ea"/>
              <a:ea typeface="+mj-ea"/>
            </a:rPr>
            <a:t>程序源文件</a:t>
          </a:r>
        </a:p>
      </dgm:t>
    </dgm:pt>
    <dgm:pt modelId="{55810120-FCA9-4CAB-946E-DC144186496A}" type="parTrans" cxnId="{B37B4E1F-F133-4116-9333-6855ED7F55A7}">
      <dgm:prSet/>
      <dgm:spPr/>
      <dgm:t>
        <a:bodyPr/>
        <a:lstStyle/>
        <a:p>
          <a:endParaRPr lang="zh-CN" altLang="en-US" b="1"/>
        </a:p>
      </dgm:t>
    </dgm:pt>
    <dgm:pt modelId="{F342D50D-A3EC-49B0-B75E-B7872E108DDE}" type="sibTrans" cxnId="{B37B4E1F-F133-4116-9333-6855ED7F55A7}">
      <dgm:prSet/>
      <dgm:spPr/>
      <dgm:t>
        <a:bodyPr/>
        <a:lstStyle/>
        <a:p>
          <a:endParaRPr lang="zh-CN" altLang="en-US" b="1"/>
        </a:p>
      </dgm:t>
    </dgm:pt>
    <dgm:pt modelId="{E6598B10-DFDD-4E4D-94D8-118403B36491}">
      <dgm:prSet phldrT="[文本]"/>
      <dgm:spPr/>
      <dgm:t>
        <a:bodyPr/>
        <a:lstStyle/>
        <a:p>
          <a:r>
            <a:rPr lang="zh-CN" altLang="en-US" b="1" dirty="0">
              <a:latin typeface="+mj-ea"/>
              <a:ea typeface="+mj-ea"/>
            </a:rPr>
            <a:t>编辑</a:t>
          </a:r>
          <a:r>
            <a:rPr lang="en-US" altLang="zh-CN" b="1" dirty="0">
              <a:latin typeface="+mj-ea"/>
              <a:ea typeface="+mj-ea"/>
            </a:rPr>
            <a:t>C++</a:t>
          </a:r>
          <a:r>
            <a:rPr lang="zh-CN" altLang="en-US" b="1" dirty="0">
              <a:latin typeface="+mj-ea"/>
              <a:ea typeface="+mj-ea"/>
            </a:rPr>
            <a:t>程序代码</a:t>
          </a:r>
        </a:p>
      </dgm:t>
    </dgm:pt>
    <dgm:pt modelId="{D066C4D9-C3FD-401F-AB5F-8C67F122AE8E}" type="parTrans" cxnId="{7C1AA815-6AB4-4B7D-8D4A-A045537274E4}">
      <dgm:prSet/>
      <dgm:spPr/>
      <dgm:t>
        <a:bodyPr/>
        <a:lstStyle/>
        <a:p>
          <a:endParaRPr lang="zh-CN" altLang="en-US" b="1"/>
        </a:p>
      </dgm:t>
    </dgm:pt>
    <dgm:pt modelId="{DE790D94-1192-4D88-93EE-215C269042F9}" type="sibTrans" cxnId="{7C1AA815-6AB4-4B7D-8D4A-A045537274E4}">
      <dgm:prSet/>
      <dgm:spPr/>
      <dgm:t>
        <a:bodyPr/>
        <a:lstStyle/>
        <a:p>
          <a:endParaRPr lang="zh-CN" altLang="en-US" b="1"/>
        </a:p>
      </dgm:t>
    </dgm:pt>
    <dgm:pt modelId="{3D78F417-B9F3-4977-B03D-651367F43BB5}">
      <dgm:prSet phldrT="[文本]"/>
      <dgm:spPr/>
      <dgm:t>
        <a:bodyPr/>
        <a:lstStyle/>
        <a:p>
          <a:r>
            <a:rPr lang="zh-CN" altLang="en-US" b="1" dirty="0">
              <a:latin typeface="+mj-ea"/>
              <a:ea typeface="+mj-ea"/>
            </a:rPr>
            <a:t>调试</a:t>
          </a:r>
        </a:p>
      </dgm:t>
    </dgm:pt>
    <dgm:pt modelId="{23E593D1-8AB5-45E9-9E20-B4C45726AA57}" type="parTrans" cxnId="{B5B1190C-BEDC-45C9-BEB5-17477D149305}">
      <dgm:prSet/>
      <dgm:spPr/>
      <dgm:t>
        <a:bodyPr/>
        <a:lstStyle/>
        <a:p>
          <a:endParaRPr lang="zh-CN" altLang="en-US" b="1"/>
        </a:p>
      </dgm:t>
    </dgm:pt>
    <dgm:pt modelId="{40A84FA4-F9BF-43AE-BB86-B9ADBCF63AB5}" type="sibTrans" cxnId="{B5B1190C-BEDC-45C9-BEB5-17477D149305}">
      <dgm:prSet/>
      <dgm:spPr/>
      <dgm:t>
        <a:bodyPr/>
        <a:lstStyle/>
        <a:p>
          <a:endParaRPr lang="zh-CN" altLang="en-US" b="1"/>
        </a:p>
      </dgm:t>
    </dgm:pt>
    <dgm:pt modelId="{9F963F3B-6BA5-438C-A9B7-5D23A46A4F2A}">
      <dgm:prSet phldrT="[文本]"/>
      <dgm:spPr/>
      <dgm:t>
        <a:bodyPr/>
        <a:lstStyle/>
        <a:p>
          <a:r>
            <a:rPr lang="zh-CN" altLang="en-US" b="1" dirty="0">
              <a:latin typeface="+mj-ea"/>
              <a:ea typeface="+mj-ea"/>
            </a:rPr>
            <a:t>编译</a:t>
          </a:r>
        </a:p>
      </dgm:t>
    </dgm:pt>
    <dgm:pt modelId="{021ABCF6-F68A-41AC-9DD2-1C80204948A2}" type="parTrans" cxnId="{11EAD7FB-F98D-4CDA-A8BB-C5FB465D392E}">
      <dgm:prSet/>
      <dgm:spPr/>
      <dgm:t>
        <a:bodyPr/>
        <a:lstStyle/>
        <a:p>
          <a:endParaRPr lang="zh-CN" altLang="en-US" b="1"/>
        </a:p>
      </dgm:t>
    </dgm:pt>
    <dgm:pt modelId="{8415CAA7-1307-4D2F-A972-72B8B7076AAE}" type="sibTrans" cxnId="{11EAD7FB-F98D-4CDA-A8BB-C5FB465D392E}">
      <dgm:prSet/>
      <dgm:spPr/>
      <dgm:t>
        <a:bodyPr/>
        <a:lstStyle/>
        <a:p>
          <a:endParaRPr lang="zh-CN" altLang="en-US" b="1"/>
        </a:p>
      </dgm:t>
    </dgm:pt>
    <dgm:pt modelId="{D81797F6-E6FC-4910-9D02-02FFCFA42DE0}">
      <dgm:prSet phldrT="[文本]"/>
      <dgm:spPr/>
      <dgm:t>
        <a:bodyPr/>
        <a:lstStyle/>
        <a:p>
          <a:r>
            <a:rPr lang="zh-CN" altLang="en-US" b="1" dirty="0">
              <a:latin typeface="黑体" pitchFamily="49" charset="-122"/>
              <a:ea typeface="黑体" pitchFamily="49" charset="-122"/>
            </a:rPr>
            <a:t>链接</a:t>
          </a:r>
        </a:p>
      </dgm:t>
    </dgm:pt>
    <dgm:pt modelId="{CAB1C94A-E755-42D1-9428-B85DF9E3819F}" type="parTrans" cxnId="{4D2B5C89-6E7F-4EAC-AE6C-804310429D93}">
      <dgm:prSet/>
      <dgm:spPr/>
      <dgm:t>
        <a:bodyPr/>
        <a:lstStyle/>
        <a:p>
          <a:endParaRPr lang="zh-CN" altLang="en-US" b="1"/>
        </a:p>
      </dgm:t>
    </dgm:pt>
    <dgm:pt modelId="{5DDD5500-2599-4200-81CA-C52C1D260F03}" type="sibTrans" cxnId="{4D2B5C89-6E7F-4EAC-AE6C-804310429D93}">
      <dgm:prSet/>
      <dgm:spPr/>
      <dgm:t>
        <a:bodyPr/>
        <a:lstStyle/>
        <a:p>
          <a:endParaRPr lang="zh-CN" altLang="en-US" b="1"/>
        </a:p>
      </dgm:t>
    </dgm:pt>
    <dgm:pt modelId="{1E19D02C-1A84-451E-82E7-9C7D724B902C}">
      <dgm:prSet phldrT="[文本]"/>
      <dgm:spPr/>
      <dgm:t>
        <a:bodyPr/>
        <a:lstStyle/>
        <a:p>
          <a:r>
            <a:rPr lang="zh-CN" altLang="en-US" b="1" dirty="0">
              <a:latin typeface="+mj-ea"/>
              <a:ea typeface="+mj-ea"/>
            </a:rPr>
            <a:t>查看程序运行结果</a:t>
          </a:r>
        </a:p>
      </dgm:t>
    </dgm:pt>
    <dgm:pt modelId="{84468195-4CE6-441A-8DA0-B17CAB3E1009}" type="parTrans" cxnId="{F97C94F1-1003-475A-8CCC-E9D264A75605}">
      <dgm:prSet/>
      <dgm:spPr/>
      <dgm:t>
        <a:bodyPr/>
        <a:lstStyle/>
        <a:p>
          <a:endParaRPr lang="zh-CN" altLang="en-US" b="1"/>
        </a:p>
      </dgm:t>
    </dgm:pt>
    <dgm:pt modelId="{DF0DB0D3-242D-497B-BB19-CB9D15C15FD9}" type="sibTrans" cxnId="{F97C94F1-1003-475A-8CCC-E9D264A75605}">
      <dgm:prSet/>
      <dgm:spPr/>
      <dgm:t>
        <a:bodyPr/>
        <a:lstStyle/>
        <a:p>
          <a:endParaRPr lang="zh-CN" altLang="en-US" b="1"/>
        </a:p>
      </dgm:t>
    </dgm:pt>
    <dgm:pt modelId="{3F19124D-D57E-4A0F-8881-6491FE465183}">
      <dgm:prSet phldrT="[文本]"/>
      <dgm:spPr/>
      <dgm:t>
        <a:bodyPr/>
        <a:lstStyle/>
        <a:p>
          <a:r>
            <a:rPr lang="zh-CN" altLang="en-US" b="1" dirty="0">
              <a:latin typeface="+mj-ea"/>
              <a:ea typeface="+mj-ea"/>
            </a:rPr>
            <a:t>建立工程</a:t>
          </a:r>
        </a:p>
      </dgm:t>
    </dgm:pt>
    <dgm:pt modelId="{865635B3-E86C-4E3D-9DA0-F1ADBE7BF795}" type="sibTrans" cxnId="{14CF3AED-496E-4A7A-99F0-9CDEEA5FA87B}">
      <dgm:prSet/>
      <dgm:spPr/>
      <dgm:t>
        <a:bodyPr/>
        <a:lstStyle/>
        <a:p>
          <a:endParaRPr lang="zh-CN" altLang="en-US" b="1"/>
        </a:p>
      </dgm:t>
    </dgm:pt>
    <dgm:pt modelId="{5D6C2F90-2B0B-47A0-9F45-7232CA5E9CE2}" type="parTrans" cxnId="{14CF3AED-496E-4A7A-99F0-9CDEEA5FA87B}">
      <dgm:prSet/>
      <dgm:spPr/>
      <dgm:t>
        <a:bodyPr/>
        <a:lstStyle/>
        <a:p>
          <a:endParaRPr lang="zh-CN" altLang="en-US" b="1"/>
        </a:p>
      </dgm:t>
    </dgm:pt>
    <dgm:pt modelId="{9F041DD3-A459-4BEE-8684-D587B3643E75}" type="pres">
      <dgm:prSet presAssocID="{D55F4AD7-7AB1-49DF-8F37-BB1E1B8A5EC5}" presName="diagram" presStyleCnt="0">
        <dgm:presLayoutVars>
          <dgm:dir/>
          <dgm:resizeHandles val="exact"/>
        </dgm:presLayoutVars>
      </dgm:prSet>
      <dgm:spPr/>
    </dgm:pt>
    <dgm:pt modelId="{46BD4EC1-44D8-4257-92A3-A5607C5DDF07}" type="pres">
      <dgm:prSet presAssocID="{3F19124D-D57E-4A0F-8881-6491FE465183}" presName="node" presStyleLbl="node1" presStyleIdx="0" presStyleCnt="7">
        <dgm:presLayoutVars>
          <dgm:bulletEnabled val="1"/>
        </dgm:presLayoutVars>
      </dgm:prSet>
      <dgm:spPr/>
    </dgm:pt>
    <dgm:pt modelId="{077A4CA9-5C9F-4876-A7B1-45F6B9ED7DE8}" type="pres">
      <dgm:prSet presAssocID="{865635B3-E86C-4E3D-9DA0-F1ADBE7BF795}" presName="sibTrans" presStyleLbl="sibTrans2D1" presStyleIdx="0" presStyleCnt="6"/>
      <dgm:spPr/>
    </dgm:pt>
    <dgm:pt modelId="{ADA603E1-6547-4C30-9A97-73249541EC7F}" type="pres">
      <dgm:prSet presAssocID="{865635B3-E86C-4E3D-9DA0-F1ADBE7BF795}" presName="connectorText" presStyleLbl="sibTrans2D1" presStyleIdx="0" presStyleCnt="6"/>
      <dgm:spPr/>
    </dgm:pt>
    <dgm:pt modelId="{0CA8B255-004A-4626-A5F4-D0DAC32CE648}" type="pres">
      <dgm:prSet presAssocID="{07718547-56E4-4663-8BEC-F14392BAF9F4}" presName="node" presStyleLbl="node1" presStyleIdx="1" presStyleCnt="7">
        <dgm:presLayoutVars>
          <dgm:bulletEnabled val="1"/>
        </dgm:presLayoutVars>
      </dgm:prSet>
      <dgm:spPr/>
    </dgm:pt>
    <dgm:pt modelId="{A7F6F851-D7F2-414D-9284-1C6668F8C64A}" type="pres">
      <dgm:prSet presAssocID="{F342D50D-A3EC-49B0-B75E-B7872E108DDE}" presName="sibTrans" presStyleLbl="sibTrans2D1" presStyleIdx="1" presStyleCnt="6"/>
      <dgm:spPr/>
    </dgm:pt>
    <dgm:pt modelId="{C127C8E5-5FF6-44C3-A7D5-653150C8596B}" type="pres">
      <dgm:prSet presAssocID="{F342D50D-A3EC-49B0-B75E-B7872E108DDE}" presName="connectorText" presStyleLbl="sibTrans2D1" presStyleIdx="1" presStyleCnt="6"/>
      <dgm:spPr/>
    </dgm:pt>
    <dgm:pt modelId="{79F7EF67-0646-4F9D-9F10-1F13985A4F87}" type="pres">
      <dgm:prSet presAssocID="{E6598B10-DFDD-4E4D-94D8-118403B36491}" presName="node" presStyleLbl="node1" presStyleIdx="2" presStyleCnt="7">
        <dgm:presLayoutVars>
          <dgm:bulletEnabled val="1"/>
        </dgm:presLayoutVars>
      </dgm:prSet>
      <dgm:spPr/>
    </dgm:pt>
    <dgm:pt modelId="{41325567-1F1D-4382-B610-448DC492EDAA}" type="pres">
      <dgm:prSet presAssocID="{DE790D94-1192-4D88-93EE-215C269042F9}" presName="sibTrans" presStyleLbl="sibTrans2D1" presStyleIdx="2" presStyleCnt="6"/>
      <dgm:spPr/>
    </dgm:pt>
    <dgm:pt modelId="{60FEA274-5F45-4D78-BE4E-5C00476B36C8}" type="pres">
      <dgm:prSet presAssocID="{DE790D94-1192-4D88-93EE-215C269042F9}" presName="connectorText" presStyleLbl="sibTrans2D1" presStyleIdx="2" presStyleCnt="6"/>
      <dgm:spPr/>
    </dgm:pt>
    <dgm:pt modelId="{73A16AEB-62FE-4B19-A520-EDBD3FDA1C8D}" type="pres">
      <dgm:prSet presAssocID="{3D78F417-B9F3-4977-B03D-651367F43BB5}" presName="node" presStyleLbl="node1" presStyleIdx="3" presStyleCnt="7">
        <dgm:presLayoutVars>
          <dgm:bulletEnabled val="1"/>
        </dgm:presLayoutVars>
      </dgm:prSet>
      <dgm:spPr/>
    </dgm:pt>
    <dgm:pt modelId="{D380A920-134E-48E5-A6EC-34AB31977141}" type="pres">
      <dgm:prSet presAssocID="{40A84FA4-F9BF-43AE-BB86-B9ADBCF63AB5}" presName="sibTrans" presStyleLbl="sibTrans2D1" presStyleIdx="3" presStyleCnt="6"/>
      <dgm:spPr/>
    </dgm:pt>
    <dgm:pt modelId="{7B114734-9A24-4713-AF7D-F3A8D1C76E0B}" type="pres">
      <dgm:prSet presAssocID="{40A84FA4-F9BF-43AE-BB86-B9ADBCF63AB5}" presName="connectorText" presStyleLbl="sibTrans2D1" presStyleIdx="3" presStyleCnt="6"/>
      <dgm:spPr/>
    </dgm:pt>
    <dgm:pt modelId="{4E4B8322-AA4A-4885-96DE-1DD11A993666}" type="pres">
      <dgm:prSet presAssocID="{9F963F3B-6BA5-438C-A9B7-5D23A46A4F2A}" presName="node" presStyleLbl="node1" presStyleIdx="4" presStyleCnt="7">
        <dgm:presLayoutVars>
          <dgm:bulletEnabled val="1"/>
        </dgm:presLayoutVars>
      </dgm:prSet>
      <dgm:spPr/>
    </dgm:pt>
    <dgm:pt modelId="{FD64510A-CFBD-4131-8A0F-9030CD6118F6}" type="pres">
      <dgm:prSet presAssocID="{8415CAA7-1307-4D2F-A972-72B8B7076AAE}" presName="sibTrans" presStyleLbl="sibTrans2D1" presStyleIdx="4" presStyleCnt="6"/>
      <dgm:spPr/>
    </dgm:pt>
    <dgm:pt modelId="{9748803F-B8FE-48D1-B6F3-09211CCAE417}" type="pres">
      <dgm:prSet presAssocID="{8415CAA7-1307-4D2F-A972-72B8B7076AAE}" presName="connectorText" presStyleLbl="sibTrans2D1" presStyleIdx="4" presStyleCnt="6"/>
      <dgm:spPr/>
    </dgm:pt>
    <dgm:pt modelId="{7864B772-1D8A-4710-82CD-AC275436A40E}" type="pres">
      <dgm:prSet presAssocID="{D81797F6-E6FC-4910-9D02-02FFCFA42DE0}" presName="node" presStyleLbl="node1" presStyleIdx="5" presStyleCnt="7">
        <dgm:presLayoutVars>
          <dgm:bulletEnabled val="1"/>
        </dgm:presLayoutVars>
      </dgm:prSet>
      <dgm:spPr/>
    </dgm:pt>
    <dgm:pt modelId="{FAF25200-9640-4D11-91E8-205C8E33D247}" type="pres">
      <dgm:prSet presAssocID="{5DDD5500-2599-4200-81CA-C52C1D260F03}" presName="sibTrans" presStyleLbl="sibTrans2D1" presStyleIdx="5" presStyleCnt="6"/>
      <dgm:spPr/>
    </dgm:pt>
    <dgm:pt modelId="{886B58FC-3F9E-495A-9992-F4FF0AA0A945}" type="pres">
      <dgm:prSet presAssocID="{5DDD5500-2599-4200-81CA-C52C1D260F03}" presName="connectorText" presStyleLbl="sibTrans2D1" presStyleIdx="5" presStyleCnt="6"/>
      <dgm:spPr/>
    </dgm:pt>
    <dgm:pt modelId="{B00D81CF-D6D9-4144-903C-2D60CDEE9048}" type="pres">
      <dgm:prSet presAssocID="{1E19D02C-1A84-451E-82E7-9C7D724B902C}" presName="node" presStyleLbl="node1" presStyleIdx="6" presStyleCnt="7">
        <dgm:presLayoutVars>
          <dgm:bulletEnabled val="1"/>
        </dgm:presLayoutVars>
      </dgm:prSet>
      <dgm:spPr/>
    </dgm:pt>
  </dgm:ptLst>
  <dgm:cxnLst>
    <dgm:cxn modelId="{B5B1190C-BEDC-45C9-BEB5-17477D149305}" srcId="{D55F4AD7-7AB1-49DF-8F37-BB1E1B8A5EC5}" destId="{3D78F417-B9F3-4977-B03D-651367F43BB5}" srcOrd="3" destOrd="0" parTransId="{23E593D1-8AB5-45E9-9E20-B4C45726AA57}" sibTransId="{40A84FA4-F9BF-43AE-BB86-B9ADBCF63AB5}"/>
    <dgm:cxn modelId="{7C1AA815-6AB4-4B7D-8D4A-A045537274E4}" srcId="{D55F4AD7-7AB1-49DF-8F37-BB1E1B8A5EC5}" destId="{E6598B10-DFDD-4E4D-94D8-118403B36491}" srcOrd="2" destOrd="0" parTransId="{D066C4D9-C3FD-401F-AB5F-8C67F122AE8E}" sibTransId="{DE790D94-1192-4D88-93EE-215C269042F9}"/>
    <dgm:cxn modelId="{98B08E18-260C-4268-9767-81EC11CBD05E}" type="presOf" srcId="{D55F4AD7-7AB1-49DF-8F37-BB1E1B8A5EC5}" destId="{9F041DD3-A459-4BEE-8684-D587B3643E75}" srcOrd="0" destOrd="0" presId="urn:microsoft.com/office/officeart/2005/8/layout/process5"/>
    <dgm:cxn modelId="{28798D1A-029C-46D2-9F9D-D4B27251428E}" type="presOf" srcId="{9F963F3B-6BA5-438C-A9B7-5D23A46A4F2A}" destId="{4E4B8322-AA4A-4885-96DE-1DD11A993666}" srcOrd="0" destOrd="0" presId="urn:microsoft.com/office/officeart/2005/8/layout/process5"/>
    <dgm:cxn modelId="{B37B4E1F-F133-4116-9333-6855ED7F55A7}" srcId="{D55F4AD7-7AB1-49DF-8F37-BB1E1B8A5EC5}" destId="{07718547-56E4-4663-8BEC-F14392BAF9F4}" srcOrd="1" destOrd="0" parTransId="{55810120-FCA9-4CAB-946E-DC144186496A}" sibTransId="{F342D50D-A3EC-49B0-B75E-B7872E108DDE}"/>
    <dgm:cxn modelId="{CD23BB1F-53D4-4F6D-A578-0F206BD07B3F}" type="presOf" srcId="{DE790D94-1192-4D88-93EE-215C269042F9}" destId="{41325567-1F1D-4382-B610-448DC492EDAA}" srcOrd="0" destOrd="0" presId="urn:microsoft.com/office/officeart/2005/8/layout/process5"/>
    <dgm:cxn modelId="{D3A7A924-B6FF-4B54-9D17-77B500DEA03B}" type="presOf" srcId="{5DDD5500-2599-4200-81CA-C52C1D260F03}" destId="{886B58FC-3F9E-495A-9992-F4FF0AA0A945}" srcOrd="1" destOrd="0" presId="urn:microsoft.com/office/officeart/2005/8/layout/process5"/>
    <dgm:cxn modelId="{76A74C35-6809-43B2-83D0-B2A857B97962}" type="presOf" srcId="{F342D50D-A3EC-49B0-B75E-B7872E108DDE}" destId="{C127C8E5-5FF6-44C3-A7D5-653150C8596B}" srcOrd="1" destOrd="0" presId="urn:microsoft.com/office/officeart/2005/8/layout/process5"/>
    <dgm:cxn modelId="{2A8C723E-5B94-4E4F-9B75-724A99B75F87}" type="presOf" srcId="{E6598B10-DFDD-4E4D-94D8-118403B36491}" destId="{79F7EF67-0646-4F9D-9F10-1F13985A4F87}" srcOrd="0" destOrd="0" presId="urn:microsoft.com/office/officeart/2005/8/layout/process5"/>
    <dgm:cxn modelId="{4B1D1D4B-3F86-475C-A5FF-D2634E3929A9}" type="presOf" srcId="{5DDD5500-2599-4200-81CA-C52C1D260F03}" destId="{FAF25200-9640-4D11-91E8-205C8E33D247}" srcOrd="0" destOrd="0" presId="urn:microsoft.com/office/officeart/2005/8/layout/process5"/>
    <dgm:cxn modelId="{E8A2774D-6E8F-4A8C-BD9C-E5365FE712BD}" type="presOf" srcId="{40A84FA4-F9BF-43AE-BB86-B9ADBCF63AB5}" destId="{7B114734-9A24-4713-AF7D-F3A8D1C76E0B}" srcOrd="1" destOrd="0" presId="urn:microsoft.com/office/officeart/2005/8/layout/process5"/>
    <dgm:cxn modelId="{571A2F81-FADB-4936-8E3A-7225CB10D3BF}" type="presOf" srcId="{8415CAA7-1307-4D2F-A972-72B8B7076AAE}" destId="{9748803F-B8FE-48D1-B6F3-09211CCAE417}" srcOrd="1" destOrd="0" presId="urn:microsoft.com/office/officeart/2005/8/layout/process5"/>
    <dgm:cxn modelId="{4D2B5C89-6E7F-4EAC-AE6C-804310429D93}" srcId="{D55F4AD7-7AB1-49DF-8F37-BB1E1B8A5EC5}" destId="{D81797F6-E6FC-4910-9D02-02FFCFA42DE0}" srcOrd="5" destOrd="0" parTransId="{CAB1C94A-E755-42D1-9428-B85DF9E3819F}" sibTransId="{5DDD5500-2599-4200-81CA-C52C1D260F03}"/>
    <dgm:cxn modelId="{53DFF495-A07C-4B0D-8DAB-37FEA46669EF}" type="presOf" srcId="{1E19D02C-1A84-451E-82E7-9C7D724B902C}" destId="{B00D81CF-D6D9-4144-903C-2D60CDEE9048}" srcOrd="0" destOrd="0" presId="urn:microsoft.com/office/officeart/2005/8/layout/process5"/>
    <dgm:cxn modelId="{A8D20B9B-05D2-4FC6-96D2-6BCBB17BBC3F}" type="presOf" srcId="{DE790D94-1192-4D88-93EE-215C269042F9}" destId="{60FEA274-5F45-4D78-BE4E-5C00476B36C8}" srcOrd="1" destOrd="0" presId="urn:microsoft.com/office/officeart/2005/8/layout/process5"/>
    <dgm:cxn modelId="{AA5DF2AF-6798-4BEC-9ACD-2B9BE2EC4EA1}" type="presOf" srcId="{8415CAA7-1307-4D2F-A972-72B8B7076AAE}" destId="{FD64510A-CFBD-4131-8A0F-9030CD6118F6}" srcOrd="0" destOrd="0" presId="urn:microsoft.com/office/officeart/2005/8/layout/process5"/>
    <dgm:cxn modelId="{C095A9B0-A8A5-4B2C-B6CA-CBFE4DD43F3C}" type="presOf" srcId="{07718547-56E4-4663-8BEC-F14392BAF9F4}" destId="{0CA8B255-004A-4626-A5F4-D0DAC32CE648}" srcOrd="0" destOrd="0" presId="urn:microsoft.com/office/officeart/2005/8/layout/process5"/>
    <dgm:cxn modelId="{315EA3B6-79BF-4059-9DBE-7A48DBC4399B}" type="presOf" srcId="{865635B3-E86C-4E3D-9DA0-F1ADBE7BF795}" destId="{ADA603E1-6547-4C30-9A97-73249541EC7F}" srcOrd="1" destOrd="0" presId="urn:microsoft.com/office/officeart/2005/8/layout/process5"/>
    <dgm:cxn modelId="{5ECB99B9-43F4-4EFE-A03B-0A9E798E493E}" type="presOf" srcId="{40A84FA4-F9BF-43AE-BB86-B9ADBCF63AB5}" destId="{D380A920-134E-48E5-A6EC-34AB31977141}" srcOrd="0" destOrd="0" presId="urn:microsoft.com/office/officeart/2005/8/layout/process5"/>
    <dgm:cxn modelId="{FA5AA2BC-6C23-47BA-AF51-1386B1F75132}" type="presOf" srcId="{3D78F417-B9F3-4977-B03D-651367F43BB5}" destId="{73A16AEB-62FE-4B19-A520-EDBD3FDA1C8D}" srcOrd="0" destOrd="0" presId="urn:microsoft.com/office/officeart/2005/8/layout/process5"/>
    <dgm:cxn modelId="{B6545CC1-22E3-44F0-9070-7BCBF58C72E6}" type="presOf" srcId="{865635B3-E86C-4E3D-9DA0-F1ADBE7BF795}" destId="{077A4CA9-5C9F-4876-A7B1-45F6B9ED7DE8}" srcOrd="0" destOrd="0" presId="urn:microsoft.com/office/officeart/2005/8/layout/process5"/>
    <dgm:cxn modelId="{31C6ECCC-2FD2-4322-9BAC-FA0FB9C7F127}" type="presOf" srcId="{3F19124D-D57E-4A0F-8881-6491FE465183}" destId="{46BD4EC1-44D8-4257-92A3-A5607C5DDF07}" srcOrd="0" destOrd="0" presId="urn:microsoft.com/office/officeart/2005/8/layout/process5"/>
    <dgm:cxn modelId="{A2D6D1E8-CAA1-4E78-9D99-56043DB83967}" type="presOf" srcId="{F342D50D-A3EC-49B0-B75E-B7872E108DDE}" destId="{A7F6F851-D7F2-414D-9284-1C6668F8C64A}" srcOrd="0" destOrd="0" presId="urn:microsoft.com/office/officeart/2005/8/layout/process5"/>
    <dgm:cxn modelId="{14CF3AED-496E-4A7A-99F0-9CDEEA5FA87B}" srcId="{D55F4AD7-7AB1-49DF-8F37-BB1E1B8A5EC5}" destId="{3F19124D-D57E-4A0F-8881-6491FE465183}" srcOrd="0" destOrd="0" parTransId="{5D6C2F90-2B0B-47A0-9F45-7232CA5E9CE2}" sibTransId="{865635B3-E86C-4E3D-9DA0-F1ADBE7BF795}"/>
    <dgm:cxn modelId="{F97C94F1-1003-475A-8CCC-E9D264A75605}" srcId="{D55F4AD7-7AB1-49DF-8F37-BB1E1B8A5EC5}" destId="{1E19D02C-1A84-451E-82E7-9C7D724B902C}" srcOrd="6" destOrd="0" parTransId="{84468195-4CE6-441A-8DA0-B17CAB3E1009}" sibTransId="{DF0DB0D3-242D-497B-BB19-CB9D15C15FD9}"/>
    <dgm:cxn modelId="{78698EF7-7283-49B9-9D1A-B79C51991CEC}" type="presOf" srcId="{D81797F6-E6FC-4910-9D02-02FFCFA42DE0}" destId="{7864B772-1D8A-4710-82CD-AC275436A40E}" srcOrd="0" destOrd="0" presId="urn:microsoft.com/office/officeart/2005/8/layout/process5"/>
    <dgm:cxn modelId="{11EAD7FB-F98D-4CDA-A8BB-C5FB465D392E}" srcId="{D55F4AD7-7AB1-49DF-8F37-BB1E1B8A5EC5}" destId="{9F963F3B-6BA5-438C-A9B7-5D23A46A4F2A}" srcOrd="4" destOrd="0" parTransId="{021ABCF6-F68A-41AC-9DD2-1C80204948A2}" sibTransId="{8415CAA7-1307-4D2F-A972-72B8B7076AAE}"/>
    <dgm:cxn modelId="{BFA36441-6C80-41E0-A934-C0B511A44A7F}" type="presParOf" srcId="{9F041DD3-A459-4BEE-8684-D587B3643E75}" destId="{46BD4EC1-44D8-4257-92A3-A5607C5DDF07}" srcOrd="0" destOrd="0" presId="urn:microsoft.com/office/officeart/2005/8/layout/process5"/>
    <dgm:cxn modelId="{558D9C54-5561-42B9-933A-7EB45CB5AB08}" type="presParOf" srcId="{9F041DD3-A459-4BEE-8684-D587B3643E75}" destId="{077A4CA9-5C9F-4876-A7B1-45F6B9ED7DE8}" srcOrd="1" destOrd="0" presId="urn:microsoft.com/office/officeart/2005/8/layout/process5"/>
    <dgm:cxn modelId="{29F3682F-9816-490F-A2F5-5F1C75D841A3}" type="presParOf" srcId="{077A4CA9-5C9F-4876-A7B1-45F6B9ED7DE8}" destId="{ADA603E1-6547-4C30-9A97-73249541EC7F}" srcOrd="0" destOrd="0" presId="urn:microsoft.com/office/officeart/2005/8/layout/process5"/>
    <dgm:cxn modelId="{25B51D84-9AA7-408D-A963-758E43A6AD16}" type="presParOf" srcId="{9F041DD3-A459-4BEE-8684-D587B3643E75}" destId="{0CA8B255-004A-4626-A5F4-D0DAC32CE648}" srcOrd="2" destOrd="0" presId="urn:microsoft.com/office/officeart/2005/8/layout/process5"/>
    <dgm:cxn modelId="{9798970C-1CE0-4F92-A658-1EBA61D62A93}" type="presParOf" srcId="{9F041DD3-A459-4BEE-8684-D587B3643E75}" destId="{A7F6F851-D7F2-414D-9284-1C6668F8C64A}" srcOrd="3" destOrd="0" presId="urn:microsoft.com/office/officeart/2005/8/layout/process5"/>
    <dgm:cxn modelId="{9EEA439C-89EB-48CD-A99A-7AF225630FDF}" type="presParOf" srcId="{A7F6F851-D7F2-414D-9284-1C6668F8C64A}" destId="{C127C8E5-5FF6-44C3-A7D5-653150C8596B}" srcOrd="0" destOrd="0" presId="urn:microsoft.com/office/officeart/2005/8/layout/process5"/>
    <dgm:cxn modelId="{08E57FBB-8453-4A4F-A3D6-FBC7490F25A0}" type="presParOf" srcId="{9F041DD3-A459-4BEE-8684-D587B3643E75}" destId="{79F7EF67-0646-4F9D-9F10-1F13985A4F87}" srcOrd="4" destOrd="0" presId="urn:microsoft.com/office/officeart/2005/8/layout/process5"/>
    <dgm:cxn modelId="{D8FE154B-DD30-4902-A320-EB97FD0D2880}" type="presParOf" srcId="{9F041DD3-A459-4BEE-8684-D587B3643E75}" destId="{41325567-1F1D-4382-B610-448DC492EDAA}" srcOrd="5" destOrd="0" presId="urn:microsoft.com/office/officeart/2005/8/layout/process5"/>
    <dgm:cxn modelId="{36A73CA5-4553-41E6-A8C1-93995F0740A9}" type="presParOf" srcId="{41325567-1F1D-4382-B610-448DC492EDAA}" destId="{60FEA274-5F45-4D78-BE4E-5C00476B36C8}" srcOrd="0" destOrd="0" presId="urn:microsoft.com/office/officeart/2005/8/layout/process5"/>
    <dgm:cxn modelId="{1C9C83E3-0565-4C23-A3F6-B333BFE0E4FA}" type="presParOf" srcId="{9F041DD3-A459-4BEE-8684-D587B3643E75}" destId="{73A16AEB-62FE-4B19-A520-EDBD3FDA1C8D}" srcOrd="6" destOrd="0" presId="urn:microsoft.com/office/officeart/2005/8/layout/process5"/>
    <dgm:cxn modelId="{61832409-4EA0-40A7-824E-781020C0A9AC}" type="presParOf" srcId="{9F041DD3-A459-4BEE-8684-D587B3643E75}" destId="{D380A920-134E-48E5-A6EC-34AB31977141}" srcOrd="7" destOrd="0" presId="urn:microsoft.com/office/officeart/2005/8/layout/process5"/>
    <dgm:cxn modelId="{9A15523F-FBE7-4753-804E-F157A2693420}" type="presParOf" srcId="{D380A920-134E-48E5-A6EC-34AB31977141}" destId="{7B114734-9A24-4713-AF7D-F3A8D1C76E0B}" srcOrd="0" destOrd="0" presId="urn:microsoft.com/office/officeart/2005/8/layout/process5"/>
    <dgm:cxn modelId="{6E495AA0-63CB-407A-BEE4-F0C9600F3D32}" type="presParOf" srcId="{9F041DD3-A459-4BEE-8684-D587B3643E75}" destId="{4E4B8322-AA4A-4885-96DE-1DD11A993666}" srcOrd="8" destOrd="0" presId="urn:microsoft.com/office/officeart/2005/8/layout/process5"/>
    <dgm:cxn modelId="{D7B3F57F-EA70-4CB9-A0C8-CAD00E0F7ACA}" type="presParOf" srcId="{9F041DD3-A459-4BEE-8684-D587B3643E75}" destId="{FD64510A-CFBD-4131-8A0F-9030CD6118F6}" srcOrd="9" destOrd="0" presId="urn:microsoft.com/office/officeart/2005/8/layout/process5"/>
    <dgm:cxn modelId="{DCCDB718-5E83-4062-B364-4C9932546B6D}" type="presParOf" srcId="{FD64510A-CFBD-4131-8A0F-9030CD6118F6}" destId="{9748803F-B8FE-48D1-B6F3-09211CCAE417}" srcOrd="0" destOrd="0" presId="urn:microsoft.com/office/officeart/2005/8/layout/process5"/>
    <dgm:cxn modelId="{E9911D63-6B63-4642-A07F-3AAE5FA9002B}" type="presParOf" srcId="{9F041DD3-A459-4BEE-8684-D587B3643E75}" destId="{7864B772-1D8A-4710-82CD-AC275436A40E}" srcOrd="10" destOrd="0" presId="urn:microsoft.com/office/officeart/2005/8/layout/process5"/>
    <dgm:cxn modelId="{62142240-18B0-4DB6-99F8-CA1447065242}" type="presParOf" srcId="{9F041DD3-A459-4BEE-8684-D587B3643E75}" destId="{FAF25200-9640-4D11-91E8-205C8E33D247}" srcOrd="11" destOrd="0" presId="urn:microsoft.com/office/officeart/2005/8/layout/process5"/>
    <dgm:cxn modelId="{B4583DE7-4EED-4AA1-ADDD-BCF108F1DA0E}" type="presParOf" srcId="{FAF25200-9640-4D11-91E8-205C8E33D247}" destId="{886B58FC-3F9E-495A-9992-F4FF0AA0A945}" srcOrd="0" destOrd="0" presId="urn:microsoft.com/office/officeart/2005/8/layout/process5"/>
    <dgm:cxn modelId="{784D0D20-97DD-45DB-AC72-9F7CF7E963C3}" type="presParOf" srcId="{9F041DD3-A459-4BEE-8684-D587B3643E75}" destId="{B00D81CF-D6D9-4144-903C-2D60CDEE9048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BD4EC1-44D8-4257-92A3-A5607C5DDF07}">
      <dsp:nvSpPr>
        <dsp:cNvPr id="0" name=""/>
        <dsp:cNvSpPr/>
      </dsp:nvSpPr>
      <dsp:spPr>
        <a:xfrm>
          <a:off x="404286" y="1895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1500000"/>
          </a:lightRig>
        </a:scene3d>
        <a:sp3d extrusionH="127000" prstMaterial="powder">
          <a:bevelT w="50800" h="635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latin typeface="+mj-ea"/>
              <a:ea typeface="+mj-ea"/>
            </a:rPr>
            <a:t>建立工程</a:t>
          </a:r>
        </a:p>
      </dsp:txBody>
      <dsp:txXfrm>
        <a:off x="438253" y="35862"/>
        <a:ext cx="1864915" cy="1091775"/>
      </dsp:txXfrm>
    </dsp:sp>
    <dsp:sp modelId="{077A4CA9-5C9F-4876-A7B1-45F6B9ED7DE8}">
      <dsp:nvSpPr>
        <dsp:cNvPr id="0" name=""/>
        <dsp:cNvSpPr/>
      </dsp:nvSpPr>
      <dsp:spPr>
        <a:xfrm>
          <a:off x="2507226" y="342077"/>
          <a:ext cx="409764" cy="47934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tint val="60000"/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tint val="60000"/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tint val="6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1500000"/>
          </a:lightRig>
        </a:scene3d>
        <a:sp3d extrusionH="127000" prstMaterial="powder">
          <a:bevelT w="50800" h="635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100" b="1" kern="1200"/>
        </a:p>
      </dsp:txBody>
      <dsp:txXfrm>
        <a:off x="2507226" y="437946"/>
        <a:ext cx="286835" cy="287608"/>
      </dsp:txXfrm>
    </dsp:sp>
    <dsp:sp modelId="{0CA8B255-004A-4626-A5F4-D0DAC32CE648}">
      <dsp:nvSpPr>
        <dsp:cNvPr id="0" name=""/>
        <dsp:cNvSpPr/>
      </dsp:nvSpPr>
      <dsp:spPr>
        <a:xfrm>
          <a:off x="3110275" y="1895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1500000"/>
          </a:lightRig>
        </a:scene3d>
        <a:sp3d extrusionH="127000" prstMaterial="powder">
          <a:bevelT w="50800" h="635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latin typeface="+mj-ea"/>
              <a:ea typeface="+mj-ea"/>
            </a:rPr>
            <a:t>创建</a:t>
          </a:r>
          <a:r>
            <a:rPr lang="en-US" altLang="zh-CN" sz="2800" b="1" kern="1200" dirty="0">
              <a:latin typeface="+mj-ea"/>
              <a:ea typeface="+mj-ea"/>
            </a:rPr>
            <a:t>C++</a:t>
          </a:r>
          <a:r>
            <a:rPr lang="zh-CN" altLang="en-US" sz="2800" b="1" kern="1200" dirty="0">
              <a:latin typeface="+mj-ea"/>
              <a:ea typeface="+mj-ea"/>
            </a:rPr>
            <a:t>程序源文件</a:t>
          </a:r>
        </a:p>
      </dsp:txBody>
      <dsp:txXfrm>
        <a:off x="3144242" y="35862"/>
        <a:ext cx="1864915" cy="1091775"/>
      </dsp:txXfrm>
    </dsp:sp>
    <dsp:sp modelId="{A7F6F851-D7F2-414D-9284-1C6668F8C64A}">
      <dsp:nvSpPr>
        <dsp:cNvPr id="0" name=""/>
        <dsp:cNvSpPr/>
      </dsp:nvSpPr>
      <dsp:spPr>
        <a:xfrm>
          <a:off x="5213215" y="342077"/>
          <a:ext cx="409764" cy="47934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tint val="60000"/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tint val="60000"/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tint val="6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1500000"/>
          </a:lightRig>
        </a:scene3d>
        <a:sp3d extrusionH="127000" prstMaterial="powder">
          <a:bevelT w="50800" h="635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100" b="1" kern="1200"/>
        </a:p>
      </dsp:txBody>
      <dsp:txXfrm>
        <a:off x="5213215" y="437946"/>
        <a:ext cx="286835" cy="287608"/>
      </dsp:txXfrm>
    </dsp:sp>
    <dsp:sp modelId="{79F7EF67-0646-4F9D-9F10-1F13985A4F87}">
      <dsp:nvSpPr>
        <dsp:cNvPr id="0" name=""/>
        <dsp:cNvSpPr/>
      </dsp:nvSpPr>
      <dsp:spPr>
        <a:xfrm>
          <a:off x="5816264" y="1895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1500000"/>
          </a:lightRig>
        </a:scene3d>
        <a:sp3d extrusionH="127000" prstMaterial="powder">
          <a:bevelT w="50800" h="635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latin typeface="+mj-ea"/>
              <a:ea typeface="+mj-ea"/>
            </a:rPr>
            <a:t>编辑</a:t>
          </a:r>
          <a:r>
            <a:rPr lang="en-US" altLang="zh-CN" sz="2800" b="1" kern="1200" dirty="0">
              <a:latin typeface="+mj-ea"/>
              <a:ea typeface="+mj-ea"/>
            </a:rPr>
            <a:t>C++</a:t>
          </a:r>
          <a:r>
            <a:rPr lang="zh-CN" altLang="en-US" sz="2800" b="1" kern="1200" dirty="0">
              <a:latin typeface="+mj-ea"/>
              <a:ea typeface="+mj-ea"/>
            </a:rPr>
            <a:t>程序代码</a:t>
          </a:r>
        </a:p>
      </dsp:txBody>
      <dsp:txXfrm>
        <a:off x="5850231" y="35862"/>
        <a:ext cx="1864915" cy="1091775"/>
      </dsp:txXfrm>
    </dsp:sp>
    <dsp:sp modelId="{41325567-1F1D-4382-B610-448DC492EDAA}">
      <dsp:nvSpPr>
        <dsp:cNvPr id="0" name=""/>
        <dsp:cNvSpPr/>
      </dsp:nvSpPr>
      <dsp:spPr>
        <a:xfrm rot="5400000">
          <a:off x="6577807" y="1296904"/>
          <a:ext cx="409764" cy="47934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tint val="60000"/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tint val="60000"/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tint val="6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1500000"/>
          </a:lightRig>
        </a:scene3d>
        <a:sp3d extrusionH="127000" prstMaterial="powder">
          <a:bevelT w="50800" h="635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100" b="1" kern="1200"/>
        </a:p>
      </dsp:txBody>
      <dsp:txXfrm rot="-5400000">
        <a:off x="6638886" y="1331695"/>
        <a:ext cx="287608" cy="286835"/>
      </dsp:txXfrm>
    </dsp:sp>
    <dsp:sp modelId="{73A16AEB-62FE-4B19-A520-EDBD3FDA1C8D}">
      <dsp:nvSpPr>
        <dsp:cNvPr id="0" name=""/>
        <dsp:cNvSpPr/>
      </dsp:nvSpPr>
      <dsp:spPr>
        <a:xfrm>
          <a:off x="5816264" y="1934745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1500000"/>
          </a:lightRig>
        </a:scene3d>
        <a:sp3d extrusionH="127000" prstMaterial="powder">
          <a:bevelT w="50800" h="635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latin typeface="+mj-ea"/>
              <a:ea typeface="+mj-ea"/>
            </a:rPr>
            <a:t>调试</a:t>
          </a:r>
        </a:p>
      </dsp:txBody>
      <dsp:txXfrm>
        <a:off x="5850231" y="1968712"/>
        <a:ext cx="1864915" cy="1091775"/>
      </dsp:txXfrm>
    </dsp:sp>
    <dsp:sp modelId="{D380A920-134E-48E5-A6EC-34AB31977141}">
      <dsp:nvSpPr>
        <dsp:cNvPr id="0" name=""/>
        <dsp:cNvSpPr/>
      </dsp:nvSpPr>
      <dsp:spPr>
        <a:xfrm rot="10800000">
          <a:off x="5236409" y="2274926"/>
          <a:ext cx="409764" cy="47934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tint val="60000"/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tint val="60000"/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tint val="6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1500000"/>
          </a:lightRig>
        </a:scene3d>
        <a:sp3d extrusionH="127000" prstMaterial="powder">
          <a:bevelT w="50800" h="635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100" b="1" kern="1200"/>
        </a:p>
      </dsp:txBody>
      <dsp:txXfrm rot="10800000">
        <a:off x="5359338" y="2370795"/>
        <a:ext cx="286835" cy="287608"/>
      </dsp:txXfrm>
    </dsp:sp>
    <dsp:sp modelId="{4E4B8322-AA4A-4885-96DE-1DD11A993666}">
      <dsp:nvSpPr>
        <dsp:cNvPr id="0" name=""/>
        <dsp:cNvSpPr/>
      </dsp:nvSpPr>
      <dsp:spPr>
        <a:xfrm>
          <a:off x="3110275" y="1934745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1500000"/>
          </a:lightRig>
        </a:scene3d>
        <a:sp3d extrusionH="127000" prstMaterial="powder">
          <a:bevelT w="50800" h="635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latin typeface="+mj-ea"/>
              <a:ea typeface="+mj-ea"/>
            </a:rPr>
            <a:t>编译</a:t>
          </a:r>
        </a:p>
      </dsp:txBody>
      <dsp:txXfrm>
        <a:off x="3144242" y="1968712"/>
        <a:ext cx="1864915" cy="1091775"/>
      </dsp:txXfrm>
    </dsp:sp>
    <dsp:sp modelId="{FD64510A-CFBD-4131-8A0F-9030CD6118F6}">
      <dsp:nvSpPr>
        <dsp:cNvPr id="0" name=""/>
        <dsp:cNvSpPr/>
      </dsp:nvSpPr>
      <dsp:spPr>
        <a:xfrm rot="10800000">
          <a:off x="2530420" y="2274926"/>
          <a:ext cx="409764" cy="47934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tint val="60000"/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tint val="60000"/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tint val="6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1500000"/>
          </a:lightRig>
        </a:scene3d>
        <a:sp3d extrusionH="127000" prstMaterial="powder">
          <a:bevelT w="50800" h="635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100" b="1" kern="1200"/>
        </a:p>
      </dsp:txBody>
      <dsp:txXfrm rot="10800000">
        <a:off x="2653349" y="2370795"/>
        <a:ext cx="286835" cy="287608"/>
      </dsp:txXfrm>
    </dsp:sp>
    <dsp:sp modelId="{7864B772-1D8A-4710-82CD-AC275436A40E}">
      <dsp:nvSpPr>
        <dsp:cNvPr id="0" name=""/>
        <dsp:cNvSpPr/>
      </dsp:nvSpPr>
      <dsp:spPr>
        <a:xfrm>
          <a:off x="404286" y="1934745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1500000"/>
          </a:lightRig>
        </a:scene3d>
        <a:sp3d extrusionH="127000" prstMaterial="powder">
          <a:bevelT w="50800" h="635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latin typeface="黑体" pitchFamily="49" charset="-122"/>
              <a:ea typeface="黑体" pitchFamily="49" charset="-122"/>
            </a:rPr>
            <a:t>链接</a:t>
          </a:r>
        </a:p>
      </dsp:txBody>
      <dsp:txXfrm>
        <a:off x="438253" y="1968712"/>
        <a:ext cx="1864915" cy="1091775"/>
      </dsp:txXfrm>
    </dsp:sp>
    <dsp:sp modelId="{FAF25200-9640-4D11-91E8-205C8E33D247}">
      <dsp:nvSpPr>
        <dsp:cNvPr id="0" name=""/>
        <dsp:cNvSpPr/>
      </dsp:nvSpPr>
      <dsp:spPr>
        <a:xfrm rot="5400000">
          <a:off x="1165828" y="3229754"/>
          <a:ext cx="409764" cy="47934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tint val="60000"/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tint val="60000"/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tint val="60000"/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tint val="60000"/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1500000"/>
          </a:lightRig>
        </a:scene3d>
        <a:sp3d extrusionH="127000" prstMaterial="powder">
          <a:bevelT w="50800" h="635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100" b="1" kern="1200"/>
        </a:p>
      </dsp:txBody>
      <dsp:txXfrm rot="-5400000">
        <a:off x="1226907" y="3264545"/>
        <a:ext cx="287608" cy="286835"/>
      </dsp:txXfrm>
    </dsp:sp>
    <dsp:sp modelId="{B00D81CF-D6D9-4144-903C-2D60CDEE9048}">
      <dsp:nvSpPr>
        <dsp:cNvPr id="0" name=""/>
        <dsp:cNvSpPr/>
      </dsp:nvSpPr>
      <dsp:spPr>
        <a:xfrm>
          <a:off x="404286" y="3867594"/>
          <a:ext cx="1932849" cy="11597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4000"/>
              </a:schemeClr>
            </a:gs>
            <a:gs pos="49000">
              <a:schemeClr val="accent1">
                <a:hueOff val="0"/>
                <a:satOff val="0"/>
                <a:lumOff val="0"/>
                <a:alphaOff val="0"/>
                <a:tint val="96000"/>
                <a:shade val="84000"/>
                <a:satMod val="110000"/>
              </a:schemeClr>
            </a:gs>
            <a:gs pos="49100">
              <a:schemeClr val="accent1">
                <a:hueOff val="0"/>
                <a:satOff val="0"/>
                <a:lumOff val="0"/>
                <a:alphaOff val="0"/>
                <a:shade val="55000"/>
                <a:satMod val="150000"/>
              </a:schemeClr>
            </a:gs>
            <a:gs pos="92000">
              <a:schemeClr val="accent1">
                <a:hueOff val="0"/>
                <a:satOff val="0"/>
                <a:lumOff val="0"/>
                <a:alphaOff val="0"/>
                <a:tint val="98000"/>
                <a:shade val="90000"/>
                <a:sat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  <a:shade val="97000"/>
                <a:satMod val="128000"/>
              </a:schemeClr>
            </a:gs>
          </a:gsLst>
          <a:lin ang="5400000" scaled="1"/>
        </a:gradFill>
        <a:ln>
          <a:noFill/>
        </a:ln>
        <a:effectLst>
          <a:outerShdw blurRad="39000" dist="25400" dir="5400000" rotWithShape="0">
            <a:schemeClr val="accent1">
              <a:hueOff val="0"/>
              <a:satOff val="0"/>
              <a:lumOff val="0"/>
              <a:alphaOff val="0"/>
              <a:shade val="33000"/>
              <a:alpha val="83000"/>
            </a:schemeClr>
          </a:outerShdw>
        </a:effectLst>
        <a:scene3d>
          <a:camera prst="orthographicFront" fov="0">
            <a:rot lat="0" lon="0" rev="0"/>
          </a:camera>
          <a:lightRig rig="contrasting" dir="t">
            <a:rot lat="0" lon="0" rev="1500000"/>
          </a:lightRig>
        </a:scene3d>
        <a:sp3d extrusionH="127000" prstMaterial="powder">
          <a:bevelT w="50800" h="635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latin typeface="+mj-ea"/>
              <a:ea typeface="+mj-ea"/>
            </a:rPr>
            <a:t>查看程序运行结果</a:t>
          </a:r>
        </a:p>
      </dsp:txBody>
      <dsp:txXfrm>
        <a:off x="438253" y="3901561"/>
        <a:ext cx="1864915" cy="10917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3414C-E768-433E-9E49-35DC739DB100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241756-2904-47A3-AAA4-507860646FF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字面常量属于</a:t>
            </a:r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解释一下为什么以</a:t>
            </a:r>
            <a:r>
              <a:rPr lang="en-US" altLang="zh-CN" dirty="0"/>
              <a:t>2</a:t>
            </a:r>
            <a:r>
              <a:rPr lang="en-US" altLang="zh-CN" baseline="30000" dirty="0"/>
              <a:t>10</a:t>
            </a:r>
            <a:r>
              <a:rPr lang="en-US" altLang="zh-CN" dirty="0"/>
              <a:t>-1</a:t>
            </a:r>
            <a:r>
              <a:rPr lang="zh-CN" altLang="en-US" dirty="0"/>
              <a:t>为移位基准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试一下</a:t>
            </a:r>
            <a:r>
              <a:rPr lang="en-US" altLang="zh-CN" dirty="0"/>
              <a:t>P41</a:t>
            </a:r>
            <a:r>
              <a:rPr lang="zh-CN" altLang="en-US" dirty="0"/>
              <a:t>页的程序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提问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2023/9/27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c/</a:t>
            </a:r>
            <a:r>
              <a:rPr lang="en-US" altLang="zh-CN" dirty="0" err="1"/>
              <a:t>c++</a:t>
            </a:r>
            <a:r>
              <a:rPr lang="zh-CN" altLang="en-US" dirty="0"/>
              <a:t>程序设计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C/C++</a:t>
            </a:r>
            <a:r>
              <a:rPr lang="zh-CN" altLang="en-US" dirty="0"/>
              <a:t>语言初步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-71462"/>
            <a:ext cx="7239000" cy="1143000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程序组成</a:t>
            </a:r>
            <a:endParaRPr lang="en-US" altLang="zh-CN" dirty="0"/>
          </a:p>
        </p:txBody>
      </p:sp>
      <p:sp>
        <p:nvSpPr>
          <p:cNvPr id="48131" name="AutoShape 3"/>
          <p:cNvSpPr>
            <a:spLocks noChangeArrowheads="1"/>
          </p:cNvSpPr>
          <p:nvPr/>
        </p:nvSpPr>
        <p:spPr bwMode="auto">
          <a:xfrm>
            <a:off x="457200" y="1643050"/>
            <a:ext cx="5715000" cy="4495800"/>
          </a:xfrm>
          <a:prstGeom prst="rightArrow">
            <a:avLst>
              <a:gd name="adj1" fmla="val 79306"/>
              <a:gd name="adj2" fmla="val 31485"/>
            </a:avLst>
          </a:prstGeom>
          <a:gradFill rotWithShape="1">
            <a:gsLst>
              <a:gs pos="0">
                <a:schemeClr val="bg2">
                  <a:alpha val="14999"/>
                </a:schemeClr>
              </a:gs>
              <a:gs pos="100000">
                <a:schemeClr val="bg2">
                  <a:gamma/>
                  <a:tint val="57647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2" name="AutoShape 4"/>
          <p:cNvSpPr>
            <a:spLocks noChangeArrowheads="1"/>
          </p:cNvSpPr>
          <p:nvPr/>
        </p:nvSpPr>
        <p:spPr bwMode="gray">
          <a:xfrm>
            <a:off x="838200" y="2252650"/>
            <a:ext cx="4038600" cy="9906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32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字符序列</a:t>
            </a:r>
            <a:endParaRPr lang="en-US" altLang="zh-CN" sz="3200" b="1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8133" name="AutoShape 5"/>
          <p:cNvSpPr>
            <a:spLocks noChangeArrowheads="1"/>
          </p:cNvSpPr>
          <p:nvPr/>
        </p:nvSpPr>
        <p:spPr bwMode="gray">
          <a:xfrm>
            <a:off x="838200" y="3395650"/>
            <a:ext cx="4038600" cy="9906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699D5F"/>
              </a:gs>
              <a:gs pos="100000">
                <a:srgbClr val="699D5F">
                  <a:gamma/>
                  <a:shade val="46275"/>
                  <a:invGamma/>
                </a:srgbClr>
              </a:gs>
            </a:gsLst>
            <a:lin ang="5400000" scaled="1"/>
          </a:gra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lvl="1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关键字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+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标识符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+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字面常量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lvl="1"/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+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运算符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+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分隔符</a:t>
            </a:r>
            <a:endParaRPr lang="en-US" altLang="zh-CN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8134" name="AutoShape 6"/>
          <p:cNvSpPr>
            <a:spLocks noChangeArrowheads="1"/>
          </p:cNvSpPr>
          <p:nvPr/>
        </p:nvSpPr>
        <p:spPr bwMode="gray">
          <a:xfrm>
            <a:off x="838200" y="4538650"/>
            <a:ext cx="4038600" cy="9906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lvl="1"/>
            <a:r>
              <a:rPr lang="zh-CN" altLang="en-US" sz="2800" dirty="0">
                <a:solidFill>
                  <a:schemeClr val="bg1"/>
                </a:solidFill>
              </a:rPr>
              <a:t>          </a:t>
            </a:r>
            <a:r>
              <a:rPr lang="zh-CN" altLang="en-US" sz="3200" b="1" dirty="0">
                <a:solidFill>
                  <a:schemeClr val="bg1"/>
                </a:solidFill>
                <a:latin typeface="+mj-ea"/>
                <a:ea typeface="+mj-ea"/>
              </a:rPr>
              <a:t> 语句</a:t>
            </a:r>
            <a:endParaRPr lang="en-US" altLang="zh-CN" sz="3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8135" name="AutoShape 7"/>
          <p:cNvSpPr>
            <a:spLocks noChangeArrowheads="1"/>
          </p:cNvSpPr>
          <p:nvPr/>
        </p:nvSpPr>
        <p:spPr bwMode="auto">
          <a:xfrm>
            <a:off x="5943600" y="3167050"/>
            <a:ext cx="2514600" cy="1295400"/>
          </a:xfrm>
          <a:prstGeom prst="roundRect">
            <a:avLst>
              <a:gd name="adj" fmla="val 9106"/>
            </a:avLst>
          </a:prstGeom>
          <a:noFill/>
          <a:ln w="25400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C++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程序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7239000" cy="1143000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程序组成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6000"/>
            <a:ext cx="8229600" cy="528630"/>
          </a:xfrm>
        </p:spPr>
        <p:txBody>
          <a:bodyPr/>
          <a:lstStyle/>
          <a:p>
            <a:r>
              <a:rPr lang="zh-CN" altLang="en-US" sz="2800" b="1" dirty="0">
                <a:latin typeface="+mj-ea"/>
                <a:ea typeface="+mj-ea"/>
              </a:rPr>
              <a:t>字符序列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35696" y="1988840"/>
            <a:ext cx="59595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#include&lt;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a,b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&lt;&lt;"a=";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&gt;&gt;a;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&lt;&lt;"b=";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&gt;&gt;b;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c = 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a+b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a+b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="&lt;&lt;c&lt;&lt;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3512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-142892"/>
            <a:ext cx="7239000" cy="1143000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程序组成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124744"/>
            <a:ext cx="8229600" cy="528630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关键字</a:t>
            </a:r>
            <a:r>
              <a:rPr lang="en-US" altLang="zh-CN" sz="2800" b="1" dirty="0">
                <a:latin typeface="+mj-ea"/>
                <a:ea typeface="+mj-ea"/>
              </a:rPr>
              <a:t>+</a:t>
            </a:r>
            <a:r>
              <a:rPr lang="zh-CN" altLang="en-US" sz="2800" b="1" kern="1200" dirty="0">
                <a:solidFill>
                  <a:schemeClr val="tx1"/>
                </a:solidFill>
                <a:latin typeface="+mj-ea"/>
                <a:ea typeface="+mj-ea"/>
                <a:cs typeface="Courier New" pitchFamily="49" charset="0"/>
              </a:rPr>
              <a:t>标识符</a:t>
            </a:r>
            <a:r>
              <a:rPr lang="en-US" altLang="zh-CN" sz="2800" b="1" dirty="0">
                <a:latin typeface="+mj-ea"/>
                <a:ea typeface="+mj-ea"/>
              </a:rPr>
              <a:t>+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字面常量</a:t>
            </a:r>
            <a:r>
              <a:rPr lang="en-US" altLang="zh-CN" sz="2800" b="1" dirty="0">
                <a:latin typeface="+mj-ea"/>
                <a:ea typeface="+mj-ea"/>
              </a:rPr>
              <a:t>+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运算符</a:t>
            </a:r>
            <a:r>
              <a:rPr lang="en-US" altLang="zh-CN" sz="2800" b="1" dirty="0">
                <a:latin typeface="+mj-ea"/>
                <a:ea typeface="+mj-ea"/>
              </a:rPr>
              <a:t>+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分隔符</a:t>
            </a:r>
            <a:endParaRPr lang="zh-CN" altLang="en-US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19672" y="1640989"/>
            <a:ext cx="552751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main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"a="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&gt;&gt;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"b="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&gt;&gt;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b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c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altLang="zh-CN" sz="2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a+b</a:t>
            </a:r>
            <a:r>
              <a:rPr lang="en-US" altLang="zh-CN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>
                <a:latin typeface="Courier New" pitchFamily="49" charset="0"/>
                <a:cs typeface="Courier New" pitchFamily="49" charset="0"/>
              </a:rPr>
              <a:t>c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0984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7239000" cy="666304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程序组成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28630"/>
          </a:xfrm>
        </p:spPr>
        <p:txBody>
          <a:bodyPr/>
          <a:lstStyle/>
          <a:p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99592" y="1124744"/>
            <a:ext cx="756084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#include&lt;</a:t>
            </a:r>
            <a:r>
              <a:rPr lang="en-US" altLang="zh-CN" sz="2800" b="1" dirty="0" err="1">
                <a:latin typeface="+mj-ea"/>
                <a:ea typeface="+mj-ea"/>
                <a:cs typeface="Courier New" pitchFamily="49" charset="0"/>
              </a:rPr>
              <a:t>iostream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&gt;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预处理命令语句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using namespace </a:t>
            </a:r>
            <a:r>
              <a:rPr lang="en-US" altLang="zh-CN" sz="2800" b="1" dirty="0" err="1">
                <a:latin typeface="+mj-ea"/>
                <a:ea typeface="+mj-ea"/>
                <a:cs typeface="Courier New" pitchFamily="49" charset="0"/>
              </a:rPr>
              <a:t>std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;</a:t>
            </a:r>
          </a:p>
          <a:p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void main()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函数定义语句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{</a:t>
            </a:r>
          </a:p>
          <a:p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 err="1">
                <a:latin typeface="+mj-ea"/>
                <a:ea typeface="+mj-ea"/>
                <a:cs typeface="Courier New" pitchFamily="49" charset="0"/>
              </a:rPr>
              <a:t>a,b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声明语句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&lt;&lt;“a=”;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输出语句</a:t>
            </a:r>
            <a:endParaRPr lang="en-US" altLang="zh-CN" sz="2800" b="1" dirty="0">
              <a:latin typeface="+mj-ea"/>
              <a:ea typeface="+mj-ea"/>
              <a:cs typeface="Courier New" pitchFamily="49" charset="0"/>
            </a:endParaRPr>
          </a:p>
          <a:p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+mj-ea"/>
                <a:ea typeface="+mj-ea"/>
                <a:cs typeface="Courier New" pitchFamily="49" charset="0"/>
              </a:rPr>
              <a:t>cin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&gt;&gt;a;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输入语句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&lt;&lt;“b=”;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输出语句</a:t>
            </a:r>
            <a:endParaRPr lang="en-US" altLang="zh-CN" sz="2800" b="1" dirty="0">
              <a:latin typeface="+mj-ea"/>
              <a:ea typeface="+mj-ea"/>
              <a:cs typeface="Courier New" pitchFamily="49" charset="0"/>
            </a:endParaRPr>
          </a:p>
          <a:p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+mj-ea"/>
                <a:ea typeface="+mj-ea"/>
                <a:cs typeface="Courier New" pitchFamily="49" charset="0"/>
              </a:rPr>
              <a:t>cin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&gt;&gt;b;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输入语句</a:t>
            </a:r>
            <a:endParaRPr lang="en-US" altLang="zh-CN" sz="2800" b="1" dirty="0">
              <a:latin typeface="+mj-ea"/>
              <a:ea typeface="+mj-ea"/>
              <a:cs typeface="Courier New" pitchFamily="49" charset="0"/>
            </a:endParaRPr>
          </a:p>
          <a:p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 c = </a:t>
            </a:r>
            <a:r>
              <a:rPr lang="en-US" altLang="zh-CN" sz="2800" b="1" dirty="0" err="1">
                <a:latin typeface="+mj-ea"/>
                <a:ea typeface="+mj-ea"/>
                <a:cs typeface="Courier New" pitchFamily="49" charset="0"/>
              </a:rPr>
              <a:t>a+b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声明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+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赋值语句</a:t>
            </a:r>
            <a:endParaRPr lang="en-US" altLang="zh-CN" sz="2800" b="1" dirty="0">
              <a:latin typeface="+mj-ea"/>
              <a:ea typeface="+mj-ea"/>
              <a:cs typeface="Courier New" pitchFamily="49" charset="0"/>
            </a:endParaRPr>
          </a:p>
          <a:p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	</a:t>
            </a:r>
            <a:r>
              <a:rPr lang="en-US" altLang="zh-CN" sz="2800" b="1" dirty="0" err="1"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&lt;&lt;"</a:t>
            </a:r>
            <a:r>
              <a:rPr lang="en-US" altLang="zh-CN" sz="2800" b="1" dirty="0" err="1">
                <a:latin typeface="+mj-ea"/>
                <a:ea typeface="+mj-ea"/>
                <a:cs typeface="Courier New" pitchFamily="49" charset="0"/>
              </a:rPr>
              <a:t>a+b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="&lt;&lt;c&lt;&lt;</a:t>
            </a:r>
            <a:r>
              <a:rPr lang="en-US" altLang="zh-CN" sz="2800" b="1" dirty="0" err="1">
                <a:latin typeface="+mj-ea"/>
                <a:ea typeface="+mj-ea"/>
                <a:cs typeface="Courier New" pitchFamily="49" charset="0"/>
              </a:rPr>
              <a:t>endl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 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输出语句</a:t>
            </a:r>
            <a:endParaRPr lang="en-US" altLang="zh-CN" sz="2800" b="1" dirty="0">
              <a:latin typeface="+mj-ea"/>
              <a:ea typeface="+mj-ea"/>
              <a:cs typeface="Courier New" pitchFamily="49" charset="0"/>
            </a:endParaRPr>
          </a:p>
          <a:p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}</a:t>
            </a:r>
            <a:endParaRPr lang="zh-CN" altLang="en-US" sz="2800" b="1" dirty="0">
              <a:latin typeface="+mj-ea"/>
              <a:ea typeface="+mj-ea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07832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239000" cy="1143000"/>
          </a:xfrm>
        </p:spPr>
        <p:txBody>
          <a:bodyPr/>
          <a:lstStyle/>
          <a:p>
            <a:r>
              <a:rPr lang="zh-CN" altLang="en-US" dirty="0"/>
              <a:t>初识</a:t>
            </a:r>
            <a:r>
              <a:rPr lang="en-US" altLang="zh-CN" dirty="0"/>
              <a:t>C++</a:t>
            </a:r>
            <a:r>
              <a:rPr lang="zh-CN" altLang="en-US" dirty="0"/>
              <a:t>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600068"/>
          </a:xfrm>
        </p:spPr>
        <p:txBody>
          <a:bodyPr/>
          <a:lstStyle/>
          <a:p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2.1】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最简单的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C++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程序</a:t>
            </a:r>
            <a:endParaRPr lang="zh-CN" altLang="en-US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36260" y="2049370"/>
            <a:ext cx="80648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&lt;&lt;"This is a C++ Program."&lt;&lt;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90711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72008"/>
            <a:ext cx="7239000" cy="692696"/>
          </a:xfrm>
        </p:spPr>
        <p:txBody>
          <a:bodyPr>
            <a:normAutofit/>
          </a:bodyPr>
          <a:lstStyle/>
          <a:p>
            <a:r>
              <a:rPr lang="zh-CN" altLang="en-US" dirty="0"/>
              <a:t>初识</a:t>
            </a:r>
            <a:r>
              <a:rPr lang="en-US" altLang="zh-CN" dirty="0"/>
              <a:t>C++</a:t>
            </a:r>
            <a:r>
              <a:rPr lang="zh-CN" altLang="en-US" dirty="0"/>
              <a:t>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7376" y="722970"/>
            <a:ext cx="7239000" cy="558635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注释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4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//</a:t>
            </a:r>
          </a:p>
          <a:p>
            <a:pPr lvl="1">
              <a:lnSpc>
                <a:spcPct val="14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/*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*/</a:t>
            </a:r>
          </a:p>
          <a:p>
            <a:pPr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文件嵌入命令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4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#include</a:t>
            </a:r>
          </a:p>
          <a:p>
            <a:pPr lvl="1">
              <a:lnSpc>
                <a:spcPct val="14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将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内指定的文件嵌入到命令所在位置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主函数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4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void main(){ }</a:t>
            </a:r>
          </a:p>
          <a:p>
            <a:pPr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输出语句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40000"/>
              </a:lnSpc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cout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标准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输出流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对象</a:t>
            </a:r>
          </a:p>
          <a:p>
            <a:pPr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7</a:t>
            </a:fld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7239000" cy="1143000"/>
          </a:xfrm>
        </p:spPr>
        <p:txBody>
          <a:bodyPr/>
          <a:lstStyle/>
          <a:p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71546"/>
            <a:ext cx="7239000" cy="484632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2800" b="1" dirty="0">
                <a:latin typeface="+mj-ea"/>
                <a:ea typeface="+mj-ea"/>
              </a:rPr>
              <a:t>标准输出语句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spcBef>
                <a:spcPts val="0"/>
              </a:spcBef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cout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spcBef>
                <a:spcPts val="0"/>
              </a:spcBef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&lt;&lt;</a:t>
            </a:r>
          </a:p>
          <a:p>
            <a:pPr lvl="1">
              <a:spcBef>
                <a:spcPts val="0"/>
              </a:spcBef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endl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spcBef>
                <a:spcPts val="600"/>
              </a:spcBef>
            </a:pPr>
            <a:r>
              <a:rPr lang="zh-CN" altLang="en-US" sz="2800" b="1" dirty="0">
                <a:latin typeface="+mj-ea"/>
                <a:ea typeface="+mj-ea"/>
              </a:rPr>
              <a:t>标准输入语句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spcBef>
                <a:spcPts val="600"/>
              </a:spcBef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cin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spcBef>
                <a:spcPts val="600"/>
              </a:spcBef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&gt;&gt;</a:t>
            </a:r>
          </a:p>
          <a:p>
            <a:pPr>
              <a:spcBef>
                <a:spcPts val="600"/>
              </a:spcBef>
            </a:pPr>
            <a:r>
              <a:rPr lang="zh-CN" altLang="en-US" sz="2800" b="1" dirty="0">
                <a:latin typeface="+mj-ea"/>
                <a:ea typeface="+mj-ea"/>
              </a:rPr>
              <a:t>标准流类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spcBef>
                <a:spcPts val="600"/>
              </a:spcBef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iostream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文件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spcBef>
                <a:spcPts val="600"/>
              </a:spcBef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标准流类对象：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cout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cin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cerr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8</a:t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34" y="-142892"/>
            <a:ext cx="7239000" cy="1143000"/>
          </a:xfrm>
        </p:spPr>
        <p:txBody>
          <a:bodyPr/>
          <a:lstStyle/>
          <a:p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1052736"/>
            <a:ext cx="8678768" cy="554461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C</a:t>
            </a:r>
            <a:r>
              <a:rPr lang="zh-CN" altLang="en-US" sz="3200" b="1" dirty="0">
                <a:latin typeface="+mj-ea"/>
                <a:ea typeface="+mj-ea"/>
              </a:rPr>
              <a:t>语言的输入输出函数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头文件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stdio.h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标准输入函数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scanf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en-US" altLang="zh-CN" sz="2800" b="1" dirty="0" err="1">
                <a:latin typeface="+mj-ea"/>
                <a:ea typeface="+mj-ea"/>
              </a:rPr>
              <a:t>scanf</a:t>
            </a:r>
            <a:r>
              <a:rPr lang="en-US" altLang="zh-CN" sz="2800" b="1" dirty="0">
                <a:latin typeface="+mj-ea"/>
                <a:ea typeface="+mj-ea"/>
              </a:rPr>
              <a:t>(“%</a:t>
            </a:r>
            <a:r>
              <a:rPr lang="en-US" altLang="zh-CN" sz="2800" b="1" dirty="0" err="1">
                <a:latin typeface="+mj-ea"/>
                <a:ea typeface="+mj-ea"/>
              </a:rPr>
              <a:t>d”,&amp;a</a:t>
            </a:r>
            <a:r>
              <a:rPr lang="en-US" altLang="zh-CN" sz="2800" b="1" dirty="0">
                <a:latin typeface="+mj-ea"/>
                <a:ea typeface="+mj-ea"/>
              </a:rPr>
              <a:t>);</a:t>
            </a:r>
          </a:p>
          <a:p>
            <a:pPr lvl="2">
              <a:lnSpc>
                <a:spcPct val="130000"/>
              </a:lnSpc>
            </a:pPr>
            <a:r>
              <a:rPr lang="en-US" altLang="zh-CN" sz="2800" b="1" dirty="0" err="1">
                <a:latin typeface="+mj-ea"/>
                <a:ea typeface="+mj-ea"/>
              </a:rPr>
              <a:t>cin</a:t>
            </a:r>
            <a:r>
              <a:rPr lang="en-US" altLang="zh-CN" sz="2800" b="1" dirty="0">
                <a:latin typeface="+mj-ea"/>
                <a:ea typeface="+mj-ea"/>
              </a:rPr>
              <a:t>&gt;&gt;a;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标准输出函数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printf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en-US" altLang="zh-CN" sz="2400" b="1" dirty="0" err="1">
                <a:solidFill>
                  <a:srgbClr val="C00000"/>
                </a:solidFill>
                <a:latin typeface="+mj-ea"/>
                <a:ea typeface="+mj-ea"/>
              </a:rPr>
              <a:t>printf</a:t>
            </a:r>
            <a:r>
              <a:rPr lang="en-US" altLang="zh-CN" sz="2400" b="1" dirty="0">
                <a:latin typeface="+mj-ea"/>
                <a:ea typeface="+mj-ea"/>
              </a:rPr>
              <a:t>(“Let’s learn to write a C++ program.”);</a:t>
            </a:r>
          </a:p>
          <a:p>
            <a:pPr lvl="2">
              <a:lnSpc>
                <a:spcPct val="130000"/>
              </a:lnSpc>
            </a:pPr>
            <a:r>
              <a:rPr lang="en-US" altLang="zh-CN" sz="2400" b="1" dirty="0" err="1">
                <a:solidFill>
                  <a:srgbClr val="7030A0"/>
                </a:solidFill>
                <a:latin typeface="+mj-ea"/>
                <a:ea typeface="+mj-ea"/>
              </a:rPr>
              <a:t>cout</a:t>
            </a:r>
            <a:r>
              <a:rPr lang="en-US" altLang="zh-CN" sz="2400" b="1" dirty="0">
                <a:latin typeface="+mj-ea"/>
                <a:ea typeface="+mj-ea"/>
              </a:rPr>
              <a:t>&lt;&lt; “Let’s learn to write a C++ program.”;</a:t>
            </a:r>
            <a:endParaRPr lang="zh-CN" altLang="en-US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9</a:t>
            </a:fld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-285776"/>
            <a:ext cx="7239000" cy="1143000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97258"/>
            <a:ext cx="7239000" cy="4846320"/>
          </a:xfrm>
        </p:spPr>
        <p:txBody>
          <a:bodyPr/>
          <a:lstStyle/>
          <a:p>
            <a:pPr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name[20];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&lt;&lt;"What's your name?"&lt;&lt;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&gt;&gt;name;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&lt;&lt;"Welcome "&lt;&lt;name&lt;&lt;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pic>
        <p:nvPicPr>
          <p:cNvPr id="6" name="图片 5" descr="输入名字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7664" y="4797152"/>
            <a:ext cx="6038096" cy="167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69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844" y="285728"/>
            <a:ext cx="8224838" cy="6429420"/>
          </a:xfrm>
        </p:spPr>
        <p:txBody>
          <a:bodyPr>
            <a:normAutofit fontScale="92500"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【</a:t>
            </a: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altLang="zh-CN" dirty="0">
                <a:solidFill>
                  <a:srgbClr val="C00000"/>
                </a:solidFill>
              </a:rPr>
              <a:t>2.3】</a:t>
            </a:r>
            <a:r>
              <a:rPr lang="zh-CN" altLang="en-US" dirty="0">
                <a:solidFill>
                  <a:srgbClr val="C00000"/>
                </a:solidFill>
              </a:rPr>
              <a:t>输出本学期的课程表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iomanip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                                    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课程表                                  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&lt;&lt;"============================================================================"&lt;&lt;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cout.setf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::left);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时间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星期一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星期二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星期三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星期四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星期五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&lt;&lt;"----------------------------------------------------------------------------"&lt;&lt;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(10)&lt;&lt;"8:00"&lt;&lt;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高等数学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高等数学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线性代数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&lt;&lt;"----------------------------------------------------------------------------"&lt;&lt;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(10)&lt;&lt;"10:00"&lt;&lt;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政治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线性代数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习题课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英语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&lt;&lt;"----------------------------------------------------------------------------"&lt;&lt;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(10)&lt;&lt;"14:00"&lt;&lt;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体育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英语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习题课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&lt;&lt;"----------------------------------------------------------------------------"&lt;&lt;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(10)&lt;&lt;"16:00"&lt;&lt;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实验课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&lt;&lt;"----------------------------------------------------------------------------"&lt;&lt;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(10)&lt;&lt;"18:30"&lt;&lt;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</a:t>
            </a:r>
            <a:r>
              <a:rPr lang="zh-CN" altLang="en-US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实验课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(15)&lt;&lt;""&lt;&lt;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	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&lt;&lt;"============================================================================"&lt;&lt;</a:t>
            </a:r>
            <a:r>
              <a:rPr lang="en-US" altLang="zh-CN" sz="1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altLang="zh-CN" sz="1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pic>
        <p:nvPicPr>
          <p:cNvPr id="6" name="图片 5" descr="课表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00402" y="2420888"/>
            <a:ext cx="6190477" cy="347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5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357166"/>
            <a:ext cx="7239000" cy="6286544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简单的计算程序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char op;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a=10,b=6;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&lt;&lt;"Select operation('+' or '-'):";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&gt;&gt;op;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(op){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'+':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&lt;&lt;"a"&lt;&lt;op&lt;&lt;"b="&lt;&lt;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a+b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case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'-':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&lt;&lt;"a"&lt;&lt;op&lt;&lt;"b="&lt;&lt;a-b&lt;&lt;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default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&lt;&lt;"No such operation!"&lt;&lt;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0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pic>
        <p:nvPicPr>
          <p:cNvPr id="6" name="图片 5" descr="计算器程序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95736" y="2564904"/>
            <a:ext cx="4475336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40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7239000" cy="1143000"/>
          </a:xfrm>
        </p:spPr>
        <p:txBody>
          <a:bodyPr/>
          <a:lstStyle/>
          <a:p>
            <a:r>
              <a:rPr lang="zh-CN" altLang="en-US" dirty="0"/>
              <a:t>基本符号分类与</a:t>
            </a:r>
            <a:r>
              <a:rPr lang="en-US" altLang="zh-CN" dirty="0"/>
              <a:t>ASCII</a:t>
            </a:r>
            <a:r>
              <a:rPr lang="zh-CN" altLang="en-US" dirty="0"/>
              <a:t>码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5562600" y="3276600"/>
            <a:ext cx="2286000" cy="26670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zh-CN" altLang="zh-CN">
              <a:latin typeface="Verdana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715000" y="3471863"/>
            <a:ext cx="2057400" cy="1769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 sz="2800" b="1" dirty="0">
                <a:solidFill>
                  <a:srgbClr val="000000"/>
                </a:solidFill>
                <a:ea typeface="宋体" pitchFamily="2" charset="-122"/>
              </a:rPr>
              <a:t>ASCII</a:t>
            </a:r>
            <a:r>
              <a:rPr lang="zh-CN" altLang="en-US" sz="2800" b="1" dirty="0">
                <a:solidFill>
                  <a:srgbClr val="000000"/>
                </a:solidFill>
                <a:ea typeface="宋体" pitchFamily="2" charset="-122"/>
              </a:rPr>
              <a:t>码</a:t>
            </a:r>
            <a:endParaRPr lang="en-US" altLang="zh-CN" sz="2800" b="1" dirty="0">
              <a:solidFill>
                <a:srgbClr val="000000"/>
              </a:solidFill>
              <a:ea typeface="宋体" pitchFamily="2" charset="-122"/>
            </a:endParaRP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b="1" dirty="0"/>
              <a:t>95</a:t>
            </a:r>
            <a:r>
              <a:rPr lang="zh-CN" altLang="en-US" b="1" dirty="0"/>
              <a:t>个基本符号</a:t>
            </a:r>
            <a:endParaRPr lang="en-US" altLang="zh-CN" b="1" dirty="0"/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b="1" dirty="0"/>
              <a:t>33</a:t>
            </a:r>
            <a:r>
              <a:rPr lang="zh-CN" altLang="en-US" b="1" dirty="0"/>
              <a:t>个控制符号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/>
              <a:t>扩展</a:t>
            </a:r>
            <a:r>
              <a:rPr lang="en-US" altLang="zh-CN" b="1" dirty="0"/>
              <a:t>ASCII</a:t>
            </a:r>
            <a:r>
              <a:rPr lang="zh-CN" altLang="en-US" b="1" dirty="0"/>
              <a:t>码表</a:t>
            </a:r>
            <a:endParaRPr lang="en-US" altLang="zh-CN" b="1" dirty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1143000" y="3276600"/>
            <a:ext cx="2286000" cy="26670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zh-CN" altLang="zh-CN">
              <a:latin typeface="Verdana" pitchFamily="34" charset="0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238250" y="3476624"/>
            <a:ext cx="2038350" cy="1769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00000"/>
                </a:solidFill>
                <a:ea typeface="宋体" pitchFamily="2" charset="-122"/>
              </a:rPr>
              <a:t>分类</a:t>
            </a:r>
            <a:endParaRPr lang="en-US" altLang="zh-CN" sz="2800" b="1" dirty="0">
              <a:solidFill>
                <a:srgbClr val="000000"/>
              </a:solidFill>
              <a:ea typeface="宋体" pitchFamily="2" charset="-122"/>
            </a:endParaRP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/>
              <a:t>字母（</a:t>
            </a:r>
            <a:r>
              <a:rPr lang="en-US" altLang="zh-CN" b="1" dirty="0"/>
              <a:t>52</a:t>
            </a:r>
            <a:r>
              <a:rPr lang="zh-CN" altLang="en-US" b="1" dirty="0"/>
              <a:t>个）</a:t>
            </a:r>
            <a:endParaRPr lang="en-US" altLang="zh-CN" b="1" dirty="0"/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/>
              <a:t>数字（</a:t>
            </a:r>
            <a:r>
              <a:rPr lang="en-US" altLang="zh-CN" b="1" dirty="0"/>
              <a:t>10</a:t>
            </a:r>
            <a:r>
              <a:rPr lang="zh-CN" altLang="en-US" b="1" dirty="0"/>
              <a:t>个）</a:t>
            </a:r>
            <a:endParaRPr lang="en-US" altLang="zh-CN" b="1" dirty="0"/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/>
              <a:t>特殊符号（</a:t>
            </a:r>
            <a:r>
              <a:rPr lang="en-US" altLang="zh-CN" b="1" dirty="0"/>
              <a:t>33</a:t>
            </a:r>
            <a:r>
              <a:rPr lang="zh-CN" altLang="en-US" b="1" dirty="0"/>
              <a:t>个）</a:t>
            </a:r>
          </a:p>
        </p:txBody>
      </p:sp>
      <p:sp>
        <p:nvSpPr>
          <p:cNvPr id="10" name="Freeform 8"/>
          <p:cNvSpPr>
            <a:spLocks/>
          </p:cNvSpPr>
          <p:nvPr/>
        </p:nvSpPr>
        <p:spPr bwMode="gray">
          <a:xfrm>
            <a:off x="3222625" y="3179763"/>
            <a:ext cx="903288" cy="1241425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AutoShape 9"/>
          <p:cNvSpPr>
            <a:spLocks noChangeAspect="1" noChangeArrowheads="1" noTextEdit="1"/>
          </p:cNvSpPr>
          <p:nvPr/>
        </p:nvSpPr>
        <p:spPr bwMode="gray">
          <a:xfrm flipH="1">
            <a:off x="4868863" y="3176588"/>
            <a:ext cx="909637" cy="124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"/>
          <p:cNvSpPr>
            <a:spLocks/>
          </p:cNvSpPr>
          <p:nvPr/>
        </p:nvSpPr>
        <p:spPr bwMode="gray">
          <a:xfrm flipH="1">
            <a:off x="4875213" y="3179763"/>
            <a:ext cx="903287" cy="1241425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31765"/>
                  <a:invGamma/>
                </a:schemeClr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048000" y="1552575"/>
            <a:ext cx="2998788" cy="1601788"/>
            <a:chOff x="1997" y="1314"/>
            <a:chExt cx="1889" cy="1009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1997" y="1404"/>
              <a:ext cx="1889" cy="919"/>
              <a:chOff x="1973" y="1027"/>
              <a:chExt cx="1926" cy="937"/>
            </a:xfrm>
          </p:grpSpPr>
          <p:sp>
            <p:nvSpPr>
              <p:cNvPr id="19" name="Oval 13"/>
              <p:cNvSpPr>
                <a:spLocks noChangeArrowheads="1"/>
              </p:cNvSpPr>
              <p:nvPr/>
            </p:nvSpPr>
            <p:spPr bwMode="gray">
              <a:xfrm>
                <a:off x="1994" y="105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8627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Oval 14"/>
              <p:cNvSpPr>
                <a:spLocks noChangeArrowheads="1"/>
              </p:cNvSpPr>
              <p:nvPr/>
            </p:nvSpPr>
            <p:spPr bwMode="gray">
              <a:xfrm>
                <a:off x="1973" y="102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44314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" name="Oval 15"/>
            <p:cNvSpPr>
              <a:spLocks noChangeArrowheads="1"/>
            </p:cNvSpPr>
            <p:nvPr/>
          </p:nvSpPr>
          <p:spPr bwMode="gray">
            <a:xfrm>
              <a:off x="2086" y="1314"/>
              <a:ext cx="1691" cy="845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gray">
            <a:xfrm>
              <a:off x="2108" y="1319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34902"/>
                    <a:invGamma/>
                  </a:schemeClr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gray">
            <a:xfrm>
              <a:off x="2125" y="1327"/>
              <a:ext cx="1570" cy="7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79216"/>
                    <a:invGamma/>
                  </a:schemeClr>
                </a:gs>
                <a:gs pos="100000">
                  <a:schemeClr val="accent1">
                    <a:alpha val="48000"/>
                  </a:schemeClr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gray">
            <a:xfrm>
              <a:off x="2208" y="1344"/>
              <a:ext cx="1382" cy="6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3895267" y="1857364"/>
            <a:ext cx="1210589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rgbClr val="000000"/>
                </a:solidFill>
                <a:ea typeface="宋体" pitchFamily="2" charset="-122"/>
              </a:rPr>
              <a:t>基本符号</a:t>
            </a:r>
            <a:endParaRPr lang="en-US" altLang="zh-CN" sz="2000" b="1" dirty="0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7239000" cy="667452"/>
          </a:xfrm>
        </p:spPr>
        <p:txBody>
          <a:bodyPr/>
          <a:lstStyle/>
          <a:p>
            <a:r>
              <a:rPr lang="zh-CN" altLang="en-US" dirty="0"/>
              <a:t>基本符号的</a:t>
            </a:r>
            <a:r>
              <a:rPr lang="en-US" altLang="zh-CN" dirty="0"/>
              <a:t>ASCII</a:t>
            </a:r>
            <a:r>
              <a:rPr lang="zh-CN" altLang="en-US" dirty="0"/>
              <a:t>码表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6712"/>
            <a:ext cx="8153400" cy="1562096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字符型数据的含义</a:t>
            </a:r>
            <a:endParaRPr lang="en-US" altLang="zh-CN" sz="2800" b="1" dirty="0">
              <a:latin typeface="+mj-ea"/>
              <a:ea typeface="+mj-ea"/>
            </a:endParaRPr>
          </a:p>
          <a:p>
            <a:pPr lvl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字符本身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字符的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ASCII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码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1259632" y="2276872"/>
            <a:ext cx="691276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iostream.h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c1 = 'a';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i1 = c1;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&lt;&lt;c1&lt;&lt;" "&lt;&lt;i1&lt;&lt;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34" y="-285768"/>
            <a:ext cx="7239000" cy="1143000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gray">
          <a:xfrm rot="16200000">
            <a:off x="4218203" y="2475373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gray">
          <a:xfrm rot="2697709">
            <a:off x="4936586" y="4738211"/>
            <a:ext cx="792162" cy="288925"/>
          </a:xfrm>
          <a:prstGeom prst="rightArrow">
            <a:avLst>
              <a:gd name="adj1" fmla="val 35167"/>
              <a:gd name="adj2" fmla="val 111028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gray">
          <a:xfrm rot="11771456">
            <a:off x="2953499" y="3321113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gray">
          <a:xfrm rot="8130257">
            <a:off x="3331698" y="4749231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gray">
          <a:xfrm rot="20424492">
            <a:off x="5397401" y="3323976"/>
            <a:ext cx="792163" cy="288925"/>
          </a:xfrm>
          <a:prstGeom prst="rightArrow">
            <a:avLst>
              <a:gd name="adj1" fmla="val 35167"/>
              <a:gd name="adj2" fmla="val 111029"/>
            </a:avLst>
          </a:prstGeom>
          <a:gradFill rotWithShape="1">
            <a:gsLst>
              <a:gs pos="0">
                <a:schemeClr val="tx2">
                  <a:gamma/>
                  <a:shade val="89020"/>
                  <a:invGamma/>
                  <a:alpha val="0"/>
                </a:schemeClr>
              </a:gs>
              <a:gs pos="100000">
                <a:schemeClr val="tx2"/>
              </a:gs>
            </a:gsLst>
            <a:lin ang="0" scaled="1"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gray">
          <a:xfrm>
            <a:off x="2692400" y="1970088"/>
            <a:ext cx="3743325" cy="3744912"/>
          </a:xfrm>
          <a:prstGeom prst="ellips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425951" y="1785926"/>
            <a:ext cx="360363" cy="360363"/>
            <a:chOff x="1973" y="1706"/>
            <a:chExt cx="227" cy="227"/>
          </a:xfrm>
        </p:grpSpPr>
        <p:sp>
          <p:nvSpPr>
            <p:cNvPr id="14" name="Oval 11"/>
            <p:cNvSpPr>
              <a:spLocks noChangeArrowheads="1"/>
            </p:cNvSpPr>
            <p:nvPr/>
          </p:nvSpPr>
          <p:spPr bwMode="gray">
            <a:xfrm>
              <a:off x="1973" y="1706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gray">
            <a:xfrm>
              <a:off x="1983" y="1725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16"/>
          <p:cNvGrpSpPr>
            <a:grpSpLocks/>
          </p:cNvGrpSpPr>
          <p:nvPr/>
        </p:nvGrpSpPr>
        <p:grpSpPr bwMode="auto">
          <a:xfrm>
            <a:off x="3143240" y="5072074"/>
            <a:ext cx="360362" cy="360362"/>
            <a:chOff x="2109" y="3612"/>
            <a:chExt cx="227" cy="227"/>
          </a:xfrm>
        </p:grpSpPr>
        <p:sp>
          <p:nvSpPr>
            <p:cNvPr id="20" name="Oval 17"/>
            <p:cNvSpPr>
              <a:spLocks noChangeArrowheads="1"/>
            </p:cNvSpPr>
            <p:nvPr/>
          </p:nvSpPr>
          <p:spPr bwMode="gray">
            <a:xfrm>
              <a:off x="2109" y="3612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18"/>
            <p:cNvSpPr>
              <a:spLocks noChangeArrowheads="1"/>
            </p:cNvSpPr>
            <p:nvPr/>
          </p:nvSpPr>
          <p:spPr bwMode="gray">
            <a:xfrm>
              <a:off x="2119" y="3631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19"/>
          <p:cNvGrpSpPr>
            <a:grpSpLocks/>
          </p:cNvGrpSpPr>
          <p:nvPr/>
        </p:nvGrpSpPr>
        <p:grpSpPr bwMode="auto">
          <a:xfrm>
            <a:off x="6140464" y="3068638"/>
            <a:ext cx="360362" cy="360362"/>
            <a:chOff x="3470" y="1706"/>
            <a:chExt cx="227" cy="227"/>
          </a:xfrm>
        </p:grpSpPr>
        <p:sp>
          <p:nvSpPr>
            <p:cNvPr id="23" name="Oval 20"/>
            <p:cNvSpPr>
              <a:spLocks noChangeArrowheads="1"/>
            </p:cNvSpPr>
            <p:nvPr/>
          </p:nvSpPr>
          <p:spPr bwMode="gray">
            <a:xfrm>
              <a:off x="3470" y="1706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1"/>
            <p:cNvSpPr>
              <a:spLocks noChangeArrowheads="1"/>
            </p:cNvSpPr>
            <p:nvPr/>
          </p:nvSpPr>
          <p:spPr bwMode="gray">
            <a:xfrm>
              <a:off x="3480" y="1725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22"/>
          <p:cNvGrpSpPr>
            <a:grpSpLocks/>
          </p:cNvGrpSpPr>
          <p:nvPr/>
        </p:nvGrpSpPr>
        <p:grpSpPr bwMode="auto">
          <a:xfrm>
            <a:off x="2640002" y="3140076"/>
            <a:ext cx="360362" cy="360362"/>
            <a:chOff x="3923" y="2659"/>
            <a:chExt cx="227" cy="227"/>
          </a:xfrm>
        </p:grpSpPr>
        <p:sp>
          <p:nvSpPr>
            <p:cNvPr id="26" name="Oval 23"/>
            <p:cNvSpPr>
              <a:spLocks noChangeArrowheads="1"/>
            </p:cNvSpPr>
            <p:nvPr/>
          </p:nvSpPr>
          <p:spPr bwMode="gray">
            <a:xfrm>
              <a:off x="3923" y="2659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gray">
            <a:xfrm>
              <a:off x="3933" y="2678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25"/>
          <p:cNvGrpSpPr>
            <a:grpSpLocks/>
          </p:cNvGrpSpPr>
          <p:nvPr/>
        </p:nvGrpSpPr>
        <p:grpSpPr bwMode="auto">
          <a:xfrm>
            <a:off x="5568959" y="5072074"/>
            <a:ext cx="360363" cy="360362"/>
            <a:chOff x="3515" y="3521"/>
            <a:chExt cx="227" cy="227"/>
          </a:xfrm>
        </p:grpSpPr>
        <p:sp>
          <p:nvSpPr>
            <p:cNvPr id="29" name="Oval 26"/>
            <p:cNvSpPr>
              <a:spLocks noChangeArrowheads="1"/>
            </p:cNvSpPr>
            <p:nvPr/>
          </p:nvSpPr>
          <p:spPr bwMode="gray">
            <a:xfrm>
              <a:off x="3515" y="3521"/>
              <a:ext cx="227" cy="227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/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gray">
            <a:xfrm>
              <a:off x="3525" y="3540"/>
              <a:ext cx="141" cy="142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33725"/>
                    <a:invGamma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" name="Oval 28"/>
          <p:cNvSpPr>
            <a:spLocks noChangeArrowheads="1"/>
          </p:cNvSpPr>
          <p:nvPr/>
        </p:nvSpPr>
        <p:spPr bwMode="gray">
          <a:xfrm>
            <a:off x="3624263" y="2922588"/>
            <a:ext cx="1944687" cy="1944687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tint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" name="Oval 29"/>
          <p:cNvSpPr>
            <a:spLocks noChangeArrowheads="1"/>
          </p:cNvSpPr>
          <p:nvPr/>
        </p:nvSpPr>
        <p:spPr bwMode="gray">
          <a:xfrm>
            <a:off x="3617913" y="2906713"/>
            <a:ext cx="1944687" cy="1944687"/>
          </a:xfrm>
          <a:prstGeom prst="ellipse">
            <a:avLst/>
          </a:prstGeom>
          <a:gradFill rotWithShape="1">
            <a:gsLst>
              <a:gs pos="0">
                <a:schemeClr val="hlink">
                  <a:alpha val="32001"/>
                </a:schemeClr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" name="Oval 30"/>
          <p:cNvSpPr>
            <a:spLocks noChangeArrowheads="1"/>
          </p:cNvSpPr>
          <p:nvPr/>
        </p:nvSpPr>
        <p:spPr bwMode="gray">
          <a:xfrm>
            <a:off x="3751263" y="3049588"/>
            <a:ext cx="1690687" cy="1690687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54118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54118"/>
                  <a:invGamma/>
                </a:schemeClr>
              </a:gs>
            </a:gsLst>
            <a:lin ang="18900000" scaled="1"/>
          </a:gradFill>
          <a:ln w="38100" algn="ctr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4" name="Oval 31"/>
          <p:cNvSpPr>
            <a:spLocks noChangeArrowheads="1"/>
          </p:cNvSpPr>
          <p:nvPr/>
        </p:nvSpPr>
        <p:spPr bwMode="gray">
          <a:xfrm>
            <a:off x="3733800" y="3022600"/>
            <a:ext cx="1690688" cy="1690688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63529"/>
                  <a:invGamma/>
                </a:schemeClr>
              </a:gs>
              <a:gs pos="100000">
                <a:schemeClr val="hlink">
                  <a:alpha val="0"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5" name="Oval 32"/>
          <p:cNvSpPr>
            <a:spLocks noChangeArrowheads="1"/>
          </p:cNvSpPr>
          <p:nvPr/>
        </p:nvSpPr>
        <p:spPr bwMode="gray">
          <a:xfrm>
            <a:off x="3835400" y="3133725"/>
            <a:ext cx="1522413" cy="1522413"/>
          </a:xfrm>
          <a:prstGeom prst="ellipse">
            <a:avLst/>
          </a:prstGeom>
          <a:solidFill>
            <a:srgbClr val="333333"/>
          </a:solidFill>
          <a:ln w="38100" algn="ctr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" name="Oval 33"/>
          <p:cNvSpPr>
            <a:spLocks noChangeArrowheads="1"/>
          </p:cNvSpPr>
          <p:nvPr/>
        </p:nvSpPr>
        <p:spPr bwMode="auto">
          <a:xfrm>
            <a:off x="3857625" y="3152775"/>
            <a:ext cx="1471613" cy="1473200"/>
          </a:xfrm>
          <a:prstGeom prst="ellipse">
            <a:avLst/>
          </a:prstGeom>
          <a:gradFill rotWithShape="1">
            <a:gsLst>
              <a:gs pos="0">
                <a:srgbClr val="D6E1E2">
                  <a:gamma/>
                  <a:shade val="46275"/>
                  <a:invGamma/>
                </a:srgbClr>
              </a:gs>
              <a:gs pos="100000">
                <a:srgbClr val="D6E1E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7" name="Oval 34"/>
          <p:cNvSpPr>
            <a:spLocks noChangeArrowheads="1"/>
          </p:cNvSpPr>
          <p:nvPr/>
        </p:nvSpPr>
        <p:spPr bwMode="auto">
          <a:xfrm>
            <a:off x="3875088" y="3162300"/>
            <a:ext cx="1438275" cy="1435100"/>
          </a:xfrm>
          <a:prstGeom prst="ellipse">
            <a:avLst/>
          </a:prstGeom>
          <a:gradFill rotWithShape="1">
            <a:gsLst>
              <a:gs pos="0">
                <a:srgbClr val="D6E1E2">
                  <a:alpha val="0"/>
                </a:srgbClr>
              </a:gs>
              <a:gs pos="100000">
                <a:srgbClr val="D6E1E2">
                  <a:gamma/>
                  <a:tint val="34902"/>
                  <a:invGamma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8" name="Oval 35"/>
          <p:cNvSpPr>
            <a:spLocks noChangeArrowheads="1"/>
          </p:cNvSpPr>
          <p:nvPr/>
        </p:nvSpPr>
        <p:spPr bwMode="auto">
          <a:xfrm>
            <a:off x="3890963" y="3176588"/>
            <a:ext cx="1366837" cy="1341437"/>
          </a:xfrm>
          <a:prstGeom prst="ellipse">
            <a:avLst/>
          </a:prstGeom>
          <a:gradFill rotWithShape="1">
            <a:gsLst>
              <a:gs pos="0">
                <a:srgbClr val="D6E1E2">
                  <a:gamma/>
                  <a:shade val="79216"/>
                  <a:invGamma/>
                </a:srgbClr>
              </a:gs>
              <a:gs pos="100000">
                <a:srgbClr val="D6E1E2">
                  <a:alpha val="48000"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39" name="Oval 36"/>
          <p:cNvSpPr>
            <a:spLocks noChangeArrowheads="1"/>
          </p:cNvSpPr>
          <p:nvPr/>
        </p:nvSpPr>
        <p:spPr bwMode="auto">
          <a:xfrm>
            <a:off x="3971925" y="3213100"/>
            <a:ext cx="1214438" cy="1090613"/>
          </a:xfrm>
          <a:prstGeom prst="ellipse">
            <a:avLst/>
          </a:prstGeom>
          <a:gradFill rotWithShape="1">
            <a:gsLst>
              <a:gs pos="0">
                <a:srgbClr val="D6E1E2">
                  <a:gamma/>
                  <a:tint val="0"/>
                  <a:invGamma/>
                </a:srgbClr>
              </a:gs>
              <a:gs pos="100000">
                <a:srgbClr val="D6E1E2">
                  <a:alpha val="38000"/>
                </a:srgbClr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4158881" y="3622675"/>
            <a:ext cx="864339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rgbClr val="000000"/>
                </a:solidFill>
                <a:ea typeface="宋体" pitchFamily="2" charset="-122"/>
              </a:rPr>
              <a:t>C++</a:t>
            </a: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1376481" y="3071810"/>
            <a:ext cx="1266693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标识符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3881371" y="1196752"/>
            <a:ext cx="1266693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关键字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>
            <a:off x="6545031" y="3000372"/>
            <a:ext cx="1627369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字面常量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" name="Text Box 41"/>
          <p:cNvSpPr txBox="1">
            <a:spLocks noChangeArrowheads="1"/>
          </p:cNvSpPr>
          <p:nvPr/>
        </p:nvSpPr>
        <p:spPr bwMode="auto">
          <a:xfrm>
            <a:off x="6041611" y="5286388"/>
            <a:ext cx="1266693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运算符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" name="Text Box 43"/>
          <p:cNvSpPr txBox="1">
            <a:spLocks noChangeArrowheads="1"/>
          </p:cNvSpPr>
          <p:nvPr/>
        </p:nvSpPr>
        <p:spPr bwMode="auto">
          <a:xfrm>
            <a:off x="1835696" y="5305024"/>
            <a:ext cx="1266693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分割符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7239000" cy="1143000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940134"/>
            <a:ext cx="7815242" cy="558521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+mj-ea"/>
                <a:ea typeface="+mj-ea"/>
              </a:rPr>
              <a:t>关键字（</a:t>
            </a:r>
            <a:r>
              <a:rPr lang="en-US" altLang="zh-CN" sz="3200" b="1" dirty="0">
                <a:latin typeface="+mj-ea"/>
                <a:ea typeface="+mj-ea"/>
              </a:rPr>
              <a:t>key word</a:t>
            </a:r>
            <a:r>
              <a:rPr lang="zh-CN" altLang="en-US" sz="3200" b="1" dirty="0">
                <a:latin typeface="+mj-ea"/>
                <a:ea typeface="+mj-ea"/>
              </a:rPr>
              <a:t>）</a:t>
            </a:r>
            <a:endParaRPr lang="en-US" altLang="zh-CN" sz="3200" b="1" dirty="0">
              <a:latin typeface="+mj-ea"/>
              <a:ea typeface="+mj-ea"/>
            </a:endParaRPr>
          </a:p>
          <a:p>
            <a:pPr lvl="1"/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一类特定的具有专门含义的单词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又称为保留字（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reserved word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）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例如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/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void</a:t>
            </a:r>
          </a:p>
          <a:p>
            <a:pPr lvl="2"/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int</a:t>
            </a:r>
          </a:p>
          <a:p>
            <a:pPr lvl="2"/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if</a:t>
            </a:r>
          </a:p>
          <a:p>
            <a:pPr lvl="2"/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lvl="2"/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for</a:t>
            </a:r>
          </a:p>
          <a:p>
            <a:pPr lvl="2"/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while</a:t>
            </a:r>
          </a:p>
          <a:p>
            <a:pPr lvl="2"/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……</a:t>
            </a:r>
            <a:endParaRPr lang="zh-CN" alt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16</a:t>
            </a:fld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7239000" cy="1143000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928670"/>
            <a:ext cx="8606760" cy="559667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标识符（</a:t>
            </a:r>
            <a:r>
              <a:rPr lang="en-US" altLang="zh-CN" sz="3200" b="1" dirty="0">
                <a:latin typeface="+mj-ea"/>
                <a:ea typeface="+mj-ea"/>
              </a:rPr>
              <a:t>identifier</a:t>
            </a:r>
            <a:r>
              <a:rPr lang="zh-CN" altLang="en-US" sz="3200" b="1" dirty="0">
                <a:latin typeface="+mj-ea"/>
                <a:ea typeface="+mj-ea"/>
              </a:rPr>
              <a:t>）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为程序中使用的数据（常量或变量）、函数、类、对象、文件等起的</a:t>
            </a:r>
            <a:r>
              <a:rPr lang="zh-CN" altLang="en-US" sz="2800" b="1" dirty="0">
                <a:latin typeface="+mj-ea"/>
                <a:ea typeface="+mj-ea"/>
              </a:rPr>
              <a:t>“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名字</a:t>
            </a:r>
            <a:r>
              <a:rPr lang="zh-CN" altLang="en-US" sz="2800" b="1" dirty="0">
                <a:latin typeface="+mj-ea"/>
                <a:ea typeface="+mj-ea"/>
              </a:rPr>
              <a:t>”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组成规则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以字母或下划线“</a:t>
            </a:r>
            <a:r>
              <a:rPr lang="en-US" altLang="zh-CN" sz="2800" b="1" dirty="0">
                <a:latin typeface="+mj-ea"/>
                <a:ea typeface="+mj-ea"/>
              </a:rPr>
              <a:t>_</a:t>
            </a:r>
            <a:r>
              <a:rPr lang="zh-CN" altLang="en-US" sz="2800" b="1" dirty="0">
                <a:latin typeface="+mj-ea"/>
                <a:ea typeface="+mj-ea"/>
              </a:rPr>
              <a:t>”开头（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首字母</a:t>
            </a:r>
            <a:r>
              <a:rPr lang="zh-CN" altLang="en-US" sz="2800" b="1" dirty="0">
                <a:latin typeface="+mj-ea"/>
                <a:ea typeface="+mj-ea"/>
              </a:rPr>
              <a:t>），由字母、数字、下划线组成的字符串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不能与关键字重名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标识符区分大小写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有效长度有规定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17</a:t>
            </a:fld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-214330"/>
            <a:ext cx="7239000" cy="1143000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语言的词汇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71546"/>
            <a:ext cx="8363272" cy="514353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标识符的命名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匈牙利命名法（</a:t>
            </a:r>
            <a:r>
              <a:rPr lang="en-US" altLang="en-US" sz="2800" b="1" dirty="0">
                <a:solidFill>
                  <a:srgbClr val="002060"/>
                </a:solidFill>
                <a:latin typeface="+mj-ea"/>
                <a:ea typeface="+mj-ea"/>
              </a:rPr>
              <a:t> Hungarian 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）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  <a:spcAft>
                <a:spcPts val="0"/>
              </a:spcAft>
            </a:pP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变量名应尽量表达变量的含义</a:t>
            </a:r>
            <a:endParaRPr lang="en-US" altLang="zh-CN" sz="28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  <a:spcAft>
                <a:spcPts val="0"/>
              </a:spcAft>
            </a:pP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变量名前加前缀以说明变量的类型及性质</a:t>
            </a:r>
            <a:endParaRPr lang="en-US" altLang="zh-CN" sz="28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骆驼命名法（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camelCase</a:t>
            </a:r>
            <a:r>
              <a:rPr lang="zh-CN" altLang="en-US" sz="2800" b="1" dirty="0">
                <a:latin typeface="+mj-ea"/>
                <a:ea typeface="+mj-ea"/>
              </a:rPr>
              <a:t>）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  <a:spcAft>
                <a:spcPts val="0"/>
              </a:spcAft>
            </a:pP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混合使用大小写字母来构成变量和函数的名字</a:t>
            </a:r>
            <a:endParaRPr lang="en-US" altLang="zh-CN" sz="28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帕斯卡命名法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(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PascalCase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)</a:t>
            </a:r>
          </a:p>
          <a:p>
            <a:pPr lvl="2">
              <a:lnSpc>
                <a:spcPct val="120000"/>
              </a:lnSpc>
              <a:spcAft>
                <a:spcPts val="0"/>
              </a:spcAft>
            </a:pP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首字母大写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18</a:t>
            </a:fld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9040" y="188640"/>
            <a:ext cx="8153400" cy="1990724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+mj-ea"/>
                <a:ea typeface="+mj-ea"/>
              </a:rPr>
              <a:t>匈牙利命名法</a:t>
            </a:r>
            <a:endParaRPr lang="en-US" altLang="zh-CN" sz="3200" b="1" dirty="0">
              <a:latin typeface="+mj-ea"/>
              <a:ea typeface="+mj-ea"/>
            </a:endParaRPr>
          </a:p>
          <a:p>
            <a:pPr lvl="1"/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标识符名应尽量表达该标识符的含义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/>
            <a:r>
              <a:rPr lang="zh-CN" altLang="en-US" sz="2800" b="1" dirty="0">
                <a:latin typeface="+mj-ea"/>
                <a:ea typeface="+mj-ea"/>
              </a:rPr>
              <a:t>常量、变量、函数、类、对象等等</a:t>
            </a:r>
            <a:endParaRPr lang="en-US" altLang="zh-CN" sz="2800" b="1" dirty="0">
              <a:latin typeface="+mj-ea"/>
              <a:ea typeface="+mj-ea"/>
            </a:endParaRPr>
          </a:p>
          <a:p>
            <a:pPr lvl="1"/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标识符名前面应加前缀表示其数据类型或性质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1472" y="2605420"/>
          <a:ext cx="742955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5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前缀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前缀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含义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BOOL (int)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Long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by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Unsigned Char (byte)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rgbClr val="0000FF"/>
                          </a:solidFill>
                        </a:rPr>
                        <a:t>lp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Long pointer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Char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>
                          <a:solidFill>
                            <a:srgbClr val="0000FF"/>
                          </a:solidFill>
                        </a:rPr>
                        <a:t>p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Pointer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rgbClr val="0000FF"/>
                          </a:solidFill>
                        </a:rPr>
                        <a:t>dw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DWORD (unsigned long)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m_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>
                          <a:solidFill>
                            <a:srgbClr val="0000FF"/>
                          </a:solidFill>
                        </a:rPr>
                        <a:t>Data member of a class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fn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Function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rgbClr val="0000FF"/>
                          </a:solidFill>
                        </a:rPr>
                        <a:t>str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rgbClr val="0000FF"/>
                          </a:solidFill>
                        </a:rPr>
                        <a:t>CString</a:t>
                      </a:r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 (MFC Class)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g_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global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Unsigned int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Integer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w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rgbClr val="0000FF"/>
                          </a:solidFill>
                        </a:rPr>
                        <a:t>WORD (unsigned short)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357166"/>
            <a:ext cx="8319298" cy="592935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>
                <a:latin typeface="+mj-ea"/>
                <a:ea typeface="+mj-ea"/>
              </a:rPr>
              <a:t>匈牙利命名法</a:t>
            </a:r>
            <a:endParaRPr lang="en-US" altLang="zh-CN" sz="36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endParaRPr lang="en-US" altLang="zh-CN" sz="3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3200" b="1" dirty="0">
                <a:solidFill>
                  <a:srgbClr val="002060"/>
                </a:solidFill>
                <a:latin typeface="+mj-ea"/>
                <a:ea typeface="+mj-ea"/>
              </a:rPr>
              <a:t>某些前缀可组合使用</a:t>
            </a:r>
            <a:endParaRPr lang="en-US" altLang="zh-CN" sz="32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sz="3200" b="1" dirty="0" err="1">
                <a:solidFill>
                  <a:srgbClr val="7030A0"/>
                </a:solidFill>
                <a:latin typeface="+mj-ea"/>
                <a:ea typeface="+mj-ea"/>
              </a:rPr>
              <a:t>pszMyString</a:t>
            </a:r>
            <a:r>
              <a:rPr lang="en-US" altLang="zh-CN" sz="3200" b="1" dirty="0">
                <a:solidFill>
                  <a:srgbClr val="7030A0"/>
                </a:solidFill>
                <a:latin typeface="+mj-ea"/>
                <a:ea typeface="+mj-ea"/>
              </a:rPr>
              <a:t>    </a:t>
            </a:r>
            <a:r>
              <a:rPr lang="en-US" altLang="zh-CN" sz="3200" b="1" dirty="0">
                <a:latin typeface="+mj-ea"/>
                <a:ea typeface="+mj-ea"/>
              </a:rPr>
              <a:t>A pointer to a string.</a:t>
            </a:r>
          </a:p>
          <a:p>
            <a:pPr lvl="2">
              <a:lnSpc>
                <a:spcPct val="120000"/>
              </a:lnSpc>
            </a:pPr>
            <a:r>
              <a:rPr lang="en-US" altLang="zh-CN" sz="3200" b="1" dirty="0" err="1">
                <a:solidFill>
                  <a:srgbClr val="7030A0"/>
                </a:solidFill>
                <a:latin typeface="+mj-ea"/>
                <a:ea typeface="+mj-ea"/>
              </a:rPr>
              <a:t>m_pszMyString</a:t>
            </a:r>
            <a:r>
              <a:rPr lang="en-US" altLang="zh-CN" sz="3200" b="1" dirty="0">
                <a:solidFill>
                  <a:srgbClr val="7030A0"/>
                </a:solidFill>
                <a:latin typeface="+mj-ea"/>
                <a:ea typeface="+mj-ea"/>
              </a:rPr>
              <a:t>  </a:t>
            </a:r>
            <a:r>
              <a:rPr lang="en-US" altLang="zh-CN" sz="3200" b="1" dirty="0">
                <a:latin typeface="+mj-ea"/>
                <a:ea typeface="+mj-ea"/>
              </a:rPr>
              <a:t>A pointer to a string that is a data member of a class.</a:t>
            </a:r>
          </a:p>
          <a:p>
            <a:pPr lvl="2">
              <a:lnSpc>
                <a:spcPct val="120000"/>
              </a:lnSpc>
            </a:pPr>
            <a:r>
              <a:rPr lang="en-US" altLang="zh-CN" sz="3200" b="1" dirty="0" err="1">
                <a:solidFill>
                  <a:srgbClr val="7030A0"/>
                </a:solidFill>
                <a:latin typeface="+mj-ea"/>
                <a:ea typeface="+mj-ea"/>
              </a:rPr>
              <a:t>pfnMyFunction</a:t>
            </a:r>
            <a:r>
              <a:rPr lang="en-US" altLang="zh-CN" sz="3200" b="1" dirty="0">
                <a:solidFill>
                  <a:srgbClr val="7030A0"/>
                </a:solidFill>
                <a:latin typeface="+mj-ea"/>
                <a:ea typeface="+mj-ea"/>
              </a:rPr>
              <a:t>  </a:t>
            </a:r>
            <a:r>
              <a:rPr lang="en-US" altLang="zh-CN" sz="3200" b="1" dirty="0">
                <a:latin typeface="+mj-ea"/>
                <a:ea typeface="+mj-ea"/>
              </a:rPr>
              <a:t>A pointer to a function</a:t>
            </a:r>
          </a:p>
          <a:p>
            <a:pPr lvl="2">
              <a:lnSpc>
                <a:spcPct val="120000"/>
              </a:lnSpc>
            </a:pPr>
            <a:endParaRPr lang="en-US" altLang="zh-CN" sz="6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3200" b="1" dirty="0">
                <a:solidFill>
                  <a:srgbClr val="002060"/>
                </a:solidFill>
                <a:latin typeface="+mj-ea"/>
                <a:ea typeface="+mj-ea"/>
              </a:rPr>
              <a:t>类名以</a:t>
            </a:r>
            <a:r>
              <a:rPr lang="en-US" altLang="zh-CN" sz="3200" b="1" dirty="0">
                <a:solidFill>
                  <a:srgbClr val="002060"/>
                </a:solidFill>
                <a:latin typeface="+mj-ea"/>
                <a:ea typeface="+mj-ea"/>
              </a:rPr>
              <a:t>C</a:t>
            </a:r>
            <a:r>
              <a:rPr lang="zh-CN" altLang="en-US" sz="3200" b="1" dirty="0">
                <a:solidFill>
                  <a:srgbClr val="002060"/>
                </a:solidFill>
                <a:latin typeface="+mj-ea"/>
                <a:ea typeface="+mj-ea"/>
              </a:rPr>
              <a:t>为前缀</a:t>
            </a:r>
            <a:endParaRPr lang="en-US" altLang="zh-CN" sz="32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sz="3200" b="1" dirty="0" err="1">
                <a:solidFill>
                  <a:srgbClr val="7030A0"/>
                </a:solidFill>
                <a:latin typeface="+mj-ea"/>
                <a:ea typeface="+mj-ea"/>
              </a:rPr>
              <a:t>CMyClass</a:t>
            </a:r>
            <a:endParaRPr lang="zh-CN" altLang="en-US" sz="3200" b="1" dirty="0">
              <a:solidFill>
                <a:srgbClr val="7030A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20</a:t>
            </a:fld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96" y="116632"/>
            <a:ext cx="8929718" cy="570357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常量：固定不变的量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字面常量</a:t>
            </a:r>
            <a:r>
              <a:rPr lang="zh-CN" altLang="en-US" sz="2800" b="1" dirty="0">
                <a:latin typeface="+mj-ea"/>
                <a:ea typeface="+mj-ea"/>
              </a:rPr>
              <a:t>（属于</a:t>
            </a:r>
            <a:r>
              <a:rPr lang="en-US" altLang="zh-CN" sz="2800" b="1" dirty="0">
                <a:latin typeface="+mj-ea"/>
                <a:ea typeface="+mj-ea"/>
              </a:rPr>
              <a:t>C++</a:t>
            </a:r>
            <a:r>
              <a:rPr lang="zh-CN" altLang="en-US" sz="2800" b="1" dirty="0">
                <a:latin typeface="+mj-ea"/>
                <a:ea typeface="+mj-ea"/>
              </a:rPr>
              <a:t>语言的词汇）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整型常量（</a:t>
            </a:r>
            <a:r>
              <a:rPr lang="en-US" altLang="zh-CN" sz="2800" b="1" dirty="0">
                <a:latin typeface="+mj-ea"/>
                <a:ea typeface="+mj-ea"/>
              </a:rPr>
              <a:t>int</a:t>
            </a:r>
            <a:r>
              <a:rPr lang="zh-CN" altLang="en-US" sz="2800" b="1" dirty="0">
                <a:latin typeface="+mj-ea"/>
                <a:ea typeface="+mj-ea"/>
              </a:rPr>
              <a:t>）：整数</a:t>
            </a:r>
            <a:endParaRPr lang="en-US" altLang="zh-CN" sz="2800" b="1" dirty="0">
              <a:latin typeface="+mj-ea"/>
              <a:ea typeface="+mj-ea"/>
            </a:endParaRPr>
          </a:p>
          <a:p>
            <a:pPr lvl="3">
              <a:lnSpc>
                <a:spcPct val="12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十进制、八进制（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0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开头）、十六进制（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0x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或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0X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开头）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浮点型常量（</a:t>
            </a:r>
            <a:r>
              <a:rPr lang="en-US" altLang="zh-CN" sz="2800" b="1" dirty="0">
                <a:latin typeface="+mj-ea"/>
                <a:ea typeface="+mj-ea"/>
              </a:rPr>
              <a:t>float</a:t>
            </a:r>
            <a:r>
              <a:rPr lang="zh-CN" altLang="en-US" sz="2800" b="1" dirty="0">
                <a:latin typeface="+mj-ea"/>
                <a:ea typeface="+mj-ea"/>
              </a:rPr>
              <a:t>）：小数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字符常量（</a:t>
            </a:r>
            <a:r>
              <a:rPr lang="en-US" altLang="zh-CN" sz="2800" b="1" dirty="0">
                <a:latin typeface="+mj-ea"/>
                <a:ea typeface="+mj-ea"/>
              </a:rPr>
              <a:t>char</a:t>
            </a:r>
            <a:r>
              <a:rPr lang="zh-CN" altLang="en-US" sz="2800" b="1" dirty="0">
                <a:latin typeface="+mj-ea"/>
                <a:ea typeface="+mj-ea"/>
              </a:rPr>
              <a:t>）：一个字符，由单引号标识</a:t>
            </a:r>
            <a:endParaRPr lang="en-US" altLang="zh-CN" sz="2800" b="1" dirty="0">
              <a:latin typeface="+mj-ea"/>
              <a:ea typeface="+mj-ea"/>
            </a:endParaRPr>
          </a:p>
          <a:p>
            <a:pPr lvl="3">
              <a:lnSpc>
                <a:spcPct val="120000"/>
              </a:lnSpc>
            </a:pPr>
            <a:r>
              <a:rPr lang="en-US" altLang="zh-CN" sz="2800" b="1" dirty="0">
                <a:latin typeface="+mj-ea"/>
                <a:ea typeface="+mj-ea"/>
              </a:rPr>
              <a:t>‘a’</a:t>
            </a:r>
          </a:p>
          <a:p>
            <a:pPr lvl="2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字符串常量：多个字符，以字符</a:t>
            </a:r>
            <a:r>
              <a:rPr lang="en-US" altLang="zh-CN" sz="2800" b="1" dirty="0">
                <a:latin typeface="+mj-ea"/>
                <a:ea typeface="+mj-ea"/>
              </a:rPr>
              <a:t>’\0’</a:t>
            </a:r>
            <a:r>
              <a:rPr lang="zh-CN" altLang="en-US" sz="2800" b="1" dirty="0">
                <a:latin typeface="+mj-ea"/>
                <a:ea typeface="+mj-ea"/>
              </a:rPr>
              <a:t>结尾，由双引号标识</a:t>
            </a:r>
            <a:endParaRPr lang="en-US" altLang="zh-CN" sz="2800" b="1" dirty="0">
              <a:latin typeface="+mj-ea"/>
              <a:ea typeface="+mj-ea"/>
            </a:endParaRPr>
          </a:p>
          <a:p>
            <a:pPr lvl="3">
              <a:lnSpc>
                <a:spcPct val="12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“</a:t>
            </a:r>
            <a:r>
              <a:rPr lang="en-US" altLang="zh-CN" sz="2800" b="1" dirty="0" err="1">
                <a:latin typeface="+mj-ea"/>
                <a:ea typeface="+mj-ea"/>
              </a:rPr>
              <a:t>abcde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\0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21</a:t>
            </a:fld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06" y="71414"/>
            <a:ext cx="8893082" cy="664373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常量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有名常量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为常量设置一个“名字”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常量名是标识符</a:t>
            </a:r>
            <a:endParaRPr lang="en-US" altLang="zh-CN" sz="2400" b="1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常量的数据类型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整型常量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sz="2400" b="1" dirty="0" err="1">
                <a:latin typeface="+mj-ea"/>
                <a:ea typeface="+mj-ea"/>
              </a:rPr>
              <a:t>int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型常量即整型常量，实际上就是整数。</a:t>
            </a:r>
            <a:r>
              <a:rPr lang="en-US" altLang="zh-CN" sz="2400" b="1" dirty="0">
                <a:latin typeface="+mj-ea"/>
                <a:ea typeface="+mj-ea"/>
              </a:rPr>
              <a:t>C++</a:t>
            </a:r>
            <a:r>
              <a:rPr lang="zh-CN" altLang="en-US" sz="2400" b="1" dirty="0">
                <a:latin typeface="+mj-ea"/>
                <a:ea typeface="+mj-ea"/>
              </a:rPr>
              <a:t>程序中除允许一般的十进制整数之外，还允许八进制整数和十六进制整数出现。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注意，在</a:t>
            </a:r>
            <a:r>
              <a:rPr lang="en-US" altLang="zh-CN" sz="2400" b="1" dirty="0">
                <a:latin typeface="+mj-ea"/>
                <a:ea typeface="+mj-ea"/>
              </a:rPr>
              <a:t>C++</a:t>
            </a:r>
            <a:r>
              <a:rPr lang="zh-CN" altLang="en-US" sz="2400" b="1" dirty="0">
                <a:latin typeface="+mj-ea"/>
                <a:ea typeface="+mj-ea"/>
              </a:rPr>
              <a:t>程序中，各种进制的整数都自动转换为十进制输出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例如：</a:t>
            </a:r>
            <a:r>
              <a:rPr lang="en-US" altLang="zh-CN" sz="2400" b="1" dirty="0" err="1">
                <a:solidFill>
                  <a:srgbClr val="C00000"/>
                </a:solidFill>
                <a:latin typeface="+mj-ea"/>
                <a:ea typeface="+mj-ea"/>
              </a:rPr>
              <a:t>cout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&lt;&lt;023&lt;&lt;“ ”&lt;&lt;23&lt;&lt;“ ”&lt;&lt;0x23;</a:t>
            </a:r>
            <a:r>
              <a:rPr lang="zh-CN" altLang="en-US" sz="2400" b="1" dirty="0">
                <a:latin typeface="+mj-ea"/>
                <a:ea typeface="+mj-ea"/>
              </a:rPr>
              <a:t>将输出不同的十进整数：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19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˽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23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˽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35</a:t>
            </a:r>
            <a:r>
              <a:rPr lang="zh-CN" altLang="en-US" sz="2400" b="1" dirty="0">
                <a:latin typeface="+mj-ea"/>
                <a:ea typeface="+mj-ea"/>
              </a:rPr>
              <a:t> </a:t>
            </a: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22</a:t>
            </a:fld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36668" y="-50942"/>
            <a:ext cx="9145172" cy="6072230"/>
          </a:xfrm>
        </p:spPr>
        <p:txBody>
          <a:bodyPr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3200" b="1" dirty="0">
                <a:latin typeface="+mj-ea"/>
                <a:ea typeface="+mj-ea"/>
              </a:rPr>
              <a:t>常量的数据类型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25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浮点型常量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5000"/>
              </a:lnSpc>
            </a:pPr>
            <a:r>
              <a:rPr lang="zh-CN" altLang="en-US" sz="2800" b="1" dirty="0">
                <a:latin typeface="+mj-ea"/>
                <a:ea typeface="+mj-ea"/>
              </a:rPr>
              <a:t>小数点表示法：</a:t>
            </a:r>
            <a:r>
              <a:rPr lang="en-US" altLang="zh-CN" sz="2800" b="1" dirty="0">
                <a:latin typeface="+mj-ea"/>
                <a:ea typeface="+mj-ea"/>
              </a:rPr>
              <a:t>4.75</a:t>
            </a:r>
            <a:r>
              <a:rPr lang="zh-CN" altLang="en-US" sz="2800" b="1" dirty="0">
                <a:latin typeface="+mj-ea"/>
                <a:ea typeface="+mj-ea"/>
              </a:rPr>
              <a:t>，</a:t>
            </a:r>
            <a:r>
              <a:rPr lang="en-US" altLang="zh-CN" sz="2800" b="1" dirty="0">
                <a:latin typeface="+mj-ea"/>
                <a:ea typeface="+mj-ea"/>
              </a:rPr>
              <a:t>2.0 </a:t>
            </a:r>
            <a:r>
              <a:rPr lang="zh-CN" altLang="en-US" sz="2800" b="1" dirty="0">
                <a:latin typeface="+mj-ea"/>
                <a:ea typeface="+mj-ea"/>
              </a:rPr>
              <a:t> 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25000"/>
              </a:lnSpc>
            </a:pPr>
            <a:r>
              <a:rPr lang="zh-CN" altLang="en-US" sz="2800" b="1" dirty="0">
                <a:latin typeface="+mj-ea"/>
                <a:ea typeface="+mj-ea"/>
              </a:rPr>
              <a:t>科学表示法：</a:t>
            </a:r>
            <a:r>
              <a:rPr lang="en-US" altLang="zh-CN" sz="2800" b="1" dirty="0">
                <a:latin typeface="+mj-ea"/>
                <a:ea typeface="+mj-ea"/>
              </a:rPr>
              <a:t>1.2e4 </a:t>
            </a:r>
            <a:r>
              <a:rPr lang="zh-CN" altLang="en-US" sz="2800" b="1" dirty="0">
                <a:latin typeface="+mj-ea"/>
                <a:ea typeface="+mj-ea"/>
              </a:rPr>
              <a:t>，</a:t>
            </a:r>
            <a:r>
              <a:rPr lang="en-US" altLang="zh-CN" sz="2800" b="1" dirty="0">
                <a:latin typeface="+mj-ea"/>
                <a:ea typeface="+mj-ea"/>
              </a:rPr>
              <a:t>-7.37e-3 </a:t>
            </a:r>
          </a:p>
          <a:p>
            <a:pPr lvl="2">
              <a:lnSpc>
                <a:spcPct val="125000"/>
              </a:lnSpc>
            </a:pPr>
            <a:r>
              <a:rPr lang="zh-CN" altLang="en-US" sz="2800" b="1" dirty="0">
                <a:latin typeface="+mj-ea"/>
                <a:ea typeface="+mj-ea"/>
              </a:rPr>
              <a:t>注意，在</a:t>
            </a:r>
            <a:r>
              <a:rPr lang="en-US" altLang="zh-CN" sz="2800" b="1" dirty="0">
                <a:latin typeface="+mj-ea"/>
                <a:ea typeface="+mj-ea"/>
              </a:rPr>
              <a:t>C++</a:t>
            </a:r>
            <a:r>
              <a:rPr lang="zh-CN" altLang="en-US" sz="2800" b="1" dirty="0">
                <a:latin typeface="+mj-ea"/>
                <a:ea typeface="+mj-ea"/>
              </a:rPr>
              <a:t>程序中，浮点数以十进制的形式输入和输出，浮点数的存储格式与系统要求有关</a:t>
            </a:r>
            <a:endParaRPr lang="en-US" altLang="zh-CN" sz="2800" b="1" dirty="0">
              <a:latin typeface="+mj-ea"/>
              <a:ea typeface="+mj-ea"/>
            </a:endParaRPr>
          </a:p>
          <a:p>
            <a:pPr lvl="3">
              <a:lnSpc>
                <a:spcPct val="125000"/>
              </a:lnSpc>
            </a:pPr>
            <a:r>
              <a:rPr lang="zh-CN" altLang="en-US" sz="2800" b="1" dirty="0">
                <a:latin typeface="+mj-ea"/>
                <a:ea typeface="+mj-ea"/>
              </a:rPr>
              <a:t>如：</a:t>
            </a:r>
            <a:r>
              <a:rPr lang="en-US" altLang="zh-CN" sz="2800" b="1" dirty="0">
                <a:latin typeface="+mj-ea"/>
                <a:ea typeface="+mj-ea"/>
              </a:rPr>
              <a:t>C++</a:t>
            </a:r>
            <a:r>
              <a:rPr lang="zh-CN" altLang="en-US" sz="2800" b="1" dirty="0">
                <a:latin typeface="+mj-ea"/>
                <a:ea typeface="+mj-ea"/>
              </a:rPr>
              <a:t>中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float</a:t>
            </a:r>
            <a:r>
              <a:rPr lang="zh-CN" altLang="en-US" sz="2800" b="1" dirty="0">
                <a:latin typeface="+mj-ea"/>
                <a:ea typeface="+mj-ea"/>
              </a:rPr>
              <a:t>型浮点数占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</a:t>
            </a:r>
            <a:r>
              <a:rPr lang="zh-CN" altLang="en-US" sz="2800" b="1" dirty="0">
                <a:latin typeface="+mj-ea"/>
                <a:ea typeface="+mj-ea"/>
              </a:rPr>
              <a:t>个字节，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double</a:t>
            </a:r>
            <a:r>
              <a:rPr lang="zh-CN" altLang="en-US" sz="2800" b="1" dirty="0">
                <a:latin typeface="+mj-ea"/>
                <a:ea typeface="+mj-ea"/>
              </a:rPr>
              <a:t>型浮点数占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8</a:t>
            </a:r>
            <a:r>
              <a:rPr lang="zh-CN" altLang="en-US" sz="2800" b="1" dirty="0">
                <a:latin typeface="+mj-ea"/>
                <a:ea typeface="+mj-ea"/>
              </a:rPr>
              <a:t>个字节，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long double</a:t>
            </a:r>
            <a:r>
              <a:rPr lang="zh-CN" altLang="en-US" sz="2800" b="1" dirty="0">
                <a:latin typeface="+mj-ea"/>
                <a:ea typeface="+mj-ea"/>
              </a:rPr>
              <a:t>型浮点数占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10</a:t>
            </a:r>
            <a:r>
              <a:rPr lang="zh-CN" altLang="en-US" sz="2800" b="1" dirty="0">
                <a:latin typeface="+mj-ea"/>
                <a:ea typeface="+mj-ea"/>
              </a:rPr>
              <a:t>个字节。</a:t>
            </a:r>
            <a:endParaRPr lang="en-US" altLang="zh-CN" sz="2800" b="1" dirty="0">
              <a:latin typeface="+mj-ea"/>
              <a:ea typeface="+mj-ea"/>
            </a:endParaRPr>
          </a:p>
          <a:p>
            <a:pPr lvl="3">
              <a:lnSpc>
                <a:spcPct val="125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浮点型常量</a:t>
            </a:r>
            <a:r>
              <a:rPr lang="zh-CN" altLang="en-US" sz="2800" b="1" dirty="0">
                <a:latin typeface="+mj-ea"/>
                <a:ea typeface="+mj-ea"/>
              </a:rPr>
              <a:t>按</a:t>
            </a:r>
            <a:r>
              <a:rPr lang="en-US" altLang="zh-CN" sz="2800" b="1" dirty="0">
                <a:latin typeface="+mj-ea"/>
                <a:ea typeface="+mj-ea"/>
              </a:rPr>
              <a:t>double</a:t>
            </a:r>
            <a:r>
              <a:rPr lang="zh-CN" altLang="en-US" sz="2800" b="1" dirty="0">
                <a:latin typeface="+mj-ea"/>
                <a:ea typeface="+mj-ea"/>
              </a:rPr>
              <a:t>型处理，占</a:t>
            </a:r>
            <a:r>
              <a:rPr lang="en-US" altLang="zh-CN" sz="2800" b="1" dirty="0">
                <a:latin typeface="+mj-ea"/>
                <a:ea typeface="+mj-ea"/>
              </a:rPr>
              <a:t>8</a:t>
            </a:r>
            <a:r>
              <a:rPr lang="zh-CN" altLang="en-US" sz="2800" b="1" dirty="0">
                <a:latin typeface="+mj-ea"/>
                <a:ea typeface="+mj-ea"/>
              </a:rPr>
              <a:t>个字节</a:t>
            </a:r>
            <a:endParaRPr lang="en-US" altLang="zh-CN" sz="2800" b="1" dirty="0">
              <a:latin typeface="+mj-ea"/>
              <a:ea typeface="+mj-ea"/>
            </a:endParaRPr>
          </a:p>
          <a:p>
            <a:pPr lvl="4">
              <a:lnSpc>
                <a:spcPct val="125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加后缀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f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或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F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可按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float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型处理，占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4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个字节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3">
              <a:lnSpc>
                <a:spcPct val="125000"/>
              </a:lnSpc>
            </a:pPr>
            <a:r>
              <a:rPr lang="zh-CN" altLang="en-US" sz="2800" b="1" dirty="0">
                <a:latin typeface="+mj-ea"/>
                <a:ea typeface="+mj-ea"/>
              </a:rPr>
              <a:t>浮点型常量有表示范围</a:t>
            </a:r>
            <a:endParaRPr lang="en-US" altLang="zh-CN" sz="28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23</a:t>
            </a:fld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814" y="223830"/>
            <a:ext cx="8724904" cy="4991120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latin typeface="+mj-ea"/>
                <a:ea typeface="+mj-ea"/>
              </a:rPr>
              <a:t>常量的数据类型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5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浮点数的存储（以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double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型浮点数为例）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5000"/>
              </a:lnSpc>
            </a:pPr>
            <a:r>
              <a:rPr lang="zh-CN" altLang="en-US" sz="2400" b="1" dirty="0">
                <a:latin typeface="+mj-ea"/>
                <a:ea typeface="+mj-ea"/>
              </a:rPr>
              <a:t>占</a:t>
            </a:r>
            <a:r>
              <a:rPr lang="en-US" altLang="zh-CN" sz="2400" b="1" dirty="0">
                <a:latin typeface="+mj-ea"/>
                <a:ea typeface="+mj-ea"/>
              </a:rPr>
              <a:t>8</a:t>
            </a:r>
            <a:r>
              <a:rPr lang="zh-CN" altLang="en-US" sz="2400" b="1" dirty="0">
                <a:latin typeface="+mj-ea"/>
                <a:ea typeface="+mj-ea"/>
              </a:rPr>
              <a:t>个字节（</a:t>
            </a:r>
            <a:r>
              <a:rPr lang="en-US" altLang="zh-CN" sz="2400" b="1" dirty="0">
                <a:latin typeface="+mj-ea"/>
                <a:ea typeface="+mj-ea"/>
              </a:rPr>
              <a:t>64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bit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25000"/>
              </a:lnSpc>
            </a:pPr>
            <a:r>
              <a:rPr lang="zh-CN" altLang="en-US" sz="2400" b="1" dirty="0">
                <a:latin typeface="+mj-ea"/>
                <a:ea typeface="+mj-ea"/>
              </a:rPr>
              <a:t>符号位</a:t>
            </a:r>
            <a:endParaRPr lang="en-US" altLang="zh-CN" sz="2400" b="1" dirty="0">
              <a:latin typeface="+mj-ea"/>
              <a:ea typeface="+mj-ea"/>
            </a:endParaRPr>
          </a:p>
          <a:p>
            <a:pPr lvl="4">
              <a:lnSpc>
                <a:spcPct val="125000"/>
              </a:lnSpc>
            </a:pPr>
            <a:r>
              <a:rPr lang="zh-CN" altLang="zh-CN" sz="2000" b="1" dirty="0">
                <a:latin typeface="+mj-ea"/>
                <a:ea typeface="+mj-ea"/>
              </a:rPr>
              <a:t>0代表正，1代表为负</a:t>
            </a:r>
            <a:endParaRPr lang="en-US" altLang="zh-CN" sz="2000" b="1" dirty="0">
              <a:latin typeface="+mj-ea"/>
              <a:ea typeface="+mj-ea"/>
            </a:endParaRPr>
          </a:p>
          <a:p>
            <a:pPr lvl="3">
              <a:lnSpc>
                <a:spcPct val="125000"/>
              </a:lnSpc>
            </a:pPr>
            <a:r>
              <a:rPr lang="zh-CN" altLang="en-US" sz="2400" b="1" dirty="0">
                <a:latin typeface="+mj-ea"/>
                <a:ea typeface="+mj-ea"/>
              </a:rPr>
              <a:t>指数位</a:t>
            </a:r>
            <a:endParaRPr lang="en-US" altLang="zh-CN" sz="2400" b="1" dirty="0">
              <a:latin typeface="+mj-ea"/>
              <a:ea typeface="+mj-ea"/>
            </a:endParaRPr>
          </a:p>
          <a:p>
            <a:pPr lvl="4">
              <a:lnSpc>
                <a:spcPct val="125000"/>
              </a:lnSpc>
            </a:pPr>
            <a:r>
              <a:rPr lang="zh-CN" altLang="zh-CN" sz="2000" b="1" dirty="0">
                <a:latin typeface="+mj-ea"/>
                <a:ea typeface="+mj-ea"/>
              </a:rPr>
              <a:t>用于存储科学计数法中的指数数据，并且采用移位存储</a:t>
            </a:r>
            <a:r>
              <a:rPr lang="zh-CN" altLang="en-US" sz="2000" b="1" dirty="0">
                <a:latin typeface="+mj-ea"/>
                <a:ea typeface="+mj-ea"/>
              </a:rPr>
              <a:t>，即以</a:t>
            </a:r>
            <a:r>
              <a:rPr lang="en-US" altLang="zh-CN" sz="2000" b="1" dirty="0">
                <a:latin typeface="+mj-ea"/>
                <a:ea typeface="+mj-ea"/>
              </a:rPr>
              <a:t>2</a:t>
            </a:r>
            <a:r>
              <a:rPr lang="en-US" altLang="zh-CN" sz="2000" b="1" baseline="30000" dirty="0">
                <a:latin typeface="+mj-ea"/>
                <a:ea typeface="+mj-ea"/>
              </a:rPr>
              <a:t>10</a:t>
            </a:r>
            <a:r>
              <a:rPr lang="en-US" altLang="zh-CN" sz="2000" b="1" dirty="0">
                <a:latin typeface="+mj-ea"/>
                <a:ea typeface="+mj-ea"/>
              </a:rPr>
              <a:t>-1</a:t>
            </a:r>
            <a:r>
              <a:rPr lang="zh-CN" altLang="en-US" sz="2000" b="1" dirty="0">
                <a:latin typeface="+mj-ea"/>
                <a:ea typeface="+mj-ea"/>
              </a:rPr>
              <a:t>为基准，加减指数</a:t>
            </a:r>
            <a:endParaRPr lang="en-US" altLang="zh-CN" sz="2000" b="1" dirty="0">
              <a:latin typeface="+mj-ea"/>
              <a:ea typeface="+mj-ea"/>
            </a:endParaRPr>
          </a:p>
          <a:p>
            <a:pPr lvl="3">
              <a:lnSpc>
                <a:spcPct val="125000"/>
              </a:lnSpc>
            </a:pPr>
            <a:r>
              <a:rPr lang="zh-CN" altLang="en-US" sz="2400" b="1" dirty="0">
                <a:latin typeface="+mj-ea"/>
                <a:ea typeface="+mj-ea"/>
              </a:rPr>
              <a:t>尾数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529" y="4286256"/>
            <a:ext cx="473392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214290"/>
            <a:ext cx="8715436" cy="5643602"/>
          </a:xfrm>
        </p:spPr>
        <p:txBody>
          <a:bodyPr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latin typeface="+mj-ea"/>
                <a:ea typeface="+mj-ea"/>
              </a:rPr>
              <a:t>常量的数据类型</a:t>
            </a:r>
            <a:r>
              <a:rPr lang="en-US" altLang="zh-CN" sz="2800" b="1" dirty="0">
                <a:latin typeface="+mj-ea"/>
                <a:ea typeface="+mj-ea"/>
              </a:rPr>
              <a:t>  </a:t>
            </a:r>
          </a:p>
          <a:p>
            <a:pPr lvl="1">
              <a:lnSpc>
                <a:spcPct val="125000"/>
              </a:lnSpc>
            </a:pPr>
            <a:r>
              <a:rPr lang="zh-CN" altLang="en-US" sz="2400" b="1" dirty="0">
                <a:latin typeface="+mj-ea"/>
                <a:ea typeface="+mj-ea"/>
              </a:rPr>
              <a:t>浮点数的存储（以</a:t>
            </a:r>
            <a:r>
              <a:rPr lang="en-US" altLang="zh-CN" sz="2400" b="1" dirty="0">
                <a:latin typeface="+mj-ea"/>
                <a:ea typeface="+mj-ea"/>
              </a:rPr>
              <a:t>double</a:t>
            </a:r>
            <a:r>
              <a:rPr lang="zh-CN" altLang="en-US" sz="2400" b="1" dirty="0">
                <a:latin typeface="+mj-ea"/>
                <a:ea typeface="+mj-ea"/>
              </a:rPr>
              <a:t>型浮点数为例）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5000"/>
              </a:lnSpc>
              <a:spcBef>
                <a:spcPts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浮点数存储之前做如下转换：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25000"/>
              </a:lnSpc>
              <a:spcBef>
                <a:spcPts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如：</a:t>
            </a:r>
            <a:r>
              <a:rPr lang="en-US" altLang="zh-CN" sz="2400" b="1" dirty="0">
                <a:latin typeface="+mj-ea"/>
                <a:ea typeface="+mj-ea"/>
              </a:rPr>
              <a:t>118.5(10) = 1110110.1(2) = 1.1101101×2</a:t>
            </a:r>
            <a:r>
              <a:rPr lang="en-US" altLang="zh-CN" sz="2400" b="1" baseline="30000" dirty="0">
                <a:latin typeface="+mj-ea"/>
                <a:ea typeface="+mj-ea"/>
              </a:rPr>
              <a:t>6</a:t>
            </a:r>
          </a:p>
          <a:p>
            <a:pPr lvl="2">
              <a:lnSpc>
                <a:spcPct val="125000"/>
              </a:lnSpc>
              <a:spcBef>
                <a:spcPts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二进制科学计数法的整数部分必为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，因此只需存储小数部分即可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5000"/>
              </a:lnSpc>
              <a:spcBef>
                <a:spcPts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正数符号位为</a:t>
            </a:r>
            <a:r>
              <a:rPr lang="en-US" altLang="zh-CN" sz="2400" b="1" dirty="0">
                <a:latin typeface="+mj-ea"/>
                <a:ea typeface="+mj-ea"/>
              </a:rPr>
              <a:t>0</a:t>
            </a:r>
          </a:p>
          <a:p>
            <a:pPr lvl="2">
              <a:lnSpc>
                <a:spcPct val="125000"/>
              </a:lnSpc>
              <a:spcBef>
                <a:spcPts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指数为</a:t>
            </a:r>
            <a:r>
              <a:rPr lang="en-US" altLang="zh-CN" sz="2400" b="1" dirty="0">
                <a:latin typeface="+mj-ea"/>
                <a:ea typeface="+mj-ea"/>
              </a:rPr>
              <a:t>6</a:t>
            </a:r>
            <a:r>
              <a:rPr lang="zh-CN" altLang="en-US" sz="2400" b="1" dirty="0">
                <a:latin typeface="+mj-ea"/>
                <a:ea typeface="+mj-ea"/>
              </a:rPr>
              <a:t>，以</a:t>
            </a:r>
            <a:r>
              <a:rPr lang="en-US" altLang="zh-CN" sz="2400" b="1" dirty="0">
                <a:latin typeface="+mj-ea"/>
                <a:ea typeface="+mj-ea"/>
              </a:rPr>
              <a:t>2</a:t>
            </a:r>
            <a:r>
              <a:rPr lang="en-US" altLang="zh-CN" sz="2400" b="1" baseline="30000" dirty="0">
                <a:latin typeface="+mj-ea"/>
                <a:ea typeface="+mj-ea"/>
              </a:rPr>
              <a:t>10</a:t>
            </a:r>
            <a:r>
              <a:rPr lang="en-US" altLang="zh-CN" sz="2400" b="1" dirty="0">
                <a:latin typeface="+mj-ea"/>
                <a:ea typeface="+mj-ea"/>
              </a:rPr>
              <a:t>-1</a:t>
            </a:r>
            <a:r>
              <a:rPr lang="zh-CN" altLang="en-US" sz="2400" b="1" dirty="0">
                <a:latin typeface="+mj-ea"/>
                <a:ea typeface="+mj-ea"/>
              </a:rPr>
              <a:t>为基准进行移位，得到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25000"/>
              </a:lnSpc>
              <a:spcBef>
                <a:spcPts val="0"/>
              </a:spcBef>
            </a:pPr>
            <a:r>
              <a:rPr lang="en-US" altLang="zh-CN" sz="2400" b="1" dirty="0">
                <a:latin typeface="+mj-ea"/>
                <a:ea typeface="+mj-ea"/>
              </a:rPr>
              <a:t>10000000101</a:t>
            </a:r>
            <a:r>
              <a:rPr lang="zh-CN" altLang="en-US" sz="2400" b="1" dirty="0">
                <a:latin typeface="+mj-ea"/>
                <a:ea typeface="+mj-ea"/>
              </a:rPr>
              <a:t>（</a:t>
            </a:r>
            <a:r>
              <a:rPr lang="en-US" altLang="zh-CN" sz="2400" b="1" dirty="0">
                <a:latin typeface="+mj-ea"/>
                <a:ea typeface="+mj-ea"/>
              </a:rPr>
              <a:t>1111111111+110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5000"/>
              </a:lnSpc>
              <a:spcBef>
                <a:spcPts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剩余的小数部分从最高位开始填充尾数部分，填充完毕尾数的剩余</a:t>
            </a:r>
            <a:r>
              <a:rPr lang="en-US" altLang="zh-CN" sz="2400" b="1" dirty="0">
                <a:latin typeface="+mj-ea"/>
                <a:ea typeface="+mj-ea"/>
              </a:rPr>
              <a:t>bit</a:t>
            </a:r>
            <a:r>
              <a:rPr lang="zh-CN" altLang="en-US" sz="2400" b="1" dirty="0">
                <a:latin typeface="+mj-ea"/>
                <a:ea typeface="+mj-ea"/>
              </a:rPr>
              <a:t>补</a:t>
            </a:r>
            <a:r>
              <a:rPr lang="en-US" altLang="zh-CN" sz="2400" b="1" dirty="0">
                <a:latin typeface="+mj-ea"/>
                <a:ea typeface="+mj-ea"/>
              </a:rPr>
              <a:t>0</a:t>
            </a:r>
          </a:p>
          <a:p>
            <a:pPr lvl="3">
              <a:lnSpc>
                <a:spcPct val="125000"/>
              </a:lnSpc>
              <a:spcBef>
                <a:spcPts val="0"/>
              </a:spcBef>
            </a:pPr>
            <a:r>
              <a:rPr lang="en-US" altLang="zh-CN" sz="2400" b="1" dirty="0">
                <a:latin typeface="+mj-ea"/>
                <a:ea typeface="+mj-ea"/>
              </a:rPr>
              <a:t>1101101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000000000000000000000000000000000000000000000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25</a:t>
            </a:fld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38" y="-24"/>
            <a:ext cx="8929718" cy="484632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常量的数据类型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latin typeface="+mj-ea"/>
                <a:ea typeface="+mj-ea"/>
              </a:rPr>
              <a:t>字符型常量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latin typeface="+mj-ea"/>
                <a:ea typeface="+mj-ea"/>
              </a:rPr>
              <a:t>用单引号括起的基本符号</a:t>
            </a:r>
            <a:endParaRPr lang="en-US" altLang="zh-CN" sz="2800" b="1" dirty="0">
              <a:latin typeface="+mj-ea"/>
              <a:ea typeface="+mj-ea"/>
            </a:endParaRP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‘A’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，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‘g’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 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，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‘3’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，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’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˽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’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latin typeface="+mj-ea"/>
                <a:ea typeface="+mj-ea"/>
              </a:rPr>
              <a:t>占</a:t>
            </a:r>
            <a:r>
              <a:rPr lang="en-US" altLang="zh-CN" sz="2800" b="1" dirty="0">
                <a:latin typeface="+mj-ea"/>
                <a:ea typeface="+mj-ea"/>
              </a:rPr>
              <a:t>1</a:t>
            </a:r>
            <a:r>
              <a:rPr lang="zh-CN" altLang="en-US" sz="2800" b="1" dirty="0">
                <a:latin typeface="+mj-ea"/>
                <a:ea typeface="+mj-ea"/>
              </a:rPr>
              <a:t>个字节</a:t>
            </a:r>
            <a:endParaRPr lang="en-US" altLang="zh-CN" sz="2800" b="1" dirty="0">
              <a:latin typeface="+mj-ea"/>
              <a:ea typeface="+mj-ea"/>
            </a:endParaRP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latin typeface="+mj-ea"/>
                <a:ea typeface="+mj-ea"/>
              </a:rPr>
              <a:t>表示范围：</a:t>
            </a:r>
            <a:r>
              <a:rPr lang="en-US" altLang="zh-CN" sz="2800" b="1" dirty="0">
                <a:latin typeface="+mj-ea"/>
                <a:ea typeface="+mj-ea"/>
              </a:rPr>
              <a:t>-128</a:t>
            </a:r>
            <a:r>
              <a:rPr lang="en-US" altLang="zh-CN" sz="2800" b="1" dirty="0">
                <a:latin typeface="+mj-ea"/>
                <a:ea typeface="+mj-ea"/>
                <a:cs typeface="Tahoma" pitchFamily="34" charset="0"/>
              </a:rPr>
              <a:t>~</a:t>
            </a:r>
            <a:r>
              <a:rPr lang="en-US" altLang="zh-CN" sz="2800" b="1" dirty="0">
                <a:latin typeface="+mj-ea"/>
                <a:ea typeface="+mj-ea"/>
              </a:rPr>
              <a:t>127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1" dirty="0">
                <a:latin typeface="+mj-ea"/>
                <a:ea typeface="+mj-ea"/>
              </a:rPr>
              <a:t>ASCII</a:t>
            </a:r>
            <a:r>
              <a:rPr lang="zh-CN" altLang="en-US" sz="2800" b="1" dirty="0">
                <a:latin typeface="+mj-ea"/>
                <a:ea typeface="+mj-ea"/>
              </a:rPr>
              <a:t>码将字符型常量与整型常量建立对应关系</a:t>
            </a:r>
            <a:endParaRPr lang="en-US" altLang="zh-CN" sz="2800" b="1" dirty="0">
              <a:latin typeface="+mj-ea"/>
              <a:ea typeface="+mj-ea"/>
            </a:endParaRP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1" dirty="0">
                <a:latin typeface="+mj-ea"/>
                <a:ea typeface="+mj-ea"/>
              </a:rPr>
              <a:t>0</a:t>
            </a:r>
            <a:r>
              <a:rPr lang="en-US" altLang="zh-CN" sz="2800" b="1" dirty="0">
                <a:latin typeface="+mj-ea"/>
                <a:ea typeface="+mj-ea"/>
                <a:cs typeface="Tahoma" pitchFamily="34" charset="0"/>
              </a:rPr>
              <a:t>~</a:t>
            </a:r>
            <a:r>
              <a:rPr lang="en-US" altLang="zh-CN" sz="2800" b="1" dirty="0">
                <a:latin typeface="+mj-ea"/>
                <a:ea typeface="+mj-ea"/>
              </a:rPr>
              <a:t>127</a:t>
            </a:r>
            <a:r>
              <a:rPr lang="zh-CN" altLang="en-US" sz="2800" b="1" dirty="0">
                <a:latin typeface="+mj-ea"/>
                <a:ea typeface="+mj-ea"/>
              </a:rPr>
              <a:t>，</a:t>
            </a:r>
            <a:r>
              <a:rPr lang="en-US" altLang="zh-CN" sz="2800" b="1" dirty="0">
                <a:latin typeface="+mj-ea"/>
                <a:ea typeface="+mj-ea"/>
              </a:rPr>
              <a:t>P27</a:t>
            </a:r>
            <a:r>
              <a:rPr lang="zh-CN" altLang="en-US" sz="2800" b="1" dirty="0">
                <a:latin typeface="+mj-ea"/>
                <a:ea typeface="+mj-ea"/>
              </a:rPr>
              <a:t>表</a:t>
            </a:r>
            <a:r>
              <a:rPr lang="en-US" altLang="zh-CN" sz="2800" b="1" dirty="0">
                <a:latin typeface="+mj-ea"/>
                <a:ea typeface="+mj-ea"/>
              </a:rPr>
              <a:t>2.1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latin typeface="+mj-ea"/>
                <a:ea typeface="+mj-ea"/>
              </a:rPr>
              <a:t>字符串常量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latin typeface="+mj-ea"/>
                <a:ea typeface="+mj-ea"/>
              </a:rPr>
              <a:t>用双引号括起来的字符序列</a:t>
            </a:r>
            <a:endParaRPr lang="en-US" altLang="zh-CN" sz="2800" b="1" dirty="0">
              <a:latin typeface="+mj-ea"/>
              <a:ea typeface="+mj-ea"/>
            </a:endParaRP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以字符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‘\0’</a:t>
            </a:r>
            <a:r>
              <a:rPr lang="zh-CN" altLang="en-US" sz="2400" b="1" dirty="0">
                <a:latin typeface="+mj-ea"/>
                <a:ea typeface="+mj-ea"/>
              </a:rPr>
              <a:t>结尾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20000"/>
              </a:lnSpc>
              <a:spcBef>
                <a:spcPts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字符串长度为字符数</a:t>
            </a:r>
            <a:r>
              <a:rPr lang="en-US" altLang="zh-CN" sz="2400" b="1" dirty="0">
                <a:latin typeface="+mj-ea"/>
                <a:ea typeface="+mj-ea"/>
              </a:rPr>
              <a:t>+1</a:t>
            </a:r>
            <a:r>
              <a:rPr lang="zh-CN" altLang="en-US" sz="2400" b="1" dirty="0">
                <a:latin typeface="+mj-ea"/>
                <a:ea typeface="+mj-ea"/>
              </a:rPr>
              <a:t>，如“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string constant</a:t>
            </a:r>
            <a:r>
              <a:rPr lang="zh-CN" altLang="en-US" sz="2400" b="1" dirty="0">
                <a:latin typeface="+mj-ea"/>
                <a:ea typeface="+mj-ea"/>
              </a:rPr>
              <a:t>”长度为</a:t>
            </a:r>
            <a:r>
              <a:rPr lang="en-US" altLang="zh-CN" sz="2400" b="1" dirty="0">
                <a:latin typeface="+mj-ea"/>
                <a:ea typeface="+mj-ea"/>
              </a:rPr>
              <a:t>16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26</a:t>
            </a:fld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06" y="223830"/>
            <a:ext cx="8858312" cy="22050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运算符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由字母、数字之外的第三类基本符号组成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个别关键字如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sizeof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new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delete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，也被认为是运算符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其余运算符为：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3544" y="2503984"/>
            <a:ext cx="7980422" cy="1789112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sp>
        <p:nvSpPr>
          <p:cNvPr id="7" name="内容占位符 2"/>
          <p:cNvSpPr txBox="1">
            <a:spLocks/>
          </p:cNvSpPr>
          <p:nvPr/>
        </p:nvSpPr>
        <p:spPr bwMode="auto">
          <a:xfrm>
            <a:off x="142844" y="4441102"/>
            <a:ext cx="8153400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</a:rPr>
              <a:t>某些运算符还有其它用途，如乘运算符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</a:rPr>
              <a:t>*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580450"/>
            <a:ext cx="8640960" cy="2776542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分割符（</a:t>
            </a:r>
            <a:r>
              <a:rPr lang="en-US" altLang="zh-CN" sz="3200" b="1" dirty="0">
                <a:latin typeface="+mj-ea"/>
                <a:ea typeface="+mj-ea"/>
              </a:rPr>
              <a:t>separator</a:t>
            </a:r>
            <a:r>
              <a:rPr lang="zh-CN" altLang="en-US" sz="3200" b="1" dirty="0">
                <a:latin typeface="+mj-ea"/>
                <a:ea typeface="+mj-ea"/>
              </a:rPr>
              <a:t>）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没有明确的含义，但在程序中必不可少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用来界定或分割程序中的语法成分，类似于“标点符号”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常用分割符有：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32694" y="3826280"/>
            <a:ext cx="4427538" cy="5080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 bwMode="auto">
          <a:xfrm>
            <a:off x="2019951" y="3903439"/>
            <a:ext cx="214314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rIns="0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˽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AutoShape 3"/>
          <p:cNvSpPr>
            <a:spLocks noChangeArrowheads="1"/>
          </p:cNvSpPr>
          <p:nvPr/>
        </p:nvSpPr>
        <p:spPr bwMode="gray">
          <a:xfrm>
            <a:off x="1668463" y="2555875"/>
            <a:ext cx="5759450" cy="2159000"/>
          </a:xfrm>
          <a:prstGeom prst="upArrow">
            <a:avLst>
              <a:gd name="adj1" fmla="val 57296"/>
              <a:gd name="adj2" fmla="val 62796"/>
            </a:avLst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tint val="33333"/>
                  <a:invGamma/>
                  <a:alpha val="0"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691063" y="4279900"/>
            <a:ext cx="1512887" cy="1511300"/>
            <a:chOff x="2200" y="1570"/>
            <a:chExt cx="1496" cy="1496"/>
          </a:xfrm>
        </p:grpSpPr>
        <p:sp>
          <p:nvSpPr>
            <p:cNvPr id="58373" name="Oval 5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74" name="Oval 6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5725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75" name="Oval 7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76" name="Oval 8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77" name="Oval 9"/>
            <p:cNvSpPr>
              <a:spLocks noChangeArrowheads="1"/>
            </p:cNvSpPr>
            <p:nvPr/>
          </p:nvSpPr>
          <p:spPr bwMode="gray">
            <a:xfrm>
              <a:off x="2363" y="1733"/>
              <a:ext cx="1170" cy="11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6564313" y="4279900"/>
            <a:ext cx="1512887" cy="1511300"/>
            <a:chOff x="2200" y="1570"/>
            <a:chExt cx="1496" cy="1496"/>
          </a:xfrm>
        </p:grpSpPr>
        <p:sp>
          <p:nvSpPr>
            <p:cNvPr id="58385" name="Oval 17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tint val="0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86" name="Oval 18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tint val="66667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87" name="Oval 19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shade val="54118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88" name="Oval 20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89" name="Oval 21"/>
            <p:cNvSpPr>
              <a:spLocks noChangeArrowheads="1"/>
            </p:cNvSpPr>
            <p:nvPr/>
          </p:nvSpPr>
          <p:spPr bwMode="gray">
            <a:xfrm>
              <a:off x="2363" y="1733"/>
              <a:ext cx="1170" cy="1170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2892425" y="4279900"/>
            <a:ext cx="1512888" cy="1511300"/>
            <a:chOff x="2200" y="1570"/>
            <a:chExt cx="1496" cy="1496"/>
          </a:xfrm>
        </p:grpSpPr>
        <p:sp>
          <p:nvSpPr>
            <p:cNvPr id="58391" name="Oval 23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92" name="Oval 24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69804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93" name="Oval 25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94" name="Oval 26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95" name="Oval 27"/>
            <p:cNvSpPr>
              <a:spLocks noChangeArrowheads="1"/>
            </p:cNvSpPr>
            <p:nvPr/>
          </p:nvSpPr>
          <p:spPr bwMode="gray">
            <a:xfrm>
              <a:off x="2363" y="1733"/>
              <a:ext cx="1170" cy="117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8396" name="AutoShape 28"/>
          <p:cNvSpPr>
            <a:spLocks noChangeArrowheads="1"/>
          </p:cNvSpPr>
          <p:nvPr/>
        </p:nvSpPr>
        <p:spPr bwMode="auto">
          <a:xfrm>
            <a:off x="2109788" y="1917700"/>
            <a:ext cx="48768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hlink"/>
              </a:gs>
              <a:gs pos="50000">
                <a:schemeClr val="hlink">
                  <a:gamma/>
                  <a:tint val="18039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400" b="1" dirty="0">
                <a:ea typeface="宋体" pitchFamily="2" charset="-122"/>
              </a:rPr>
              <a:t>C++</a:t>
            </a:r>
            <a:r>
              <a:rPr lang="zh-CN" altLang="en-US" sz="2400" b="1" dirty="0">
                <a:ea typeface="宋体" pitchFamily="2" charset="-122"/>
              </a:rPr>
              <a:t>程序的基本框架</a:t>
            </a:r>
            <a:endParaRPr lang="en-US" altLang="zh-CN" sz="2400" b="1" dirty="0">
              <a:ea typeface="宋体" pitchFamily="2" charset="-122"/>
            </a:endParaRPr>
          </a:p>
        </p:txBody>
      </p:sp>
      <p:sp>
        <p:nvSpPr>
          <p:cNvPr id="58398" name="Rectangle 30"/>
          <p:cNvSpPr>
            <a:spLocks noChangeArrowheads="1"/>
          </p:cNvSpPr>
          <p:nvPr/>
        </p:nvSpPr>
        <p:spPr bwMode="white">
          <a:xfrm>
            <a:off x="4788024" y="4653136"/>
            <a:ext cx="144301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结构程序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框架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8399" name="Rectangle 31"/>
          <p:cNvSpPr>
            <a:spLocks noChangeArrowheads="1"/>
          </p:cNvSpPr>
          <p:nvPr/>
        </p:nvSpPr>
        <p:spPr bwMode="white">
          <a:xfrm>
            <a:off x="3059832" y="4767535"/>
            <a:ext cx="1112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主函数</a:t>
            </a:r>
            <a:endParaRPr lang="en-US" altLang="zh-CN" b="1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8400" name="Rectangle 32"/>
          <p:cNvSpPr>
            <a:spLocks noChangeArrowheads="1"/>
          </p:cNvSpPr>
          <p:nvPr/>
        </p:nvSpPr>
        <p:spPr bwMode="white">
          <a:xfrm>
            <a:off x="6660232" y="4581128"/>
            <a:ext cx="142218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面向对象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程序框架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1119188" y="4279900"/>
            <a:ext cx="1512887" cy="1511300"/>
            <a:chOff x="2200" y="1570"/>
            <a:chExt cx="1496" cy="1496"/>
          </a:xfrm>
        </p:grpSpPr>
        <p:sp>
          <p:nvSpPr>
            <p:cNvPr id="58402" name="Oval 34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0"/>
                    <a:invGamma/>
                  </a:schemeClr>
                </a:gs>
                <a:gs pos="50000">
                  <a:schemeClr val="tx2"/>
                </a:gs>
                <a:gs pos="100000">
                  <a:schemeClr val="tx2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403" name="Oval 35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69804"/>
                    <a:invGamma/>
                  </a:schemeClr>
                </a:gs>
                <a:gs pos="100000">
                  <a:schemeClr val="tx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404" name="Oval 36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shade val="54118"/>
                    <a:invGamma/>
                  </a:schemeClr>
                </a:gs>
                <a:gs pos="50000">
                  <a:schemeClr val="tx2"/>
                </a:gs>
                <a:gs pos="100000">
                  <a:schemeClr val="tx2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405" name="Oval 37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tx2"/>
                </a:gs>
                <a:gs pos="100000">
                  <a:schemeClr val="tx2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406" name="Oval 38"/>
            <p:cNvSpPr>
              <a:spLocks noChangeArrowheads="1"/>
            </p:cNvSpPr>
            <p:nvPr/>
          </p:nvSpPr>
          <p:spPr bwMode="gray">
            <a:xfrm>
              <a:off x="2363" y="1733"/>
              <a:ext cx="1170" cy="1170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8407" name="Rectangle 39"/>
          <p:cNvSpPr>
            <a:spLocks noChangeArrowheads="1"/>
          </p:cNvSpPr>
          <p:nvPr/>
        </p:nvSpPr>
        <p:spPr bwMode="white">
          <a:xfrm>
            <a:off x="1152700" y="4757082"/>
            <a:ext cx="14750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预处理命令</a:t>
            </a:r>
            <a:endParaRPr lang="en-US" altLang="zh-CN" b="1" dirty="0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B68035-F19A-4FA4-8D20-A5484286C247}" type="slidenum">
              <a:rPr lang="en-US" altLang="zh-CN" smtClean="0"/>
              <a:pPr/>
              <a:t>29</a:t>
            </a:fld>
            <a:endParaRPr lang="en-US" altLang="zh-CN"/>
          </a:p>
        </p:txBody>
      </p:sp>
      <p:sp>
        <p:nvSpPr>
          <p:cNvPr id="36" name="标题 35"/>
          <p:cNvSpPr>
            <a:spLocks noGrp="1"/>
          </p:cNvSpPr>
          <p:nvPr>
            <p:ph type="title"/>
          </p:nvPr>
        </p:nvSpPr>
        <p:spPr>
          <a:xfrm>
            <a:off x="457200" y="125760"/>
            <a:ext cx="7242048" cy="1143000"/>
          </a:xfrm>
        </p:spPr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程序的基本框架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34" y="-531440"/>
            <a:ext cx="7239000" cy="1143000"/>
          </a:xfrm>
        </p:spPr>
        <p:txBody>
          <a:bodyPr/>
          <a:lstStyle/>
          <a:p>
            <a:r>
              <a:rPr lang="zh-CN" altLang="en-US" dirty="0"/>
              <a:t>主函数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64704"/>
            <a:ext cx="8786874" cy="5688632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>
                <a:latin typeface="+mj-ea"/>
                <a:ea typeface="+mj-ea"/>
              </a:rPr>
              <a:t>以标识符</a:t>
            </a:r>
            <a:r>
              <a:rPr lang="en-US" altLang="zh-CN" sz="2800" b="1" dirty="0">
                <a:latin typeface="+mj-ea"/>
                <a:ea typeface="+mj-ea"/>
              </a:rPr>
              <a:t>main</a:t>
            </a:r>
            <a:r>
              <a:rPr lang="zh-CN" altLang="en-US" sz="2800" b="1" dirty="0">
                <a:latin typeface="+mj-ea"/>
                <a:ea typeface="+mj-ea"/>
              </a:rPr>
              <a:t>命名的、具有特殊性质和功能的函数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C++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程序的主控模块或入口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不能被其它函数调用，不能作其它属性声明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返回值类型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5000"/>
              </a:lnSpc>
              <a:spcBef>
                <a:spcPts val="0"/>
              </a:spcBef>
            </a:pPr>
            <a:r>
              <a:rPr lang="en-US" altLang="zh-CN" sz="2400" b="1" dirty="0">
                <a:latin typeface="+mj-ea"/>
                <a:ea typeface="+mj-ea"/>
              </a:rPr>
              <a:t>void</a:t>
            </a:r>
          </a:p>
          <a:p>
            <a:pPr lvl="2">
              <a:lnSpc>
                <a:spcPct val="125000"/>
              </a:lnSpc>
              <a:spcBef>
                <a:spcPts val="0"/>
              </a:spcBef>
            </a:pPr>
            <a:r>
              <a:rPr lang="en-US" altLang="zh-CN" sz="2400" b="1" dirty="0" err="1">
                <a:latin typeface="+mj-ea"/>
                <a:ea typeface="+mj-ea"/>
              </a:rPr>
              <a:t>int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参数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5000"/>
              </a:lnSpc>
              <a:spcBef>
                <a:spcPts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不带参数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5000"/>
              </a:lnSpc>
              <a:spcBef>
                <a:spcPts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带参数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25000"/>
              </a:lnSpc>
              <a:spcBef>
                <a:spcPts val="0"/>
              </a:spcBef>
            </a:pPr>
            <a:r>
              <a:rPr lang="en-US" altLang="zh-CN" sz="2400" b="1" dirty="0" err="1">
                <a:latin typeface="+mj-ea"/>
                <a:ea typeface="+mj-ea"/>
              </a:rPr>
              <a:t>int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 err="1">
                <a:latin typeface="+mj-ea"/>
                <a:ea typeface="+mj-ea"/>
              </a:rPr>
              <a:t>argc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25000"/>
              </a:lnSpc>
              <a:spcBef>
                <a:spcPts val="0"/>
              </a:spcBef>
            </a:pPr>
            <a:r>
              <a:rPr lang="en-US" altLang="zh-CN" sz="2400" b="1" dirty="0">
                <a:latin typeface="+mj-ea"/>
                <a:ea typeface="+mj-ea"/>
              </a:rPr>
              <a:t>char * </a:t>
            </a:r>
            <a:r>
              <a:rPr lang="en-US" altLang="zh-CN" sz="2400" b="1" dirty="0" err="1">
                <a:latin typeface="+mj-ea"/>
                <a:ea typeface="+mj-ea"/>
              </a:rPr>
              <a:t>argv</a:t>
            </a:r>
            <a:r>
              <a:rPr lang="en-US" altLang="zh-CN" sz="2400" b="1" dirty="0">
                <a:latin typeface="+mj-ea"/>
                <a:ea typeface="+mj-ea"/>
              </a:rPr>
              <a:t>[ ]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30</a:t>
            </a:fld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152524"/>
            <a:ext cx="8153400" cy="4905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b="1" dirty="0">
                <a:latin typeface="+mj-ea"/>
                <a:ea typeface="+mj-ea"/>
              </a:rPr>
              <a:t>主函数的写法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11560" y="2060848"/>
          <a:ext cx="8424936" cy="3445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22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返回值类型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不带参数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带参数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22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b="1" dirty="0"/>
                        <a:t>void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void main()</a:t>
                      </a:r>
                      <a:endParaRPr lang="zh-CN" altLang="en-US" b="1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/>
                        <a:t>void main(</a:t>
                      </a:r>
                      <a:r>
                        <a:rPr lang="en-US" altLang="zh-CN" b="1" dirty="0" err="1"/>
                        <a:t>int</a:t>
                      </a:r>
                      <a:r>
                        <a:rPr lang="en-US" altLang="zh-CN" b="1" dirty="0"/>
                        <a:t> </a:t>
                      </a:r>
                      <a:r>
                        <a:rPr lang="en-US" altLang="zh-CN" b="1" dirty="0" err="1"/>
                        <a:t>argc</a:t>
                      </a:r>
                      <a:r>
                        <a:rPr lang="en-US" altLang="zh-CN" b="1" dirty="0"/>
                        <a:t>, char* </a:t>
                      </a:r>
                      <a:r>
                        <a:rPr lang="en-US" altLang="zh-CN" b="1" dirty="0" err="1"/>
                        <a:t>argv</a:t>
                      </a:r>
                      <a:r>
                        <a:rPr lang="en-US" altLang="zh-CN" b="1" dirty="0"/>
                        <a:t>[</a:t>
                      </a:r>
                      <a:r>
                        <a:rPr lang="en-US" altLang="zh-CN" b="1" baseline="0" dirty="0"/>
                        <a:t>]</a:t>
                      </a:r>
                      <a:r>
                        <a:rPr lang="en-US" altLang="zh-CN" b="1" dirty="0"/>
                        <a:t>)</a:t>
                      </a:r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2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void main(void)</a:t>
                      </a:r>
                      <a:endParaRPr lang="zh-CN" altLang="en-US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22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b="1" dirty="0" err="1"/>
                        <a:t>int</a:t>
                      </a:r>
                      <a:endParaRPr lang="zh-CN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int</a:t>
                      </a:r>
                      <a:r>
                        <a:rPr lang="en-US" altLang="zh-CN" b="1" dirty="0"/>
                        <a:t> main()</a:t>
                      </a:r>
                      <a:endParaRPr lang="zh-CN" altLang="en-US" b="1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 err="1"/>
                        <a:t>int</a:t>
                      </a:r>
                      <a:r>
                        <a:rPr lang="en-US" altLang="zh-CN" b="1" dirty="0"/>
                        <a:t> main(</a:t>
                      </a:r>
                      <a:r>
                        <a:rPr lang="en-US" altLang="zh-CN" b="1" dirty="0" err="1"/>
                        <a:t>int</a:t>
                      </a:r>
                      <a:r>
                        <a:rPr lang="en-US" altLang="zh-CN" b="1" dirty="0"/>
                        <a:t> </a:t>
                      </a:r>
                      <a:r>
                        <a:rPr lang="en-US" altLang="zh-CN" b="1" dirty="0" err="1"/>
                        <a:t>argc</a:t>
                      </a:r>
                      <a:r>
                        <a:rPr lang="en-US" altLang="zh-CN" b="1" dirty="0"/>
                        <a:t>, char* </a:t>
                      </a:r>
                      <a:r>
                        <a:rPr lang="en-US" altLang="zh-CN" b="1" dirty="0" err="1"/>
                        <a:t>argv</a:t>
                      </a:r>
                      <a:r>
                        <a:rPr lang="en-US" altLang="zh-CN" b="1" dirty="0"/>
                        <a:t>[</a:t>
                      </a:r>
                      <a:r>
                        <a:rPr lang="en-US" altLang="zh-CN" b="1" baseline="0" dirty="0"/>
                        <a:t>]</a:t>
                      </a:r>
                      <a:r>
                        <a:rPr lang="en-US" altLang="zh-CN" b="1" dirty="0"/>
                        <a:t>)</a:t>
                      </a:r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2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err="1"/>
                        <a:t>int</a:t>
                      </a:r>
                      <a:r>
                        <a:rPr lang="en-US" altLang="zh-CN" b="1" dirty="0"/>
                        <a:t> main(void)</a:t>
                      </a:r>
                      <a:endParaRPr lang="zh-CN" altLang="en-US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222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缺省（返回值为</a:t>
                      </a:r>
                      <a:r>
                        <a:rPr lang="en-US" altLang="zh-CN" b="1" dirty="0" err="1"/>
                        <a:t>int</a:t>
                      </a:r>
                      <a:r>
                        <a:rPr lang="zh-CN" altLang="en-US" b="1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main()</a:t>
                      </a:r>
                      <a:endParaRPr lang="zh-CN" altLang="en-US" b="1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b="1" dirty="0"/>
                        <a:t>main(</a:t>
                      </a:r>
                      <a:r>
                        <a:rPr lang="en-US" altLang="zh-CN" b="1" dirty="0" err="1"/>
                        <a:t>int</a:t>
                      </a:r>
                      <a:r>
                        <a:rPr lang="en-US" altLang="zh-CN" b="1" dirty="0"/>
                        <a:t> </a:t>
                      </a:r>
                      <a:r>
                        <a:rPr lang="en-US" altLang="zh-CN" b="1" dirty="0" err="1"/>
                        <a:t>argc</a:t>
                      </a:r>
                      <a:r>
                        <a:rPr lang="en-US" altLang="zh-CN" b="1" dirty="0"/>
                        <a:t>, char* </a:t>
                      </a:r>
                      <a:r>
                        <a:rPr lang="en-US" altLang="zh-CN" b="1" dirty="0" err="1"/>
                        <a:t>argv</a:t>
                      </a:r>
                      <a:r>
                        <a:rPr lang="en-US" altLang="zh-CN" b="1" dirty="0"/>
                        <a:t>[</a:t>
                      </a:r>
                      <a:r>
                        <a:rPr lang="en-US" altLang="zh-CN" b="1" baseline="0" dirty="0"/>
                        <a:t>]</a:t>
                      </a:r>
                      <a:r>
                        <a:rPr lang="en-US" altLang="zh-CN" b="1" dirty="0"/>
                        <a:t>)</a:t>
                      </a:r>
                      <a:endParaRPr lang="zh-CN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22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main(void)</a:t>
                      </a:r>
                      <a:endParaRPr lang="zh-CN" altLang="en-US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188640"/>
            <a:ext cx="7239000" cy="595444"/>
          </a:xfrm>
        </p:spPr>
        <p:txBody>
          <a:bodyPr/>
          <a:lstStyle/>
          <a:p>
            <a:r>
              <a:rPr lang="zh-CN" altLang="en-US" dirty="0"/>
              <a:t>预处理命令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834" y="836712"/>
            <a:ext cx="8271622" cy="568863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>
                <a:latin typeface="+mj-ea"/>
                <a:ea typeface="+mj-ea"/>
              </a:rPr>
              <a:t>以符号“</a:t>
            </a:r>
            <a:r>
              <a:rPr lang="en-US" altLang="zh-CN" b="1" dirty="0">
                <a:latin typeface="+mj-ea"/>
                <a:ea typeface="+mj-ea"/>
              </a:rPr>
              <a:t>#</a:t>
            </a:r>
            <a:r>
              <a:rPr lang="zh-CN" altLang="en-US" b="1" dirty="0">
                <a:latin typeface="+mj-ea"/>
                <a:ea typeface="+mj-ea"/>
              </a:rPr>
              <a:t>”开头</a:t>
            </a:r>
            <a:endParaRPr lang="en-US" altLang="zh-CN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>
                <a:latin typeface="+mj-ea"/>
                <a:ea typeface="+mj-ea"/>
              </a:rPr>
              <a:t>指出编译程序之前需完成的预处理工作</a:t>
            </a:r>
            <a:endParaRPr lang="en-US" altLang="zh-CN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>
                <a:latin typeface="+mj-ea"/>
                <a:ea typeface="+mj-ea"/>
              </a:rPr>
              <a:t>主要预处理命令包括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文件嵌入命令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include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宏定义命令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define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b="1" dirty="0" err="1">
                <a:solidFill>
                  <a:srgbClr val="002060"/>
                </a:solidFill>
                <a:latin typeface="+mj-ea"/>
                <a:ea typeface="+mj-ea"/>
              </a:rPr>
              <a:t>undef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条件编译命令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en-US" altLang="zh-CN" sz="2400" b="1" dirty="0">
                <a:latin typeface="+mj-ea"/>
                <a:ea typeface="+mj-ea"/>
              </a:rPr>
              <a:t>#if……#</a:t>
            </a:r>
            <a:r>
              <a:rPr lang="en-US" altLang="zh-CN" sz="2400" b="1" dirty="0" err="1">
                <a:latin typeface="+mj-ea"/>
                <a:ea typeface="+mj-ea"/>
              </a:rPr>
              <a:t>endif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en-US" altLang="zh-CN" sz="2400" b="1" dirty="0">
                <a:latin typeface="+mj-ea"/>
                <a:ea typeface="+mj-ea"/>
              </a:rPr>
              <a:t>#</a:t>
            </a:r>
            <a:r>
              <a:rPr lang="en-US" altLang="zh-CN" sz="2400" b="1" dirty="0" err="1">
                <a:latin typeface="+mj-ea"/>
                <a:ea typeface="+mj-ea"/>
              </a:rPr>
              <a:t>ifdef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j-ea"/>
                <a:ea typeface="+mj-ea"/>
              </a:rPr>
              <a:t>#</a:t>
            </a:r>
            <a:r>
              <a:rPr lang="en-US" altLang="zh-CN" sz="2400" b="1" dirty="0" err="1">
                <a:latin typeface="+mj-ea"/>
                <a:ea typeface="+mj-ea"/>
              </a:rPr>
              <a:t>endif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en-US" altLang="zh-CN" sz="2400" b="1" dirty="0">
                <a:latin typeface="+mj-ea"/>
                <a:ea typeface="+mj-ea"/>
              </a:rPr>
              <a:t>#</a:t>
            </a:r>
            <a:r>
              <a:rPr lang="en-US" altLang="zh-CN" sz="2400" b="1" dirty="0" err="1">
                <a:latin typeface="+mj-ea"/>
                <a:ea typeface="+mj-ea"/>
              </a:rPr>
              <a:t>ifndef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j-ea"/>
                <a:ea typeface="+mj-ea"/>
              </a:rPr>
              <a:t>#</a:t>
            </a:r>
            <a:r>
              <a:rPr lang="en-US" altLang="zh-CN" sz="2400" b="1" dirty="0" err="1">
                <a:latin typeface="+mj-ea"/>
                <a:ea typeface="+mj-ea"/>
              </a:rPr>
              <a:t>endif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en-US" altLang="zh-CN" sz="2400" b="1" dirty="0">
                <a:latin typeface="+mj-ea"/>
                <a:ea typeface="+mj-ea"/>
              </a:rPr>
              <a:t>#</a:t>
            </a:r>
            <a:r>
              <a:rPr lang="en-US" altLang="zh-CN" sz="2400" b="1" dirty="0" err="1">
                <a:latin typeface="+mj-ea"/>
                <a:ea typeface="+mj-ea"/>
              </a:rPr>
              <a:t>elif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j-ea"/>
                <a:ea typeface="+mj-ea"/>
              </a:rPr>
              <a:t>#else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en-US" altLang="zh-CN" sz="2400" b="1" dirty="0">
                <a:latin typeface="+mj-ea"/>
                <a:ea typeface="+mj-ea"/>
              </a:rPr>
              <a:t>#</a:t>
            </a:r>
            <a:r>
              <a:rPr lang="en-US" altLang="zh-CN" sz="2400" b="1" dirty="0" err="1">
                <a:latin typeface="+mj-ea"/>
                <a:ea typeface="+mj-ea"/>
              </a:rPr>
              <a:t>endif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错误报告命令</a:t>
            </a:r>
            <a:r>
              <a:rPr lang="en-US" altLang="zh-CN" sz="2400" b="1" dirty="0">
                <a:latin typeface="+mj-ea"/>
                <a:ea typeface="+mj-ea"/>
              </a:rPr>
              <a:t>#error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-428652"/>
            <a:ext cx="7239000" cy="1143000"/>
          </a:xfrm>
        </p:spPr>
        <p:txBody>
          <a:bodyPr/>
          <a:lstStyle/>
          <a:p>
            <a:r>
              <a:rPr lang="zh-CN" altLang="en-US" dirty="0"/>
              <a:t>预处理命令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520" y="785794"/>
            <a:ext cx="8773968" cy="484632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文件嵌入命令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要求系统在编译之前把它指明的文件嵌入到该命令所在位置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＃</a:t>
            </a:r>
            <a:r>
              <a:rPr lang="en-US" altLang="zh-CN" sz="2400" b="1" dirty="0">
                <a:latin typeface="+mj-ea"/>
                <a:ea typeface="+mj-ea"/>
              </a:rPr>
              <a:t>include 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&lt;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rgbClr val="692AA2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692AA2"/>
                </a:solidFill>
                <a:latin typeface="+mj-ea"/>
                <a:ea typeface="+mj-ea"/>
              </a:rPr>
              <a:t>文件名</a:t>
            </a:r>
            <a:r>
              <a:rPr lang="en-US" altLang="zh-CN" sz="2400" b="1" dirty="0">
                <a:solidFill>
                  <a:srgbClr val="692AA2"/>
                </a:solidFill>
                <a:latin typeface="+mj-ea"/>
                <a:ea typeface="+mj-ea"/>
              </a:rPr>
              <a:t>&gt;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&gt; </a:t>
            </a:r>
            <a:r>
              <a:rPr lang="zh-CN" altLang="en-US" sz="2400" b="1" dirty="0">
                <a:latin typeface="+mj-ea"/>
                <a:ea typeface="+mj-ea"/>
              </a:rPr>
              <a:t>嵌入的是系统提供的头文件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latin typeface="+mj-ea"/>
                <a:ea typeface="+mj-ea"/>
              </a:rPr>
              <a:t>＃</a:t>
            </a:r>
            <a:r>
              <a:rPr lang="en-US" altLang="zh-CN" sz="2400" b="1" dirty="0">
                <a:latin typeface="+mj-ea"/>
                <a:ea typeface="+mj-ea"/>
              </a:rPr>
              <a:t>include 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“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rgbClr val="692AA2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692AA2"/>
                </a:solidFill>
                <a:latin typeface="+mj-ea"/>
                <a:ea typeface="+mj-ea"/>
              </a:rPr>
              <a:t>文件名</a:t>
            </a:r>
            <a:r>
              <a:rPr lang="en-US" altLang="zh-CN" sz="2400" b="1" dirty="0">
                <a:solidFill>
                  <a:srgbClr val="692AA2"/>
                </a:solidFill>
                <a:latin typeface="+mj-ea"/>
                <a:ea typeface="+mj-ea"/>
              </a:rPr>
              <a:t>&gt;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”</a:t>
            </a:r>
            <a:r>
              <a:rPr lang="zh-CN" altLang="en-US" sz="2400" b="1" dirty="0">
                <a:latin typeface="+mj-ea"/>
                <a:ea typeface="+mj-ea"/>
              </a:rPr>
              <a:t>嵌入的头文件是用户自己设计的头文件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每一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include 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命令只指定一个包含文件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文件的包含可以嵌套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</a:pPr>
            <a:r>
              <a:rPr lang="en-US" altLang="zh-CN" sz="2400" b="1" dirty="0">
                <a:latin typeface="+mj-ea"/>
                <a:ea typeface="+mj-ea"/>
              </a:rPr>
              <a:t>#include&lt;</a:t>
            </a:r>
            <a:r>
              <a:rPr lang="en-US" altLang="zh-CN" sz="2400" b="1" dirty="0" err="1">
                <a:latin typeface="+mj-ea"/>
                <a:ea typeface="+mj-ea"/>
              </a:rPr>
              <a:t>iostream</a:t>
            </a:r>
            <a:r>
              <a:rPr lang="en-US" altLang="zh-CN" sz="2400" b="1" dirty="0">
                <a:latin typeface="+mj-ea"/>
                <a:ea typeface="+mj-ea"/>
              </a:rPr>
              <a:t>&gt;</a:t>
            </a:r>
            <a:r>
              <a:rPr lang="zh-CN" altLang="en-US" sz="2400" b="1" dirty="0">
                <a:latin typeface="+mj-ea"/>
                <a:ea typeface="+mj-ea"/>
              </a:rPr>
              <a:t>将文件</a:t>
            </a:r>
            <a:r>
              <a:rPr lang="en-US" altLang="zh-CN" sz="2400" b="1" dirty="0" err="1">
                <a:latin typeface="+mj-ea"/>
                <a:ea typeface="+mj-ea"/>
              </a:rPr>
              <a:t>iostream</a:t>
            </a:r>
            <a:r>
              <a:rPr lang="zh-CN" altLang="en-US" sz="2400" b="1" dirty="0">
                <a:latin typeface="+mj-ea"/>
                <a:ea typeface="+mj-ea"/>
              </a:rPr>
              <a:t>包含在</a:t>
            </a:r>
            <a:r>
              <a:rPr lang="en-US" altLang="zh-CN" sz="2400" b="1" dirty="0">
                <a:latin typeface="+mj-ea"/>
                <a:ea typeface="+mj-ea"/>
              </a:rPr>
              <a:t>C++</a:t>
            </a:r>
            <a:r>
              <a:rPr lang="zh-CN" altLang="en-US" sz="2400" b="1" dirty="0">
                <a:latin typeface="+mj-ea"/>
                <a:ea typeface="+mj-ea"/>
              </a:rPr>
              <a:t>源程序中调用该命令的位置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33</a:t>
            </a:fld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7239000" cy="1143000"/>
          </a:xfrm>
        </p:spPr>
        <p:txBody>
          <a:bodyPr/>
          <a:lstStyle/>
          <a:p>
            <a:r>
              <a:rPr lang="zh-CN" altLang="en-US" dirty="0"/>
              <a:t>命名空间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1142984"/>
            <a:ext cx="8607330" cy="484632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C++</a:t>
            </a:r>
            <a:r>
              <a:rPr lang="zh-CN" altLang="en-US" sz="2800" b="1" dirty="0">
                <a:latin typeface="+mj-ea"/>
                <a:ea typeface="+mj-ea"/>
              </a:rPr>
              <a:t>标准程序库中的所有标识符都被定义于一个名为</a:t>
            </a:r>
            <a:r>
              <a:rPr lang="en-US" altLang="zh-CN" sz="2800" b="1" dirty="0" err="1">
                <a:latin typeface="+mj-ea"/>
                <a:ea typeface="+mj-ea"/>
              </a:rPr>
              <a:t>std</a:t>
            </a:r>
            <a:r>
              <a:rPr lang="zh-CN" altLang="en-US" sz="2800" b="1" dirty="0">
                <a:latin typeface="+mj-ea"/>
                <a:ea typeface="+mj-ea"/>
              </a:rPr>
              <a:t>的</a:t>
            </a:r>
            <a:r>
              <a:rPr lang="en-US" altLang="zh-CN" sz="2800" b="1" dirty="0">
                <a:latin typeface="+mj-ea"/>
                <a:ea typeface="+mj-ea"/>
              </a:rPr>
              <a:t>namespace</a:t>
            </a:r>
            <a:r>
              <a:rPr lang="zh-CN" altLang="en-US" sz="2800" b="1" dirty="0">
                <a:latin typeface="+mj-ea"/>
                <a:ea typeface="+mj-ea"/>
              </a:rPr>
              <a:t>中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cout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cin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endl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…</a:t>
            </a: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如果不使用</a:t>
            </a:r>
            <a:r>
              <a:rPr lang="en-US" altLang="zh-CN" sz="2800" b="1" dirty="0" err="1">
                <a:latin typeface="+mj-ea"/>
                <a:ea typeface="+mj-ea"/>
              </a:rPr>
              <a:t>std</a:t>
            </a:r>
            <a:r>
              <a:rPr lang="zh-CN" altLang="en-US" sz="2800" b="1" dirty="0">
                <a:latin typeface="+mj-ea"/>
                <a:ea typeface="+mj-ea"/>
              </a:rPr>
              <a:t>，输出语句应写为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std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::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cout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&lt;&lt;…&lt;&lt;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std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::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endl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;</a:t>
            </a:r>
            <a:endParaRPr lang="zh-CN" altLang="en-US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98752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7239000" cy="740592"/>
          </a:xfrm>
        </p:spPr>
        <p:txBody>
          <a:bodyPr/>
          <a:lstStyle/>
          <a:p>
            <a:r>
              <a:rPr lang="zh-CN" altLang="en-US" dirty="0"/>
              <a:t>宏</a:t>
            </a:r>
            <a:r>
              <a:rPr lang="en-US" altLang="zh-CN" dirty="0"/>
              <a:t>(macro)</a:t>
            </a:r>
            <a:r>
              <a:rPr lang="zh-CN" altLang="en-US" dirty="0"/>
              <a:t>定义命令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64704"/>
            <a:ext cx="8784976" cy="571504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宏定义（＃</a:t>
            </a:r>
            <a:r>
              <a:rPr lang="en-US" altLang="zh-CN" b="1" dirty="0">
                <a:latin typeface="+mj-ea"/>
                <a:ea typeface="+mj-ea"/>
              </a:rPr>
              <a:t>define</a:t>
            </a:r>
            <a:r>
              <a:rPr lang="zh-CN" altLang="en-US" b="1" dirty="0">
                <a:latin typeface="+mj-ea"/>
                <a:ea typeface="+mj-ea"/>
              </a:rPr>
              <a:t>）命令亦称宏替换命令，与其相关的还有取消宏定义</a:t>
            </a:r>
            <a:r>
              <a:rPr lang="en-US" altLang="zh-CN" b="1" dirty="0">
                <a:latin typeface="+mj-ea"/>
                <a:ea typeface="+mj-ea"/>
              </a:rPr>
              <a:t>(#</a:t>
            </a:r>
            <a:r>
              <a:rPr lang="en-US" altLang="zh-CN" b="1" dirty="0" err="1">
                <a:latin typeface="+mj-ea"/>
                <a:ea typeface="+mj-ea"/>
              </a:rPr>
              <a:t>undef</a:t>
            </a:r>
            <a:r>
              <a:rPr lang="en-US" altLang="zh-CN" b="1" dirty="0">
                <a:latin typeface="+mj-ea"/>
                <a:ea typeface="+mj-ea"/>
              </a:rPr>
              <a:t>)</a:t>
            </a:r>
            <a:r>
              <a:rPr lang="zh-CN" altLang="en-US" b="1" dirty="0">
                <a:latin typeface="+mj-ea"/>
                <a:ea typeface="+mj-ea"/>
              </a:rPr>
              <a:t>命令</a:t>
            </a:r>
            <a:endParaRPr lang="en-US" altLang="zh-CN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宏定义命令格式</a:t>
            </a:r>
            <a:endParaRPr lang="en-US" altLang="zh-CN" b="1" dirty="0">
              <a:solidFill>
                <a:srgbClr val="0033CC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600" b="1" dirty="0">
                <a:solidFill>
                  <a:srgbClr val="C00000"/>
                </a:solidFill>
                <a:latin typeface="+mj-ea"/>
                <a:ea typeface="+mj-ea"/>
              </a:rPr>
              <a:t>#define &lt;</a:t>
            </a:r>
            <a:r>
              <a:rPr lang="zh-CN" altLang="en-US" sz="2600" b="1" dirty="0">
                <a:solidFill>
                  <a:srgbClr val="C00000"/>
                </a:solidFill>
                <a:latin typeface="+mj-ea"/>
                <a:ea typeface="+mj-ea"/>
              </a:rPr>
              <a:t>宏名</a:t>
            </a:r>
            <a:r>
              <a:rPr lang="en-US" altLang="zh-CN" sz="2600" b="1" dirty="0">
                <a:solidFill>
                  <a:srgbClr val="C00000"/>
                </a:solidFill>
                <a:latin typeface="+mj-ea"/>
                <a:ea typeface="+mj-ea"/>
              </a:rPr>
              <a:t>&gt; &lt;</a:t>
            </a:r>
            <a:r>
              <a:rPr lang="zh-CN" altLang="en-US" sz="2600" b="1" dirty="0">
                <a:solidFill>
                  <a:srgbClr val="C00000"/>
                </a:solidFill>
                <a:latin typeface="+mj-ea"/>
                <a:ea typeface="+mj-ea"/>
              </a:rPr>
              <a:t>宏替换体</a:t>
            </a:r>
            <a:r>
              <a:rPr lang="en-US" altLang="zh-CN" sz="2600" b="1" dirty="0">
                <a:solidFill>
                  <a:srgbClr val="C00000"/>
                </a:solidFill>
                <a:latin typeface="+mj-ea"/>
                <a:ea typeface="+mj-ea"/>
              </a:rPr>
              <a:t>&gt; </a:t>
            </a:r>
          </a:p>
          <a:p>
            <a:pPr lvl="1">
              <a:lnSpc>
                <a:spcPct val="130000"/>
              </a:lnSpc>
            </a:pPr>
            <a:r>
              <a:rPr lang="en-US" altLang="zh-CN" sz="2600" b="1" dirty="0">
                <a:solidFill>
                  <a:srgbClr val="C00000"/>
                </a:solidFill>
                <a:latin typeface="+mj-ea"/>
                <a:ea typeface="+mj-ea"/>
              </a:rPr>
              <a:t>#</a:t>
            </a:r>
            <a:r>
              <a:rPr lang="en-US" altLang="zh-CN" sz="2600" b="1" dirty="0" err="1">
                <a:solidFill>
                  <a:srgbClr val="C00000"/>
                </a:solidFill>
                <a:latin typeface="+mj-ea"/>
                <a:ea typeface="+mj-ea"/>
              </a:rPr>
              <a:t>undef</a:t>
            </a:r>
            <a:r>
              <a:rPr lang="en-US" altLang="zh-CN" sz="2600" b="1" dirty="0">
                <a:solidFill>
                  <a:srgbClr val="C00000"/>
                </a:solidFill>
                <a:latin typeface="+mj-ea"/>
                <a:ea typeface="+mj-ea"/>
              </a:rPr>
              <a:t> &lt;</a:t>
            </a:r>
            <a:r>
              <a:rPr lang="zh-CN" altLang="en-US" sz="2600" b="1" dirty="0">
                <a:solidFill>
                  <a:srgbClr val="C00000"/>
                </a:solidFill>
                <a:latin typeface="+mj-ea"/>
                <a:ea typeface="+mj-ea"/>
              </a:rPr>
              <a:t>宏名</a:t>
            </a:r>
            <a:r>
              <a:rPr lang="en-US" altLang="zh-CN" sz="2600" b="1" dirty="0">
                <a:solidFill>
                  <a:srgbClr val="C00000"/>
                </a:solidFill>
                <a:latin typeface="+mj-ea"/>
                <a:ea typeface="+mj-ea"/>
              </a:rPr>
              <a:t>&gt;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宏定义可以作为常量说明</a:t>
            </a:r>
            <a:r>
              <a:rPr lang="en-US" altLang="zh-CN" b="1" dirty="0">
                <a:latin typeface="+mj-ea"/>
                <a:ea typeface="+mj-ea"/>
              </a:rPr>
              <a:t>,</a:t>
            </a:r>
            <a:r>
              <a:rPr lang="zh-CN" altLang="en-US" b="1" dirty="0">
                <a:latin typeface="+mj-ea"/>
                <a:ea typeface="+mj-ea"/>
              </a:rPr>
              <a:t>也可以出现在另一个宏定义的宏替换体中 </a:t>
            </a:r>
            <a:endParaRPr lang="en-US" altLang="zh-CN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宏替换体也可以是符号、字符串、可执行的表达式语句，也可以为空</a:t>
            </a:r>
            <a:endParaRPr lang="en-US" altLang="zh-CN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一种复杂的宏替换是带参数的宏替换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600" b="1" dirty="0">
                <a:solidFill>
                  <a:srgbClr val="002060"/>
                </a:solidFill>
                <a:latin typeface="+mj-ea"/>
                <a:ea typeface="+mj-ea"/>
              </a:rPr>
              <a:t>#define &lt;</a:t>
            </a:r>
            <a:r>
              <a:rPr lang="zh-CN" altLang="en-US" sz="2600" b="1" dirty="0">
                <a:solidFill>
                  <a:srgbClr val="002060"/>
                </a:solidFill>
                <a:latin typeface="+mj-ea"/>
                <a:ea typeface="+mj-ea"/>
              </a:rPr>
              <a:t>宏名</a:t>
            </a:r>
            <a:r>
              <a:rPr lang="en-US" altLang="zh-CN" sz="2600" b="1" dirty="0">
                <a:solidFill>
                  <a:srgbClr val="002060"/>
                </a:solidFill>
                <a:latin typeface="+mj-ea"/>
                <a:ea typeface="+mj-ea"/>
              </a:rPr>
              <a:t>&gt;&lt;</a:t>
            </a:r>
            <a:r>
              <a:rPr lang="zh-CN" altLang="en-US" sz="2600" b="1" dirty="0">
                <a:solidFill>
                  <a:srgbClr val="C00000"/>
                </a:solidFill>
                <a:latin typeface="+mj-ea"/>
                <a:ea typeface="+mj-ea"/>
              </a:rPr>
              <a:t>形参</a:t>
            </a:r>
            <a:r>
              <a:rPr lang="en-US" altLang="zh-CN" sz="2600" b="1" dirty="0">
                <a:solidFill>
                  <a:srgbClr val="002060"/>
                </a:solidFill>
                <a:latin typeface="+mj-ea"/>
                <a:ea typeface="+mj-ea"/>
              </a:rPr>
              <a:t>&gt;&lt;</a:t>
            </a:r>
            <a:r>
              <a:rPr lang="zh-CN" altLang="en-US" sz="2600" b="1" dirty="0">
                <a:solidFill>
                  <a:srgbClr val="002060"/>
                </a:solidFill>
                <a:latin typeface="+mj-ea"/>
                <a:ea typeface="+mj-ea"/>
              </a:rPr>
              <a:t>宏替换体</a:t>
            </a:r>
            <a:r>
              <a:rPr lang="en-US" altLang="zh-CN" sz="2600" b="1" dirty="0">
                <a:solidFill>
                  <a:srgbClr val="002060"/>
                </a:solidFill>
                <a:latin typeface="+mj-ea"/>
                <a:ea typeface="+mj-ea"/>
              </a:rPr>
              <a:t>&gt;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35</a:t>
            </a:fld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363272" cy="6051072"/>
          </a:xfrm>
        </p:spPr>
        <p:txBody>
          <a:bodyPr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简单的</a:t>
            </a:r>
            <a:r>
              <a:rPr lang="en-US" altLang="zh-CN" sz="3200" b="1" dirty="0">
                <a:latin typeface="+mj-ea"/>
                <a:ea typeface="+mj-ea"/>
              </a:rPr>
              <a:t>define</a:t>
            </a:r>
            <a:r>
              <a:rPr lang="zh-CN" altLang="en-US" sz="3200" b="1" dirty="0">
                <a:latin typeface="+mj-ea"/>
                <a:ea typeface="+mj-ea"/>
              </a:rPr>
              <a:t>定义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#define MAXTIME 1000</a:t>
            </a: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MAXTIME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定义好了，代表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1000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，如果程序中</a:t>
            </a:r>
            <a:b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if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（</a:t>
            </a:r>
            <a:r>
              <a:rPr lang="en-US" altLang="zh-CN" sz="2800" b="1" dirty="0" err="1">
                <a:solidFill>
                  <a:srgbClr val="7030A0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&lt;MAXTIME){……}</a:t>
            </a:r>
            <a:b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编译器在处理这个代码时会将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MAXTIME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替换成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1000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带参数的</a:t>
            </a:r>
            <a:r>
              <a:rPr lang="en-US" altLang="zh-CN" sz="3200" b="1" dirty="0">
                <a:latin typeface="+mj-ea"/>
                <a:ea typeface="+mj-ea"/>
              </a:rPr>
              <a:t>define</a:t>
            </a: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#define ADD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（</a:t>
            </a:r>
            <a:r>
              <a:rPr lang="en-US" altLang="zh-CN" sz="2800" b="1" dirty="0" err="1">
                <a:solidFill>
                  <a:srgbClr val="C00000"/>
                </a:solidFill>
                <a:latin typeface="+mj-ea"/>
                <a:ea typeface="+mj-ea"/>
              </a:rPr>
              <a:t>a,b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） </a:t>
            </a:r>
            <a:r>
              <a:rPr lang="en-US" altLang="zh-CN" sz="2800" b="1" dirty="0" err="1">
                <a:solidFill>
                  <a:srgbClr val="C00000"/>
                </a:solidFill>
                <a:latin typeface="+mj-ea"/>
                <a:ea typeface="+mj-ea"/>
              </a:rPr>
              <a:t>a+b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;</a:t>
            </a: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遇到</a:t>
            </a:r>
            <a:r>
              <a:rPr lang="en-US" altLang="zh-CN" sz="2800" b="1" dirty="0">
                <a:latin typeface="+mj-ea"/>
                <a:ea typeface="+mj-ea"/>
              </a:rPr>
              <a:t>c*ADD(</a:t>
            </a:r>
            <a:r>
              <a:rPr lang="en-US" altLang="zh-CN" sz="2800" b="1" dirty="0" err="1">
                <a:latin typeface="+mj-ea"/>
                <a:ea typeface="+mj-ea"/>
              </a:rPr>
              <a:t>a,b</a:t>
            </a:r>
            <a:r>
              <a:rPr lang="en-US" altLang="zh-CN" sz="2800" b="1" dirty="0">
                <a:latin typeface="+mj-ea"/>
                <a:ea typeface="+mj-ea"/>
              </a:rPr>
              <a:t>)*d</a:t>
            </a:r>
            <a:r>
              <a:rPr lang="zh-CN" altLang="en-US" sz="2800" b="1" dirty="0">
                <a:latin typeface="+mj-ea"/>
                <a:ea typeface="+mj-ea"/>
              </a:rPr>
              <a:t>时会出现问题，解释为</a:t>
            </a:r>
            <a:r>
              <a:rPr lang="en-US" altLang="zh-CN" sz="2800" b="1" dirty="0">
                <a:latin typeface="+mj-ea"/>
                <a:ea typeface="+mj-ea"/>
              </a:rPr>
              <a:t>c*</a:t>
            </a:r>
            <a:r>
              <a:rPr lang="en-US" altLang="zh-CN" sz="2800" b="1" dirty="0" err="1">
                <a:latin typeface="+mj-ea"/>
                <a:ea typeface="+mj-ea"/>
              </a:rPr>
              <a:t>a+b</a:t>
            </a:r>
            <a:r>
              <a:rPr lang="en-US" altLang="zh-CN" sz="2800" b="1" dirty="0">
                <a:latin typeface="+mj-ea"/>
                <a:ea typeface="+mj-ea"/>
              </a:rPr>
              <a:t>*d</a:t>
            </a:r>
          </a:p>
          <a:p>
            <a:pPr lvl="2">
              <a:lnSpc>
                <a:spcPct val="130000"/>
              </a:lnSpc>
              <a:buNone/>
            </a:pP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#define MAX(</a:t>
            </a:r>
            <a:r>
              <a:rPr lang="en-US" altLang="zh-CN" sz="2800" b="1" dirty="0" err="1">
                <a:solidFill>
                  <a:srgbClr val="C00000"/>
                </a:solidFill>
                <a:latin typeface="+mj-ea"/>
                <a:ea typeface="+mj-ea"/>
              </a:rPr>
              <a:t>x,y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) (x)&gt;(y)?(x)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sym typeface="Wingdings" pitchFamily="2" charset="2"/>
              </a:rPr>
              <a:t>:(y)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/>
            <a:endParaRPr lang="en-US" altLang="zh-CN" dirty="0"/>
          </a:p>
          <a:p>
            <a:pPr lvl="1">
              <a:buNone/>
            </a:pP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1691680" y="5085184"/>
            <a:ext cx="46939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#define add1( x, y ) ( x + y)</a:t>
            </a:r>
            <a:endParaRPr lang="zh-CN" altLang="en-US" sz="24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7239000" cy="1143000"/>
          </a:xfrm>
        </p:spPr>
        <p:txBody>
          <a:bodyPr/>
          <a:lstStyle/>
          <a:p>
            <a:r>
              <a:rPr lang="zh-CN" altLang="en-US" dirty="0"/>
              <a:t>结构程序框架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3396" y="1214422"/>
            <a:ext cx="8559084" cy="484632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结构程序设计（</a:t>
            </a:r>
            <a:r>
              <a:rPr lang="en-US" altLang="zh-CN" b="1" dirty="0">
                <a:latin typeface="+mj-ea"/>
                <a:ea typeface="+mj-ea"/>
              </a:rPr>
              <a:t>SP</a:t>
            </a:r>
            <a:r>
              <a:rPr lang="zh-CN" altLang="en-US" b="1" dirty="0">
                <a:latin typeface="+mj-ea"/>
                <a:ea typeface="+mj-ea"/>
              </a:rPr>
              <a:t>）的基本思想是自顶向下逐步求精，在编程时总是把一个大的复杂的任务逐步划分为若干子任务，形成用一个个相对简单的独立的程序功能模块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37</a:t>
            </a:fld>
            <a:endParaRPr lang="en-US" altLang="zh-CN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0232" y="3538550"/>
            <a:ext cx="4556125" cy="1604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5720" y="-27384"/>
            <a:ext cx="7239000" cy="668584"/>
          </a:xfrm>
        </p:spPr>
        <p:txBody>
          <a:bodyPr/>
          <a:lstStyle/>
          <a:p>
            <a:r>
              <a:rPr lang="zh-CN" altLang="en-US" dirty="0"/>
              <a:t>结构程序框架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620688"/>
            <a:ext cx="8964488" cy="568863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缺点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SP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方法没有充分利用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C++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语言提供的有力手段。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以函数为中心对程序进行模块划分，主要是依照程序模块的功能特征，划分具有相当大的随意性。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C++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语言中的函数没有层次关系，除了主函数之外，所有的函数都是“平等”的，可以说是一个无序的集合。函数间，模块间的联系较多，不利于程序的编制、调试、修改、扩充和重用。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C++</a:t>
            </a:r>
            <a:r>
              <a:rPr lang="zh-CN" altLang="en-US" sz="2800" b="1" dirty="0">
                <a:latin typeface="+mj-ea"/>
                <a:ea typeface="+mj-ea"/>
              </a:rPr>
              <a:t>语言仍然支持</a:t>
            </a:r>
            <a:r>
              <a:rPr lang="en-US" altLang="zh-CN" sz="2800" b="1" dirty="0">
                <a:latin typeface="+mj-ea"/>
                <a:ea typeface="+mj-ea"/>
              </a:rPr>
              <a:t>SP</a:t>
            </a:r>
            <a:r>
              <a:rPr lang="zh-CN" altLang="en-US" sz="2800" b="1" dirty="0">
                <a:latin typeface="+mj-ea"/>
                <a:ea typeface="+mj-ea"/>
              </a:rPr>
              <a:t>框架的程序设计，当开发小规模程序时，这种方式仍然有用</a:t>
            </a:r>
            <a:endParaRPr lang="en-US" altLang="zh-CN" sz="2800" b="1" dirty="0">
              <a:solidFill>
                <a:srgbClr val="0033CC"/>
              </a:solidFill>
              <a:latin typeface="+mj-ea"/>
              <a:ea typeface="+mj-ea"/>
            </a:endParaRPr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38</a:t>
            </a:fld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-357214"/>
            <a:ext cx="7239000" cy="1143000"/>
          </a:xfrm>
        </p:spPr>
        <p:txBody>
          <a:bodyPr/>
          <a:lstStyle/>
          <a:p>
            <a:r>
              <a:rPr lang="zh-CN" altLang="en-US" dirty="0"/>
              <a:t>面向对象程序框架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082" y="857232"/>
            <a:ext cx="8773398" cy="484632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按面向对象程序设计思想设计的程序，它的主体是若干类定义的集合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类声明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类成员函数的定义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主函数作为程序的入口</a:t>
            </a:r>
            <a:endParaRPr lang="en-US" altLang="zh-CN" sz="2800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从程序设计方法学观点看，</a:t>
            </a:r>
            <a:r>
              <a:rPr lang="en-US" altLang="zh-CN" sz="2800" b="1" dirty="0">
                <a:latin typeface="+mj-ea"/>
                <a:ea typeface="+mj-ea"/>
              </a:rPr>
              <a:t>OOP </a:t>
            </a:r>
            <a:r>
              <a:rPr lang="zh-CN" altLang="en-US" sz="2800" b="1" dirty="0">
                <a:latin typeface="+mj-ea"/>
                <a:ea typeface="+mj-ea"/>
              </a:rPr>
              <a:t>更科学更严谨，是程序设计理论经过五十年的发展历程，从而达到了成熟时期的结果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39</a:t>
            </a:fld>
            <a:endParaRPr lang="en-US" altLang="zh-C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-285768"/>
            <a:ext cx="7239000" cy="1143000"/>
          </a:xfrm>
        </p:spPr>
        <p:txBody>
          <a:bodyPr/>
          <a:lstStyle/>
          <a:p>
            <a:r>
              <a:rPr lang="zh-CN" altLang="en-US" dirty="0"/>
              <a:t>面向对象程序框架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834" y="1083010"/>
            <a:ext cx="8559654" cy="4846320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面向对象程序设计的三个基本概念</a:t>
            </a:r>
            <a:endParaRPr lang="en-US" altLang="zh-CN" sz="3200" b="1" dirty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类</a:t>
            </a:r>
            <a:endParaRPr lang="en-US" altLang="zh-CN" sz="28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对事物的抽象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对象</a:t>
            </a:r>
            <a:endParaRPr lang="en-US" altLang="zh-CN" sz="28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事物的属性和对事物的处理作为一个对象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类的实例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消息</a:t>
            </a:r>
            <a:endParaRPr lang="en-US" altLang="zh-CN" sz="28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对象之间传递的信息</a:t>
            </a:r>
            <a:endParaRPr lang="zh-CN" altLang="en-US" sz="24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40</a:t>
            </a:fld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844" y="-24"/>
            <a:ext cx="8786874" cy="484632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面向对象程序设计的基本特征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封装性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好像系统的一个部件（例如计算机系统中的图形卡、声卡、打印机），它是作为一个整体参加系统工作的，其内部工作原理被封装起来，只把功能和基本操作对外公开，便于系统使用，其数据只能通过规定的基本操作进行处理，这就是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封装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数据隐藏</a:t>
            </a:r>
            <a:r>
              <a:rPr lang="zh-CN" altLang="en-US" sz="2400" b="1" dirty="0">
                <a:latin typeface="+mj-ea"/>
                <a:ea typeface="+mj-ea"/>
              </a:rPr>
              <a:t>原理。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继承性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在设计好的类的基础上可以生成派生类，派生类继承原类的设计，又增加新的功能，于是类之间可以有继承和派生关系，有利于简化程序设计。这与函数之间的关系不同。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多态性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一个类的不同对象可以对同一消息产生不同的响应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41</a:t>
            </a:fld>
            <a:endParaRPr lang="en-US" altLang="zh-CN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AutoShape 3"/>
          <p:cNvSpPr>
            <a:spLocks noChangeArrowheads="1"/>
          </p:cNvSpPr>
          <p:nvPr/>
        </p:nvSpPr>
        <p:spPr bwMode="gray">
          <a:xfrm>
            <a:off x="2916238" y="3078163"/>
            <a:ext cx="504825" cy="576262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6" name="AutoShape 4"/>
          <p:cNvSpPr>
            <a:spLocks noChangeArrowheads="1"/>
          </p:cNvSpPr>
          <p:nvPr/>
        </p:nvSpPr>
        <p:spPr bwMode="gray">
          <a:xfrm>
            <a:off x="5651500" y="3078163"/>
            <a:ext cx="504825" cy="576262"/>
          </a:xfrm>
          <a:prstGeom prst="chevron">
            <a:avLst>
              <a:gd name="adj" fmla="val 52514"/>
            </a:avLst>
          </a:prstGeom>
          <a:solidFill>
            <a:schemeClr val="hlink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7" name="Oval 5"/>
          <p:cNvSpPr>
            <a:spLocks noChangeArrowheads="1"/>
          </p:cNvSpPr>
          <p:nvPr/>
        </p:nvSpPr>
        <p:spPr bwMode="gray">
          <a:xfrm>
            <a:off x="6227763" y="2286000"/>
            <a:ext cx="2160587" cy="2160588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tint val="0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58" name="Oval 6"/>
          <p:cNvSpPr>
            <a:spLocks noChangeArrowheads="1"/>
          </p:cNvSpPr>
          <p:nvPr/>
        </p:nvSpPr>
        <p:spPr bwMode="gray">
          <a:xfrm>
            <a:off x="6227763" y="2286000"/>
            <a:ext cx="2160587" cy="2160588"/>
          </a:xfrm>
          <a:prstGeom prst="ellipse">
            <a:avLst/>
          </a:prstGeom>
          <a:gradFill rotWithShape="1">
            <a:gsLst>
              <a:gs pos="0">
                <a:schemeClr val="hlink">
                  <a:alpha val="32001"/>
                </a:schemeClr>
              </a:gs>
              <a:gs pos="100000">
                <a:schemeClr val="hlink">
                  <a:gamma/>
                  <a:shade val="0"/>
                  <a:invGamma/>
                  <a:alpha val="89999"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59" name="Oval 7"/>
          <p:cNvSpPr>
            <a:spLocks noChangeArrowheads="1"/>
          </p:cNvSpPr>
          <p:nvPr/>
        </p:nvSpPr>
        <p:spPr bwMode="gray">
          <a:xfrm>
            <a:off x="6369050" y="2427288"/>
            <a:ext cx="1878013" cy="1878012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54118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54118"/>
                  <a:invGamma/>
                </a:schemeClr>
              </a:gs>
            </a:gsLst>
            <a:lin ang="18900000" scaled="1"/>
          </a:gradFill>
          <a:ln w="38100" algn="ctr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60" name="Oval 8"/>
          <p:cNvSpPr>
            <a:spLocks noChangeArrowheads="1"/>
          </p:cNvSpPr>
          <p:nvPr/>
        </p:nvSpPr>
        <p:spPr bwMode="gray">
          <a:xfrm>
            <a:off x="6400800" y="2438400"/>
            <a:ext cx="1878013" cy="1878013"/>
          </a:xfrm>
          <a:prstGeom prst="ellipse">
            <a:avLst/>
          </a:prstGeom>
          <a:gradFill rotWithShape="1">
            <a:gsLst>
              <a:gs pos="0">
                <a:schemeClr val="hlink">
                  <a:gamma/>
                  <a:shade val="63529"/>
                  <a:invGamma/>
                </a:schemeClr>
              </a:gs>
              <a:gs pos="100000">
                <a:schemeClr val="hlink">
                  <a:alpha val="0"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61" name="Oval 9"/>
          <p:cNvSpPr>
            <a:spLocks noChangeArrowheads="1"/>
          </p:cNvSpPr>
          <p:nvPr/>
        </p:nvSpPr>
        <p:spPr bwMode="gray">
          <a:xfrm>
            <a:off x="6470650" y="2520950"/>
            <a:ext cx="1690688" cy="1690688"/>
          </a:xfrm>
          <a:prstGeom prst="ellipse">
            <a:avLst/>
          </a:prstGeom>
          <a:solidFill>
            <a:srgbClr val="333333"/>
          </a:solidFill>
          <a:ln w="38100" algn="ctr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62" name="Oval 10"/>
          <p:cNvSpPr>
            <a:spLocks noChangeArrowheads="1"/>
          </p:cNvSpPr>
          <p:nvPr/>
        </p:nvSpPr>
        <p:spPr bwMode="gray">
          <a:xfrm>
            <a:off x="755650" y="2279650"/>
            <a:ext cx="2160588" cy="2160588"/>
          </a:xfrm>
          <a:prstGeom prst="ellipse">
            <a:avLst/>
          </a:prstGeom>
          <a:gradFill rotWithShape="1">
            <a:gsLst>
              <a:gs pos="0">
                <a:schemeClr val="folHlink">
                  <a:gamma/>
                  <a:tint val="0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tint val="0"/>
                  <a:invGamma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63" name="Oval 11"/>
          <p:cNvSpPr>
            <a:spLocks noChangeArrowheads="1"/>
          </p:cNvSpPr>
          <p:nvPr/>
        </p:nvSpPr>
        <p:spPr bwMode="gray">
          <a:xfrm>
            <a:off x="755650" y="2279650"/>
            <a:ext cx="2160588" cy="2160588"/>
          </a:xfrm>
          <a:prstGeom prst="ellipse">
            <a:avLst/>
          </a:prstGeom>
          <a:gradFill rotWithShape="1">
            <a:gsLst>
              <a:gs pos="0">
                <a:schemeClr val="folHlink">
                  <a:alpha val="32001"/>
                </a:schemeClr>
              </a:gs>
              <a:gs pos="100000">
                <a:schemeClr val="folHlink">
                  <a:gamma/>
                  <a:shade val="0"/>
                  <a:invGamma/>
                  <a:alpha val="89999"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64" name="Oval 12"/>
          <p:cNvSpPr>
            <a:spLocks noChangeArrowheads="1"/>
          </p:cNvSpPr>
          <p:nvPr/>
        </p:nvSpPr>
        <p:spPr bwMode="gray">
          <a:xfrm>
            <a:off x="896938" y="2420938"/>
            <a:ext cx="1878012" cy="1878012"/>
          </a:xfrm>
          <a:prstGeom prst="ellipse">
            <a:avLst/>
          </a:prstGeom>
          <a:gradFill rotWithShape="1">
            <a:gsLst>
              <a:gs pos="0">
                <a:schemeClr val="folHlink">
                  <a:gamma/>
                  <a:shade val="54118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54118"/>
                  <a:invGamma/>
                </a:schemeClr>
              </a:gs>
            </a:gsLst>
            <a:lin ang="18900000" scaled="1"/>
          </a:gradFill>
          <a:ln w="38100" algn="ctr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65" name="Oval 13"/>
          <p:cNvSpPr>
            <a:spLocks noChangeArrowheads="1"/>
          </p:cNvSpPr>
          <p:nvPr/>
        </p:nvSpPr>
        <p:spPr bwMode="gray">
          <a:xfrm>
            <a:off x="898525" y="2424113"/>
            <a:ext cx="1878013" cy="1878012"/>
          </a:xfrm>
          <a:prstGeom prst="ellipse">
            <a:avLst/>
          </a:prstGeom>
          <a:gradFill rotWithShape="1">
            <a:gsLst>
              <a:gs pos="0">
                <a:schemeClr val="folHlink">
                  <a:gamma/>
                  <a:shade val="63529"/>
                  <a:invGamma/>
                </a:schemeClr>
              </a:gs>
              <a:gs pos="100000">
                <a:schemeClr val="folHlink">
                  <a:alpha val="0"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66" name="Oval 14"/>
          <p:cNvSpPr>
            <a:spLocks noChangeArrowheads="1"/>
          </p:cNvSpPr>
          <p:nvPr/>
        </p:nvSpPr>
        <p:spPr bwMode="gray">
          <a:xfrm>
            <a:off x="990600" y="2514600"/>
            <a:ext cx="1690688" cy="1690688"/>
          </a:xfrm>
          <a:prstGeom prst="ellipse">
            <a:avLst/>
          </a:prstGeom>
          <a:solidFill>
            <a:srgbClr val="333333"/>
          </a:solidFill>
          <a:ln w="38100" algn="ctr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1017588" y="2540000"/>
            <a:ext cx="1636712" cy="1636713"/>
            <a:chOff x="4166" y="1706"/>
            <a:chExt cx="1252" cy="1252"/>
          </a:xfrm>
        </p:grpSpPr>
        <p:sp>
          <p:nvSpPr>
            <p:cNvPr id="49168" name="Oval 16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69" name="Oval 17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70" name="Oval 18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71" name="Oval 19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49172" name="Oval 20"/>
          <p:cNvSpPr>
            <a:spLocks noChangeArrowheads="1"/>
          </p:cNvSpPr>
          <p:nvPr/>
        </p:nvSpPr>
        <p:spPr bwMode="gray">
          <a:xfrm>
            <a:off x="3492500" y="2286000"/>
            <a:ext cx="2160588" cy="2160588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73" name="Oval 21"/>
          <p:cNvSpPr>
            <a:spLocks noChangeArrowheads="1"/>
          </p:cNvSpPr>
          <p:nvPr/>
        </p:nvSpPr>
        <p:spPr bwMode="gray">
          <a:xfrm>
            <a:off x="3492500" y="2286000"/>
            <a:ext cx="2160588" cy="2160588"/>
          </a:xfrm>
          <a:prstGeom prst="ellipse">
            <a:avLst/>
          </a:prstGeom>
          <a:gradFill rotWithShape="1">
            <a:gsLst>
              <a:gs pos="0">
                <a:schemeClr val="accent1">
                  <a:alpha val="32001"/>
                </a:schemeClr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74" name="Oval 22"/>
          <p:cNvSpPr>
            <a:spLocks noChangeArrowheads="1"/>
          </p:cNvSpPr>
          <p:nvPr/>
        </p:nvSpPr>
        <p:spPr bwMode="gray">
          <a:xfrm>
            <a:off x="3633788" y="2427288"/>
            <a:ext cx="1878012" cy="1878012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54118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54118"/>
                  <a:invGamma/>
                </a:schemeClr>
              </a:gs>
            </a:gsLst>
            <a:lin ang="18900000" scaled="1"/>
          </a:gradFill>
          <a:ln w="38100" algn="ctr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75" name="Oval 23"/>
          <p:cNvSpPr>
            <a:spLocks noChangeArrowheads="1"/>
          </p:cNvSpPr>
          <p:nvPr/>
        </p:nvSpPr>
        <p:spPr bwMode="gray">
          <a:xfrm>
            <a:off x="3635375" y="2430463"/>
            <a:ext cx="1878013" cy="1878012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shade val="63529"/>
                  <a:invGamma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</a:gradFill>
          <a:ln w="38100" algn="ctr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76" name="Oval 24"/>
          <p:cNvSpPr>
            <a:spLocks noChangeArrowheads="1"/>
          </p:cNvSpPr>
          <p:nvPr/>
        </p:nvSpPr>
        <p:spPr bwMode="gray">
          <a:xfrm>
            <a:off x="3727450" y="2520950"/>
            <a:ext cx="1690688" cy="1690688"/>
          </a:xfrm>
          <a:prstGeom prst="ellipse">
            <a:avLst/>
          </a:prstGeom>
          <a:solidFill>
            <a:srgbClr val="333333"/>
          </a:solidFill>
          <a:ln w="38100" algn="ctr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3754438" y="2540000"/>
            <a:ext cx="1636712" cy="1636713"/>
            <a:chOff x="4166" y="1706"/>
            <a:chExt cx="1252" cy="1252"/>
          </a:xfrm>
        </p:grpSpPr>
        <p:sp>
          <p:nvSpPr>
            <p:cNvPr id="49178" name="Oval 26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79" name="Oval 27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80" name="Oval 28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81" name="Oval 29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6500813" y="2540000"/>
            <a:ext cx="1636712" cy="1636713"/>
            <a:chOff x="4166" y="1706"/>
            <a:chExt cx="1252" cy="1252"/>
          </a:xfrm>
        </p:grpSpPr>
        <p:sp>
          <p:nvSpPr>
            <p:cNvPr id="49183" name="Oval 31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84" name="Oval 32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85" name="Oval 33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9186" name="Oval 34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49187" name="AutoShape 35"/>
          <p:cNvSpPr>
            <a:spLocks noChangeArrowheads="1"/>
          </p:cNvSpPr>
          <p:nvPr/>
        </p:nvSpPr>
        <p:spPr bwMode="gray">
          <a:xfrm>
            <a:off x="804863" y="4818063"/>
            <a:ext cx="2057400" cy="515937"/>
          </a:xfrm>
          <a:prstGeom prst="roundRect">
            <a:avLst>
              <a:gd name="adj" fmla="val 50000"/>
            </a:avLst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思路</a:t>
            </a:r>
            <a:endParaRPr lang="en-US" altLang="zh-CN" sz="2000" b="1" dirty="0">
              <a:effectLst>
                <a:outerShdw blurRad="38100" dist="38100" dir="2700000" algn="tl">
                  <a:srgbClr val="C0C0C0"/>
                </a:outerShdw>
              </a:effectLst>
              <a:latin typeface="+mj-ea"/>
              <a:ea typeface="+mj-ea"/>
            </a:endParaRPr>
          </a:p>
        </p:txBody>
      </p:sp>
      <p:sp>
        <p:nvSpPr>
          <p:cNvPr id="49188" name="AutoShape 36"/>
          <p:cNvSpPr>
            <a:spLocks noChangeArrowheads="1"/>
          </p:cNvSpPr>
          <p:nvPr/>
        </p:nvSpPr>
        <p:spPr bwMode="gray">
          <a:xfrm>
            <a:off x="3538538" y="4818063"/>
            <a:ext cx="2057400" cy="515937"/>
          </a:xfrm>
          <a:prstGeom prst="roundRect">
            <a:avLst>
              <a:gd name="adj" fmla="val 50000"/>
            </a:avLst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模型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9189" name="AutoShape 37"/>
          <p:cNvSpPr>
            <a:spLocks noChangeArrowheads="1"/>
          </p:cNvSpPr>
          <p:nvPr/>
        </p:nvSpPr>
        <p:spPr bwMode="gray">
          <a:xfrm>
            <a:off x="6291263" y="4818063"/>
            <a:ext cx="2057400" cy="515937"/>
          </a:xfrm>
          <a:prstGeom prst="roundRect">
            <a:avLst>
              <a:gd name="adj" fmla="val 50000"/>
            </a:avLst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实现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9190" name="Text Box 38"/>
          <p:cNvSpPr txBox="1">
            <a:spLocks noChangeArrowheads="1"/>
          </p:cNvSpPr>
          <p:nvPr/>
        </p:nvSpPr>
        <p:spPr bwMode="gray">
          <a:xfrm>
            <a:off x="1142976" y="3144838"/>
            <a:ext cx="141577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4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自然语言</a:t>
            </a:r>
            <a:endParaRPr lang="en-US" altLang="zh-CN" sz="2400" b="1" dirty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9191" name="Text Box 39"/>
          <p:cNvSpPr txBox="1">
            <a:spLocks noChangeArrowheads="1"/>
          </p:cNvSpPr>
          <p:nvPr/>
        </p:nvSpPr>
        <p:spPr bwMode="gray">
          <a:xfrm>
            <a:off x="3929058" y="3144838"/>
            <a:ext cx="141577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400" b="1" dirty="0">
                <a:solidFill>
                  <a:srgbClr val="000000"/>
                </a:solidFill>
                <a:latin typeface="+mj-ea"/>
                <a:ea typeface="+mj-ea"/>
              </a:rPr>
              <a:t>数学语言</a:t>
            </a:r>
            <a:endParaRPr lang="en-US" altLang="zh-CN" sz="24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9192" name="Text Box 40"/>
          <p:cNvSpPr txBox="1">
            <a:spLocks noChangeArrowheads="1"/>
          </p:cNvSpPr>
          <p:nvPr/>
        </p:nvSpPr>
        <p:spPr bwMode="gray">
          <a:xfrm>
            <a:off x="6643702" y="3144838"/>
            <a:ext cx="1415772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400" dirty="0">
                <a:solidFill>
                  <a:srgbClr val="000000"/>
                </a:solidFill>
                <a:latin typeface="+mj-ea"/>
                <a:ea typeface="+mj-ea"/>
              </a:rPr>
              <a:t>程序语言</a:t>
            </a:r>
            <a:endParaRPr lang="en-US" altLang="zh-CN" sz="24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1" name="灯片编号占位符 40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42</a:t>
            </a:fld>
            <a:endParaRPr lang="en-US" altLang="zh-CN" dirty="0"/>
          </a:p>
        </p:txBody>
      </p:sp>
      <p:sp>
        <p:nvSpPr>
          <p:cNvPr id="44" name="标题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8305800" cy="56356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C++</a:t>
            </a:r>
            <a:r>
              <a:rPr lang="zh-CN" altLang="en-US" dirty="0"/>
              <a:t>程序的设计思路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6860" y="332656"/>
            <a:ext cx="8461604" cy="484632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已知公鸡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5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元，母鸡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元，小鸡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只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元，如果花了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100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元买了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100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只鸡，请问其中公鸡，母鸡，小鸡各有几只？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自然语言描述解题过程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设公鸡有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X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只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设母鸡有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Y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只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设小鸡有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Z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只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鸡的总数为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100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只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公鸡每只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5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元，母鸡每只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3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元，小鸡每只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1/3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元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买鸡的总金额为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100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元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Freeform 3"/>
          <p:cNvSpPr>
            <a:spLocks noEditPoints="1"/>
          </p:cNvSpPr>
          <p:nvPr/>
        </p:nvSpPr>
        <p:spPr bwMode="gray">
          <a:xfrm>
            <a:off x="1049338" y="1985963"/>
            <a:ext cx="6237306" cy="3970337"/>
          </a:xfrm>
          <a:custGeom>
            <a:avLst/>
            <a:gdLst/>
            <a:ahLst/>
            <a:cxnLst>
              <a:cxn ang="0">
                <a:pos x="1092" y="50"/>
              </a:cxn>
              <a:cxn ang="0">
                <a:pos x="822" y="168"/>
              </a:cxn>
              <a:cxn ang="0">
                <a:pos x="594" y="300"/>
              </a:cxn>
              <a:cxn ang="0">
                <a:pos x="406" y="446"/>
              </a:cxn>
              <a:cxn ang="0">
                <a:pos x="254" y="604"/>
              </a:cxn>
              <a:cxn ang="0">
                <a:pos x="140" y="772"/>
              </a:cxn>
              <a:cxn ang="0">
                <a:pos x="60" y="944"/>
              </a:cxn>
              <a:cxn ang="0">
                <a:pos x="14" y="1122"/>
              </a:cxn>
              <a:cxn ang="0">
                <a:pos x="0" y="1300"/>
              </a:cxn>
              <a:cxn ang="0">
                <a:pos x="18" y="1476"/>
              </a:cxn>
              <a:cxn ang="0">
                <a:pos x="64" y="1650"/>
              </a:cxn>
              <a:cxn ang="0">
                <a:pos x="138" y="1818"/>
              </a:cxn>
              <a:cxn ang="0">
                <a:pos x="238" y="1978"/>
              </a:cxn>
              <a:cxn ang="0">
                <a:pos x="364" y="2126"/>
              </a:cxn>
              <a:cxn ang="0">
                <a:pos x="512" y="2262"/>
              </a:cxn>
              <a:cxn ang="0">
                <a:pos x="684" y="2382"/>
              </a:cxn>
              <a:cxn ang="0">
                <a:pos x="874" y="2484"/>
              </a:cxn>
              <a:cxn ang="0">
                <a:pos x="1086" y="2564"/>
              </a:cxn>
              <a:cxn ang="0">
                <a:pos x="1314" y="2622"/>
              </a:cxn>
              <a:cxn ang="0">
                <a:pos x="1558" y="2654"/>
              </a:cxn>
              <a:cxn ang="0">
                <a:pos x="1818" y="2658"/>
              </a:cxn>
              <a:cxn ang="0">
                <a:pos x="2090" y="2632"/>
              </a:cxn>
              <a:cxn ang="0">
                <a:pos x="2374" y="2574"/>
              </a:cxn>
              <a:cxn ang="0">
                <a:pos x="2544" y="2912"/>
              </a:cxn>
              <a:cxn ang="0">
                <a:pos x="1868" y="1552"/>
              </a:cxn>
              <a:cxn ang="0">
                <a:pos x="1956" y="1914"/>
              </a:cxn>
              <a:cxn ang="0">
                <a:pos x="1788" y="1936"/>
              </a:cxn>
              <a:cxn ang="0">
                <a:pos x="1616" y="1934"/>
              </a:cxn>
              <a:cxn ang="0">
                <a:pos x="1442" y="1912"/>
              </a:cxn>
              <a:cxn ang="0">
                <a:pos x="1272" y="1872"/>
              </a:cxn>
              <a:cxn ang="0">
                <a:pos x="1108" y="1812"/>
              </a:cxn>
              <a:cxn ang="0">
                <a:pos x="952" y="1736"/>
              </a:cxn>
              <a:cxn ang="0">
                <a:pos x="810" y="1646"/>
              </a:cxn>
              <a:cxn ang="0">
                <a:pos x="684" y="1542"/>
              </a:cxn>
              <a:cxn ang="0">
                <a:pos x="578" y="1428"/>
              </a:cxn>
              <a:cxn ang="0">
                <a:pos x="494" y="1304"/>
              </a:cxn>
              <a:cxn ang="0">
                <a:pos x="438" y="1170"/>
              </a:cxn>
              <a:cxn ang="0">
                <a:pos x="410" y="1032"/>
              </a:cxn>
              <a:cxn ang="0">
                <a:pos x="416" y="888"/>
              </a:cxn>
              <a:cxn ang="0">
                <a:pos x="460" y="742"/>
              </a:cxn>
              <a:cxn ang="0">
                <a:pos x="544" y="592"/>
              </a:cxn>
              <a:cxn ang="0">
                <a:pos x="670" y="444"/>
              </a:cxn>
              <a:cxn ang="0">
                <a:pos x="844" y="298"/>
              </a:cxn>
              <a:cxn ang="0">
                <a:pos x="1070" y="154"/>
              </a:cxn>
              <a:cxn ang="0">
                <a:pos x="1348" y="16"/>
              </a:cxn>
              <a:cxn ang="0">
                <a:pos x="1244" y="0"/>
              </a:cxn>
              <a:cxn ang="0">
                <a:pos x="2820" y="1934"/>
              </a:cxn>
              <a:cxn ang="0">
                <a:pos x="2820" y="1934"/>
              </a:cxn>
            </a:cxnLst>
            <a:rect l="0" t="0" r="r" b="b"/>
            <a:pathLst>
              <a:path w="2820" h="2912">
                <a:moveTo>
                  <a:pt x="1244" y="0"/>
                </a:moveTo>
                <a:lnTo>
                  <a:pt x="1092" y="50"/>
                </a:lnTo>
                <a:lnTo>
                  <a:pt x="952" y="106"/>
                </a:lnTo>
                <a:lnTo>
                  <a:pt x="822" y="168"/>
                </a:lnTo>
                <a:lnTo>
                  <a:pt x="704" y="232"/>
                </a:lnTo>
                <a:lnTo>
                  <a:pt x="594" y="300"/>
                </a:lnTo>
                <a:lnTo>
                  <a:pt x="494" y="372"/>
                </a:lnTo>
                <a:lnTo>
                  <a:pt x="406" y="446"/>
                </a:lnTo>
                <a:lnTo>
                  <a:pt x="324" y="524"/>
                </a:lnTo>
                <a:lnTo>
                  <a:pt x="254" y="604"/>
                </a:lnTo>
                <a:lnTo>
                  <a:pt x="192" y="686"/>
                </a:lnTo>
                <a:lnTo>
                  <a:pt x="140" y="772"/>
                </a:lnTo>
                <a:lnTo>
                  <a:pt x="96" y="856"/>
                </a:lnTo>
                <a:lnTo>
                  <a:pt x="60" y="944"/>
                </a:lnTo>
                <a:lnTo>
                  <a:pt x="32" y="1032"/>
                </a:lnTo>
                <a:lnTo>
                  <a:pt x="14" y="1122"/>
                </a:lnTo>
                <a:lnTo>
                  <a:pt x="2" y="1210"/>
                </a:lnTo>
                <a:lnTo>
                  <a:pt x="0" y="1300"/>
                </a:lnTo>
                <a:lnTo>
                  <a:pt x="4" y="1388"/>
                </a:lnTo>
                <a:lnTo>
                  <a:pt x="18" y="1476"/>
                </a:lnTo>
                <a:lnTo>
                  <a:pt x="36" y="1564"/>
                </a:lnTo>
                <a:lnTo>
                  <a:pt x="64" y="1650"/>
                </a:lnTo>
                <a:lnTo>
                  <a:pt x="96" y="1736"/>
                </a:lnTo>
                <a:lnTo>
                  <a:pt x="138" y="1818"/>
                </a:lnTo>
                <a:lnTo>
                  <a:pt x="184" y="1900"/>
                </a:lnTo>
                <a:lnTo>
                  <a:pt x="238" y="1978"/>
                </a:lnTo>
                <a:lnTo>
                  <a:pt x="298" y="2054"/>
                </a:lnTo>
                <a:lnTo>
                  <a:pt x="364" y="2126"/>
                </a:lnTo>
                <a:lnTo>
                  <a:pt x="434" y="2196"/>
                </a:lnTo>
                <a:lnTo>
                  <a:pt x="512" y="2262"/>
                </a:lnTo>
                <a:lnTo>
                  <a:pt x="596" y="2324"/>
                </a:lnTo>
                <a:lnTo>
                  <a:pt x="684" y="2382"/>
                </a:lnTo>
                <a:lnTo>
                  <a:pt x="776" y="2436"/>
                </a:lnTo>
                <a:lnTo>
                  <a:pt x="874" y="2484"/>
                </a:lnTo>
                <a:lnTo>
                  <a:pt x="978" y="2526"/>
                </a:lnTo>
                <a:lnTo>
                  <a:pt x="1086" y="2564"/>
                </a:lnTo>
                <a:lnTo>
                  <a:pt x="1198" y="2596"/>
                </a:lnTo>
                <a:lnTo>
                  <a:pt x="1314" y="2622"/>
                </a:lnTo>
                <a:lnTo>
                  <a:pt x="1434" y="2642"/>
                </a:lnTo>
                <a:lnTo>
                  <a:pt x="1558" y="2654"/>
                </a:lnTo>
                <a:lnTo>
                  <a:pt x="1686" y="2660"/>
                </a:lnTo>
                <a:lnTo>
                  <a:pt x="1818" y="2658"/>
                </a:lnTo>
                <a:lnTo>
                  <a:pt x="1952" y="2650"/>
                </a:lnTo>
                <a:lnTo>
                  <a:pt x="2090" y="2632"/>
                </a:lnTo>
                <a:lnTo>
                  <a:pt x="2230" y="2608"/>
                </a:lnTo>
                <a:lnTo>
                  <a:pt x="2374" y="2574"/>
                </a:lnTo>
                <a:lnTo>
                  <a:pt x="2542" y="2912"/>
                </a:lnTo>
                <a:lnTo>
                  <a:pt x="2544" y="2912"/>
                </a:lnTo>
                <a:lnTo>
                  <a:pt x="2820" y="1934"/>
                </a:lnTo>
                <a:lnTo>
                  <a:pt x="1868" y="1552"/>
                </a:lnTo>
                <a:lnTo>
                  <a:pt x="2036" y="1894"/>
                </a:lnTo>
                <a:lnTo>
                  <a:pt x="1956" y="1914"/>
                </a:lnTo>
                <a:lnTo>
                  <a:pt x="1872" y="1928"/>
                </a:lnTo>
                <a:lnTo>
                  <a:pt x="1788" y="1936"/>
                </a:lnTo>
                <a:lnTo>
                  <a:pt x="1702" y="1938"/>
                </a:lnTo>
                <a:lnTo>
                  <a:pt x="1616" y="1934"/>
                </a:lnTo>
                <a:lnTo>
                  <a:pt x="1528" y="1926"/>
                </a:lnTo>
                <a:lnTo>
                  <a:pt x="1442" y="1912"/>
                </a:lnTo>
                <a:lnTo>
                  <a:pt x="1356" y="1894"/>
                </a:lnTo>
                <a:lnTo>
                  <a:pt x="1272" y="1872"/>
                </a:lnTo>
                <a:lnTo>
                  <a:pt x="1188" y="1844"/>
                </a:lnTo>
                <a:lnTo>
                  <a:pt x="1108" y="1812"/>
                </a:lnTo>
                <a:lnTo>
                  <a:pt x="1028" y="1776"/>
                </a:lnTo>
                <a:lnTo>
                  <a:pt x="952" y="1736"/>
                </a:lnTo>
                <a:lnTo>
                  <a:pt x="880" y="1692"/>
                </a:lnTo>
                <a:lnTo>
                  <a:pt x="810" y="1646"/>
                </a:lnTo>
                <a:lnTo>
                  <a:pt x="744" y="1596"/>
                </a:lnTo>
                <a:lnTo>
                  <a:pt x="684" y="1542"/>
                </a:lnTo>
                <a:lnTo>
                  <a:pt x="628" y="1486"/>
                </a:lnTo>
                <a:lnTo>
                  <a:pt x="578" y="1428"/>
                </a:lnTo>
                <a:lnTo>
                  <a:pt x="532" y="1366"/>
                </a:lnTo>
                <a:lnTo>
                  <a:pt x="494" y="1304"/>
                </a:lnTo>
                <a:lnTo>
                  <a:pt x="462" y="1238"/>
                </a:lnTo>
                <a:lnTo>
                  <a:pt x="438" y="1170"/>
                </a:lnTo>
                <a:lnTo>
                  <a:pt x="420" y="1102"/>
                </a:lnTo>
                <a:lnTo>
                  <a:pt x="410" y="1032"/>
                </a:lnTo>
                <a:lnTo>
                  <a:pt x="410" y="960"/>
                </a:lnTo>
                <a:lnTo>
                  <a:pt x="416" y="888"/>
                </a:lnTo>
                <a:lnTo>
                  <a:pt x="434" y="816"/>
                </a:lnTo>
                <a:lnTo>
                  <a:pt x="460" y="742"/>
                </a:lnTo>
                <a:lnTo>
                  <a:pt x="496" y="668"/>
                </a:lnTo>
                <a:lnTo>
                  <a:pt x="544" y="592"/>
                </a:lnTo>
                <a:lnTo>
                  <a:pt x="602" y="518"/>
                </a:lnTo>
                <a:lnTo>
                  <a:pt x="670" y="444"/>
                </a:lnTo>
                <a:lnTo>
                  <a:pt x="752" y="370"/>
                </a:lnTo>
                <a:lnTo>
                  <a:pt x="844" y="298"/>
                </a:lnTo>
                <a:lnTo>
                  <a:pt x="950" y="226"/>
                </a:lnTo>
                <a:lnTo>
                  <a:pt x="1070" y="154"/>
                </a:lnTo>
                <a:lnTo>
                  <a:pt x="1202" y="84"/>
                </a:lnTo>
                <a:lnTo>
                  <a:pt x="1348" y="16"/>
                </a:lnTo>
                <a:lnTo>
                  <a:pt x="1244" y="0"/>
                </a:lnTo>
                <a:lnTo>
                  <a:pt x="1244" y="0"/>
                </a:lnTo>
                <a:lnTo>
                  <a:pt x="1244" y="0"/>
                </a:lnTo>
                <a:close/>
                <a:moveTo>
                  <a:pt x="2820" y="1934"/>
                </a:moveTo>
                <a:lnTo>
                  <a:pt x="2820" y="1934"/>
                </a:lnTo>
                <a:lnTo>
                  <a:pt x="2820" y="1934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 w="0">
            <a:noFill/>
            <a:prstDash val="solid"/>
            <a:round/>
            <a:headEnd/>
            <a:tailEnd/>
          </a:ln>
          <a:effectLst>
            <a:outerShdw dist="206741" dir="824937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698882" y="3889392"/>
            <a:ext cx="1873250" cy="2039938"/>
            <a:chOff x="1610" y="1344"/>
            <a:chExt cx="2041" cy="2223"/>
          </a:xfrm>
        </p:grpSpPr>
        <p:sp>
          <p:nvSpPr>
            <p:cNvPr id="50181" name="Oval 5"/>
            <p:cNvSpPr>
              <a:spLocks noChangeArrowheads="1"/>
            </p:cNvSpPr>
            <p:nvPr/>
          </p:nvSpPr>
          <p:spPr bwMode="gray">
            <a:xfrm>
              <a:off x="1610" y="2704"/>
              <a:ext cx="2041" cy="863"/>
            </a:xfrm>
            <a:prstGeom prst="ellipse">
              <a:avLst/>
            </a:prstGeom>
            <a:gradFill rotWithShape="1">
              <a:gsLst>
                <a:gs pos="0">
                  <a:srgbClr val="000000">
                    <a:alpha val="52000"/>
                  </a:srgbClr>
                </a:gs>
                <a:gs pos="100000">
                  <a:srgbClr val="000000">
                    <a:gamma/>
                    <a:shade val="0"/>
                    <a:invGamma/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82" name="Oval 6"/>
            <p:cNvSpPr>
              <a:spLocks noChangeArrowheads="1"/>
            </p:cNvSpPr>
            <p:nvPr/>
          </p:nvSpPr>
          <p:spPr bwMode="gray">
            <a:xfrm>
              <a:off x="1701" y="1344"/>
              <a:ext cx="1859" cy="1859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83" name="Oval 7"/>
            <p:cNvSpPr>
              <a:spLocks noChangeArrowheads="1"/>
            </p:cNvSpPr>
            <p:nvPr/>
          </p:nvSpPr>
          <p:spPr bwMode="gray">
            <a:xfrm>
              <a:off x="1725" y="1354"/>
              <a:ext cx="1814" cy="181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84" name="Oval 8"/>
            <p:cNvSpPr>
              <a:spLocks noChangeArrowheads="1"/>
            </p:cNvSpPr>
            <p:nvPr/>
          </p:nvSpPr>
          <p:spPr bwMode="gray">
            <a:xfrm>
              <a:off x="1744" y="1372"/>
              <a:ext cx="1726" cy="169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85" name="Oval 9"/>
            <p:cNvSpPr>
              <a:spLocks noChangeArrowheads="1"/>
            </p:cNvSpPr>
            <p:nvPr/>
          </p:nvSpPr>
          <p:spPr bwMode="gray">
            <a:xfrm>
              <a:off x="1844" y="1420"/>
              <a:ext cx="1535" cy="137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214414" y="3251201"/>
            <a:ext cx="1785950" cy="1892311"/>
            <a:chOff x="1610" y="1344"/>
            <a:chExt cx="2041" cy="2223"/>
          </a:xfrm>
        </p:grpSpPr>
        <p:sp>
          <p:nvSpPr>
            <p:cNvPr id="50187" name="Oval 11"/>
            <p:cNvSpPr>
              <a:spLocks noChangeArrowheads="1"/>
            </p:cNvSpPr>
            <p:nvPr/>
          </p:nvSpPr>
          <p:spPr bwMode="gray">
            <a:xfrm>
              <a:off x="1610" y="2704"/>
              <a:ext cx="2041" cy="863"/>
            </a:xfrm>
            <a:prstGeom prst="ellipse">
              <a:avLst/>
            </a:prstGeom>
            <a:gradFill rotWithShape="1">
              <a:gsLst>
                <a:gs pos="0">
                  <a:srgbClr val="000000">
                    <a:alpha val="52000"/>
                  </a:srgbClr>
                </a:gs>
                <a:gs pos="100000">
                  <a:srgbClr val="000000">
                    <a:gamma/>
                    <a:shade val="0"/>
                    <a:invGamma/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88" name="Oval 12"/>
            <p:cNvSpPr>
              <a:spLocks noChangeArrowheads="1"/>
            </p:cNvSpPr>
            <p:nvPr/>
          </p:nvSpPr>
          <p:spPr bwMode="gray">
            <a:xfrm>
              <a:off x="1701" y="1344"/>
              <a:ext cx="1859" cy="1859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89" name="Oval 13"/>
            <p:cNvSpPr>
              <a:spLocks noChangeArrowheads="1"/>
            </p:cNvSpPr>
            <p:nvPr/>
          </p:nvSpPr>
          <p:spPr bwMode="gray">
            <a:xfrm>
              <a:off x="1725" y="1354"/>
              <a:ext cx="1814" cy="181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90" name="Oval 14"/>
            <p:cNvSpPr>
              <a:spLocks noChangeArrowheads="1"/>
            </p:cNvSpPr>
            <p:nvPr/>
          </p:nvSpPr>
          <p:spPr bwMode="gray">
            <a:xfrm>
              <a:off x="1744" y="1372"/>
              <a:ext cx="1726" cy="169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91" name="Oval 15"/>
            <p:cNvSpPr>
              <a:spLocks noChangeArrowheads="1"/>
            </p:cNvSpPr>
            <p:nvPr/>
          </p:nvSpPr>
          <p:spPr bwMode="gray">
            <a:xfrm>
              <a:off x="1844" y="1420"/>
              <a:ext cx="1535" cy="137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2193930" y="1643050"/>
            <a:ext cx="1520813" cy="1714512"/>
            <a:chOff x="1610" y="1344"/>
            <a:chExt cx="2041" cy="2223"/>
          </a:xfrm>
        </p:grpSpPr>
        <p:sp>
          <p:nvSpPr>
            <p:cNvPr id="50193" name="Oval 17"/>
            <p:cNvSpPr>
              <a:spLocks noChangeArrowheads="1"/>
            </p:cNvSpPr>
            <p:nvPr/>
          </p:nvSpPr>
          <p:spPr bwMode="gray">
            <a:xfrm>
              <a:off x="1610" y="2704"/>
              <a:ext cx="2041" cy="863"/>
            </a:xfrm>
            <a:prstGeom prst="ellipse">
              <a:avLst/>
            </a:prstGeom>
            <a:gradFill rotWithShape="1">
              <a:gsLst>
                <a:gs pos="0">
                  <a:srgbClr val="000000">
                    <a:alpha val="52000"/>
                  </a:srgbClr>
                </a:gs>
                <a:gs pos="100000">
                  <a:srgbClr val="000000">
                    <a:gamma/>
                    <a:shade val="0"/>
                    <a:invGamma/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94" name="Oval 18"/>
            <p:cNvSpPr>
              <a:spLocks noChangeArrowheads="1"/>
            </p:cNvSpPr>
            <p:nvPr/>
          </p:nvSpPr>
          <p:spPr bwMode="gray">
            <a:xfrm>
              <a:off x="1701" y="1344"/>
              <a:ext cx="1859" cy="1859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95" name="Oval 19"/>
            <p:cNvSpPr>
              <a:spLocks noChangeArrowheads="1"/>
            </p:cNvSpPr>
            <p:nvPr/>
          </p:nvSpPr>
          <p:spPr bwMode="gray">
            <a:xfrm>
              <a:off x="1725" y="1354"/>
              <a:ext cx="1814" cy="1814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96" name="Oval 20"/>
            <p:cNvSpPr>
              <a:spLocks noChangeArrowheads="1"/>
            </p:cNvSpPr>
            <p:nvPr/>
          </p:nvSpPr>
          <p:spPr bwMode="gray">
            <a:xfrm>
              <a:off x="1744" y="1372"/>
              <a:ext cx="1726" cy="169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0197" name="Oval 21"/>
            <p:cNvSpPr>
              <a:spLocks noChangeArrowheads="1"/>
            </p:cNvSpPr>
            <p:nvPr/>
          </p:nvSpPr>
          <p:spPr bwMode="gray">
            <a:xfrm>
              <a:off x="1844" y="1420"/>
              <a:ext cx="1535" cy="1375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50204" name="Text Box 28"/>
          <p:cNvSpPr txBox="1">
            <a:spLocks noChangeArrowheads="1"/>
          </p:cNvSpPr>
          <p:nvPr/>
        </p:nvSpPr>
        <p:spPr bwMode="auto">
          <a:xfrm>
            <a:off x="2285984" y="2119962"/>
            <a:ext cx="1853968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lvl="1" eaLnBrk="0" hangingPunct="0"/>
            <a:r>
              <a:rPr lang="en-US" altLang="zh-CN" sz="1400" b="1" dirty="0"/>
              <a:t>5X+3Y+Z/3=100</a:t>
            </a:r>
          </a:p>
          <a:p>
            <a:pPr marL="0" lvl="1" eaLnBrk="0" hangingPunct="0"/>
            <a:r>
              <a:rPr lang="en-US" altLang="zh-CN" sz="1400" b="1" dirty="0"/>
              <a:t>X+Y+Z=100</a:t>
            </a:r>
          </a:p>
        </p:txBody>
      </p:sp>
      <p:sp>
        <p:nvSpPr>
          <p:cNvPr id="50206" name="Text Box 30"/>
          <p:cNvSpPr txBox="1">
            <a:spLocks noChangeArrowheads="1"/>
          </p:cNvSpPr>
          <p:nvPr/>
        </p:nvSpPr>
        <p:spPr bwMode="auto">
          <a:xfrm>
            <a:off x="1531531" y="3659692"/>
            <a:ext cx="1183081" cy="76944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lvl="1" algn="ctr" eaLnBrk="0" hangingPunct="0"/>
            <a:r>
              <a:rPr lang="en-US" altLang="zh-CN" sz="2200" b="1" dirty="0"/>
              <a:t>Z = 100</a:t>
            </a:r>
          </a:p>
          <a:p>
            <a:pPr marL="0" lvl="1" algn="ctr" eaLnBrk="0" hangingPunct="0"/>
            <a:r>
              <a:rPr lang="en-US" altLang="zh-CN" sz="2200" b="1" dirty="0"/>
              <a:t> – X – Y</a:t>
            </a:r>
          </a:p>
        </p:txBody>
      </p:sp>
      <p:sp>
        <p:nvSpPr>
          <p:cNvPr id="50207" name="Text Box 31"/>
          <p:cNvSpPr txBox="1">
            <a:spLocks noChangeArrowheads="1"/>
          </p:cNvSpPr>
          <p:nvPr/>
        </p:nvSpPr>
        <p:spPr bwMode="auto">
          <a:xfrm>
            <a:off x="3809373" y="4569749"/>
            <a:ext cx="1675459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lvl="1" algn="ctr" eaLnBrk="0" hangingPunct="0"/>
            <a:r>
              <a:rPr lang="en-US" altLang="zh-CN" sz="2200" b="1" dirty="0"/>
              <a:t>7X+4Y=100</a:t>
            </a:r>
          </a:p>
        </p:txBody>
      </p:sp>
      <p:sp>
        <p:nvSpPr>
          <p:cNvPr id="50208" name="Text Box 32"/>
          <p:cNvSpPr txBox="1">
            <a:spLocks noChangeArrowheads="1"/>
          </p:cNvSpPr>
          <p:nvPr/>
        </p:nvSpPr>
        <p:spPr bwMode="auto">
          <a:xfrm>
            <a:off x="5715000" y="3517900"/>
            <a:ext cx="25908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zh-CN" alt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模型设计过程</a:t>
            </a:r>
            <a:endParaRPr lang="en-US" altLang="zh-CN" sz="28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itchFamily="2" charset="-122"/>
            </a:endParaRP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44</a:t>
            </a:fld>
            <a:endParaRPr lang="en-US" altLang="zh-CN" dirty="0"/>
          </a:p>
        </p:txBody>
      </p:sp>
      <p:sp>
        <p:nvSpPr>
          <p:cNvPr id="3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程序的设计思路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80954"/>
            <a:ext cx="8153400" cy="677704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000" b="1" kern="1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3000" b="1" kern="1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000" b="1" kern="1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000" b="1" kern="1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000" b="1" kern="1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altLang="zh-CN" sz="3000" b="1" kern="1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  <a:b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zh-CN" sz="3000" b="1" kern="12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000" b="1" kern="1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chicken,hen,cock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b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zh-CN" sz="3000" b="1" kern="1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&lt;&lt;"chicken hen cock"&lt;&lt;</a:t>
            </a:r>
            <a:r>
              <a:rPr lang="en-US" altLang="zh-CN" sz="3000" b="1" kern="1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b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zh-CN" sz="3000" b="1" kern="1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(chicken=0; chicken&lt;100; chicken+=3)</a:t>
            </a:r>
            <a:b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3000" b="1" kern="1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(hen=0; hen&lt;=33; hen++)</a:t>
            </a:r>
            <a:b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 </a:t>
            </a:r>
            <a:r>
              <a:rPr lang="en-US" altLang="zh-CN" sz="3000" b="1" kern="1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((cock=100-chicken-hen)&gt;-1)  	  	 </a:t>
            </a:r>
            <a:r>
              <a:rPr lang="en-US" altLang="zh-CN" sz="3000" b="1" kern="12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3000" b="1" kern="12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(chicken/3)+hen*3+cock*5==100)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 {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altLang="zh-CN" sz="3000" b="1" kern="1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 "&lt;&lt;chicken&lt;&lt;" "&lt;&lt;hen;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     </a:t>
            </a:r>
            <a:r>
              <a:rPr lang="en-US" altLang="zh-CN" sz="3000" b="1" kern="1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 "&lt;&lt;cock&lt;&lt;</a:t>
            </a:r>
            <a:r>
              <a:rPr lang="en-US" altLang="zh-CN" sz="3000" b="1" kern="1200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3000" b="1" kern="12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}</a:t>
            </a:r>
            <a:endParaRPr lang="zh-CN" altLang="en-US" sz="20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45</a:t>
            </a:fld>
            <a:endParaRPr lang="en-US" altLang="zh-CN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b="1" dirty="0">
                <a:latin typeface="+mj-ea"/>
                <a:ea typeface="+mj-ea"/>
              </a:rPr>
              <a:t>输出结果：</a:t>
            </a:r>
          </a:p>
          <a:p>
            <a:pPr>
              <a:buNone/>
            </a:pPr>
            <a:r>
              <a:rPr lang="en-US" altLang="zh-CN" b="1" dirty="0">
                <a:solidFill>
                  <a:srgbClr val="0033CC"/>
                </a:solidFill>
                <a:latin typeface="+mj-ea"/>
                <a:ea typeface="+mj-ea"/>
                <a:cs typeface="Courier New" pitchFamily="49" charset="0"/>
              </a:rPr>
              <a:t>  chicken	     hen	    cock</a:t>
            </a:r>
          </a:p>
          <a:p>
            <a:pPr>
              <a:buNone/>
            </a:pPr>
            <a:r>
              <a:rPr lang="zh-CN" altLang="en-US" b="1" dirty="0">
                <a:solidFill>
                  <a:srgbClr val="0033CC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b="1" dirty="0">
                <a:solidFill>
                  <a:srgbClr val="0033CC"/>
                </a:solidFill>
                <a:latin typeface="+mj-ea"/>
                <a:ea typeface="+mj-ea"/>
                <a:cs typeface="Courier New" pitchFamily="49" charset="0"/>
              </a:rPr>
              <a:t>75		25		0</a:t>
            </a:r>
          </a:p>
          <a:p>
            <a:pPr>
              <a:buNone/>
            </a:pPr>
            <a:r>
              <a:rPr lang="en-US" altLang="zh-CN" b="1" dirty="0">
                <a:solidFill>
                  <a:srgbClr val="0033CC"/>
                </a:solidFill>
                <a:latin typeface="+mj-ea"/>
                <a:ea typeface="+mj-ea"/>
                <a:cs typeface="Courier New" pitchFamily="49" charset="0"/>
              </a:rPr>
              <a:t>		78		18		4</a:t>
            </a:r>
          </a:p>
          <a:p>
            <a:pPr>
              <a:buNone/>
            </a:pPr>
            <a:r>
              <a:rPr lang="en-US" altLang="zh-CN" b="1" dirty="0">
                <a:solidFill>
                  <a:srgbClr val="0033CC"/>
                </a:solidFill>
                <a:latin typeface="+mj-ea"/>
                <a:ea typeface="+mj-ea"/>
                <a:cs typeface="Courier New" pitchFamily="49" charset="0"/>
              </a:rPr>
              <a:t>		81		11		8</a:t>
            </a:r>
          </a:p>
          <a:p>
            <a:pPr>
              <a:buNone/>
            </a:pPr>
            <a:r>
              <a:rPr lang="en-US" altLang="zh-CN" b="1" dirty="0">
                <a:solidFill>
                  <a:srgbClr val="0033CC"/>
                </a:solidFill>
                <a:latin typeface="+mj-ea"/>
                <a:ea typeface="+mj-ea"/>
                <a:cs typeface="Courier New" pitchFamily="49" charset="0"/>
              </a:rPr>
              <a:t>		84		4		12</a:t>
            </a:r>
            <a:r>
              <a:rPr lang="en-US" altLang="zh-CN" dirty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	</a:t>
            </a:r>
            <a:endParaRPr lang="zh-CN" alt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46</a:t>
            </a:fld>
            <a:endParaRPr lang="en-US" altLang="zh-C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348880"/>
            <a:ext cx="8153400" cy="3660438"/>
          </a:xfrm>
        </p:spPr>
        <p:txBody>
          <a:bodyPr/>
          <a:lstStyle/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输入方程的参数：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a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b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c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通过公式：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	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计算方程的根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如果有实根，给输出实根，无实根则输出相应的提示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/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47</a:t>
            </a:fld>
            <a:endParaRPr lang="en-US" altLang="zh-CN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57200" y="1296000"/>
            <a:ext cx="8543956" cy="633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defTabSz="914400" latinLnBrk="0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itchFamily="2" charset="2"/>
              <a:buChar char="v"/>
              <a:tabLst/>
              <a:defRPr/>
            </a:pPr>
            <a:r>
              <a:rPr lang="en-US" altLang="zh-CN" sz="32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【</a:t>
            </a:r>
            <a:r>
              <a:rPr lang="zh-CN" altLang="en-US" sz="32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32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】</a:t>
            </a:r>
            <a:r>
              <a:rPr lang="zh-CN" altLang="en-US" sz="32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设计一个程序，求一元二次方程的根</a:t>
            </a:r>
            <a:endParaRPr lang="en-US" altLang="zh-CN" sz="32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1647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04529" y="3053649"/>
            <a:ext cx="3479639" cy="1023423"/>
          </a:xfrm>
          <a:prstGeom prst="rect">
            <a:avLst/>
          </a:prstGeom>
          <a:noFill/>
        </p:spPr>
      </p:pic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0" y="16478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7239000" cy="1143000"/>
          </a:xfrm>
        </p:spPr>
        <p:txBody>
          <a:bodyPr/>
          <a:lstStyle/>
          <a:p>
            <a:r>
              <a:rPr lang="en-US" altLang="zh-CN" dirty="0"/>
              <a:t>VC++</a:t>
            </a:r>
            <a:r>
              <a:rPr lang="en-US" altLang="zh-CN" dirty="0" err="1"/>
              <a:t>.Net</a:t>
            </a:r>
            <a:r>
              <a:rPr lang="zh-CN" altLang="en-US" dirty="0"/>
              <a:t>中编辑并执行</a:t>
            </a:r>
            <a:r>
              <a:rPr lang="en-US" altLang="zh-CN" dirty="0"/>
              <a:t>C++</a:t>
            </a:r>
            <a:r>
              <a:rPr lang="zh-CN" altLang="en-US" dirty="0"/>
              <a:t>程序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48</a:t>
            </a:fld>
            <a:endParaRPr lang="en-US" altLang="zh-CN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81534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使用</a:t>
            </a:r>
            <a:r>
              <a:rPr lang="en-US" altLang="zh-CN" b="1" dirty="0" err="1">
                <a:latin typeface="+mj-ea"/>
                <a:ea typeface="+mj-ea"/>
              </a:rPr>
              <a:t>cout</a:t>
            </a:r>
            <a:r>
              <a:rPr lang="zh-CN" altLang="en-US" b="1" dirty="0">
                <a:latin typeface="+mj-ea"/>
                <a:ea typeface="+mj-ea"/>
              </a:rPr>
              <a:t>在屏幕上输出如下图形：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正方形、矩形、三角形、菱形、梯形</a:t>
            </a:r>
            <a:endParaRPr lang="en-US" altLang="zh-CN" b="1" dirty="0"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完成如下程序设计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设计一个圆形程序</a:t>
            </a:r>
            <a:endParaRPr lang="en-US" altLang="zh-CN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用宏定义设置圆周率</a:t>
            </a:r>
            <a:endParaRPr lang="en-US" altLang="zh-CN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输入圆的半径</a:t>
            </a:r>
            <a:endParaRPr lang="en-US" altLang="zh-CN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计算圆的周长、面积并输出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49</a:t>
            </a:fld>
            <a:endParaRPr lang="en-US" altLang="zh-C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20B59-A3D0-4A5B-B3DA-1CB89B8B1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计算并输出简单表达式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C52EC5-12B8-47FC-AC69-850DC8751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r>
              <a:rPr lang="en-US" altLang="zh-CN" dirty="0"/>
              <a:t>void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1 + 2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r>
              <a:rPr lang="zh-CN" altLang="en-US" dirty="0"/>
              <a:t>输出</a:t>
            </a:r>
            <a:r>
              <a:rPr lang="en-US" altLang="zh-CN" dirty="0"/>
              <a:t>3-4</a:t>
            </a:r>
            <a:r>
              <a:rPr lang="zh-CN" altLang="en-US" dirty="0"/>
              <a:t>、</a:t>
            </a:r>
            <a:r>
              <a:rPr lang="en-US" altLang="zh-CN" dirty="0"/>
              <a:t>5*6</a:t>
            </a:r>
            <a:r>
              <a:rPr lang="zh-CN" altLang="en-US" dirty="0"/>
              <a:t>、</a:t>
            </a:r>
            <a:r>
              <a:rPr lang="en-US" altLang="zh-CN" dirty="0"/>
              <a:t>8/4</a:t>
            </a:r>
            <a:r>
              <a:rPr lang="zh-CN" altLang="en-US" dirty="0"/>
              <a:t>、</a:t>
            </a:r>
            <a:r>
              <a:rPr lang="en-US" altLang="zh-CN" dirty="0"/>
              <a:t>8/5</a:t>
            </a:r>
            <a:r>
              <a:rPr lang="zh-CN" altLang="en-US" dirty="0"/>
              <a:t>的结果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C/C++</a:t>
            </a:r>
            <a:r>
              <a:rPr lang="zh-CN" altLang="en-US" dirty="0"/>
              <a:t>中，</a:t>
            </a:r>
            <a:r>
              <a:rPr lang="en-US" altLang="zh-CN" dirty="0"/>
              <a:t>8/5</a:t>
            </a:r>
            <a:r>
              <a:rPr lang="zh-CN" altLang="en-US" dirty="0"/>
              <a:t>的含义为“</a:t>
            </a:r>
            <a:r>
              <a:rPr lang="en-US" altLang="zh-CN" dirty="0"/>
              <a:t>8</a:t>
            </a:r>
            <a:r>
              <a:rPr lang="zh-CN" altLang="en-US" dirty="0"/>
              <a:t>除以</a:t>
            </a:r>
            <a:r>
              <a:rPr lang="en-US" altLang="zh-CN" dirty="0"/>
              <a:t>5</a:t>
            </a:r>
            <a:r>
              <a:rPr lang="zh-CN" altLang="en-US" dirty="0"/>
              <a:t>所得商值的整数部分”</a:t>
            </a:r>
            <a:endParaRPr lang="en-US" altLang="zh-CN" dirty="0"/>
          </a:p>
          <a:p>
            <a:pPr lvl="1"/>
            <a:r>
              <a:rPr lang="en-US" altLang="zh-CN" dirty="0"/>
              <a:t>-8/5</a:t>
            </a:r>
            <a:r>
              <a:rPr lang="zh-CN" altLang="en-US" dirty="0"/>
              <a:t> 的结果？</a:t>
            </a:r>
            <a:endParaRPr lang="en-US" altLang="zh-CN" dirty="0"/>
          </a:p>
          <a:p>
            <a:pPr lvl="1"/>
            <a:r>
              <a:rPr lang="en-US" altLang="zh-CN" dirty="0"/>
              <a:t>8.0/5</a:t>
            </a:r>
            <a:r>
              <a:rPr lang="zh-CN" altLang="en-US" dirty="0"/>
              <a:t>的结果为</a:t>
            </a:r>
            <a:r>
              <a:rPr lang="en-US" altLang="zh-CN" dirty="0"/>
              <a:t>1.6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60488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417137-2F1C-426D-8DCC-B55E1185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复杂的表达式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4B6643-E5B5-4AAC-97E6-B4830DDE3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#include &lt;</a:t>
            </a:r>
            <a:r>
              <a:rPr lang="en-US" altLang="zh-CN" dirty="0" err="1"/>
              <a:t>cmath</a:t>
            </a:r>
            <a:r>
              <a:rPr lang="en-US" altLang="zh-CN" dirty="0"/>
              <a:t>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r>
              <a:rPr lang="en-US" altLang="zh-CN" dirty="0"/>
              <a:t>void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fr-FR" altLang="zh-CN" dirty="0"/>
              <a:t>cout &lt;&lt; 1+2*sqrt(3)/(5-0.1)&lt;&lt; endl;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r>
              <a:rPr lang="zh-CN" altLang="en-US" dirty="0"/>
              <a:t>思考数据类型整型、浮点型，及在表达式中的使用原则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338312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EDC5D-1341-49D5-BF2D-B446A091F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变量输入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98BF90-8D13-4FF8-8D85-1AA116A64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r>
              <a:rPr lang="en-US" altLang="zh-CN" dirty="0"/>
              <a:t>void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	int a, b;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cin</a:t>
            </a:r>
            <a:r>
              <a:rPr lang="en-US" altLang="zh-CN" dirty="0"/>
              <a:t> &gt;&gt; a &gt;&gt; b;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a + b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r>
              <a:rPr lang="zh-CN" altLang="en-US" dirty="0"/>
              <a:t>数据类型</a:t>
            </a:r>
            <a:r>
              <a:rPr lang="en-US" altLang="zh-CN" dirty="0"/>
              <a:t>int</a:t>
            </a:r>
          </a:p>
          <a:p>
            <a:r>
              <a:rPr lang="zh-CN" altLang="en-US" dirty="0"/>
              <a:t>变量</a:t>
            </a:r>
            <a:r>
              <a:rPr lang="en-US" altLang="zh-CN" dirty="0"/>
              <a:t>a</a:t>
            </a:r>
            <a:r>
              <a:rPr lang="zh-CN" altLang="en-US" dirty="0"/>
              <a:t>和变量</a:t>
            </a:r>
            <a:r>
              <a:rPr lang="en-US" altLang="zh-CN" dirty="0"/>
              <a:t>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86289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A7731B-C2B9-4A5B-A205-B10E3C05B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输入半径和高，输出圆柱体表面积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337AC5-CDB0-45B2-B430-2580D5FA8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#include &lt;</a:t>
            </a:r>
            <a:r>
              <a:rPr lang="en-US" altLang="zh-CN" dirty="0" err="1"/>
              <a:t>iomanip</a:t>
            </a:r>
            <a:r>
              <a:rPr lang="en-US" altLang="zh-CN" dirty="0"/>
              <a:t>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r>
              <a:rPr lang="en-US" altLang="zh-CN" dirty="0"/>
              <a:t>void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fr-FR" altLang="zh-CN" dirty="0"/>
              <a:t>	const double PI = acos(-1.0);</a:t>
            </a:r>
          </a:p>
          <a:p>
            <a:pPr marL="0" indent="0">
              <a:buNone/>
            </a:pPr>
            <a:r>
              <a:rPr lang="pt-BR" altLang="zh-CN" dirty="0"/>
              <a:t>	double r, h, s1, s2, s;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cin</a:t>
            </a:r>
            <a:r>
              <a:rPr lang="en-US" altLang="zh-CN" dirty="0"/>
              <a:t> &gt;&gt; r &gt;&gt; h;</a:t>
            </a:r>
          </a:p>
          <a:p>
            <a:pPr marL="0" indent="0">
              <a:buNone/>
            </a:pPr>
            <a:r>
              <a:rPr lang="en-US" altLang="zh-CN" dirty="0"/>
              <a:t>	s1 = PI * r * r;</a:t>
            </a:r>
          </a:p>
          <a:p>
            <a:pPr marL="0" indent="0">
              <a:buNone/>
            </a:pPr>
            <a:r>
              <a:rPr lang="pt-BR" altLang="zh-CN" dirty="0"/>
              <a:t>	s2 = 2 * PI * r * h;</a:t>
            </a:r>
          </a:p>
          <a:p>
            <a:pPr marL="0" indent="0">
              <a:buNone/>
            </a:pPr>
            <a:r>
              <a:rPr lang="en-US" altLang="zh-CN" dirty="0"/>
              <a:t>	s = 2 * s1 + s2;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setprecision</a:t>
            </a:r>
            <a:r>
              <a:rPr lang="en-US" altLang="zh-CN" dirty="0"/>
              <a:t>(7) &lt;&lt; s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86639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1E2661-AD83-4755-A12F-762E916ED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三位数反转</a:t>
            </a:r>
            <a:r>
              <a:rPr lang="en-US" altLang="zh-CN" dirty="0"/>
              <a:t>-1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A1EC2-8DFC-42F3-B6B6-6C98ABF65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9416"/>
            <a:ext cx="8291264" cy="484632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r>
              <a:rPr lang="en-US" altLang="zh-CN" dirty="0"/>
              <a:t>void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	int n;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cin</a:t>
            </a:r>
            <a:r>
              <a:rPr lang="en-US" altLang="zh-CN" dirty="0"/>
              <a:t> &gt;&gt; n;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pt-BR" altLang="zh-CN" dirty="0"/>
              <a:t>cout &lt;&lt; n % 10 &lt;&lt; n / 10 % 10 &lt;&lt; n / 100 &lt;&lt; endl;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r>
              <a:rPr lang="en-US" altLang="zh-CN" dirty="0"/>
              <a:t>/</a:t>
            </a:r>
            <a:r>
              <a:rPr lang="zh-CN" altLang="en-US" dirty="0"/>
              <a:t>和</a:t>
            </a:r>
            <a:r>
              <a:rPr lang="en-US" altLang="zh-CN" dirty="0"/>
              <a:t>%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60331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C3A13-9CD6-4F5A-BBC1-C72290D3B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三位数反转</a:t>
            </a:r>
            <a:r>
              <a:rPr lang="en-US" altLang="zh-CN" dirty="0"/>
              <a:t>-2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23C4B8-925F-487E-9CA9-CDFFFB9C1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9416"/>
            <a:ext cx="8435280" cy="484632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#include&lt;</a:t>
            </a:r>
            <a:r>
              <a:rPr lang="en-US" altLang="zh-CN" dirty="0" err="1"/>
              <a:t>iomanip</a:t>
            </a:r>
            <a:r>
              <a:rPr lang="en-US" altLang="zh-CN" dirty="0"/>
              <a:t>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r>
              <a:rPr lang="en-US" altLang="zh-CN" dirty="0"/>
              <a:t>void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	int n;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cin</a:t>
            </a:r>
            <a:r>
              <a:rPr lang="en-US" altLang="zh-CN" dirty="0"/>
              <a:t> &gt;&gt; n;</a:t>
            </a:r>
          </a:p>
          <a:p>
            <a:pPr marL="0" indent="0">
              <a:buNone/>
            </a:pPr>
            <a:r>
              <a:rPr lang="pt-BR" altLang="zh-CN" dirty="0"/>
              <a:t>	int m=(n % 10)*100+(n / 10 % 10)*10+(n / 100);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setw</a:t>
            </a:r>
            <a:r>
              <a:rPr lang="en-US" altLang="zh-CN" dirty="0"/>
              <a:t>(3) &lt;&lt; m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23876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34B7C-66FD-4DDA-8AC9-4D2047B2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交换变量</a:t>
            </a:r>
            <a:r>
              <a:rPr lang="en-US" altLang="zh-CN" dirty="0"/>
              <a:t>-1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7E20A3-1A3C-453F-A90A-CB59D09E1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r>
              <a:rPr lang="en-US" altLang="zh-CN" dirty="0"/>
              <a:t>void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	int a, b;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cin</a:t>
            </a:r>
            <a:r>
              <a:rPr lang="en-US" altLang="zh-CN" dirty="0"/>
              <a:t> &gt;&gt; a &gt;&gt; b;</a:t>
            </a:r>
          </a:p>
          <a:p>
            <a:pPr marL="0" indent="0">
              <a:buNone/>
            </a:pPr>
            <a:r>
              <a:rPr lang="en-US" altLang="zh-CN" dirty="0"/>
              <a:t>	int </a:t>
            </a:r>
            <a:r>
              <a:rPr lang="en-US" altLang="zh-CN" dirty="0" err="1"/>
              <a:t>tmp</a:t>
            </a:r>
            <a:r>
              <a:rPr lang="en-US" altLang="zh-CN" dirty="0"/>
              <a:t> = a;</a:t>
            </a:r>
          </a:p>
          <a:p>
            <a:pPr marL="0" indent="0">
              <a:buNone/>
            </a:pPr>
            <a:r>
              <a:rPr lang="en-US" altLang="zh-CN" dirty="0"/>
              <a:t>	a = b;</a:t>
            </a:r>
          </a:p>
          <a:p>
            <a:pPr marL="0" indent="0">
              <a:buNone/>
            </a:pPr>
            <a:r>
              <a:rPr lang="en-US" altLang="zh-CN" dirty="0"/>
              <a:t>	b = </a:t>
            </a:r>
            <a:r>
              <a:rPr lang="en-US" altLang="zh-CN" dirty="0" err="1"/>
              <a:t>tmp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a &lt;&lt; </a:t>
            </a:r>
            <a:r>
              <a:rPr lang="en-US" altLang="zh-CN" dirty="0" err="1"/>
              <a:t>endl</a:t>
            </a:r>
            <a:r>
              <a:rPr lang="en-US" altLang="zh-CN" dirty="0"/>
              <a:t> &lt;&lt; b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60369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DF42C-6A63-43BE-A00B-C088B7785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交换变量</a:t>
            </a:r>
            <a:r>
              <a:rPr lang="en-US" altLang="zh-CN" dirty="0"/>
              <a:t>-2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BB57D0-353A-40B0-A0C0-7AFC10FE4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r>
              <a:rPr lang="en-US" altLang="zh-CN" dirty="0"/>
              <a:t>void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	int a, b;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cin</a:t>
            </a:r>
            <a:r>
              <a:rPr lang="en-US" altLang="zh-CN" dirty="0"/>
              <a:t> &gt;&gt; a &gt;&gt; b;</a:t>
            </a:r>
          </a:p>
          <a:p>
            <a:pPr marL="0" indent="0">
              <a:buNone/>
            </a:pPr>
            <a:r>
              <a:rPr lang="en-US" altLang="zh-CN" dirty="0"/>
              <a:t>	a = a + b;</a:t>
            </a:r>
          </a:p>
          <a:p>
            <a:pPr marL="0" indent="0">
              <a:buNone/>
            </a:pPr>
            <a:r>
              <a:rPr lang="en-US" altLang="zh-CN" dirty="0"/>
              <a:t>	b = a - b;</a:t>
            </a:r>
          </a:p>
          <a:p>
            <a:pPr marL="0" indent="0">
              <a:buNone/>
            </a:pPr>
            <a:r>
              <a:rPr lang="en-US" altLang="zh-CN" dirty="0"/>
              <a:t>	a = a - b;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a &lt;&lt; </a:t>
            </a:r>
            <a:r>
              <a:rPr lang="en-US" altLang="zh-CN" dirty="0" err="1"/>
              <a:t>endl</a:t>
            </a:r>
            <a:r>
              <a:rPr lang="en-US" altLang="zh-CN" dirty="0"/>
              <a:t> &lt;&lt; b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r>
              <a:rPr lang="zh-CN" altLang="en-US" dirty="0"/>
              <a:t>炫耀技巧？</a:t>
            </a:r>
            <a:endParaRPr lang="en-US" altLang="zh-CN" dirty="0"/>
          </a:p>
          <a:p>
            <a:r>
              <a:rPr lang="en-US" altLang="zh-CN" dirty="0"/>
              <a:t>KISS: Keep It Simple and Stupid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8115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E231B-B2D0-460E-A8CC-9A2F2FFAE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</a:t>
            </a:r>
            <a:r>
              <a:rPr lang="zh-CN" altLang="en-US" dirty="0"/>
              <a:t>鸡兔同笼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4B9A3-CA3F-438E-AB8C-C22C7390F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#include &lt;iostream&gt;</a:t>
            </a:r>
          </a:p>
          <a:p>
            <a:pPr marL="0" indent="0">
              <a:buNone/>
            </a:pPr>
            <a:r>
              <a:rPr lang="en-US" altLang="zh-CN" dirty="0"/>
              <a:t>using namespace std;</a:t>
            </a:r>
          </a:p>
          <a:p>
            <a:pPr marL="0" indent="0">
              <a:buNone/>
            </a:pPr>
            <a:r>
              <a:rPr lang="en-US" altLang="zh-CN" dirty="0"/>
              <a:t>void main()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	int a, b, n, m;//</a:t>
            </a:r>
            <a:r>
              <a:rPr lang="zh-CN" altLang="en-US" dirty="0"/>
              <a:t>鸡</a:t>
            </a:r>
            <a:r>
              <a:rPr lang="en-US" altLang="zh-CN" dirty="0"/>
              <a:t>a,</a:t>
            </a:r>
            <a:r>
              <a:rPr lang="zh-CN" altLang="en-US" dirty="0"/>
              <a:t>兔</a:t>
            </a:r>
            <a:r>
              <a:rPr lang="en-US" altLang="zh-CN" dirty="0"/>
              <a:t>b,</a:t>
            </a:r>
            <a:r>
              <a:rPr lang="zh-CN" altLang="en-US" dirty="0"/>
              <a:t>总数</a:t>
            </a:r>
            <a:r>
              <a:rPr lang="en-US" altLang="zh-CN" dirty="0"/>
              <a:t>n,</a:t>
            </a:r>
            <a:r>
              <a:rPr lang="zh-CN" altLang="en-US" dirty="0"/>
              <a:t>总腿数</a:t>
            </a:r>
            <a:r>
              <a:rPr lang="en-US" altLang="zh-CN" dirty="0"/>
              <a:t>m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cin</a:t>
            </a:r>
            <a:r>
              <a:rPr lang="en-US" altLang="zh-CN" dirty="0"/>
              <a:t> &gt;&gt; n &gt;&gt; m;</a:t>
            </a:r>
          </a:p>
          <a:p>
            <a:pPr marL="0" indent="0">
              <a:buNone/>
            </a:pPr>
            <a:r>
              <a:rPr lang="pt-BR" altLang="zh-CN" dirty="0"/>
              <a:t>	a = (4 * n - m) / 2;</a:t>
            </a:r>
          </a:p>
          <a:p>
            <a:pPr marL="0" indent="0">
              <a:buNone/>
            </a:pPr>
            <a:r>
              <a:rPr lang="en-US" altLang="zh-CN" dirty="0"/>
              <a:t>	b = n - a;</a:t>
            </a:r>
          </a:p>
          <a:p>
            <a:pPr marL="0" indent="0">
              <a:buNone/>
            </a:pPr>
            <a:r>
              <a:rPr lang="en-US" altLang="zh-CN" dirty="0"/>
              <a:t>	if (m % 2 == 1 || a &lt; 0 || b &lt; 0)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"no answer"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	else</a:t>
            </a:r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a &lt;&lt; </a:t>
            </a:r>
            <a:r>
              <a:rPr lang="en-US" altLang="zh-CN" dirty="0" err="1"/>
              <a:t>endl</a:t>
            </a:r>
            <a:r>
              <a:rPr lang="en-US" altLang="zh-CN" dirty="0"/>
              <a:t> &lt;&lt; b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r>
              <a:rPr lang="zh-CN" altLang="en-US" dirty="0"/>
              <a:t>逻辑表达式</a:t>
            </a:r>
            <a:endParaRPr lang="en-US" altLang="zh-CN" dirty="0"/>
          </a:p>
          <a:p>
            <a:r>
              <a:rPr lang="zh-CN" altLang="en-US" dirty="0"/>
              <a:t>逻辑表达式的短路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62865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098DE-3609-4A72-A4FD-E4D30157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8.3n+1</a:t>
            </a:r>
            <a:r>
              <a:rPr lang="zh-CN" altLang="en-US" dirty="0"/>
              <a:t>问题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935BE1-96D5-42B8-BCC1-9EECFAEE9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猜想：对于任意大于</a:t>
            </a:r>
            <a:r>
              <a:rPr lang="en-US" altLang="zh-CN" dirty="0"/>
              <a:t>1</a:t>
            </a:r>
            <a:r>
              <a:rPr lang="zh-CN" altLang="en-US" dirty="0"/>
              <a:t>的自然数</a:t>
            </a:r>
            <a:r>
              <a:rPr lang="en-US" altLang="zh-CN" dirty="0"/>
              <a:t>n</a:t>
            </a:r>
            <a:r>
              <a:rPr lang="zh-CN" altLang="en-US" dirty="0"/>
              <a:t>，若</a:t>
            </a:r>
            <a:r>
              <a:rPr lang="en-US" altLang="zh-CN" dirty="0"/>
              <a:t>n</a:t>
            </a:r>
            <a:r>
              <a:rPr lang="zh-CN" altLang="en-US" dirty="0"/>
              <a:t>为奇数，则</a:t>
            </a:r>
            <a:r>
              <a:rPr lang="en-US" altLang="zh-CN" dirty="0"/>
              <a:t>n</a:t>
            </a:r>
            <a:r>
              <a:rPr lang="zh-CN" altLang="en-US" dirty="0"/>
              <a:t>变为</a:t>
            </a:r>
            <a:r>
              <a:rPr lang="en-US" altLang="zh-CN" dirty="0"/>
              <a:t>3n+1</a:t>
            </a:r>
            <a:r>
              <a:rPr lang="zh-CN" altLang="en-US" dirty="0"/>
              <a:t>，否则变为</a:t>
            </a:r>
            <a:r>
              <a:rPr lang="en-US" altLang="zh-CN" dirty="0"/>
              <a:t>n</a:t>
            </a:r>
            <a:r>
              <a:rPr lang="zh-CN" altLang="en-US" dirty="0"/>
              <a:t>的一半。经过若干次这样的变化，一定会使</a:t>
            </a:r>
            <a:r>
              <a:rPr lang="en-US" altLang="zh-CN" dirty="0"/>
              <a:t>n</a:t>
            </a:r>
            <a:r>
              <a:rPr lang="zh-CN" altLang="en-US" dirty="0"/>
              <a:t>变为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dirty="0"/>
              <a:t>3-&gt;10-&gt;5-&gt;16-&gt;8-&gt;4-&gt;2-&gt;1</a:t>
            </a:r>
          </a:p>
          <a:p>
            <a:pPr lvl="1"/>
            <a:r>
              <a:rPr lang="zh-CN" altLang="en-US" dirty="0"/>
              <a:t>输入</a:t>
            </a:r>
            <a:r>
              <a:rPr lang="en-US" altLang="zh-CN" dirty="0"/>
              <a:t>n</a:t>
            </a:r>
            <a:r>
              <a:rPr lang="zh-CN" altLang="en-US" dirty="0"/>
              <a:t>，输出变换的次数。</a:t>
            </a:r>
            <a:r>
              <a:rPr lang="en-US" altLang="zh-CN" dirty="0"/>
              <a:t>N&lt;=10</a:t>
            </a:r>
            <a:r>
              <a:rPr lang="en-US" altLang="zh-CN" baseline="30000" dirty="0"/>
              <a:t>9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35648638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A7B587-F173-41D2-A711-D60E0E51E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64"/>
            <a:ext cx="7239000" cy="60510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n,count</a:t>
            </a:r>
            <a:r>
              <a:rPr lang="en-US" dirty="0"/>
              <a:t>=0;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cin</a:t>
            </a:r>
            <a:r>
              <a:rPr lang="en-US" dirty="0"/>
              <a:t>&gt;&gt;n;</a:t>
            </a:r>
          </a:p>
          <a:p>
            <a:pPr marL="0" indent="0">
              <a:buNone/>
            </a:pPr>
            <a:r>
              <a:rPr lang="en-US" dirty="0"/>
              <a:t>	while(n&gt;1)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	if(n%2==1) n=n*3+1;</a:t>
            </a:r>
          </a:p>
          <a:p>
            <a:pPr marL="0" indent="0">
              <a:buNone/>
            </a:pPr>
            <a:r>
              <a:rPr lang="en-US" dirty="0"/>
              <a:t>		else n/=2;</a:t>
            </a:r>
          </a:p>
          <a:p>
            <a:pPr marL="0" indent="0">
              <a:buNone/>
            </a:pPr>
            <a:r>
              <a:rPr lang="en-US" dirty="0"/>
              <a:t>		count++;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&lt;&lt;count&lt;&lt;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35D490-B249-44DA-8271-08E328B729A8}"/>
              </a:ext>
            </a:extLst>
          </p:cNvPr>
          <p:cNvSpPr txBox="1"/>
          <p:nvPr/>
        </p:nvSpPr>
        <p:spPr>
          <a:xfrm>
            <a:off x="5076056" y="1196752"/>
            <a:ext cx="3137059" cy="1724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BUG:</a:t>
            </a:r>
            <a:r>
              <a:rPr lang="zh-CN" altLang="en-US" dirty="0"/>
              <a:t>比如输入“</a:t>
            </a:r>
            <a:r>
              <a:rPr lang="en-US" altLang="zh-CN" dirty="0"/>
              <a:t>987654321</a:t>
            </a:r>
            <a:r>
              <a:rPr lang="zh-CN" altLang="en-US" dirty="0"/>
              <a:t>”，输出？</a:t>
            </a:r>
            <a:endParaRPr lang="en-US" altLang="zh-CN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跟踪调试，看执行流程</a:t>
            </a:r>
            <a:endParaRPr lang="en-US" altLang="zh-CN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“输出中间结果”差错</a:t>
            </a:r>
            <a:endParaRPr lang="en-US" altLang="zh-CN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long </a:t>
            </a:r>
            <a:r>
              <a:rPr lang="en-US" dirty="0" err="1"/>
              <a:t>long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3751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51BE6-D3DE-4CC2-86BD-0564FCB3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9.</a:t>
            </a:r>
            <a:r>
              <a:rPr lang="zh-CN" altLang="en-US" dirty="0"/>
              <a:t>计算</a:t>
            </a:r>
            <a:r>
              <a:rPr lang="en-US" altLang="zh-CN" dirty="0" err="1"/>
              <a:t>pai</a:t>
            </a:r>
            <a:r>
              <a:rPr lang="en-US" altLang="zh-CN" dirty="0"/>
              <a:t>/4=1-1/3+1/5-1/7+…</a:t>
            </a:r>
            <a:r>
              <a:rPr lang="zh-CN" altLang="en-US" dirty="0"/>
              <a:t>，直到最后一项小于</a:t>
            </a:r>
            <a:r>
              <a:rPr lang="en-US" altLang="zh-CN" dirty="0"/>
              <a:t>10</a:t>
            </a:r>
            <a:r>
              <a:rPr lang="en-US" altLang="zh-CN" baseline="30000" dirty="0"/>
              <a:t>-6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8B7944-3B70-46DB-A301-F08D215EB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aseline="30000" dirty="0"/>
              <a:t>Void main(){</a:t>
            </a:r>
          </a:p>
          <a:p>
            <a:pPr marL="0" indent="0">
              <a:buNone/>
            </a:pPr>
            <a:r>
              <a:rPr lang="en-US" altLang="zh-CN" baseline="30000" dirty="0"/>
              <a:t>	double sum=0;</a:t>
            </a:r>
          </a:p>
          <a:p>
            <a:pPr marL="0" indent="0">
              <a:buNone/>
            </a:pPr>
            <a:r>
              <a:rPr lang="en-US" altLang="zh-CN" baseline="30000" dirty="0"/>
              <a:t>	for(int </a:t>
            </a:r>
            <a:r>
              <a:rPr lang="en-US" altLang="zh-CN" baseline="30000" dirty="0" err="1"/>
              <a:t>i</a:t>
            </a:r>
            <a:r>
              <a:rPr lang="en-US" altLang="zh-CN" baseline="30000" dirty="0"/>
              <a:t>=0;;</a:t>
            </a:r>
            <a:r>
              <a:rPr lang="en-US" altLang="zh-CN" baseline="30000" dirty="0" err="1"/>
              <a:t>i</a:t>
            </a:r>
            <a:r>
              <a:rPr lang="en-US" altLang="zh-CN" baseline="30000" dirty="0"/>
              <a:t>++){</a:t>
            </a:r>
          </a:p>
          <a:p>
            <a:pPr marL="0" indent="0">
              <a:buNone/>
            </a:pPr>
            <a:r>
              <a:rPr lang="en-US" altLang="zh-CN" baseline="30000" dirty="0"/>
              <a:t>		double term=1.0/(</a:t>
            </a:r>
            <a:r>
              <a:rPr lang="en-US" altLang="zh-CN" baseline="30000" dirty="0" err="1"/>
              <a:t>i</a:t>
            </a:r>
            <a:r>
              <a:rPr lang="en-US" altLang="zh-CN" baseline="30000" dirty="0"/>
              <a:t>*2+1);</a:t>
            </a:r>
          </a:p>
          <a:p>
            <a:pPr marL="0" indent="0">
              <a:buNone/>
            </a:pPr>
            <a:r>
              <a:rPr lang="en-US" altLang="zh-CN" baseline="30000" dirty="0"/>
              <a:t>		if(i%2==0) </a:t>
            </a:r>
          </a:p>
          <a:p>
            <a:pPr marL="0" indent="0">
              <a:buNone/>
            </a:pPr>
            <a:r>
              <a:rPr lang="en-US" altLang="zh-CN" baseline="30000" dirty="0"/>
              <a:t>			sum+=term;</a:t>
            </a:r>
          </a:p>
          <a:p>
            <a:pPr marL="0" indent="0">
              <a:buNone/>
            </a:pPr>
            <a:r>
              <a:rPr lang="en-US" altLang="zh-CN" baseline="30000" dirty="0"/>
              <a:t>		else</a:t>
            </a:r>
          </a:p>
          <a:p>
            <a:pPr marL="0" indent="0">
              <a:buNone/>
            </a:pPr>
            <a:r>
              <a:rPr lang="en-US" altLang="zh-CN" baseline="30000" dirty="0"/>
              <a:t>			sum-=term;</a:t>
            </a:r>
          </a:p>
          <a:p>
            <a:pPr marL="0" indent="0">
              <a:buNone/>
            </a:pPr>
            <a:r>
              <a:rPr lang="en-US" altLang="zh-CN" baseline="30000" dirty="0"/>
              <a:t>		if(term&lt;=1e-6)</a:t>
            </a:r>
          </a:p>
          <a:p>
            <a:pPr marL="0" indent="0">
              <a:buNone/>
            </a:pPr>
            <a:r>
              <a:rPr lang="en-US" altLang="zh-CN" baseline="30000" dirty="0"/>
              <a:t>			break;</a:t>
            </a:r>
          </a:p>
          <a:p>
            <a:pPr marL="0" indent="0">
              <a:buNone/>
            </a:pPr>
            <a:r>
              <a:rPr lang="en-US" altLang="zh-CN" baseline="30000" dirty="0"/>
              <a:t>	}</a:t>
            </a:r>
          </a:p>
          <a:p>
            <a:pPr marL="0" indent="0">
              <a:buNone/>
            </a:pPr>
            <a:r>
              <a:rPr lang="en-US" altLang="zh-CN" baseline="30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40080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B1797-8801-4549-B61D-58426790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19256" cy="770344"/>
          </a:xfrm>
        </p:spPr>
        <p:txBody>
          <a:bodyPr>
            <a:normAutofit/>
          </a:bodyPr>
          <a:lstStyle/>
          <a:p>
            <a:r>
              <a:rPr lang="en-US" dirty="0"/>
              <a:t>10.</a:t>
            </a:r>
            <a:r>
              <a:rPr lang="zh-CN" altLang="en-US" dirty="0"/>
              <a:t>计算</a:t>
            </a:r>
            <a:r>
              <a:rPr lang="en-US" altLang="zh-CN" dirty="0"/>
              <a:t>S=1</a:t>
            </a:r>
            <a:r>
              <a:rPr lang="zh-CN" altLang="en-US" dirty="0"/>
              <a:t>！</a:t>
            </a:r>
            <a:r>
              <a:rPr lang="en-US" altLang="zh-CN" dirty="0"/>
              <a:t>+2</a:t>
            </a:r>
            <a:r>
              <a:rPr lang="zh-CN" altLang="en-US" dirty="0"/>
              <a:t>！</a:t>
            </a:r>
            <a:r>
              <a:rPr lang="en-US" altLang="zh-CN" dirty="0"/>
              <a:t>+3</a:t>
            </a:r>
            <a:r>
              <a:rPr lang="zh-CN" altLang="en-US" dirty="0"/>
              <a:t>！</a:t>
            </a:r>
            <a:r>
              <a:rPr lang="en-US" altLang="zh-CN" dirty="0"/>
              <a:t>+…+n!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F6B5F8-6225-47A8-B766-E8E1C0E42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7239000" cy="53309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aseline="30000" dirty="0"/>
              <a:t>#</a:t>
            </a:r>
            <a:r>
              <a:rPr lang="en-US" altLang="zh-CN" baseline="30000" dirty="0"/>
              <a:t>include &lt;iostream&gt;</a:t>
            </a:r>
          </a:p>
          <a:p>
            <a:pPr marL="0" indent="0">
              <a:buNone/>
            </a:pPr>
            <a:r>
              <a:rPr lang="en-US" baseline="30000" dirty="0"/>
              <a:t>Using namespace std;</a:t>
            </a:r>
          </a:p>
          <a:p>
            <a:pPr marL="0" indent="0">
              <a:buNone/>
            </a:pPr>
            <a:r>
              <a:rPr lang="en-US" baseline="30000" dirty="0"/>
              <a:t>void main(){</a:t>
            </a:r>
          </a:p>
          <a:p>
            <a:pPr marL="0" indent="0">
              <a:buNone/>
            </a:pPr>
            <a:r>
              <a:rPr lang="en-US" baseline="30000" dirty="0"/>
              <a:t>	</a:t>
            </a:r>
            <a:r>
              <a:rPr lang="en-US" altLang="zh-CN" baseline="30000" dirty="0"/>
              <a:t>int </a:t>
            </a:r>
            <a:r>
              <a:rPr lang="en-US" altLang="zh-CN" baseline="30000" dirty="0" err="1"/>
              <a:t>n,S</a:t>
            </a:r>
            <a:r>
              <a:rPr lang="en-US" altLang="zh-CN" baseline="30000" dirty="0"/>
              <a:t>=0;</a:t>
            </a:r>
          </a:p>
          <a:p>
            <a:pPr marL="0" indent="0">
              <a:buNone/>
            </a:pPr>
            <a:r>
              <a:rPr lang="en-US" baseline="30000" dirty="0"/>
              <a:t>	</a:t>
            </a:r>
            <a:r>
              <a:rPr lang="en-US" baseline="30000" dirty="0" err="1"/>
              <a:t>cin</a:t>
            </a:r>
            <a:r>
              <a:rPr lang="en-US" baseline="30000" dirty="0"/>
              <a:t>&gt;&gt;n;</a:t>
            </a:r>
          </a:p>
          <a:p>
            <a:pPr marL="0" indent="0">
              <a:buNone/>
            </a:pPr>
            <a:r>
              <a:rPr lang="en-US" baseline="30000" dirty="0"/>
              <a:t>	for(int </a:t>
            </a:r>
            <a:r>
              <a:rPr lang="en-US" baseline="30000" dirty="0" err="1"/>
              <a:t>i</a:t>
            </a:r>
            <a:r>
              <a:rPr lang="en-US" baseline="30000" dirty="0"/>
              <a:t>=1;i&lt;=</a:t>
            </a:r>
            <a:r>
              <a:rPr lang="en-US" baseline="30000" dirty="0" err="1"/>
              <a:t>n;i</a:t>
            </a:r>
            <a:r>
              <a:rPr lang="en-US" baseline="30000" dirty="0"/>
              <a:t>++){</a:t>
            </a:r>
          </a:p>
          <a:p>
            <a:pPr marL="0" indent="0">
              <a:buNone/>
            </a:pPr>
            <a:r>
              <a:rPr lang="en-US" baseline="30000" dirty="0"/>
              <a:t>		int factorial=1;</a:t>
            </a:r>
          </a:p>
          <a:p>
            <a:pPr marL="0" indent="0">
              <a:buNone/>
            </a:pPr>
            <a:r>
              <a:rPr lang="en-US" baseline="30000" dirty="0"/>
              <a:t>		for(int j=1;j&lt;=</a:t>
            </a:r>
            <a:r>
              <a:rPr lang="en-US" baseline="30000" dirty="0" err="1"/>
              <a:t>I;j</a:t>
            </a:r>
            <a:r>
              <a:rPr lang="en-US" baseline="30000" dirty="0"/>
              <a:t>++)</a:t>
            </a:r>
          </a:p>
          <a:p>
            <a:pPr marL="0" indent="0">
              <a:buNone/>
            </a:pPr>
            <a:r>
              <a:rPr lang="en-US" baseline="30000" dirty="0"/>
              <a:t>			factorial*=j;</a:t>
            </a:r>
          </a:p>
          <a:p>
            <a:pPr marL="0" indent="0">
              <a:buNone/>
            </a:pPr>
            <a:r>
              <a:rPr lang="en-US" baseline="30000" dirty="0"/>
              <a:t>		S+=factorial;</a:t>
            </a:r>
          </a:p>
          <a:p>
            <a:pPr marL="0" indent="0">
              <a:buNone/>
            </a:pPr>
            <a:r>
              <a:rPr lang="en-US" baseline="30000" dirty="0"/>
              <a:t>	}</a:t>
            </a:r>
          </a:p>
          <a:p>
            <a:pPr marL="0" indent="0">
              <a:buNone/>
            </a:pPr>
            <a:r>
              <a:rPr lang="en-US" baseline="30000" dirty="0"/>
              <a:t>}</a:t>
            </a:r>
          </a:p>
          <a:p>
            <a:pPr marL="0" indent="0">
              <a:buNone/>
            </a:pPr>
            <a:r>
              <a:rPr lang="zh-CN" altLang="en-US" baseline="-25000" dirty="0"/>
              <a:t>当</a:t>
            </a:r>
            <a:r>
              <a:rPr lang="en-US" altLang="zh-CN" baseline="-25000" dirty="0"/>
              <a:t>n=10^6</a:t>
            </a:r>
            <a:r>
              <a:rPr lang="zh-CN" altLang="en-US" baseline="-25000" dirty="0"/>
              <a:t>时，输出时什么？程序运行速度如何？</a:t>
            </a:r>
            <a:endParaRPr lang="en-US" altLang="zh-CN" baseline="-25000" dirty="0"/>
          </a:p>
          <a:p>
            <a:pPr marL="0" indent="0">
              <a:buNone/>
            </a:pPr>
            <a:endParaRPr lang="en-US" baseline="30000" dirty="0"/>
          </a:p>
          <a:p>
            <a:pPr marL="0" indent="0">
              <a:buNone/>
            </a:pPr>
            <a:r>
              <a:rPr lang="zh-CN" altLang="en-US" baseline="30000" dirty="0"/>
              <a:t>算数运算溢出</a:t>
            </a:r>
            <a:endParaRPr lang="en-US" altLang="zh-CN" baseline="30000" dirty="0"/>
          </a:p>
          <a:p>
            <a:pPr marL="0" indent="0">
              <a:buNone/>
            </a:pPr>
            <a:r>
              <a:rPr lang="zh-CN" altLang="en-US" baseline="-25000"/>
              <a:t>程序效率低下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484245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1343</TotalTime>
  <Words>4306</Words>
  <Application>Microsoft Office PowerPoint</Application>
  <PresentationFormat>全屏显示(4:3)</PresentationFormat>
  <Paragraphs>707</Paragraphs>
  <Slides>62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5" baseType="lpstr">
      <vt:lpstr>楷体_GB2312</vt:lpstr>
      <vt:lpstr>黑体</vt:lpstr>
      <vt:lpstr>宋体</vt:lpstr>
      <vt:lpstr>华文新魏</vt:lpstr>
      <vt:lpstr>Arial</vt:lpstr>
      <vt:lpstr>Calibri</vt:lpstr>
      <vt:lpstr>Courier New</vt:lpstr>
      <vt:lpstr>Tahoma</vt:lpstr>
      <vt:lpstr>Trebuchet MS</vt:lpstr>
      <vt:lpstr>Verdana</vt:lpstr>
      <vt:lpstr>Wingdings</vt:lpstr>
      <vt:lpstr>Wingdings 2</vt:lpstr>
      <vt:lpstr>华丽</vt:lpstr>
      <vt:lpstr>c/c++程序设计</vt:lpstr>
      <vt:lpstr>C++程序组成</vt:lpstr>
      <vt:lpstr>C++程序组成</vt:lpstr>
      <vt:lpstr>C++程序组成</vt:lpstr>
      <vt:lpstr>C++程序组成</vt:lpstr>
      <vt:lpstr>初识C++程序</vt:lpstr>
      <vt:lpstr>初识C++程序</vt:lpstr>
      <vt:lpstr>输入/输出语句</vt:lpstr>
      <vt:lpstr>输入/输出语句</vt:lpstr>
      <vt:lpstr>C++程序示例</vt:lpstr>
      <vt:lpstr>PowerPoint 演示文稿</vt:lpstr>
      <vt:lpstr>PowerPoint 演示文稿</vt:lpstr>
      <vt:lpstr>基本符号分类与ASCII码</vt:lpstr>
      <vt:lpstr>基本符号的ASCII码表</vt:lpstr>
      <vt:lpstr>C++语言的词汇</vt:lpstr>
      <vt:lpstr>C++语言的词汇</vt:lpstr>
      <vt:lpstr>C++语言的词汇</vt:lpstr>
      <vt:lpstr>C++语言的词汇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C++程序的基本框架</vt:lpstr>
      <vt:lpstr>主函数</vt:lpstr>
      <vt:lpstr>PowerPoint 演示文稿</vt:lpstr>
      <vt:lpstr>预处理命令</vt:lpstr>
      <vt:lpstr>预处理命令</vt:lpstr>
      <vt:lpstr>命名空间</vt:lpstr>
      <vt:lpstr>宏(macro)定义命令</vt:lpstr>
      <vt:lpstr>PowerPoint 演示文稿</vt:lpstr>
      <vt:lpstr>结构程序框架</vt:lpstr>
      <vt:lpstr>结构程序框架</vt:lpstr>
      <vt:lpstr>面向对象程序框架</vt:lpstr>
      <vt:lpstr>面向对象程序框架</vt:lpstr>
      <vt:lpstr>PowerPoint 演示文稿</vt:lpstr>
      <vt:lpstr>C++程序的设计思路</vt:lpstr>
      <vt:lpstr>PowerPoint 演示文稿</vt:lpstr>
      <vt:lpstr>C++程序的设计思路</vt:lpstr>
      <vt:lpstr>PowerPoint 演示文稿</vt:lpstr>
      <vt:lpstr>PowerPoint 演示文稿</vt:lpstr>
      <vt:lpstr>PowerPoint 演示文稿</vt:lpstr>
      <vt:lpstr>VC++.Net中编辑并执行C++程序</vt:lpstr>
      <vt:lpstr>作业</vt:lpstr>
      <vt:lpstr>1.计算并输出简单表达式</vt:lpstr>
      <vt:lpstr>2.复杂的表达式</vt:lpstr>
      <vt:lpstr>3.变量输入</vt:lpstr>
      <vt:lpstr>4.输入半径和高，输出圆柱体表面积</vt:lpstr>
      <vt:lpstr>5.三位数反转-1</vt:lpstr>
      <vt:lpstr>5.三位数反转-2</vt:lpstr>
      <vt:lpstr>6.交换变量-1</vt:lpstr>
      <vt:lpstr>6.交换变量-2</vt:lpstr>
      <vt:lpstr>7.鸡兔同笼</vt:lpstr>
      <vt:lpstr>8.3n+1问题</vt:lpstr>
      <vt:lpstr>PowerPoint 演示文稿</vt:lpstr>
      <vt:lpstr>9.计算pai/4=1-1/3+1/5-1/7+…，直到最后一项小于10-6</vt:lpstr>
      <vt:lpstr>10.计算S=1！+2！+3！+…+n!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c/c++程序设计</dc:title>
  <dc:creator>user</dc:creator>
  <cp:lastModifiedBy>86186</cp:lastModifiedBy>
  <cp:revision>53</cp:revision>
  <dcterms:created xsi:type="dcterms:W3CDTF">2016-09-26T04:02:18Z</dcterms:created>
  <dcterms:modified xsi:type="dcterms:W3CDTF">2023-09-27T14:51:52Z</dcterms:modified>
</cp:coreProperties>
</file>