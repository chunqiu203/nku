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933" r:id="rId2"/>
    <p:sldId id="826" r:id="rId3"/>
    <p:sldId id="827" r:id="rId4"/>
    <p:sldId id="828" r:id="rId5"/>
    <p:sldId id="829" r:id="rId6"/>
    <p:sldId id="830" r:id="rId7"/>
    <p:sldId id="831" r:id="rId8"/>
    <p:sldId id="832" r:id="rId9"/>
    <p:sldId id="833" r:id="rId10"/>
    <p:sldId id="834" r:id="rId11"/>
    <p:sldId id="835" r:id="rId12"/>
    <p:sldId id="836" r:id="rId13"/>
    <p:sldId id="837" r:id="rId14"/>
    <p:sldId id="838" r:id="rId15"/>
    <p:sldId id="839" r:id="rId16"/>
    <p:sldId id="840" r:id="rId17"/>
    <p:sldId id="841" r:id="rId18"/>
    <p:sldId id="842" r:id="rId19"/>
    <p:sldId id="843" r:id="rId20"/>
    <p:sldId id="844" r:id="rId21"/>
    <p:sldId id="845" r:id="rId22"/>
    <p:sldId id="846" r:id="rId23"/>
    <p:sldId id="847" r:id="rId24"/>
    <p:sldId id="848" r:id="rId25"/>
    <p:sldId id="849" r:id="rId26"/>
    <p:sldId id="850" r:id="rId27"/>
    <p:sldId id="851" r:id="rId28"/>
    <p:sldId id="852" r:id="rId29"/>
    <p:sldId id="853" r:id="rId30"/>
    <p:sldId id="855" r:id="rId31"/>
    <p:sldId id="856" r:id="rId32"/>
    <p:sldId id="857" r:id="rId33"/>
    <p:sldId id="858" r:id="rId34"/>
    <p:sldId id="860" r:id="rId35"/>
    <p:sldId id="861" r:id="rId36"/>
    <p:sldId id="862" r:id="rId37"/>
    <p:sldId id="863" r:id="rId38"/>
    <p:sldId id="864" r:id="rId39"/>
    <p:sldId id="865" r:id="rId40"/>
    <p:sldId id="866" r:id="rId41"/>
    <p:sldId id="867" r:id="rId42"/>
    <p:sldId id="868" r:id="rId43"/>
    <p:sldId id="869" r:id="rId44"/>
    <p:sldId id="870" r:id="rId45"/>
    <p:sldId id="871" r:id="rId46"/>
    <p:sldId id="872" r:id="rId47"/>
    <p:sldId id="873" r:id="rId48"/>
    <p:sldId id="874" r:id="rId49"/>
    <p:sldId id="875" r:id="rId50"/>
    <p:sldId id="876" r:id="rId51"/>
    <p:sldId id="877" r:id="rId52"/>
    <p:sldId id="878" r:id="rId53"/>
    <p:sldId id="879" r:id="rId54"/>
    <p:sldId id="880" r:id="rId55"/>
    <p:sldId id="881" r:id="rId56"/>
    <p:sldId id="882" r:id="rId57"/>
    <p:sldId id="321" r:id="rId58"/>
    <p:sldId id="883" r:id="rId59"/>
    <p:sldId id="884" r:id="rId60"/>
    <p:sldId id="885" r:id="rId61"/>
    <p:sldId id="886" r:id="rId62"/>
    <p:sldId id="887" r:id="rId63"/>
    <p:sldId id="888" r:id="rId64"/>
    <p:sldId id="889" r:id="rId65"/>
    <p:sldId id="890" r:id="rId66"/>
    <p:sldId id="891" r:id="rId67"/>
    <p:sldId id="892" r:id="rId68"/>
    <p:sldId id="893" r:id="rId69"/>
  </p:sldIdLst>
  <p:sldSz cx="9144000" cy="6858000" type="screen4x3"/>
  <p:notesSz cx="9928225" cy="6669088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6006A"/>
    <a:srgbClr val="006600"/>
    <a:srgbClr val="820064"/>
    <a:srgbClr val="FFE9FB"/>
    <a:srgbClr val="FFF1FC"/>
    <a:srgbClr val="173660"/>
    <a:srgbClr val="00FF00"/>
    <a:srgbClr val="3399FF"/>
    <a:srgbClr val="640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91" autoAdjust="0"/>
    <p:restoredTop sz="82436" autoAdjust="0"/>
  </p:normalViewPr>
  <p:slideViewPr>
    <p:cSldViewPr>
      <p:cViewPr varScale="1">
        <p:scale>
          <a:sx n="87" d="100"/>
          <a:sy n="87" d="100"/>
        </p:scale>
        <p:origin x="1029" y="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12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902" y="-96"/>
      </p:cViewPr>
      <p:guideLst>
        <p:guide orient="horz" pos="210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/>
          <a:lstStyle>
            <a:lvl1pPr algn="l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4513" y="0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/>
          <a:lstStyle>
            <a:lvl1pPr algn="r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8501B2C-9B6C-4A37-8148-72CA3CE66EDD}" type="datetimeFigureOut">
              <a:rPr lang="zh-CN" altLang="en-US"/>
              <a:pPr>
                <a:defRPr/>
              </a:pPr>
              <a:t>2020/12/5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334125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 anchor="b"/>
          <a:lstStyle>
            <a:lvl1pPr algn="l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4513" y="6334125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 anchor="b"/>
          <a:lstStyle>
            <a:lvl1pPr algn="r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FC47D02-C625-45A8-82E7-905A8D2AAA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3921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4513" y="0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9222EA9-D2ED-491C-960B-2AC3CE6D8FB0}" type="datetimeFigureOut">
              <a:rPr lang="zh-CN" altLang="en-US"/>
              <a:pPr>
                <a:defRPr/>
              </a:pPr>
              <a:t>2020/12/5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97238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38" tIns="47419" rIns="94838" bIns="4741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775" y="3167063"/>
            <a:ext cx="7940675" cy="3001962"/>
          </a:xfrm>
          <a:prstGeom prst="rect">
            <a:avLst/>
          </a:prstGeom>
        </p:spPr>
        <p:txBody>
          <a:bodyPr vert="horz" lIns="94838" tIns="47419" rIns="94838" bIns="47419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334125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4513" y="6334125"/>
            <a:ext cx="4302125" cy="333375"/>
          </a:xfrm>
          <a:prstGeom prst="rect">
            <a:avLst/>
          </a:prstGeom>
        </p:spPr>
        <p:txBody>
          <a:bodyPr vert="horz" lIns="94838" tIns="47419" rIns="94838" bIns="4741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1FEECBA-06CB-4ED2-B9B8-A5DB6840A6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9057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D543C-87E0-4037-B871-8E209469E8F1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69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663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76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759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318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296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822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459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70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FEECBA-06CB-4ED2-B9B8-A5DB6840A686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561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6 2 7 3 8 9</a:t>
            </a:r>
            <a:r>
              <a:rPr lang="zh-CN" altLang="en-US" dirty="0"/>
              <a:t>再举例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95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50" y="179388"/>
            <a:ext cx="1447800" cy="646112"/>
          </a:xfrm>
          <a:prstGeom prst="rect">
            <a:avLst/>
          </a:prstGeom>
          <a:effectLst>
            <a:outerShdw blurRad="25400" dist="12700" dir="2700000" algn="tl" rotWithShape="0">
              <a:schemeClr val="bg1">
                <a:alpha val="60000"/>
              </a:scheme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2000240"/>
            <a:ext cx="7715304" cy="192882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4348" y="4000504"/>
            <a:ext cx="7715304" cy="1928826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1000125"/>
            <a:ext cx="8229600" cy="85725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8802"/>
            <a:ext cx="4038600" cy="45005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"/>
          </p:nvPr>
        </p:nvSpPr>
        <p:spPr>
          <a:xfrm>
            <a:off x="457200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</p:nvPr>
        </p:nvSpPr>
        <p:spPr>
          <a:xfrm>
            <a:off x="457200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文本占位符 2"/>
          <p:cNvSpPr>
            <a:spLocks noGrp="1"/>
          </p:cNvSpPr>
          <p:nvPr>
            <p:ph type="body" idx="13"/>
          </p:nvPr>
        </p:nvSpPr>
        <p:spPr>
          <a:xfrm>
            <a:off x="3243282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5" name="内容占位符 3"/>
          <p:cNvSpPr>
            <a:spLocks noGrp="1"/>
          </p:cNvSpPr>
          <p:nvPr>
            <p:ph sz="half" idx="14"/>
          </p:nvPr>
        </p:nvSpPr>
        <p:spPr>
          <a:xfrm>
            <a:off x="3243282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文本占位符 2"/>
          <p:cNvSpPr>
            <a:spLocks noGrp="1"/>
          </p:cNvSpPr>
          <p:nvPr>
            <p:ph type="body" idx="15"/>
          </p:nvPr>
        </p:nvSpPr>
        <p:spPr>
          <a:xfrm>
            <a:off x="6072198" y="4286256"/>
            <a:ext cx="2614602" cy="2143140"/>
          </a:xfrm>
        </p:spPr>
        <p:txBody>
          <a:bodyPr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7" name="内容占位符 3"/>
          <p:cNvSpPr>
            <a:spLocks noGrp="1"/>
          </p:cNvSpPr>
          <p:nvPr>
            <p:ph sz="half" idx="16"/>
          </p:nvPr>
        </p:nvSpPr>
        <p:spPr>
          <a:xfrm>
            <a:off x="6072198" y="1928802"/>
            <a:ext cx="2614602" cy="214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6572250"/>
            <a:ext cx="9144000" cy="28575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2786063" cy="85725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786063" y="0"/>
            <a:ext cx="6357937" cy="857250"/>
          </a:xfrm>
          <a:prstGeom prst="rect">
            <a:avLst/>
          </a:prstGeom>
          <a:gradFill flip="none" rotWithShape="1">
            <a:gsLst>
              <a:gs pos="30000">
                <a:schemeClr val="tx2"/>
              </a:gs>
              <a:gs pos="60000">
                <a:schemeClr val="tx2">
                  <a:lumMod val="40000"/>
                  <a:lumOff val="60000"/>
                </a:schemeClr>
              </a:gs>
              <a:gs pos="90000">
                <a:schemeClr val="bg1"/>
              </a:gs>
            </a:gsLst>
            <a:lin ang="10800000" scaled="1"/>
            <a:tileRect/>
          </a:gra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000125"/>
            <a:ext cx="82296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928813"/>
            <a:ext cx="8229600" cy="450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721026" y="6551613"/>
            <a:ext cx="171507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Courier New" pitchFamily="49" charset="0"/>
                <a:ea typeface="黑体" pitchFamily="2" charset="-122"/>
                <a:cs typeface="Courier New" pitchFamily="49" charset="0"/>
              </a:defRPr>
            </a:lvl1pPr>
          </a:lstStyle>
          <a:p>
            <a:pPr>
              <a:defRPr/>
            </a:pPr>
            <a:r>
              <a:rPr lang="zh-CN" altLang="en-US"/>
              <a:t>高级语言</a:t>
            </a:r>
            <a:r>
              <a:rPr lang="en-US" altLang="zh-CN"/>
              <a:t>C++</a:t>
            </a:r>
            <a:r>
              <a:rPr lang="zh-CN" altLang="en-US"/>
              <a:t>程序设计</a:t>
            </a:r>
          </a:p>
        </p:txBody>
      </p:sp>
      <p:pic>
        <p:nvPicPr>
          <p:cNvPr id="1034" name="图片 12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4313" y="6594475"/>
            <a:ext cx="19510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2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329613" y="50800"/>
            <a:ext cx="781050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FF1270DC-62E0-4C2A-8BAF-0E5972EB3A8C}"/>
              </a:ext>
            </a:extLst>
          </p:cNvPr>
          <p:cNvSpPr txBox="1"/>
          <p:nvPr userDrawn="1"/>
        </p:nvSpPr>
        <p:spPr>
          <a:xfrm>
            <a:off x="5868144" y="6572250"/>
            <a:ext cx="3242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</a:rPr>
              <a:t>Database &amp; Information System Lab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1" r:id="rId1"/>
    <p:sldLayoutId id="2147484466" r:id="rId2"/>
    <p:sldLayoutId id="2147484467" r:id="rId3"/>
    <p:sldLayoutId id="2147484468" r:id="rId4"/>
    <p:sldLayoutId id="2147484469" r:id="rId5"/>
    <p:sldLayoutId id="2147484470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 "/>
        <a:defRPr sz="2800" kern="1200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黑体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黑体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黑体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+mn-lt"/>
          <a:ea typeface="黑体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slide" Target="slide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slide" Target="slide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slide" Target="slide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5" Type="http://schemas.openxmlformats.org/officeDocument/2006/relationships/image" Target="../media/image19.emf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5" Type="http://schemas.openxmlformats.org/officeDocument/2006/relationships/image" Target="../media/image9.png"/><Relationship Id="rId4" Type="http://schemas.openxmlformats.org/officeDocument/2006/relationships/image" Target="../media/image23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>
            <a:grpSpLocks/>
          </p:cNvGrpSpPr>
          <p:nvPr/>
        </p:nvGrpSpPr>
        <p:grpSpPr bwMode="auto">
          <a:xfrm>
            <a:off x="1643063" y="2852927"/>
            <a:ext cx="5356225" cy="2664305"/>
            <a:chOff x="1643042" y="2275996"/>
            <a:chExt cx="5356246" cy="2664313"/>
          </a:xfrm>
        </p:grpSpPr>
        <p:sp>
          <p:nvSpPr>
            <p:cNvPr id="14" name="五边形 13"/>
            <p:cNvSpPr/>
            <p:nvPr/>
          </p:nvSpPr>
          <p:spPr bwMode="auto">
            <a:xfrm flipH="1">
              <a:off x="2041506" y="2275996"/>
              <a:ext cx="4957782" cy="792166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/>
                <a:ea typeface="黑体"/>
              </a:endParaRPr>
            </a:p>
          </p:txBody>
        </p:sp>
        <p:sp>
          <p:nvSpPr>
            <p:cNvPr id="16" name="五边形 15"/>
            <p:cNvSpPr/>
            <p:nvPr/>
          </p:nvSpPr>
          <p:spPr bwMode="auto">
            <a:xfrm flipH="1">
              <a:off x="2041506" y="4146556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/>
                <a:ea typeface="黑体"/>
              </a:endParaRPr>
            </a:p>
          </p:txBody>
        </p:sp>
        <p:grpSp>
          <p:nvGrpSpPr>
            <p:cNvPr id="3" name="组合 19"/>
            <p:cNvGrpSpPr>
              <a:grpSpLocks/>
            </p:cNvGrpSpPr>
            <p:nvPr/>
          </p:nvGrpSpPr>
          <p:grpSpPr bwMode="auto">
            <a:xfrm>
              <a:off x="1643042" y="2275996"/>
              <a:ext cx="792165" cy="792091"/>
              <a:chOff x="854055" y="1633054"/>
              <a:chExt cx="792165" cy="792091"/>
            </a:xfrm>
          </p:grpSpPr>
          <p:sp>
            <p:nvSpPr>
              <p:cNvPr id="27" name="椭圆 26"/>
              <p:cNvSpPr>
                <a:spLocks noChangeAspect="1"/>
              </p:cNvSpPr>
              <p:nvPr/>
            </p:nvSpPr>
            <p:spPr bwMode="auto">
              <a:xfrm>
                <a:off x="857230" y="1633054"/>
                <a:ext cx="788990" cy="7889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36157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5" name="组合 28"/>
            <p:cNvGrpSpPr>
              <a:grpSpLocks/>
            </p:cNvGrpSpPr>
            <p:nvPr/>
          </p:nvGrpSpPr>
          <p:grpSpPr bwMode="auto">
            <a:xfrm>
              <a:off x="1643042" y="4143380"/>
              <a:ext cx="792156" cy="788988"/>
              <a:chOff x="854055" y="1643050"/>
              <a:chExt cx="792156" cy="788988"/>
            </a:xfrm>
          </p:grpSpPr>
          <p:sp>
            <p:nvSpPr>
              <p:cNvPr id="30" name="椭圆 29"/>
              <p:cNvSpPr>
                <a:spLocks noChangeAspect="1"/>
              </p:cNvSpPr>
              <p:nvPr/>
            </p:nvSpPr>
            <p:spPr bwMode="auto">
              <a:xfrm>
                <a:off x="857230" y="1643051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4112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1643050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22" name="组合 34"/>
          <p:cNvGrpSpPr>
            <a:grpSpLocks/>
          </p:cNvGrpSpPr>
          <p:nvPr/>
        </p:nvGrpSpPr>
        <p:grpSpPr bwMode="auto">
          <a:xfrm>
            <a:off x="1641600" y="980716"/>
            <a:ext cx="5356225" cy="1728264"/>
            <a:chOff x="1643042" y="3212102"/>
            <a:chExt cx="5356246" cy="1728272"/>
          </a:xfrm>
        </p:grpSpPr>
        <p:sp>
          <p:nvSpPr>
            <p:cNvPr id="25" name="五边形 24"/>
            <p:cNvSpPr/>
            <p:nvPr/>
          </p:nvSpPr>
          <p:spPr bwMode="auto">
            <a:xfrm flipH="1">
              <a:off x="2041506" y="3212102"/>
              <a:ext cx="4957782" cy="793753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/>
                <a:ea typeface="黑体"/>
              </a:endParaRPr>
            </a:p>
          </p:txBody>
        </p:sp>
        <p:sp>
          <p:nvSpPr>
            <p:cNvPr id="28" name="五边形 27"/>
            <p:cNvSpPr/>
            <p:nvPr/>
          </p:nvSpPr>
          <p:spPr bwMode="auto">
            <a:xfrm flipH="1">
              <a:off x="2041506" y="4148209"/>
              <a:ext cx="4957782" cy="792165"/>
            </a:xfrm>
            <a:prstGeom prst="homePlate">
              <a:avLst/>
            </a:pr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3200" kern="0" dirty="0">
                <a:solidFill>
                  <a:sysClr val="window" lastClr="FFFFFF"/>
                </a:solidFill>
                <a:latin typeface="Arial"/>
                <a:ea typeface="黑体"/>
              </a:endParaRPr>
            </a:p>
          </p:txBody>
        </p:sp>
        <p:grpSp>
          <p:nvGrpSpPr>
            <p:cNvPr id="32" name="组合 28"/>
            <p:cNvGrpSpPr>
              <a:grpSpLocks/>
            </p:cNvGrpSpPr>
            <p:nvPr/>
          </p:nvGrpSpPr>
          <p:grpSpPr bwMode="auto">
            <a:xfrm>
              <a:off x="1643042" y="3212102"/>
              <a:ext cx="792165" cy="788991"/>
              <a:chOff x="854055" y="711772"/>
              <a:chExt cx="792165" cy="788991"/>
            </a:xfrm>
          </p:grpSpPr>
          <p:sp>
            <p:nvSpPr>
              <p:cNvPr id="37" name="椭圆 36"/>
              <p:cNvSpPr>
                <a:spLocks noChangeAspect="1"/>
              </p:cNvSpPr>
              <p:nvPr/>
            </p:nvSpPr>
            <p:spPr bwMode="auto">
              <a:xfrm>
                <a:off x="857230" y="711772"/>
                <a:ext cx="788990" cy="78899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8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711772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34" name="组合 31"/>
            <p:cNvGrpSpPr>
              <a:grpSpLocks/>
            </p:cNvGrpSpPr>
            <p:nvPr/>
          </p:nvGrpSpPr>
          <p:grpSpPr bwMode="auto">
            <a:xfrm>
              <a:off x="1643042" y="4148209"/>
              <a:ext cx="792165" cy="788993"/>
              <a:chOff x="854055" y="719185"/>
              <a:chExt cx="792165" cy="788993"/>
            </a:xfrm>
          </p:grpSpPr>
          <p:sp>
            <p:nvSpPr>
              <p:cNvPr id="35" name="椭圆 34"/>
              <p:cNvSpPr>
                <a:spLocks noChangeAspect="1"/>
              </p:cNvSpPr>
              <p:nvPr/>
            </p:nvSpPr>
            <p:spPr bwMode="auto">
              <a:xfrm>
                <a:off x="857230" y="719188"/>
                <a:ext cx="788990" cy="78899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pic>
            <p:nvPicPr>
              <p:cNvPr id="36" name="图片 22" descr="NANKAI.png"/>
              <p:cNvPicPr>
                <a:picLocks noChangeAspect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4055" y="719185"/>
                <a:ext cx="788987" cy="788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47" name="TextBox 46"/>
          <p:cNvSpPr txBox="1"/>
          <p:nvPr/>
        </p:nvSpPr>
        <p:spPr>
          <a:xfrm>
            <a:off x="2627784" y="4845085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函数与运算符重载</a:t>
            </a:r>
            <a:endParaRPr lang="zh-CN" alt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五边形 30"/>
          <p:cNvSpPr/>
          <p:nvPr/>
        </p:nvSpPr>
        <p:spPr bwMode="auto">
          <a:xfrm flipH="1">
            <a:off x="2036613" y="3789031"/>
            <a:ext cx="4957763" cy="793750"/>
          </a:xfrm>
          <a:prstGeom prst="homePlate">
            <a:avLst/>
          </a:prstGeom>
          <a:gradFill flip="none" rotWithShape="1">
            <a:gsLst>
              <a:gs pos="0">
                <a:schemeClr val="accent3">
                  <a:lumMod val="75000"/>
                  <a:shade val="30000"/>
                  <a:satMod val="115000"/>
                </a:schemeClr>
              </a:gs>
              <a:gs pos="50000">
                <a:schemeClr val="accent3">
                  <a:lumMod val="75000"/>
                  <a:shade val="67500"/>
                  <a:satMod val="115000"/>
                </a:schemeClr>
              </a:gs>
              <a:gs pos="100000">
                <a:schemeClr val="accent3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/>
              <a:ea typeface="黑体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260" y="3767287"/>
            <a:ext cx="885840" cy="885840"/>
          </a:xfrm>
          <a:prstGeom prst="rect">
            <a:avLst/>
          </a:prstGeom>
        </p:spPr>
      </p:pic>
      <p:sp>
        <p:nvSpPr>
          <p:cNvPr id="39" name="TextBox 42"/>
          <p:cNvSpPr txBox="1"/>
          <p:nvPr/>
        </p:nvSpPr>
        <p:spPr>
          <a:xfrm>
            <a:off x="2642275" y="1078072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</a:t>
            </a:r>
            <a:endParaRPr lang="zh-CN" alt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矩形 39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48" name="矩形 4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49" name="矩形 4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50" name="矩形 4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51" name="矩形 5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52" name="矩形 5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53" name="矩形 5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4" name="矩形 5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1" name="TextBox 43"/>
          <p:cNvSpPr txBox="1"/>
          <p:nvPr/>
        </p:nvSpPr>
        <p:spPr>
          <a:xfrm>
            <a:off x="2627784" y="203677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</a:t>
            </a:r>
            <a:endParaRPr lang="zh-CN" alt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2" name="TextBox 44"/>
          <p:cNvSpPr txBox="1"/>
          <p:nvPr/>
        </p:nvSpPr>
        <p:spPr>
          <a:xfrm>
            <a:off x="2627784" y="2972877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</a:t>
            </a:r>
            <a:endParaRPr lang="zh-CN" alt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3" name="TextBox 45"/>
          <p:cNvSpPr txBox="1"/>
          <p:nvPr/>
        </p:nvSpPr>
        <p:spPr>
          <a:xfrm>
            <a:off x="2627784" y="3908981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</a:t>
            </a:r>
            <a:endParaRPr lang="zh-CN" alt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4" name="五边形 15">
            <a:extLst>
              <a:ext uri="{FF2B5EF4-FFF2-40B4-BE49-F238E27FC236}">
                <a16:creationId xmlns:a16="http://schemas.microsoft.com/office/drawing/2014/main" id="{5287576E-677F-4653-AF59-01CBC7CE944A}"/>
              </a:ext>
            </a:extLst>
          </p:cNvPr>
          <p:cNvSpPr/>
          <p:nvPr/>
        </p:nvSpPr>
        <p:spPr bwMode="auto">
          <a:xfrm flipH="1">
            <a:off x="2051720" y="5660839"/>
            <a:ext cx="4957763" cy="793749"/>
          </a:xfrm>
          <a:prstGeom prst="homePlate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200" kern="0" dirty="0">
              <a:solidFill>
                <a:sysClr val="window" lastClr="FFFFFF"/>
              </a:solidFill>
              <a:latin typeface="Arial"/>
              <a:ea typeface="黑体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C14935BC-AC38-4D0D-A96E-180681C4CF6B}"/>
              </a:ext>
            </a:extLst>
          </p:cNvPr>
          <p:cNvSpPr>
            <a:spLocks noChangeAspect="1"/>
          </p:cNvSpPr>
          <p:nvPr/>
        </p:nvSpPr>
        <p:spPr bwMode="auto">
          <a:xfrm>
            <a:off x="1622847" y="5663939"/>
            <a:ext cx="788987" cy="7889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6" name="图片 22" descr="NANKAI.png">
            <a:extLst>
              <a:ext uri="{FF2B5EF4-FFF2-40B4-BE49-F238E27FC236}">
                <a16:creationId xmlns:a16="http://schemas.microsoft.com/office/drawing/2014/main" id="{008396E4-D53B-4277-8BAF-2642893E66E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2847" y="5663942"/>
            <a:ext cx="788984" cy="788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TextBox 46">
            <a:extLst>
              <a:ext uri="{FF2B5EF4-FFF2-40B4-BE49-F238E27FC236}">
                <a16:creationId xmlns:a16="http://schemas.microsoft.com/office/drawing/2014/main" id="{59F5914E-09C9-408C-909E-AA7CCD43408E}"/>
              </a:ext>
            </a:extLst>
          </p:cNvPr>
          <p:cNvSpPr txBox="1"/>
          <p:nvPr/>
        </p:nvSpPr>
        <p:spPr>
          <a:xfrm>
            <a:off x="2627784" y="5796553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函数与结构化程序设计</a:t>
            </a:r>
            <a:endParaRPr lang="zh-CN" alt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99997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函数的嵌套调用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592734"/>
            <a:ext cx="8784976" cy="45005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一个函数的函数体中包含一个或多个函数调用语句，即称为函数嵌套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嵌套的含义：如果函数</a:t>
            </a:r>
            <a:r>
              <a:rPr lang="en-US" altLang="zh-CN" dirty="0"/>
              <a:t>A </a:t>
            </a:r>
            <a:r>
              <a:rPr lang="zh-CN" altLang="en-US" dirty="0"/>
              <a:t>要调用函数</a:t>
            </a:r>
            <a:r>
              <a:rPr lang="en-US" altLang="zh-CN" dirty="0"/>
              <a:t>B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zh-CN" altLang="en-US" dirty="0"/>
              <a:t>函数</a:t>
            </a:r>
            <a:r>
              <a:rPr lang="en-US" altLang="zh-CN" dirty="0"/>
              <a:t>A </a:t>
            </a:r>
            <a:r>
              <a:rPr lang="zh-CN" altLang="en-US" dirty="0"/>
              <a:t>的定义要依赖于函数</a:t>
            </a:r>
            <a:r>
              <a:rPr lang="en-US" altLang="zh-CN" dirty="0"/>
              <a:t>B </a:t>
            </a:r>
            <a:r>
              <a:rPr lang="zh-CN" altLang="en-US" dirty="0"/>
              <a:t>的定义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，那么，函数</a:t>
            </a:r>
            <a:r>
              <a:rPr lang="en-US" altLang="zh-CN" dirty="0"/>
              <a:t>B </a:t>
            </a:r>
            <a:r>
              <a:rPr lang="zh-CN" altLang="en-US" dirty="0"/>
              <a:t>的定义或函数</a:t>
            </a:r>
            <a:r>
              <a:rPr lang="en-US" altLang="zh-CN" dirty="0"/>
              <a:t>B </a:t>
            </a:r>
            <a:r>
              <a:rPr lang="zh-CN" altLang="en-US" dirty="0"/>
              <a:t>的原型必须出现在函数</a:t>
            </a:r>
            <a:r>
              <a:rPr lang="en-US" altLang="zh-CN" dirty="0"/>
              <a:t>A </a:t>
            </a:r>
            <a:r>
              <a:rPr lang="zh-CN" altLang="en-US" dirty="0"/>
              <a:t>的定义语句之前。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另一方面，函数</a:t>
            </a:r>
            <a:r>
              <a:rPr lang="en-US" altLang="zh-CN" dirty="0"/>
              <a:t>A</a:t>
            </a:r>
            <a:r>
              <a:rPr lang="zh-CN" altLang="en-US" dirty="0"/>
              <a:t>调用函数</a:t>
            </a:r>
            <a:r>
              <a:rPr lang="en-US" altLang="zh-CN" dirty="0"/>
              <a:t>B</a:t>
            </a:r>
            <a:r>
              <a:rPr lang="zh-CN" altLang="en-US" dirty="0"/>
              <a:t>，在调用</a:t>
            </a:r>
            <a:r>
              <a:rPr lang="en-US" altLang="zh-CN" dirty="0"/>
              <a:t>A </a:t>
            </a:r>
            <a:r>
              <a:rPr lang="zh-CN" altLang="en-US" dirty="0"/>
              <a:t>的过程中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zh-CN" altLang="en-US" dirty="0"/>
              <a:t>执行</a:t>
            </a:r>
            <a:r>
              <a:rPr lang="en-US" altLang="zh-CN" dirty="0"/>
              <a:t>A </a:t>
            </a:r>
            <a:r>
              <a:rPr lang="zh-CN" altLang="en-US" dirty="0"/>
              <a:t>的函数体过程中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，调用</a:t>
            </a:r>
            <a:r>
              <a:rPr lang="en-US" altLang="zh-CN" dirty="0"/>
              <a:t>B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zh-CN" altLang="en-US" dirty="0"/>
              <a:t>中途把程序控制转到</a:t>
            </a:r>
            <a:r>
              <a:rPr lang="en-US" altLang="zh-CN" dirty="0"/>
              <a:t>B </a:t>
            </a:r>
            <a:r>
              <a:rPr lang="zh-CN" altLang="en-US" dirty="0"/>
              <a:t>的函数体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，在</a:t>
            </a:r>
            <a:r>
              <a:rPr lang="en-US" altLang="zh-CN" dirty="0"/>
              <a:t>B</a:t>
            </a:r>
            <a:r>
              <a:rPr lang="zh-CN" altLang="en-US" dirty="0"/>
              <a:t>执行结束后再返回到</a:t>
            </a:r>
            <a:r>
              <a:rPr lang="en-US" altLang="zh-CN" dirty="0"/>
              <a:t>A </a:t>
            </a:r>
            <a:r>
              <a:rPr lang="zh-CN" altLang="en-US" dirty="0"/>
              <a:t>的函数体中</a:t>
            </a:r>
          </a:p>
        </p:txBody>
      </p:sp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806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函数的嵌套调用</a:t>
            </a:r>
          </a:p>
        </p:txBody>
      </p:sp>
      <p:pic>
        <p:nvPicPr>
          <p:cNvPr id="9319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204864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6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函数的嵌套调用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13"/>
            <a:ext cx="8363272" cy="45048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/>
              <a:t>函数嵌套调用会占用的内存空间（如赋值参数的创建等等），用</a:t>
            </a:r>
            <a:r>
              <a:rPr lang="zh-CN" altLang="en-US" dirty="0">
                <a:solidFill>
                  <a:srgbClr val="FF0000"/>
                </a:solidFill>
              </a:rPr>
              <a:t>堆栈（</a:t>
            </a:r>
            <a:r>
              <a:rPr lang="en-US" altLang="zh-CN" dirty="0">
                <a:solidFill>
                  <a:srgbClr val="FF0000"/>
                </a:solidFill>
              </a:rPr>
              <a:t>stack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的方式管理。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zh-CN" altLang="en-US" dirty="0"/>
              <a:t>系统为这种堆栈分配的空间是有限的，因此函数互相嵌套的层数也是有限的。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依编译系统不同，其允许的嵌套层数也可能不同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35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函数的嵌套调用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3071810"/>
            <a:ext cx="714380" cy="714380"/>
          </a:xfrm>
          <a:prstGeom prst="rect">
            <a:avLst/>
          </a:prstGeom>
        </p:spPr>
      </p:pic>
      <p:sp>
        <p:nvSpPr>
          <p:cNvPr id="5" name="矩形 4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43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函数嵌套调用过程中的栈结构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60848"/>
            <a:ext cx="4257676" cy="4263752"/>
          </a:xfrm>
        </p:spPr>
        <p:txBody>
          <a:bodyPr/>
          <a:lstStyle/>
          <a:p>
            <a:pPr lvl="1"/>
            <a:r>
              <a:rPr lang="zh-CN" altLang="en-US" dirty="0"/>
              <a:t>主函数运行时，栈区的情况</a:t>
            </a: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3188" y="4143375"/>
            <a:ext cx="1860550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319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94" y="2000240"/>
            <a:ext cx="253365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20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 descr="cyc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3714752"/>
            <a:ext cx="2759529" cy="1071570"/>
          </a:xfrm>
          <a:prstGeom prst="rect">
            <a:avLst/>
          </a:prstGeom>
        </p:spPr>
      </p:pic>
      <p:pic>
        <p:nvPicPr>
          <p:cNvPr id="9" name="图片 8" descr="retangle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714612" y="3071810"/>
            <a:ext cx="714380" cy="714380"/>
          </a:xfrm>
          <a:prstGeom prst="rect">
            <a:avLst/>
          </a:prstGeom>
        </p:spPr>
      </p:pic>
      <p:sp>
        <p:nvSpPr>
          <p:cNvPr id="6" name="矩形 5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1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函数嵌套调用过程中的栈结构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08520" y="1916832"/>
            <a:ext cx="5400600" cy="44077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发生函数调用时（调用</a:t>
            </a:r>
            <a:r>
              <a:rPr lang="en-US" altLang="zh-CN" dirty="0"/>
              <a:t>a</a:t>
            </a:r>
            <a:r>
              <a:rPr lang="zh-CN" altLang="en-US" dirty="0"/>
              <a:t>函数）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“保护”主函数当前的运行状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记录被调函数</a:t>
            </a:r>
            <a:r>
              <a:rPr lang="en-US" altLang="zh-CN" dirty="0"/>
              <a:t>a</a:t>
            </a:r>
            <a:r>
              <a:rPr lang="zh-CN" altLang="en-US" dirty="0"/>
              <a:t>的返回地址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4000" y="4857750"/>
            <a:ext cx="170656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72132" y="2000240"/>
            <a:ext cx="2533650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08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3438" y="3071810"/>
            <a:ext cx="714380" cy="714380"/>
          </a:xfrm>
          <a:prstGeom prst="rect">
            <a:avLst/>
          </a:prstGeom>
        </p:spPr>
      </p:pic>
      <p:sp>
        <p:nvSpPr>
          <p:cNvPr id="5" name="矩形 4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0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5372" y="1916832"/>
            <a:ext cx="5471468" cy="44077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函数嵌套调用过程中的栈结构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运行</a:t>
            </a:r>
            <a:r>
              <a:rPr lang="en-US" altLang="zh-CN" dirty="0"/>
              <a:t>a</a:t>
            </a:r>
            <a:r>
              <a:rPr lang="zh-CN" altLang="en-US" dirty="0"/>
              <a:t>函数，记录</a:t>
            </a:r>
            <a:r>
              <a:rPr lang="en-US" altLang="zh-CN" dirty="0"/>
              <a:t>a</a:t>
            </a:r>
            <a:r>
              <a:rPr lang="zh-CN" altLang="en-US" dirty="0"/>
              <a:t>函数的参数和局部变量的值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6063" y="4500563"/>
            <a:ext cx="1706562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23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94" y="919311"/>
            <a:ext cx="2533650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88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 descr="cyc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14744" y="3714752"/>
            <a:ext cx="2759529" cy="1071570"/>
          </a:xfrm>
          <a:prstGeom prst="rect">
            <a:avLst/>
          </a:prstGeom>
        </p:spPr>
      </p:pic>
      <p:pic>
        <p:nvPicPr>
          <p:cNvPr id="9" name="图片 8" descr="retangle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388" y="3071810"/>
            <a:ext cx="714380" cy="714380"/>
          </a:xfrm>
          <a:prstGeom prst="rect">
            <a:avLst/>
          </a:prstGeom>
        </p:spPr>
      </p:pic>
      <p:sp>
        <p:nvSpPr>
          <p:cNvPr id="6" name="矩形 5">
            <a:hlinkClick r:id="rId5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091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192" y="1556792"/>
            <a:ext cx="4834880" cy="42637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调用</a:t>
            </a:r>
            <a:r>
              <a:rPr lang="en-US" altLang="zh-CN" dirty="0"/>
              <a:t>b</a:t>
            </a:r>
            <a:r>
              <a:rPr lang="zh-CN" altLang="en-US" dirty="0"/>
              <a:t>函数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保护</a:t>
            </a:r>
            <a:r>
              <a:rPr lang="en-US" altLang="zh-CN" dirty="0"/>
              <a:t>a</a:t>
            </a:r>
            <a:r>
              <a:rPr lang="zh-CN" altLang="en-US" dirty="0"/>
              <a:t>函数的当前状态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记录</a:t>
            </a:r>
            <a:r>
              <a:rPr lang="en-US" altLang="zh-CN" dirty="0"/>
              <a:t>b</a:t>
            </a:r>
            <a:r>
              <a:rPr lang="zh-CN" altLang="en-US" dirty="0"/>
              <a:t>函数的返回地址</a:t>
            </a:r>
          </a:p>
        </p:txBody>
      </p:sp>
      <p:pic>
        <p:nvPicPr>
          <p:cNvPr id="9626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1556792"/>
            <a:ext cx="28956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6263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33708" y="3666612"/>
            <a:ext cx="27813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813" y="4786313"/>
            <a:ext cx="1725612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>
            <a:hlinkClick r:id="rId6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26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2462" y="3714752"/>
            <a:ext cx="714380" cy="714380"/>
          </a:xfrm>
          <a:prstGeom prst="rect">
            <a:avLst/>
          </a:prstGeom>
        </p:spPr>
      </p:pic>
      <p:sp>
        <p:nvSpPr>
          <p:cNvPr id="5" name="矩形 4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6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85528"/>
            <a:ext cx="5266928" cy="44797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函数嵌套调用过程中的栈结构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运行</a:t>
            </a:r>
            <a:r>
              <a:rPr lang="en-US" altLang="zh-CN" dirty="0"/>
              <a:t>b</a:t>
            </a:r>
            <a:r>
              <a:rPr lang="zh-CN" altLang="en-US" dirty="0"/>
              <a:t>函数，记录</a:t>
            </a:r>
            <a:r>
              <a:rPr lang="en-US" altLang="zh-CN" dirty="0"/>
              <a:t>b</a:t>
            </a:r>
            <a:r>
              <a:rPr lang="zh-CN" altLang="en-US" dirty="0"/>
              <a:t>函数的参数和局部变量的值</a:t>
            </a:r>
          </a:p>
          <a:p>
            <a:pPr lvl="1"/>
            <a:endParaRPr lang="zh-CN" altLang="en-US" dirty="0"/>
          </a:p>
        </p:txBody>
      </p:sp>
      <p:pic>
        <p:nvPicPr>
          <p:cNvPr id="9728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84" y="353144"/>
            <a:ext cx="28956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728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802" y="3789040"/>
            <a:ext cx="27813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813" y="4857750"/>
            <a:ext cx="1725612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>
            <a:hlinkClick r:id="rId6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762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86512" y="4643446"/>
            <a:ext cx="714380" cy="714380"/>
          </a:xfrm>
          <a:prstGeom prst="rect">
            <a:avLst/>
          </a:prstGeom>
        </p:spPr>
      </p:pic>
      <p:pic>
        <p:nvPicPr>
          <p:cNvPr id="10" name="图片 9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3438" y="4643446"/>
            <a:ext cx="714380" cy="714380"/>
          </a:xfrm>
          <a:prstGeom prst="rect">
            <a:avLst/>
          </a:prstGeom>
        </p:spPr>
      </p:pic>
      <p:sp>
        <p:nvSpPr>
          <p:cNvPr id="6" name="矩形 5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560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757536"/>
            <a:ext cx="4968552" cy="4407768"/>
          </a:xfrm>
        </p:spPr>
        <p:txBody>
          <a:bodyPr/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sz="2400" dirty="0"/>
              <a:t>b</a:t>
            </a:r>
            <a:r>
              <a:rPr lang="zh-CN" altLang="en-US" sz="2400" dirty="0"/>
              <a:t>函数运行结束并返回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zh-CN" sz="2400" dirty="0"/>
              <a:t>b</a:t>
            </a:r>
            <a:r>
              <a:rPr lang="zh-CN" altLang="en-US" sz="2400" dirty="0"/>
              <a:t>函数的变量和参数失效，变量和参数由栈区“弹出”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400" dirty="0"/>
              <a:t>根据</a:t>
            </a:r>
            <a:r>
              <a:rPr lang="en-US" altLang="zh-CN" sz="2400" dirty="0"/>
              <a:t>b</a:t>
            </a:r>
            <a:r>
              <a:rPr lang="zh-CN" altLang="en-US" sz="2400" dirty="0"/>
              <a:t>函数的返回地址返回，读取</a:t>
            </a:r>
            <a:r>
              <a:rPr lang="en-US" altLang="zh-CN" sz="2400" dirty="0"/>
              <a:t>a</a:t>
            </a:r>
            <a:r>
              <a:rPr lang="zh-CN" altLang="en-US" sz="2400" dirty="0"/>
              <a:t>函数的运行状态继续运行</a:t>
            </a:r>
            <a:r>
              <a:rPr lang="en-US" altLang="zh-CN" sz="2400" dirty="0"/>
              <a:t>a</a:t>
            </a:r>
            <a:r>
              <a:rPr lang="zh-CN" altLang="en-US" sz="2400" dirty="0"/>
              <a:t>函数</a:t>
            </a:r>
          </a:p>
        </p:txBody>
      </p:sp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1071546"/>
            <a:ext cx="2533650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4625" y="5489575"/>
            <a:ext cx="17256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82875" y="5929313"/>
            <a:ext cx="2317750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>
            <a:hlinkClick r:id="rId6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251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2500306"/>
            <a:ext cx="80962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3174" y="4714884"/>
            <a:ext cx="714380" cy="714380"/>
          </a:xfrm>
          <a:prstGeom prst="rect">
            <a:avLst/>
          </a:prstGeom>
        </p:spPr>
      </p:pic>
      <p:pic>
        <p:nvPicPr>
          <p:cNvPr id="10" name="图片 9" descr="retangle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2910" y="4572008"/>
            <a:ext cx="714380" cy="714380"/>
          </a:xfrm>
          <a:prstGeom prst="rect">
            <a:avLst/>
          </a:prstGeom>
        </p:spPr>
      </p:pic>
      <p:sp>
        <p:nvSpPr>
          <p:cNvPr id="6" name="矩形 5">
            <a:hlinkClick r:id="rId4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912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zh-CN" altLang="en-US" dirty="0"/>
              <a:t>函数嵌套调用过程中的栈结构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72816"/>
            <a:ext cx="4690864" cy="43243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/>
              <a:t>a</a:t>
            </a:r>
            <a:r>
              <a:rPr lang="zh-CN" altLang="en-US" sz="2400" dirty="0"/>
              <a:t>函数运行结束并返回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/>
              <a:t>a</a:t>
            </a:r>
            <a:r>
              <a:rPr lang="zh-CN" altLang="en-US" sz="2400" dirty="0"/>
              <a:t>函数的变量和参数失效，变量和参数由栈区“弹出”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根据</a:t>
            </a:r>
            <a:r>
              <a:rPr lang="en-US" altLang="zh-CN" sz="2400" dirty="0"/>
              <a:t>a</a:t>
            </a:r>
            <a:r>
              <a:rPr lang="zh-CN" altLang="en-US" sz="2400" dirty="0"/>
              <a:t>函数的返回地址返回，读取主函数的运行状态继续运行主函数</a:t>
            </a:r>
          </a:p>
          <a:p>
            <a:pPr lvl="2"/>
            <a:endParaRPr lang="en-US" altLang="zh-CN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313" y="5500688"/>
            <a:ext cx="1706562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59038" y="5918200"/>
            <a:ext cx="2470150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035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8" y="2000240"/>
            <a:ext cx="253365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>
            <a:hlinkClick r:id="rId6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009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16599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5.18】</a:t>
            </a:r>
            <a:r>
              <a:rPr lang="zh-CN" altLang="en-US" dirty="0">
                <a:solidFill>
                  <a:srgbClr val="C00000"/>
                </a:solidFill>
              </a:rPr>
              <a:t>编写程序，用冒泡排序的算法对数组中的元素按照由小到大的顺序进行排序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输入数组</a:t>
            </a:r>
            <a:endParaRPr lang="en-US" altLang="zh-CN" dirty="0"/>
          </a:p>
          <a:p>
            <a:pPr lvl="1"/>
            <a:r>
              <a:rPr lang="zh-CN" altLang="en-US" dirty="0"/>
              <a:t>调用排序函数进行排序</a:t>
            </a:r>
            <a:endParaRPr lang="en-US" altLang="zh-CN" dirty="0"/>
          </a:p>
          <a:p>
            <a:pPr lvl="2"/>
            <a:r>
              <a:rPr lang="zh-CN" altLang="en-US" dirty="0"/>
              <a:t>参数：待排序的数组</a:t>
            </a:r>
            <a:endParaRPr lang="en-US" altLang="zh-CN" dirty="0"/>
          </a:p>
          <a:p>
            <a:pPr lvl="2"/>
            <a:r>
              <a:rPr lang="zh-CN" altLang="en-US" dirty="0"/>
              <a:t>返回：空</a:t>
            </a:r>
            <a:endParaRPr lang="en-US" altLang="zh-CN" dirty="0"/>
          </a:p>
          <a:p>
            <a:pPr lvl="3"/>
            <a:r>
              <a:rPr lang="zh-CN" altLang="en-US" dirty="0"/>
              <a:t>由于参数为数组，即数组的首地址，函数体中处理数组的地址，因此，对数组的修改可以直接反映到主调函数中</a:t>
            </a:r>
            <a:endParaRPr lang="en-US" altLang="zh-CN" dirty="0"/>
          </a:p>
          <a:p>
            <a:pPr lvl="1"/>
            <a:r>
              <a:rPr lang="zh-CN" altLang="en-US" dirty="0"/>
              <a:t>输出排序后的数组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159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60615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bubSort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a[],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n){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j=n-1;j&gt;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i;j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--){</a:t>
            </a:r>
          </a:p>
          <a:p>
            <a:pPr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(a[j]&lt;a[j-1]){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	swap(a[j],a[j-1]);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913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00562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swap 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&amp;x,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&amp;y){</a:t>
            </a:r>
          </a:p>
          <a:p>
            <a:pPr>
              <a:buNone/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temp = x;</a:t>
            </a:r>
          </a:p>
          <a:p>
            <a:pPr>
              <a:buNone/>
            </a:pP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	x = y;</a:t>
            </a:r>
          </a:p>
          <a:p>
            <a:pPr>
              <a:buNone/>
            </a:pP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	y = temp;</a:t>
            </a:r>
          </a:p>
          <a:p>
            <a:pPr>
              <a:buNone/>
            </a:pP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zh-CN" altLang="en-US" b="1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09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153400" cy="544809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cstdlib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ctime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n = 100;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b[n];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srand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unsigned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)time(NULL));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++)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b[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] = rand()%1000;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627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0056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bubSort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b,n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(5)&lt;&lt;b[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((i+1)%10==0)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设计函数，分别按产生顺序和排序后的顺序输出随机数，输出宽度为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，每输出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个数换行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112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函数的递归调用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28800"/>
            <a:ext cx="8640960" cy="458455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函数的递归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sz="2800" dirty="0"/>
              <a:t>C++</a:t>
            </a:r>
            <a:r>
              <a:rPr lang="zh-CN" altLang="en-US" sz="2800" dirty="0"/>
              <a:t>允许函数自己调用自己</a:t>
            </a:r>
            <a:endParaRPr lang="en-US" altLang="zh-CN" sz="2800" dirty="0"/>
          </a:p>
          <a:p>
            <a:pPr lvl="2">
              <a:lnSpc>
                <a:spcPct val="150000"/>
              </a:lnSpc>
            </a:pPr>
            <a:r>
              <a:rPr lang="en-US" altLang="zh-CN" sz="2400" dirty="0"/>
              <a:t>A</a:t>
            </a:r>
            <a:r>
              <a:rPr lang="zh-CN" altLang="en-US" sz="2400" dirty="0"/>
              <a:t>函数调用</a:t>
            </a:r>
            <a:r>
              <a:rPr lang="en-US" altLang="zh-CN" sz="2400" dirty="0"/>
              <a:t>A</a:t>
            </a:r>
            <a:r>
              <a:rPr lang="zh-CN" altLang="en-US" sz="2400" dirty="0"/>
              <a:t>函数本身，称为</a:t>
            </a:r>
            <a:r>
              <a:rPr lang="zh-CN" altLang="en-US" sz="2400" dirty="0">
                <a:solidFill>
                  <a:srgbClr val="C00000"/>
                </a:solidFill>
              </a:rPr>
              <a:t>直接递归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en-US" altLang="zh-CN" sz="2400" dirty="0"/>
              <a:t>A</a:t>
            </a:r>
            <a:r>
              <a:rPr lang="zh-CN" altLang="en-US" sz="2400" dirty="0"/>
              <a:t>函数调用</a:t>
            </a:r>
            <a:r>
              <a:rPr lang="en-US" altLang="zh-CN" sz="2400" dirty="0"/>
              <a:t>B</a:t>
            </a:r>
            <a:r>
              <a:rPr lang="zh-CN" altLang="en-US" sz="2400" dirty="0"/>
              <a:t>函数，而后</a:t>
            </a:r>
            <a:r>
              <a:rPr lang="en-US" altLang="zh-CN" sz="2400" dirty="0"/>
              <a:t>B</a:t>
            </a:r>
            <a:r>
              <a:rPr lang="zh-CN" altLang="en-US" sz="2400" dirty="0"/>
              <a:t>函数又调用</a:t>
            </a:r>
            <a:r>
              <a:rPr lang="en-US" altLang="zh-CN" sz="2400" dirty="0"/>
              <a:t>A</a:t>
            </a:r>
            <a:r>
              <a:rPr lang="zh-CN" altLang="en-US" sz="2400" dirty="0"/>
              <a:t>函数，称为</a:t>
            </a:r>
            <a:r>
              <a:rPr lang="zh-CN" altLang="en-US" sz="2400" dirty="0">
                <a:solidFill>
                  <a:srgbClr val="C00000"/>
                </a:solidFill>
              </a:rPr>
              <a:t>间接递归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不论使用哪种递归，程序员都应保障递归函数在执行若干次后能够“退出”递归 (即</a:t>
            </a:r>
            <a:r>
              <a:rPr lang="zh-CN" altLang="en-US" sz="2400" dirty="0">
                <a:solidFill>
                  <a:srgbClr val="C00000"/>
                </a:solidFill>
              </a:rPr>
              <a:t>能够实现递归出口</a:t>
            </a:r>
            <a:r>
              <a:rPr lang="zh-CN" altLang="en-US" sz="2400" dirty="0"/>
              <a:t>)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09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函数的递归调用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8824" y="1952774"/>
            <a:ext cx="8805664" cy="4500562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zh-CN" altLang="en-US" sz="2800" dirty="0"/>
              <a:t>递归函数的执行分为“</a:t>
            </a:r>
            <a:r>
              <a:rPr lang="zh-CN" altLang="en-US" sz="2800" dirty="0">
                <a:solidFill>
                  <a:srgbClr val="CC3300"/>
                </a:solidFill>
              </a:rPr>
              <a:t>递推</a:t>
            </a:r>
            <a:r>
              <a:rPr lang="zh-CN" altLang="en-US" sz="2800" dirty="0"/>
              <a:t>”和“</a:t>
            </a:r>
            <a:r>
              <a:rPr lang="zh-CN" altLang="en-US" sz="2800" dirty="0">
                <a:solidFill>
                  <a:srgbClr val="CC3300"/>
                </a:solidFill>
              </a:rPr>
              <a:t>回归</a:t>
            </a:r>
            <a:r>
              <a:rPr lang="zh-CN" altLang="en-US" sz="2800" dirty="0"/>
              <a:t>”两个过程，这两个过程由递归终止条件控制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即</a:t>
            </a:r>
            <a:r>
              <a:rPr lang="zh-CN" altLang="en-US" sz="2800" dirty="0">
                <a:solidFill>
                  <a:srgbClr val="CC3300"/>
                </a:solidFill>
              </a:rPr>
              <a:t>逐层递推</a:t>
            </a:r>
            <a:r>
              <a:rPr lang="zh-CN" altLang="en-US" sz="2800" dirty="0"/>
              <a:t>，直至</a:t>
            </a:r>
            <a:r>
              <a:rPr lang="zh-CN" altLang="en-US" sz="2800" dirty="0">
                <a:solidFill>
                  <a:srgbClr val="CC3300"/>
                </a:solidFill>
              </a:rPr>
              <a:t>递归终止条件</a:t>
            </a:r>
            <a:r>
              <a:rPr lang="zh-CN" altLang="en-US" sz="2800" dirty="0"/>
              <a:t>，然后</a:t>
            </a:r>
            <a:r>
              <a:rPr lang="zh-CN" altLang="en-US" sz="2800" dirty="0">
                <a:solidFill>
                  <a:srgbClr val="CC3300"/>
                </a:solidFill>
              </a:rPr>
              <a:t>逐层回归</a:t>
            </a:r>
            <a:r>
              <a:rPr lang="zh-CN" altLang="en-US" sz="2800" dirty="0"/>
              <a:t>。每次调用发生时都首先判断递归终止条件。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251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函数的递归调用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93023"/>
            <a:ext cx="8712968" cy="4500562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zh-CN" altLang="en-US" dirty="0"/>
              <a:t>递归调用同普通的函数调用一样，每当调用发生时，在栈中分配单元保存返回地址以及参数和局部变量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由于递推的过程是一个逐层调用的过程，因此存在一个逐层连续的参数入栈过程，直至</a:t>
            </a:r>
            <a:r>
              <a:rPr lang="zh-CN" altLang="en-US" dirty="0">
                <a:solidFill>
                  <a:srgbClr val="FF0000"/>
                </a:solidFill>
              </a:rPr>
              <a:t>遇到递归终止条件</a:t>
            </a:r>
            <a:r>
              <a:rPr lang="zh-CN" altLang="en-US" dirty="0"/>
              <a:t>时，才开始</a:t>
            </a:r>
            <a:r>
              <a:rPr lang="zh-CN" altLang="en-US" dirty="0">
                <a:solidFill>
                  <a:srgbClr val="FF0000"/>
                </a:solidFill>
              </a:rPr>
              <a:t>回归</a:t>
            </a:r>
            <a:r>
              <a:rPr lang="zh-CN" altLang="en-US" dirty="0"/>
              <a:t>，这时才逐层释放栈空间，返回到上一层，直至最后返回到主调函数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48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函数的递归调用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函数的递归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5.19】</a:t>
            </a:r>
            <a:r>
              <a:rPr lang="zh-CN" altLang="en-US" dirty="0"/>
              <a:t>计算年龄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5.20】</a:t>
            </a:r>
            <a:r>
              <a:rPr lang="zh-CN" altLang="en-US" dirty="0"/>
              <a:t>求阶乘，三色冰淇淋程序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5.21】</a:t>
            </a:r>
            <a:r>
              <a:rPr lang="zh-CN" altLang="en-US" dirty="0"/>
              <a:t>反序输出问题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5.22】</a:t>
            </a:r>
            <a:r>
              <a:rPr lang="zh-CN" altLang="en-US" dirty="0"/>
              <a:t>输入一个整数，将数字反序输出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5.23】</a:t>
            </a:r>
            <a:r>
              <a:rPr lang="zh-CN" altLang="en-US" dirty="0"/>
              <a:t>汉诺塔问题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5.24】</a:t>
            </a:r>
            <a:r>
              <a:rPr lang="zh-CN" altLang="en-US" dirty="0"/>
              <a:t>快速排序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660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08520" y="932681"/>
            <a:ext cx="9155360" cy="530463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5.19】</a:t>
            </a:r>
            <a:r>
              <a:rPr lang="zh-CN" altLang="en-US" sz="2400" dirty="0">
                <a:solidFill>
                  <a:srgbClr val="C00000"/>
                </a:solidFill>
              </a:rPr>
              <a:t>有</a:t>
            </a:r>
            <a:r>
              <a:rPr lang="en-US" altLang="zh-CN" sz="2400" dirty="0">
                <a:solidFill>
                  <a:srgbClr val="C00000"/>
                </a:solidFill>
              </a:rPr>
              <a:t>5</a:t>
            </a:r>
            <a:r>
              <a:rPr lang="zh-CN" altLang="en-US" sz="2400" dirty="0">
                <a:solidFill>
                  <a:srgbClr val="C00000"/>
                </a:solidFill>
              </a:rPr>
              <a:t>个人坐在一起，问第</a:t>
            </a:r>
            <a:r>
              <a:rPr lang="en-US" altLang="zh-CN" sz="2400" dirty="0">
                <a:solidFill>
                  <a:srgbClr val="C00000"/>
                </a:solidFill>
              </a:rPr>
              <a:t>5</a:t>
            </a:r>
            <a:r>
              <a:rPr lang="zh-CN" altLang="en-US" sz="2400" dirty="0">
                <a:solidFill>
                  <a:srgbClr val="C00000"/>
                </a:solidFill>
              </a:rPr>
              <a:t>个人多少岁？他说，比第</a:t>
            </a:r>
            <a:r>
              <a:rPr lang="en-US" altLang="zh-CN" sz="2400" dirty="0">
                <a:solidFill>
                  <a:srgbClr val="C00000"/>
                </a:solidFill>
              </a:rPr>
              <a:t>4</a:t>
            </a:r>
            <a:r>
              <a:rPr lang="zh-CN" altLang="en-US" sz="2400" dirty="0">
                <a:solidFill>
                  <a:srgbClr val="C00000"/>
                </a:solidFill>
              </a:rPr>
              <a:t>个人大两岁。问第</a:t>
            </a:r>
            <a:r>
              <a:rPr lang="en-US" altLang="zh-CN" sz="2400" dirty="0">
                <a:solidFill>
                  <a:srgbClr val="C00000"/>
                </a:solidFill>
              </a:rPr>
              <a:t>4</a:t>
            </a:r>
            <a:r>
              <a:rPr lang="zh-CN" altLang="en-US" sz="2400" dirty="0">
                <a:solidFill>
                  <a:srgbClr val="C00000"/>
                </a:solidFill>
              </a:rPr>
              <a:t>个人多少岁？他说，比第</a:t>
            </a:r>
            <a:r>
              <a:rPr lang="en-US" altLang="zh-CN" sz="2400" dirty="0">
                <a:solidFill>
                  <a:srgbClr val="C00000"/>
                </a:solidFill>
              </a:rPr>
              <a:t>3</a:t>
            </a:r>
            <a:r>
              <a:rPr lang="zh-CN" altLang="en-US" sz="2400" dirty="0">
                <a:solidFill>
                  <a:srgbClr val="C00000"/>
                </a:solidFill>
              </a:rPr>
              <a:t>个人大两岁。问第</a:t>
            </a:r>
            <a:r>
              <a:rPr lang="en-US" altLang="zh-CN" sz="2400" dirty="0">
                <a:solidFill>
                  <a:srgbClr val="C00000"/>
                </a:solidFill>
              </a:rPr>
              <a:t>3</a:t>
            </a:r>
            <a:r>
              <a:rPr lang="zh-CN" altLang="en-US" sz="2400" dirty="0">
                <a:solidFill>
                  <a:srgbClr val="C00000"/>
                </a:solidFill>
              </a:rPr>
              <a:t>个人多少岁？他说，比第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  <a:r>
              <a:rPr lang="zh-CN" altLang="en-US" sz="2400" dirty="0">
                <a:solidFill>
                  <a:srgbClr val="C00000"/>
                </a:solidFill>
              </a:rPr>
              <a:t>个人大两岁。问第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  <a:r>
              <a:rPr lang="zh-CN" altLang="en-US" sz="2400" dirty="0">
                <a:solidFill>
                  <a:srgbClr val="C00000"/>
                </a:solidFill>
              </a:rPr>
              <a:t>个人多少岁？他说，比第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>
                <a:solidFill>
                  <a:srgbClr val="C00000"/>
                </a:solidFill>
              </a:rPr>
              <a:t>个人大两岁。问第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>
                <a:solidFill>
                  <a:srgbClr val="C00000"/>
                </a:solidFill>
              </a:rPr>
              <a:t>个人多少岁？他说是十岁。请问，第</a:t>
            </a:r>
            <a:r>
              <a:rPr lang="en-US" altLang="zh-CN" sz="2400" dirty="0">
                <a:solidFill>
                  <a:srgbClr val="C00000"/>
                </a:solidFill>
              </a:rPr>
              <a:t>5</a:t>
            </a:r>
            <a:r>
              <a:rPr lang="zh-CN" altLang="en-US" sz="2400" dirty="0">
                <a:solidFill>
                  <a:srgbClr val="C00000"/>
                </a:solidFill>
              </a:rPr>
              <a:t>个人多大？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/>
              <a:t>欲求第</a:t>
            </a:r>
            <a:r>
              <a:rPr lang="en-US" altLang="zh-CN" dirty="0"/>
              <a:t>5</a:t>
            </a:r>
            <a:r>
              <a:rPr lang="zh-CN" altLang="en-US" dirty="0"/>
              <a:t>个人的年龄，就必须先知道第</a:t>
            </a:r>
            <a:r>
              <a:rPr lang="en-US" altLang="zh-CN" dirty="0"/>
              <a:t>4</a:t>
            </a:r>
            <a:r>
              <a:rPr lang="zh-CN" altLang="en-US" dirty="0"/>
              <a:t>个人的年龄，欲求第</a:t>
            </a:r>
            <a:r>
              <a:rPr lang="en-US" altLang="zh-CN" dirty="0"/>
              <a:t>4</a:t>
            </a:r>
            <a:r>
              <a:rPr lang="zh-CN" altLang="en-US" dirty="0"/>
              <a:t>个人的年龄，就必须先知道第</a:t>
            </a:r>
            <a:r>
              <a:rPr lang="en-US" altLang="zh-CN" dirty="0"/>
              <a:t>3</a:t>
            </a:r>
            <a:r>
              <a:rPr lang="zh-CN" altLang="en-US" dirty="0"/>
              <a:t>个人的年龄，欲求第</a:t>
            </a:r>
            <a:r>
              <a:rPr lang="en-US" altLang="zh-CN" dirty="0"/>
              <a:t>3</a:t>
            </a:r>
            <a:r>
              <a:rPr lang="zh-CN" altLang="en-US" dirty="0"/>
              <a:t>个人的年龄，就必须先知道第</a:t>
            </a:r>
            <a:r>
              <a:rPr lang="en-US" altLang="zh-CN" dirty="0"/>
              <a:t>2</a:t>
            </a:r>
            <a:r>
              <a:rPr lang="zh-CN" altLang="en-US" dirty="0"/>
              <a:t>个人的年龄，欲求第</a:t>
            </a:r>
            <a:r>
              <a:rPr lang="en-US" altLang="zh-CN" dirty="0"/>
              <a:t>2</a:t>
            </a:r>
            <a:r>
              <a:rPr lang="zh-CN" altLang="en-US" dirty="0"/>
              <a:t>个人的年龄，就必须先知道第</a:t>
            </a:r>
            <a:r>
              <a:rPr lang="en-US" altLang="zh-CN" dirty="0"/>
              <a:t>1</a:t>
            </a:r>
            <a:r>
              <a:rPr lang="zh-CN" altLang="en-US" dirty="0"/>
              <a:t>个人的年龄，而且每个人的年龄都比前一个人大两岁</a:t>
            </a:r>
          </a:p>
        </p:txBody>
      </p:sp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390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00562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5.19】</a:t>
            </a:r>
            <a:r>
              <a:rPr lang="zh-CN" altLang="en-US" dirty="0"/>
              <a:t>分析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个人的年龄可以分别表示为</a:t>
            </a:r>
            <a:endParaRPr lang="en-US" altLang="zh-CN" dirty="0"/>
          </a:p>
          <a:p>
            <a:pPr lvl="1"/>
            <a:r>
              <a:rPr lang="en-US" altLang="zh-CN" dirty="0"/>
              <a:t>age(5)=age(4)+2</a:t>
            </a:r>
          </a:p>
          <a:p>
            <a:pPr lvl="1"/>
            <a:r>
              <a:rPr lang="en-US" altLang="zh-CN" dirty="0"/>
              <a:t>age(4)=age(3)+2</a:t>
            </a:r>
            <a:endParaRPr lang="zh-CN" altLang="en-US" dirty="0"/>
          </a:p>
          <a:p>
            <a:pPr lvl="1"/>
            <a:r>
              <a:rPr lang="en-US" altLang="zh-CN" dirty="0"/>
              <a:t>age(3)=age(2)+2</a:t>
            </a:r>
            <a:endParaRPr lang="zh-CN" altLang="en-US" dirty="0"/>
          </a:p>
          <a:p>
            <a:pPr lvl="1"/>
            <a:r>
              <a:rPr lang="en-US" altLang="zh-CN" dirty="0"/>
              <a:t>age(2)=age(1)+2</a:t>
            </a:r>
            <a:endParaRPr lang="zh-CN" altLang="en-US" dirty="0"/>
          </a:p>
          <a:p>
            <a:pPr lvl="1"/>
            <a:r>
              <a:rPr lang="en-US" altLang="zh-CN" dirty="0"/>
              <a:t>age(1)=10</a:t>
            </a:r>
          </a:p>
          <a:p>
            <a:r>
              <a:rPr lang="zh-CN" altLang="en-US" dirty="0"/>
              <a:t>通项式为：</a:t>
            </a:r>
          </a:p>
          <a:p>
            <a:pPr lvl="1"/>
            <a:r>
              <a:rPr lang="en-US" altLang="zh-CN" dirty="0"/>
              <a:t>age(1)=10</a:t>
            </a:r>
          </a:p>
          <a:p>
            <a:pPr lvl="1"/>
            <a:r>
              <a:rPr lang="en-US" altLang="zh-CN" dirty="0"/>
              <a:t>age(n)=age(n-1)+2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4004" y="2564904"/>
            <a:ext cx="549012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979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3262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求年龄的递归函数</a:t>
            </a:r>
            <a:r>
              <a:rPr lang="en-US" altLang="zh-CN" dirty="0"/>
              <a:t>age()</a:t>
            </a:r>
            <a:r>
              <a:rPr lang="zh-CN" altLang="en-US" dirty="0"/>
              <a:t>定义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age(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n)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person_age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(n==1)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person_age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= 10;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person_age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= age(n-1)+2;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person_age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850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50292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zh-CN" altLang="en-US" sz="2800" b="1" dirty="0">
                <a:latin typeface="Courier New" pitchFamily="49" charset="0"/>
                <a:cs typeface="Courier New" pitchFamily="49" charset="0"/>
              </a:rPr>
              <a:t>第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5</a:t>
            </a:r>
            <a:r>
              <a:rPr lang="zh-CN" altLang="en-US" sz="2800" b="1" dirty="0">
                <a:latin typeface="Courier New" pitchFamily="49" charset="0"/>
                <a:cs typeface="Courier New" pitchFamily="49" charset="0"/>
              </a:rPr>
              <a:t>个人的年龄为：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&lt;&lt;age(5)&lt;&lt;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zh-CN" altLang="en-US" sz="2800" b="1" dirty="0">
                <a:latin typeface="Courier New" pitchFamily="49" charset="0"/>
                <a:cs typeface="Courier New" pitchFamily="49" charset="0"/>
              </a:rPr>
              <a:t>岁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571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0463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5.20】</a:t>
            </a:r>
            <a:r>
              <a:rPr lang="zh-CN" altLang="en-US" dirty="0">
                <a:solidFill>
                  <a:srgbClr val="C00000"/>
                </a:solidFill>
              </a:rPr>
              <a:t>用递归函数求整数</a:t>
            </a:r>
            <a:r>
              <a:rPr lang="en-US" altLang="zh-CN" dirty="0">
                <a:solidFill>
                  <a:srgbClr val="C00000"/>
                </a:solidFill>
              </a:rPr>
              <a:t>n</a:t>
            </a:r>
            <a:r>
              <a:rPr lang="zh-CN" altLang="en-US" dirty="0">
                <a:solidFill>
                  <a:srgbClr val="C00000"/>
                </a:solidFill>
              </a:rPr>
              <a:t>的阶乘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/>
              <a:t>1!=1</a:t>
            </a:r>
          </a:p>
          <a:p>
            <a:pPr lvl="1"/>
            <a:r>
              <a:rPr lang="en-US" altLang="zh-CN" dirty="0"/>
              <a:t>n! = n*(n-1)!</a:t>
            </a:r>
          </a:p>
          <a:p>
            <a:pPr lvl="1"/>
            <a:r>
              <a:rPr lang="zh-CN" altLang="en-US" dirty="0"/>
              <a:t>递归函数定义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3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dirty="0" err="1"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32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n){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3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((n==1)||(n==0))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3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1;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3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3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3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n*</a:t>
            </a:r>
            <a:r>
              <a:rPr lang="en-US" altLang="zh-CN" sz="3200" dirty="0" err="1">
                <a:latin typeface="Courier New" pitchFamily="49" charset="0"/>
                <a:cs typeface="Courier New" pitchFamily="49" charset="0"/>
              </a:rPr>
              <a:t>fac</a:t>
            </a: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(n-1);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32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en-US" altLang="zh-CN" dirty="0"/>
          </a:p>
          <a:p>
            <a:pPr lvl="1">
              <a:buNone/>
            </a:pPr>
            <a:endParaRPr lang="zh-CN" altLang="en-US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41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12568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5.21】</a:t>
            </a:r>
            <a:r>
              <a:rPr lang="zh-CN" altLang="en-US" dirty="0">
                <a:solidFill>
                  <a:srgbClr val="C00000"/>
                </a:solidFill>
              </a:rPr>
              <a:t>反序输出：从键盘输入</a:t>
            </a:r>
            <a:r>
              <a:rPr lang="en-US" altLang="zh-CN" dirty="0">
                <a:solidFill>
                  <a:srgbClr val="C00000"/>
                </a:solidFill>
              </a:rPr>
              <a:t>10 </a:t>
            </a:r>
            <a:r>
              <a:rPr lang="zh-CN" altLang="en-US" dirty="0">
                <a:solidFill>
                  <a:srgbClr val="C00000"/>
                </a:solidFill>
              </a:rPr>
              <a:t>个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型数，而后按输入的相反顺序输出它们。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例如：输入：</a:t>
            </a:r>
            <a:r>
              <a:rPr lang="en-US" altLang="zh-CN" dirty="0"/>
              <a:t>1 2 3 4 5 6 7 8 9 10 </a:t>
            </a:r>
          </a:p>
          <a:p>
            <a:pPr lvl="1">
              <a:buNone/>
            </a:pPr>
            <a:r>
              <a:rPr lang="en-US" altLang="zh-CN" dirty="0"/>
              <a:t>	        </a:t>
            </a:r>
            <a:r>
              <a:rPr lang="zh-CN" altLang="en-US" sz="2800" dirty="0"/>
              <a:t>输出：</a:t>
            </a:r>
            <a:r>
              <a:rPr lang="en-US" altLang="zh-CN" sz="2800" dirty="0"/>
              <a:t>10 9 8 7 6 5 4 3 2 1</a:t>
            </a:r>
          </a:p>
          <a:p>
            <a:r>
              <a:rPr lang="zh-CN" altLang="en-US" dirty="0"/>
              <a:t>分析</a:t>
            </a:r>
            <a:endParaRPr lang="en-US" altLang="zh-CN" dirty="0"/>
          </a:p>
          <a:p>
            <a:pPr lvl="1"/>
            <a:r>
              <a:rPr lang="zh-CN" altLang="en-US" dirty="0"/>
              <a:t>递推过程</a:t>
            </a:r>
            <a:endParaRPr lang="en-US" altLang="zh-CN" dirty="0"/>
          </a:p>
          <a:p>
            <a:pPr lvl="2"/>
            <a:r>
              <a:rPr lang="zh-CN" altLang="en-US" dirty="0"/>
              <a:t>将输入的</a:t>
            </a:r>
            <a:r>
              <a:rPr lang="en-US" altLang="zh-CN" dirty="0"/>
              <a:t>10</a:t>
            </a:r>
            <a:r>
              <a:rPr lang="zh-CN" altLang="en-US" dirty="0"/>
              <a:t>个数，由第</a:t>
            </a:r>
            <a:r>
              <a:rPr lang="en-US" altLang="zh-CN" dirty="0"/>
              <a:t>10</a:t>
            </a:r>
            <a:r>
              <a:rPr lang="zh-CN" altLang="en-US" dirty="0"/>
              <a:t>个推到第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altLang="zh-CN" dirty="0"/>
          </a:p>
          <a:p>
            <a:pPr lvl="1"/>
            <a:r>
              <a:rPr lang="zh-CN" altLang="en-US" dirty="0"/>
              <a:t>回归过程</a:t>
            </a:r>
            <a:endParaRPr lang="en-US" altLang="zh-CN" dirty="0"/>
          </a:p>
          <a:p>
            <a:pPr lvl="2"/>
            <a:r>
              <a:rPr lang="zh-CN" altLang="en-US" dirty="0"/>
              <a:t>由第</a:t>
            </a:r>
            <a:r>
              <a:rPr lang="en-US" altLang="zh-CN" dirty="0"/>
              <a:t>1</a:t>
            </a:r>
            <a:r>
              <a:rPr lang="zh-CN" altLang="en-US" dirty="0"/>
              <a:t>个数开始输出</a:t>
            </a:r>
            <a:endParaRPr lang="en-US" altLang="zh-CN" dirty="0"/>
          </a:p>
          <a:p>
            <a:pPr lvl="1"/>
            <a:r>
              <a:rPr lang="zh-CN" altLang="en-US" dirty="0"/>
              <a:t>后项依赖于前项的“输出”，而不是像以前程序那样依赖前一项的值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81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5.13】</a:t>
            </a:r>
            <a:r>
              <a:rPr lang="zh-CN" altLang="en-US" dirty="0"/>
              <a:t>递归过程图示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8"/>
            <a:ext cx="8711703" cy="4452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4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3262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递归函数定义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inv(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n){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输入整数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(n==1)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The result: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inv(n-1);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输出整数，每次递归调用返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	  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回之后都要执行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89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3262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Input 10 integers: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inv(10);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99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3262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5.22】</a:t>
            </a:r>
            <a:r>
              <a:rPr lang="zh-CN" altLang="en-US" dirty="0">
                <a:solidFill>
                  <a:srgbClr val="C00000"/>
                </a:solidFill>
              </a:rPr>
              <a:t>反序输出一个正整数的各位数值，  如输入</a:t>
            </a:r>
            <a:r>
              <a:rPr lang="en-US" altLang="zh-CN" dirty="0">
                <a:solidFill>
                  <a:srgbClr val="C00000"/>
                </a:solidFill>
              </a:rPr>
              <a:t>231</a:t>
            </a:r>
            <a:r>
              <a:rPr lang="zh-CN" altLang="en-US" dirty="0">
                <a:solidFill>
                  <a:srgbClr val="C00000"/>
                </a:solidFill>
              </a:rPr>
              <a:t>，应输出</a:t>
            </a:r>
            <a:r>
              <a:rPr lang="en-US" altLang="zh-CN" dirty="0"/>
              <a:t>132</a:t>
            </a:r>
          </a:p>
          <a:p>
            <a:r>
              <a:rPr lang="zh-CN" altLang="en-US" dirty="0"/>
              <a:t>递归函数定义如下：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conv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n){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(n&lt;10)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&lt;&lt;n;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递归出口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	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&lt;&lt; n%10;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		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conve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(n/10);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递归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b="1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442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5.14】</a:t>
            </a:r>
            <a:r>
              <a:rPr lang="zh-CN" altLang="en-US" dirty="0"/>
              <a:t>递归过程图示</a:t>
            </a:r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870" y="1556792"/>
            <a:ext cx="8892286" cy="4524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732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2768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5.22】</a:t>
            </a:r>
            <a:r>
              <a:rPr lang="zh-CN" altLang="en-US" dirty="0"/>
              <a:t>用非递归函数实现</a:t>
            </a:r>
            <a:endParaRPr lang="en-US" altLang="zh-CN" dirty="0"/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conv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n){ 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(n&lt;0) 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Please input a positive number!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 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&lt;&lt; n%10;</a:t>
            </a:r>
            <a:br>
              <a:rPr lang="en-US" altLang="zh-CN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n=/10;</a:t>
            </a:r>
            <a:br>
              <a:rPr lang="en-US" altLang="zh-CN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(n!=0);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97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60615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t;</a:t>
            </a:r>
            <a:br>
              <a:rPr lang="en-US" altLang="zh-CN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Input a positive number: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altLang="zh-CN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&gt;&gt; t;</a:t>
            </a:r>
            <a:br>
              <a:rPr lang="en-US" altLang="zh-CN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altLang="zh-CN" sz="28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conv(t);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>
              <a:spcBef>
                <a:spcPts val="0"/>
              </a:spcBef>
              <a:buSzPct val="75000"/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828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04631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5.23】</a:t>
            </a:r>
            <a:r>
              <a:rPr lang="zh-CN" altLang="en-US" dirty="0">
                <a:solidFill>
                  <a:srgbClr val="C00000"/>
                </a:solidFill>
              </a:rPr>
              <a:t>古印度的著名智力测验问题：有三个立柱</a:t>
            </a:r>
            <a:r>
              <a:rPr lang="en-US" altLang="zh-CN" dirty="0">
                <a:solidFill>
                  <a:srgbClr val="C00000"/>
                </a:solidFill>
              </a:rPr>
              <a:t>A、B、C，</a:t>
            </a:r>
            <a:r>
              <a:rPr lang="zh-CN" altLang="en-US" dirty="0">
                <a:solidFill>
                  <a:srgbClr val="C00000"/>
                </a:solidFill>
              </a:rPr>
              <a:t>在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柱上穿有大小不等的圆盘64个，较大的圆盘在下，较小者在上。要求借助于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>
                <a:solidFill>
                  <a:srgbClr val="C00000"/>
                </a:solidFill>
              </a:rPr>
              <a:t>柱将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柱上的64个圆盘移到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柱，规则为：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/>
              <a:t>(1) 每次只能把一个柱上最上面的圆盘移至另一个柱的最上面;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(2) 每个柱上总保持较大的圆盘在下，较小者在上。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编制程序, 实现将任意</a:t>
            </a:r>
            <a:r>
              <a:rPr lang="en-US" altLang="zh-CN" dirty="0">
                <a:solidFill>
                  <a:srgbClr val="C00000"/>
                </a:solidFill>
              </a:rPr>
              <a:t>n</a:t>
            </a:r>
            <a:r>
              <a:rPr lang="zh-CN" altLang="en-US" dirty="0">
                <a:solidFill>
                  <a:srgbClr val="C00000"/>
                </a:solidFill>
              </a:rPr>
              <a:t>个圆盘从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柱借助于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>
                <a:solidFill>
                  <a:srgbClr val="C00000"/>
                </a:solidFill>
              </a:rPr>
              <a:t>柱移到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dirty="0">
                <a:solidFill>
                  <a:srgbClr val="C00000"/>
                </a:solidFill>
              </a:rPr>
              <a:t>柱, 并显示出全部移动过程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842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6512" y="788665"/>
            <a:ext cx="8640960" cy="5304631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5.23】</a:t>
            </a:r>
            <a:r>
              <a:rPr lang="zh-CN" altLang="en-US" dirty="0"/>
              <a:t>分析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总任务(圆盘数为</a:t>
            </a:r>
            <a:r>
              <a:rPr lang="en-US" altLang="zh-CN" dirty="0"/>
              <a:t>n</a:t>
            </a:r>
            <a:r>
              <a:rPr lang="zh-CN" altLang="en-US" dirty="0"/>
              <a:t>的任务)：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把</a:t>
            </a:r>
            <a:r>
              <a:rPr lang="en-US" altLang="zh-CN" dirty="0"/>
              <a:t>A</a:t>
            </a:r>
            <a:r>
              <a:rPr lang="zh-CN" altLang="en-US" dirty="0"/>
              <a:t>柱上的</a:t>
            </a:r>
            <a:r>
              <a:rPr lang="en-US" altLang="zh-CN" dirty="0"/>
              <a:t>n</a:t>
            </a:r>
            <a:r>
              <a:rPr lang="zh-CN" altLang="en-US" dirty="0"/>
              <a:t>个圆盘，借助于</a:t>
            </a:r>
            <a:r>
              <a:rPr lang="en-US" altLang="zh-CN" dirty="0"/>
              <a:t>B</a:t>
            </a:r>
            <a:r>
              <a:rPr lang="zh-CN" altLang="en-US" dirty="0"/>
              <a:t>柱，按规则移到</a:t>
            </a:r>
            <a:r>
              <a:rPr lang="en-US" altLang="zh-CN" dirty="0"/>
              <a:t>C</a:t>
            </a:r>
            <a:r>
              <a:rPr lang="zh-CN" altLang="en-US" dirty="0"/>
              <a:t>柱上</a:t>
            </a:r>
            <a:br>
              <a:rPr lang="en-US" altLang="zh-CN" dirty="0"/>
            </a:br>
            <a:r>
              <a:rPr lang="zh-CN" altLang="en-US" dirty="0"/>
              <a:t>(移动规则：一次移一片，大片不可压小片) 。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靠调用自定义函数</a:t>
            </a:r>
            <a:r>
              <a:rPr lang="en-US" altLang="zh-CN" dirty="0" err="1"/>
              <a:t>hanoi</a:t>
            </a:r>
            <a:r>
              <a:rPr lang="zh-CN" altLang="en-US" dirty="0"/>
              <a:t>来完成：</a:t>
            </a:r>
            <a:r>
              <a:rPr lang="en-US" altLang="zh-CN" dirty="0" err="1"/>
              <a:t>hanoi</a:t>
            </a:r>
            <a:r>
              <a:rPr lang="en-US" altLang="zh-CN" dirty="0"/>
              <a:t>(</a:t>
            </a:r>
            <a:r>
              <a:rPr lang="en-US" altLang="zh-CN" dirty="0" err="1"/>
              <a:t>n,'A','B','C</a:t>
            </a:r>
            <a:r>
              <a:rPr lang="en-US" altLang="zh-CN" dirty="0"/>
              <a:t>');</a:t>
            </a:r>
            <a:endParaRPr lang="zh-CN" altLang="en-US" dirty="0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214414" y="3462283"/>
            <a:ext cx="6896100" cy="2352675"/>
            <a:chOff x="1980" y="8460"/>
            <a:chExt cx="7920" cy="1747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980" y="8460"/>
              <a:ext cx="7920" cy="1560"/>
            </a:xfrm>
            <a:prstGeom prst="rect">
              <a:avLst/>
            </a:prstGeom>
            <a:solidFill>
              <a:srgbClr val="FFFF99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/>
              <a:endParaRPr lang="zh-CN" altLang="zh-CN" sz="1800">
                <a:solidFill>
                  <a:schemeClr val="tx1"/>
                </a:solidFill>
                <a:ea typeface="宋体" charset="-122"/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700" y="8616"/>
              <a:ext cx="6392" cy="1591"/>
              <a:chOff x="2651" y="2660"/>
              <a:chExt cx="6392" cy="1591"/>
            </a:xfrm>
          </p:grpSpPr>
          <p:grpSp>
            <p:nvGrpSpPr>
              <p:cNvPr id="9" name="Group 7"/>
              <p:cNvGrpSpPr>
                <a:grpSpLocks/>
              </p:cNvGrpSpPr>
              <p:nvPr/>
            </p:nvGrpSpPr>
            <p:grpSpPr bwMode="auto">
              <a:xfrm>
                <a:off x="2651" y="2688"/>
                <a:ext cx="1800" cy="1520"/>
                <a:chOff x="2651" y="2688"/>
                <a:chExt cx="1800" cy="1520"/>
              </a:xfrm>
            </p:grpSpPr>
            <p:sp>
              <p:nvSpPr>
                <p:cNvPr id="20" name="Rectangle 8"/>
                <p:cNvSpPr>
                  <a:spLocks noChangeArrowheads="1"/>
                </p:cNvSpPr>
                <p:nvPr/>
              </p:nvSpPr>
              <p:spPr bwMode="auto">
                <a:xfrm>
                  <a:off x="3019" y="3783"/>
                  <a:ext cx="1080" cy="425"/>
                </a:xfrm>
                <a:prstGeom prst="rect">
                  <a:avLst/>
                </a:prstGeom>
                <a:solidFill>
                  <a:srgbClr val="00FF00"/>
                </a:solidFill>
                <a:ln w="317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CN" sz="1800">
                      <a:ea typeface="宋体" charset="-122"/>
                    </a:rPr>
                    <a:t>A</a:t>
                  </a:r>
                  <a:r>
                    <a:rPr lang="zh-CN" altLang="en-US" sz="1800">
                      <a:ea typeface="宋体" charset="-122"/>
                    </a:rPr>
                    <a:t>柱</a:t>
                  </a:r>
                </a:p>
              </p:txBody>
            </p:sp>
            <p:grpSp>
              <p:nvGrpSpPr>
                <p:cNvPr id="21" name="Group 9"/>
                <p:cNvGrpSpPr>
                  <a:grpSpLocks/>
                </p:cNvGrpSpPr>
                <p:nvPr/>
              </p:nvGrpSpPr>
              <p:grpSpPr bwMode="auto">
                <a:xfrm>
                  <a:off x="2651" y="2688"/>
                  <a:ext cx="1800" cy="1092"/>
                  <a:chOff x="2880" y="2688"/>
                  <a:chExt cx="1800" cy="1092"/>
                </a:xfrm>
              </p:grpSpPr>
              <p:sp>
                <p:nvSpPr>
                  <p:cNvPr id="22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780" y="2688"/>
                    <a:ext cx="0" cy="1020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3780"/>
                    <a:ext cx="1800" cy="0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3060" y="3624"/>
                    <a:ext cx="1440" cy="156"/>
                  </a:xfrm>
                  <a:prstGeom prst="rect">
                    <a:avLst/>
                  </a:prstGeom>
                  <a:solidFill>
                    <a:srgbClr val="FF9900"/>
                  </a:solidFill>
                  <a:ln w="317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240" y="3468"/>
                    <a:ext cx="1080" cy="156"/>
                  </a:xfrm>
                  <a:prstGeom prst="rect">
                    <a:avLst/>
                  </a:prstGeom>
                  <a:solidFill>
                    <a:srgbClr val="FF9900"/>
                  </a:solidFill>
                  <a:ln w="317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420" y="3312"/>
                    <a:ext cx="720" cy="156"/>
                  </a:xfrm>
                  <a:prstGeom prst="rect">
                    <a:avLst/>
                  </a:prstGeom>
                  <a:solidFill>
                    <a:srgbClr val="FF9900"/>
                  </a:solidFill>
                  <a:ln w="317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" name="Group 15"/>
              <p:cNvGrpSpPr>
                <a:grpSpLocks/>
              </p:cNvGrpSpPr>
              <p:nvPr/>
            </p:nvGrpSpPr>
            <p:grpSpPr bwMode="auto">
              <a:xfrm>
                <a:off x="4919" y="2660"/>
                <a:ext cx="1800" cy="1591"/>
                <a:chOff x="4919" y="2660"/>
                <a:chExt cx="1800" cy="1591"/>
              </a:xfrm>
            </p:grpSpPr>
            <p:sp>
              <p:nvSpPr>
                <p:cNvPr id="16" name="Rectangle 16"/>
                <p:cNvSpPr>
                  <a:spLocks noChangeArrowheads="1"/>
                </p:cNvSpPr>
                <p:nvPr/>
              </p:nvSpPr>
              <p:spPr bwMode="auto">
                <a:xfrm>
                  <a:off x="5315" y="3783"/>
                  <a:ext cx="1080" cy="468"/>
                </a:xfrm>
                <a:prstGeom prst="rect">
                  <a:avLst/>
                </a:prstGeom>
                <a:solidFill>
                  <a:srgbClr val="00FF00"/>
                </a:solidFill>
                <a:ln w="317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CN" sz="1800">
                      <a:ea typeface="宋体" charset="-122"/>
                    </a:rPr>
                    <a:t>B</a:t>
                  </a:r>
                  <a:r>
                    <a:rPr lang="zh-CN" altLang="en-US" sz="1800">
                      <a:ea typeface="宋体" charset="-122"/>
                    </a:rPr>
                    <a:t>柱</a:t>
                  </a:r>
                </a:p>
              </p:txBody>
            </p:sp>
            <p:grpSp>
              <p:nvGrpSpPr>
                <p:cNvPr id="17" name="Group 17"/>
                <p:cNvGrpSpPr>
                  <a:grpSpLocks/>
                </p:cNvGrpSpPr>
                <p:nvPr/>
              </p:nvGrpSpPr>
              <p:grpSpPr bwMode="auto">
                <a:xfrm>
                  <a:off x="4919" y="2660"/>
                  <a:ext cx="1800" cy="1134"/>
                  <a:chOff x="5040" y="2660"/>
                  <a:chExt cx="1800" cy="1134"/>
                </a:xfrm>
              </p:grpSpPr>
              <p:sp>
                <p:nvSpPr>
                  <p:cNvPr id="1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5940" y="2660"/>
                    <a:ext cx="0" cy="1134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5040" y="3780"/>
                    <a:ext cx="1800" cy="0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" name="Group 20"/>
              <p:cNvGrpSpPr>
                <a:grpSpLocks/>
              </p:cNvGrpSpPr>
              <p:nvPr/>
            </p:nvGrpSpPr>
            <p:grpSpPr bwMode="auto">
              <a:xfrm>
                <a:off x="7243" y="2660"/>
                <a:ext cx="1800" cy="1591"/>
                <a:chOff x="7243" y="2660"/>
                <a:chExt cx="1800" cy="1591"/>
              </a:xfrm>
            </p:grpSpPr>
            <p:sp>
              <p:nvSpPr>
                <p:cNvPr id="12" name="Rectangle 21"/>
                <p:cNvSpPr>
                  <a:spLocks noChangeArrowheads="1"/>
                </p:cNvSpPr>
                <p:nvPr/>
              </p:nvSpPr>
              <p:spPr bwMode="auto">
                <a:xfrm>
                  <a:off x="7640" y="3783"/>
                  <a:ext cx="1080" cy="468"/>
                </a:xfrm>
                <a:prstGeom prst="rect">
                  <a:avLst/>
                </a:prstGeom>
                <a:solidFill>
                  <a:srgbClr val="00FF00"/>
                </a:solidFill>
                <a:ln w="317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altLang="zh-CN" sz="1800">
                      <a:ea typeface="宋体" charset="-122"/>
                    </a:rPr>
                    <a:t>C</a:t>
                  </a:r>
                  <a:r>
                    <a:rPr lang="zh-CN" altLang="en-US" sz="1800">
                      <a:ea typeface="宋体" charset="-122"/>
                    </a:rPr>
                    <a:t>柱</a:t>
                  </a:r>
                </a:p>
              </p:txBody>
            </p:sp>
            <p:grpSp>
              <p:nvGrpSpPr>
                <p:cNvPr id="13" name="Group 22"/>
                <p:cNvGrpSpPr>
                  <a:grpSpLocks/>
                </p:cNvGrpSpPr>
                <p:nvPr/>
              </p:nvGrpSpPr>
              <p:grpSpPr bwMode="auto">
                <a:xfrm>
                  <a:off x="7243" y="2660"/>
                  <a:ext cx="1800" cy="1134"/>
                  <a:chOff x="7200" y="2660"/>
                  <a:chExt cx="1800" cy="1134"/>
                </a:xfrm>
              </p:grpSpPr>
              <p:sp>
                <p:nvSpPr>
                  <p:cNvPr id="14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8100" y="2660"/>
                    <a:ext cx="0" cy="1134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7200" y="3780"/>
                    <a:ext cx="1800" cy="0"/>
                  </a:xfrm>
                  <a:prstGeom prst="line">
                    <a:avLst/>
                  </a:prstGeom>
                  <a:noFill/>
                  <a:ln w="317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27" name="矩形 26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28" name="矩形 2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29" name="矩形 2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30" name="矩形 2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31" name="矩形 3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32" name="矩形 3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33" name="矩形 3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" name="矩形 3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359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80528" y="1024281"/>
            <a:ext cx="9001000" cy="5501063"/>
          </a:xfrm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5.23】</a:t>
            </a:r>
            <a:r>
              <a:rPr lang="zh-CN" altLang="en-US" dirty="0"/>
              <a:t>分析</a:t>
            </a:r>
            <a:endParaRPr lang="en-US" altLang="zh-CN" dirty="0"/>
          </a:p>
          <a:p>
            <a:pPr lvl="1" algn="just">
              <a:lnSpc>
                <a:spcPct val="130000"/>
              </a:lnSpc>
              <a:spcBef>
                <a:spcPts val="0"/>
              </a:spcBef>
            </a:pPr>
            <a:r>
              <a:rPr lang="en-US" altLang="zh-CN" dirty="0"/>
              <a:t>A</a:t>
            </a:r>
            <a:r>
              <a:rPr lang="zh-CN" altLang="en-US" dirty="0"/>
              <a:t>柱只有一个盘子的情况： 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柱；</a:t>
            </a:r>
          </a:p>
          <a:p>
            <a:pPr lvl="1" algn="just">
              <a:lnSpc>
                <a:spcPct val="130000"/>
              </a:lnSpc>
              <a:spcBef>
                <a:spcPts val="0"/>
              </a:spcBef>
            </a:pPr>
            <a:r>
              <a:rPr lang="en-US" altLang="zh-CN" dirty="0"/>
              <a:t>A</a:t>
            </a:r>
            <a:r>
              <a:rPr lang="zh-CN" altLang="en-US" dirty="0"/>
              <a:t>柱有两个盘子的情况：</a:t>
            </a:r>
            <a:endParaRPr lang="en-US" altLang="zh-CN" dirty="0"/>
          </a:p>
          <a:p>
            <a:pPr lvl="2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小盘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B</a:t>
            </a:r>
            <a:r>
              <a:rPr lang="zh-CN" altLang="en-US" dirty="0"/>
              <a:t>柱，大盘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柱，小盘</a:t>
            </a:r>
            <a:r>
              <a:rPr lang="en-US" altLang="zh-CN" dirty="0"/>
              <a:t>B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柱。</a:t>
            </a:r>
          </a:p>
          <a:p>
            <a:pPr lvl="1" algn="just">
              <a:lnSpc>
                <a:spcPct val="130000"/>
              </a:lnSpc>
              <a:spcBef>
                <a:spcPts val="0"/>
              </a:spcBef>
            </a:pPr>
            <a:r>
              <a:rPr lang="en-US" altLang="zh-CN" dirty="0"/>
              <a:t>A</a:t>
            </a:r>
            <a:r>
              <a:rPr lang="zh-CN" altLang="en-US" dirty="0"/>
              <a:t>柱有</a:t>
            </a:r>
            <a:r>
              <a:rPr lang="en-US" altLang="zh-CN" dirty="0"/>
              <a:t>n</a:t>
            </a:r>
            <a:r>
              <a:rPr lang="zh-CN" altLang="en-US" dirty="0"/>
              <a:t>个盘子的情况：</a:t>
            </a:r>
            <a:endParaRPr lang="en-US" altLang="zh-CN" dirty="0"/>
          </a:p>
          <a:p>
            <a:pPr lvl="2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将此问题看成上面</a:t>
            </a:r>
            <a:r>
              <a:rPr lang="en-US" altLang="zh-CN" dirty="0"/>
              <a:t>n-1</a:t>
            </a:r>
            <a:r>
              <a:rPr lang="zh-CN" altLang="en-US" dirty="0"/>
              <a:t>个盘子和最下面第</a:t>
            </a:r>
            <a:r>
              <a:rPr lang="en-US" altLang="zh-CN" dirty="0"/>
              <a:t>n</a:t>
            </a:r>
            <a:r>
              <a:rPr lang="zh-CN" altLang="en-US" dirty="0"/>
              <a:t>个盘子的情况。</a:t>
            </a:r>
            <a:br>
              <a:rPr lang="en-US" altLang="zh-CN" dirty="0"/>
            </a:br>
            <a:r>
              <a:rPr lang="en-US" altLang="zh-CN" dirty="0"/>
              <a:t>n-1</a:t>
            </a:r>
            <a:r>
              <a:rPr lang="zh-CN" altLang="en-US" dirty="0"/>
              <a:t>个盘子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B</a:t>
            </a:r>
            <a:r>
              <a:rPr lang="zh-CN" altLang="en-US" dirty="0"/>
              <a:t>柱，第</a:t>
            </a:r>
            <a:r>
              <a:rPr lang="en-US" altLang="zh-CN" dirty="0"/>
              <a:t>n</a:t>
            </a:r>
            <a:r>
              <a:rPr lang="zh-CN" altLang="en-US" dirty="0"/>
              <a:t>个盘子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柱，</a:t>
            </a:r>
            <a:r>
              <a:rPr lang="en-US" altLang="zh-CN" dirty="0"/>
              <a:t>n-1</a:t>
            </a:r>
            <a:r>
              <a:rPr lang="zh-CN" altLang="en-US" dirty="0"/>
              <a:t>个盘子</a:t>
            </a:r>
            <a:r>
              <a:rPr lang="en-US" altLang="zh-CN" dirty="0"/>
              <a:t>B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柱。问题转化成搬动</a:t>
            </a:r>
            <a:r>
              <a:rPr lang="en-US" altLang="zh-CN" dirty="0"/>
              <a:t>n-1</a:t>
            </a:r>
            <a:r>
              <a:rPr lang="zh-CN" altLang="en-US" dirty="0"/>
              <a:t>个盘子的问题。</a:t>
            </a:r>
            <a:endParaRPr lang="en-US" altLang="zh-CN" dirty="0"/>
          </a:p>
          <a:p>
            <a:pPr lvl="2" algn="just"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同样，将</a:t>
            </a:r>
            <a:r>
              <a:rPr lang="en-US" altLang="zh-CN" dirty="0"/>
              <a:t>n-1</a:t>
            </a:r>
            <a:r>
              <a:rPr lang="zh-CN" altLang="en-US" dirty="0"/>
              <a:t>个盘子看成上面</a:t>
            </a:r>
            <a:r>
              <a:rPr lang="en-US" altLang="zh-CN" dirty="0"/>
              <a:t>n-2</a:t>
            </a:r>
            <a:r>
              <a:rPr lang="zh-CN" altLang="en-US" dirty="0"/>
              <a:t>个盘子和下面第</a:t>
            </a:r>
            <a:r>
              <a:rPr lang="en-US" altLang="zh-CN" dirty="0"/>
              <a:t>n-1</a:t>
            </a:r>
            <a:r>
              <a:rPr lang="zh-CN" altLang="en-US" dirty="0"/>
              <a:t>个盘子的情况，进一步转化为搬动</a:t>
            </a:r>
            <a:r>
              <a:rPr lang="en-US" altLang="zh-CN" dirty="0"/>
              <a:t>n-2</a:t>
            </a:r>
            <a:r>
              <a:rPr lang="zh-CN" altLang="en-US" dirty="0"/>
              <a:t>个盘子的问题，</a:t>
            </a:r>
            <a:r>
              <a:rPr lang="en-US" altLang="zh-CN" dirty="0"/>
              <a:t>……</a:t>
            </a:r>
            <a:r>
              <a:rPr lang="zh-CN" altLang="en-US" dirty="0"/>
              <a:t>，类推下去，一直到最后成为搬动一个盘子的问题。</a:t>
            </a:r>
            <a:endParaRPr lang="en-US" altLang="zh-CN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63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80528" y="908720"/>
            <a:ext cx="9217024" cy="553494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5.23】</a:t>
            </a:r>
            <a:r>
              <a:rPr lang="zh-CN" altLang="en-US" dirty="0"/>
              <a:t>分析</a:t>
            </a:r>
            <a:endParaRPr lang="en-US" altLang="zh-CN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/>
              <a:t>1.n-1</a:t>
            </a:r>
            <a:r>
              <a:rPr lang="zh-CN" altLang="en-US" dirty="0"/>
              <a:t>个盘子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B</a:t>
            </a:r>
            <a:r>
              <a:rPr lang="zh-CN" altLang="en-US" dirty="0"/>
              <a:t>柱，借助于</a:t>
            </a:r>
            <a:r>
              <a:rPr lang="en-US" altLang="zh-CN" dirty="0"/>
              <a:t>C</a:t>
            </a:r>
            <a:r>
              <a:rPr lang="zh-CN" altLang="en-US" dirty="0"/>
              <a:t>柱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/>
              <a:t>2.</a:t>
            </a:r>
            <a:r>
              <a:rPr lang="zh-CN" altLang="en-US" dirty="0"/>
              <a:t>第</a:t>
            </a:r>
            <a:r>
              <a:rPr lang="en-US" altLang="zh-CN" dirty="0"/>
              <a:t>n</a:t>
            </a:r>
            <a:r>
              <a:rPr lang="zh-CN" altLang="en-US" dirty="0"/>
              <a:t>个盘子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/>
              <a:t>3.n-1</a:t>
            </a:r>
            <a:r>
              <a:rPr lang="zh-CN" altLang="en-US" dirty="0"/>
              <a:t>个盘子</a:t>
            </a:r>
            <a:r>
              <a:rPr lang="en-US" altLang="zh-CN" dirty="0"/>
              <a:t>B</a:t>
            </a:r>
            <a:r>
              <a:rPr lang="zh-CN" altLang="en-US" dirty="0"/>
              <a:t>柱</a:t>
            </a:r>
            <a:r>
              <a:rPr lang="zh-CN" altLang="en-US" dirty="0">
                <a:sym typeface="Symbol" pitchFamily="18" charset="2"/>
              </a:rPr>
              <a:t></a:t>
            </a:r>
            <a:r>
              <a:rPr lang="en-US" altLang="zh-CN" dirty="0"/>
              <a:t>C</a:t>
            </a:r>
            <a:r>
              <a:rPr lang="zh-CN" altLang="en-US" dirty="0"/>
              <a:t>柱，借助于</a:t>
            </a:r>
            <a:r>
              <a:rPr lang="en-US" altLang="zh-CN" dirty="0"/>
              <a:t>A</a:t>
            </a:r>
            <a:r>
              <a:rPr lang="zh-CN" altLang="en-US" dirty="0"/>
              <a:t>柱</a:t>
            </a:r>
          </a:p>
          <a:p>
            <a:pPr marL="457200" lvl="1" indent="0">
              <a:lnSpc>
                <a:spcPct val="130000"/>
              </a:lnSpc>
              <a:buNone/>
            </a:pPr>
            <a:r>
              <a:rPr lang="zh-CN" altLang="en-US" dirty="0"/>
              <a:t>其中步骤</a:t>
            </a:r>
            <a:r>
              <a:rPr lang="en-US" altLang="zh-CN" dirty="0"/>
              <a:t>1</a:t>
            </a:r>
            <a:r>
              <a:rPr lang="zh-CN" altLang="en-US" dirty="0"/>
              <a:t>和步骤</a:t>
            </a:r>
            <a:r>
              <a:rPr lang="en-US" altLang="zh-CN" dirty="0"/>
              <a:t>3</a:t>
            </a:r>
            <a:r>
              <a:rPr lang="zh-CN" altLang="en-US" dirty="0"/>
              <a:t>继续递归下去，直至搬动一个盘子为止</a:t>
            </a:r>
            <a:endParaRPr lang="en-US" altLang="zh-CN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zh-CN" altLang="en-US" dirty="0"/>
              <a:t>定义两个函数：</a:t>
            </a:r>
            <a:endParaRPr lang="en-US" altLang="zh-CN" dirty="0"/>
          </a:p>
          <a:p>
            <a:pPr lvl="1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zh-CN" altLang="en-US" dirty="0"/>
              <a:t>递归函数</a:t>
            </a:r>
            <a:r>
              <a:rPr lang="en-US" altLang="zh-CN" dirty="0" err="1">
                <a:solidFill>
                  <a:srgbClr val="00B050"/>
                </a:solidFill>
              </a:rPr>
              <a:t>hanoi</a:t>
            </a:r>
            <a:r>
              <a:rPr lang="en-US" altLang="zh-CN" dirty="0">
                <a:solidFill>
                  <a:srgbClr val="00B050"/>
                </a:solidFill>
              </a:rPr>
              <a:t>(int n, char source, char temp, char target)</a:t>
            </a:r>
            <a:r>
              <a:rPr lang="zh-CN" altLang="en-US" dirty="0"/>
              <a:t>，实现将</a:t>
            </a:r>
            <a:r>
              <a:rPr lang="en-US" altLang="zh-CN" dirty="0"/>
              <a:t>n</a:t>
            </a:r>
            <a:r>
              <a:rPr lang="zh-CN" altLang="en-US" dirty="0"/>
              <a:t>个盘子从源柱</a:t>
            </a:r>
            <a:r>
              <a:rPr lang="en-US" altLang="zh-CN" dirty="0"/>
              <a:t>source</a:t>
            </a:r>
            <a:r>
              <a:rPr lang="zh-CN" altLang="en-US" dirty="0"/>
              <a:t>借助中间柱</a:t>
            </a:r>
            <a:r>
              <a:rPr lang="en-US" altLang="zh-CN" dirty="0"/>
              <a:t>temp</a:t>
            </a:r>
            <a:r>
              <a:rPr lang="zh-CN" altLang="en-US" dirty="0"/>
              <a:t>搬到目标柱</a:t>
            </a:r>
            <a:r>
              <a:rPr lang="en-US" altLang="zh-CN" dirty="0"/>
              <a:t>target</a:t>
            </a:r>
          </a:p>
          <a:p>
            <a:pPr lvl="1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altLang="zh-CN" dirty="0">
                <a:solidFill>
                  <a:srgbClr val="00B050"/>
                </a:solidFill>
              </a:rPr>
              <a:t>move(char source, char target)</a:t>
            </a:r>
            <a:r>
              <a:rPr lang="zh-CN" altLang="en-US" dirty="0"/>
              <a:t>，用来输出搬动一个盘子的提示信息。</a:t>
            </a: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1094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005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函数</a:t>
            </a:r>
            <a:r>
              <a:rPr lang="en-US" altLang="zh-CN" dirty="0"/>
              <a:t>move</a:t>
            </a:r>
            <a:r>
              <a:rPr lang="zh-CN" altLang="en-US" dirty="0"/>
              <a:t>的定义</a:t>
            </a:r>
            <a:endParaRPr lang="en-US" altLang="zh-CN" dirty="0"/>
          </a:p>
          <a:p>
            <a:pPr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 move(</a:t>
            </a: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source,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 target)</a:t>
            </a:r>
          </a:p>
          <a:p>
            <a:pPr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 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cout</a:t>
            </a: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&lt;&lt;source&lt;&lt;</a:t>
            </a: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"</a:t>
            </a: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=&gt;"&lt;&lt;target&lt;&lt;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endl</a:t>
            </a: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}</a:t>
            </a:r>
            <a:endParaRPr lang="en-US" altLang="zh-CN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87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507288" cy="52768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递归函数</a:t>
            </a:r>
            <a:r>
              <a:rPr lang="en-US" altLang="zh-CN" dirty="0" err="1"/>
              <a:t>hanoi</a:t>
            </a:r>
            <a:r>
              <a:rPr lang="zh-CN" altLang="en-US" dirty="0"/>
              <a:t>的定义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kumimoji="1"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0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hanoi</a:t>
            </a:r>
            <a:r>
              <a:rPr kumimoji="1" lang="en-US" altLang="zh-CN" sz="20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kumimoji="1"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0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n,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0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source,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0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temp,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0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000" b="1" dirty="0">
                <a:latin typeface="Courier New" pitchFamily="49" charset="0"/>
                <a:ea typeface="宋体" charset="-122"/>
                <a:cs typeface="Courier New" pitchFamily="49" charset="0"/>
              </a:rPr>
              <a:t>target){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4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if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(n==1)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		move(</a:t>
            </a:r>
            <a:r>
              <a:rPr kumimoji="1" lang="en-US" altLang="zh-CN" sz="24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source,target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4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else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	</a:t>
            </a:r>
            <a:r>
              <a:rPr kumimoji="1" lang="en-US" altLang="zh-CN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kumimoji="1" lang="zh-CN" altLang="en-US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将</a:t>
            </a:r>
            <a:r>
              <a:rPr kumimoji="1" lang="en-US" altLang="zh-CN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n-1</a:t>
            </a:r>
            <a:r>
              <a:rPr kumimoji="1" lang="zh-CN" altLang="en-US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个盘子搬到中间柱</a:t>
            </a:r>
            <a:endParaRPr kumimoji="1" lang="en-US" altLang="zh-CN" sz="2400" b="1" dirty="0">
              <a:solidFill>
                <a:schemeClr val="tx2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	</a:t>
            </a:r>
            <a:r>
              <a:rPr kumimoji="1" lang="en-US" altLang="zh-CN" sz="24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hanoi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(n-1,source,target,temp);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</a:t>
            </a:r>
            <a:r>
              <a:rPr kumimoji="1" lang="en-US" altLang="zh-CN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kumimoji="1" lang="zh-CN" altLang="en-US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将最后一个盘子搬到目标柱</a:t>
            </a:r>
          </a:p>
          <a:p>
            <a:pPr>
              <a:spcBef>
                <a:spcPts val="0"/>
              </a:spcBef>
              <a:buNone/>
            </a:pPr>
            <a:r>
              <a:rPr kumimoji="1" lang="zh-CN" altLang="en-US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kumimoji="1" lang="zh-CN" altLang="en-US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move(</a:t>
            </a:r>
            <a:r>
              <a:rPr kumimoji="1" lang="en-US" altLang="zh-CN" sz="24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source,target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); 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	</a:t>
            </a:r>
            <a:r>
              <a:rPr kumimoji="1" lang="en-US" altLang="zh-CN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kumimoji="1" lang="zh-CN" altLang="en-US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将</a:t>
            </a:r>
            <a:r>
              <a:rPr kumimoji="1" lang="en-US" altLang="zh-CN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n-1</a:t>
            </a:r>
            <a:r>
              <a:rPr kumimoji="1" lang="zh-CN" altLang="en-US" sz="24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个盘子搬到目标柱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zh-CN" altLang="en-US" sz="24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en-US" altLang="zh-CN" sz="24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hanoi</a:t>
            </a: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(n-1,temp,source,target);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	}		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19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153400" cy="544809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#include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&lt;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iostream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using namespace 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std;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kumimoji="1" lang="en-US" altLang="zh-CN" sz="28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move(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hanoi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kumimoji="1" lang="en-US" altLang="zh-CN" sz="2800" b="1" dirty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main(){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n;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cout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&lt;&lt;"</a:t>
            </a:r>
            <a:r>
              <a:rPr kumimoji="1" lang="zh-CN" altLang="en-US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输入盘子数：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"&lt;&lt;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endl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cin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&gt;&gt;n;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	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hanoi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28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n,'A','B','C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');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return </a:t>
            </a: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0;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  <a:endParaRPr lang="zh-CN" altLang="en-US" b="1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0733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362227" y="2724169"/>
            <a:ext cx="1800225" cy="2609850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(2,’A’,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’C’,’B’)</a:t>
            </a: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7132664" y="2317769"/>
            <a:ext cx="1225550" cy="287337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A </a:t>
            </a:r>
            <a:r>
              <a:rPr lang="en-US" altLang="zh-CN" sz="1800" b="1">
                <a:solidFill>
                  <a:srgbClr val="CC3300"/>
                </a:solidFill>
                <a:sym typeface="Symbol" pitchFamily="18" charset="2"/>
              </a:rPr>
              <a:t>→</a:t>
            </a:r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 C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382614" y="3624281"/>
            <a:ext cx="1530350" cy="547688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</a:t>
            </a:r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(3,’A’,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’B’,’C’)</a:t>
            </a:r>
            <a:r>
              <a:rPr lang="en-US" altLang="zh-CN" sz="1600" b="1" dirty="0">
                <a:solidFill>
                  <a:schemeClr val="tx1"/>
                </a:solidFill>
                <a:ea typeface="宋体" charset="-122"/>
              </a:rPr>
              <a:t>  </a:t>
            </a:r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V="1">
            <a:off x="4162452" y="4478356"/>
            <a:ext cx="404812" cy="15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 flipH="1">
            <a:off x="6457977" y="2543194"/>
            <a:ext cx="67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V="1">
            <a:off x="4162452" y="2273319"/>
            <a:ext cx="450850" cy="585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H="1" flipV="1">
            <a:off x="4162452" y="3308369"/>
            <a:ext cx="45085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V="1">
            <a:off x="1912964" y="2859106"/>
            <a:ext cx="449263" cy="900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 flipH="1" flipV="1">
            <a:off x="1912964" y="3983056"/>
            <a:ext cx="449263" cy="94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4613302" y="2182831"/>
            <a:ext cx="1844675" cy="1709738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(1,’A’,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’B’,’C’)</a:t>
            </a: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4567264" y="4387869"/>
            <a:ext cx="1844675" cy="1755775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(1,’B’,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’C’,’A’)</a:t>
            </a:r>
          </a:p>
          <a:p>
            <a:pPr algn="ctr"/>
            <a:endParaRPr lang="en-US" altLang="zh-CN" sz="1800" b="1" dirty="0">
              <a:solidFill>
                <a:srgbClr val="000000"/>
              </a:solidFill>
              <a:latin typeface="Tahoma" pitchFamily="34" charset="0"/>
              <a:ea typeface="幼圆" pitchFamily="49" charset="-122"/>
            </a:endParaRPr>
          </a:p>
        </p:txBody>
      </p:sp>
      <p:sp>
        <p:nvSpPr>
          <p:cNvPr id="17" name="Line 27"/>
          <p:cNvSpPr>
            <a:spLocks noChangeShapeType="1"/>
          </p:cNvSpPr>
          <p:nvPr/>
        </p:nvSpPr>
        <p:spPr bwMode="auto">
          <a:xfrm flipH="1" flipV="1">
            <a:off x="4162452" y="5243531"/>
            <a:ext cx="404812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18" name="Rectangle 28"/>
          <p:cNvSpPr>
            <a:spLocks noChangeArrowheads="1"/>
          </p:cNvSpPr>
          <p:nvPr/>
        </p:nvSpPr>
        <p:spPr bwMode="auto">
          <a:xfrm>
            <a:off x="7132664" y="3352819"/>
            <a:ext cx="1225550" cy="287337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C </a:t>
            </a:r>
            <a:r>
              <a:rPr lang="en-US" altLang="zh-CN" sz="1800" b="1">
                <a:solidFill>
                  <a:srgbClr val="CC3300"/>
                </a:solidFill>
              </a:rPr>
              <a:t>→ </a:t>
            </a:r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B</a:t>
            </a:r>
          </a:p>
        </p:txBody>
      </p:sp>
      <p:sp>
        <p:nvSpPr>
          <p:cNvPr id="19" name="Rectangle 29"/>
          <p:cNvSpPr>
            <a:spLocks noChangeArrowheads="1"/>
          </p:cNvSpPr>
          <p:nvPr/>
        </p:nvSpPr>
        <p:spPr bwMode="auto">
          <a:xfrm>
            <a:off x="7132664" y="4568844"/>
            <a:ext cx="1225550" cy="287337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B </a:t>
            </a:r>
            <a:r>
              <a:rPr lang="en-US" altLang="zh-CN" sz="1800" b="1">
                <a:solidFill>
                  <a:srgbClr val="CC3300"/>
                </a:solidFill>
                <a:sym typeface="Symbol" pitchFamily="18" charset="2"/>
              </a:rPr>
              <a:t>→</a:t>
            </a:r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 A</a:t>
            </a:r>
          </a:p>
        </p:txBody>
      </p:sp>
      <p:sp>
        <p:nvSpPr>
          <p:cNvPr id="20" name="Rectangle 30"/>
          <p:cNvSpPr>
            <a:spLocks noChangeArrowheads="1"/>
          </p:cNvSpPr>
          <p:nvPr/>
        </p:nvSpPr>
        <p:spPr bwMode="auto">
          <a:xfrm>
            <a:off x="7132664" y="5783281"/>
            <a:ext cx="1225550" cy="287338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A </a:t>
            </a:r>
            <a:r>
              <a:rPr lang="en-US" altLang="zh-CN" sz="1800" b="1">
                <a:solidFill>
                  <a:srgbClr val="CC3300"/>
                </a:solidFill>
                <a:sym typeface="Symbol" pitchFamily="18" charset="2"/>
              </a:rPr>
              <a:t>→</a:t>
            </a:r>
            <a:r>
              <a:rPr lang="en-US" altLang="zh-CN" sz="1800" b="1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 C</a:t>
            </a:r>
          </a:p>
        </p:txBody>
      </p:sp>
      <p:sp>
        <p:nvSpPr>
          <p:cNvPr id="21" name="Line 31"/>
          <p:cNvSpPr>
            <a:spLocks noChangeShapeType="1"/>
          </p:cNvSpPr>
          <p:nvPr/>
        </p:nvSpPr>
        <p:spPr bwMode="auto">
          <a:xfrm flipH="1">
            <a:off x="6457977" y="3578244"/>
            <a:ext cx="67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2" name="Line 32"/>
          <p:cNvSpPr>
            <a:spLocks noChangeShapeType="1"/>
          </p:cNvSpPr>
          <p:nvPr/>
        </p:nvSpPr>
        <p:spPr bwMode="auto">
          <a:xfrm>
            <a:off x="6457977" y="2363806"/>
            <a:ext cx="6762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3" name="Line 33"/>
          <p:cNvSpPr>
            <a:spLocks noChangeShapeType="1"/>
          </p:cNvSpPr>
          <p:nvPr/>
        </p:nvSpPr>
        <p:spPr bwMode="auto">
          <a:xfrm flipH="1">
            <a:off x="6413527" y="4792681"/>
            <a:ext cx="6746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4" name="Line 34"/>
          <p:cNvSpPr>
            <a:spLocks noChangeShapeType="1"/>
          </p:cNvSpPr>
          <p:nvPr/>
        </p:nvSpPr>
        <p:spPr bwMode="auto">
          <a:xfrm flipH="1">
            <a:off x="6413527" y="6008706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5" name="Line 35"/>
          <p:cNvSpPr>
            <a:spLocks noChangeShapeType="1"/>
          </p:cNvSpPr>
          <p:nvPr/>
        </p:nvSpPr>
        <p:spPr bwMode="auto">
          <a:xfrm>
            <a:off x="6457977" y="3398856"/>
            <a:ext cx="6762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6" name="Line 36"/>
          <p:cNvSpPr>
            <a:spLocks noChangeShapeType="1"/>
          </p:cNvSpPr>
          <p:nvPr/>
        </p:nvSpPr>
        <p:spPr bwMode="auto">
          <a:xfrm>
            <a:off x="6457977" y="4657744"/>
            <a:ext cx="6762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7" name="Line 37"/>
          <p:cNvSpPr>
            <a:spLocks noChangeShapeType="1"/>
          </p:cNvSpPr>
          <p:nvPr/>
        </p:nvSpPr>
        <p:spPr bwMode="auto">
          <a:xfrm>
            <a:off x="6413527" y="5827731"/>
            <a:ext cx="7207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 lIns="0" tIns="0" rIns="0" bIns="0"/>
          <a:lstStyle/>
          <a:p>
            <a:pPr algn="ctr"/>
            <a:endParaRPr lang="zh-CN" altLang="en-US" b="1"/>
          </a:p>
        </p:txBody>
      </p:sp>
      <p:sp>
        <p:nvSpPr>
          <p:cNvPr id="28" name="Rectangle 42"/>
          <p:cNvSpPr>
            <a:spLocks noChangeArrowheads="1"/>
          </p:cNvSpPr>
          <p:nvPr/>
        </p:nvSpPr>
        <p:spPr bwMode="auto">
          <a:xfrm>
            <a:off x="4746652" y="5199081"/>
            <a:ext cx="1530350" cy="854075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 dirty="0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B </a:t>
            </a:r>
            <a:r>
              <a:rPr lang="en-US" altLang="zh-CN" sz="1800" b="1" dirty="0">
                <a:solidFill>
                  <a:srgbClr val="CC3300"/>
                </a:solidFill>
                <a:sym typeface="Symbol" pitchFamily="18" charset="2"/>
              </a:rPr>
              <a:t>→</a:t>
            </a:r>
            <a:r>
              <a:rPr lang="en-US" altLang="zh-CN" sz="1800" b="1" dirty="0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 C</a:t>
            </a:r>
          </a:p>
          <a:p>
            <a:pPr algn="ctr"/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(1,’A’,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’B’,’C’)</a:t>
            </a:r>
          </a:p>
        </p:txBody>
      </p:sp>
      <p:sp>
        <p:nvSpPr>
          <p:cNvPr id="29" name="Rectangle 44"/>
          <p:cNvSpPr>
            <a:spLocks noChangeArrowheads="1"/>
          </p:cNvSpPr>
          <p:nvPr/>
        </p:nvSpPr>
        <p:spPr bwMode="auto">
          <a:xfrm>
            <a:off x="4792689" y="2903556"/>
            <a:ext cx="1530350" cy="900113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 dirty="0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A </a:t>
            </a:r>
            <a:r>
              <a:rPr lang="en-US" altLang="zh-CN" sz="1800" b="1" dirty="0">
                <a:solidFill>
                  <a:srgbClr val="CC3300"/>
                </a:solidFill>
                <a:sym typeface="Symbol" pitchFamily="18" charset="2"/>
              </a:rPr>
              <a:t>→ </a:t>
            </a:r>
            <a:r>
              <a:rPr lang="en-US" altLang="zh-CN" sz="1800" b="1" dirty="0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 B</a:t>
            </a:r>
          </a:p>
          <a:p>
            <a:pPr algn="ctr"/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(1,’C’,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’A’,’B’)</a:t>
            </a:r>
          </a:p>
        </p:txBody>
      </p:sp>
      <p:sp>
        <p:nvSpPr>
          <p:cNvPr id="30" name="Rectangle 46"/>
          <p:cNvSpPr>
            <a:spLocks noChangeArrowheads="1"/>
          </p:cNvSpPr>
          <p:nvPr/>
        </p:nvSpPr>
        <p:spPr bwMode="auto">
          <a:xfrm>
            <a:off x="2452714" y="4210069"/>
            <a:ext cx="1574800" cy="944562"/>
          </a:xfrm>
          <a:prstGeom prst="rect">
            <a:avLst/>
          </a:prstGeom>
          <a:solidFill>
            <a:srgbClr val="EDFAD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zh-CN" sz="1800" b="1" dirty="0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A </a:t>
            </a:r>
            <a:r>
              <a:rPr lang="en-US" altLang="zh-CN" sz="1800" b="1" dirty="0">
                <a:solidFill>
                  <a:srgbClr val="CC3300"/>
                </a:solidFill>
                <a:sym typeface="Symbol" pitchFamily="18" charset="2"/>
              </a:rPr>
              <a:t>→</a:t>
            </a:r>
            <a:r>
              <a:rPr lang="en-US" altLang="zh-CN" sz="1800" b="1" dirty="0">
                <a:solidFill>
                  <a:srgbClr val="CC3300"/>
                </a:solidFill>
                <a:latin typeface="Tahoma" pitchFamily="34" charset="0"/>
                <a:ea typeface="幼圆" pitchFamily="49" charset="-122"/>
              </a:rPr>
              <a:t> C</a:t>
            </a:r>
          </a:p>
          <a:p>
            <a:pPr algn="ctr"/>
            <a:r>
              <a:rPr lang="en-US" altLang="zh-CN" sz="1800" b="1" dirty="0" err="1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hanoi</a:t>
            </a:r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(2,’B’,</a:t>
            </a:r>
          </a:p>
          <a:p>
            <a:pPr algn="ctr"/>
            <a:r>
              <a:rPr lang="en-US" altLang="zh-CN" sz="1800" b="1" dirty="0">
                <a:solidFill>
                  <a:srgbClr val="000000"/>
                </a:solidFill>
                <a:latin typeface="Tahoma" pitchFamily="34" charset="0"/>
                <a:ea typeface="幼圆" pitchFamily="49" charset="-122"/>
              </a:rPr>
              <a:t>’A’,’C’)</a:t>
            </a:r>
          </a:p>
        </p:txBody>
      </p: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285720" y="1285860"/>
            <a:ext cx="3419475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+mn-ea"/>
                <a:ea typeface="+mn-ea"/>
              </a:rPr>
              <a:t>汉诺塔程序执行框图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输入盘子数：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2" name="矩形 3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33" name="矩形 3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34" name="矩形 33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35" name="矩形 34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36" name="矩形 35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37" name="矩形 36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38" name="矩形 37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9" name="矩形 38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38358" y="26479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48158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34158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633558" y="3562344"/>
            <a:ext cx="1439863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1303358" y="401954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947758" y="448944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3" name="矩形 12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387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1933596" y="266225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4143396" y="258605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6429396" y="258605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6132534" y="358935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>
            <a:off x="1222396" y="403385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942996" y="450375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0" name="矩形 9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21" name="矩形 2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22" name="矩形 2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23" name="矩形 2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矩形 2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4312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33596" y="26479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43396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29396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132534" y="357504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584596" y="401954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942996" y="448944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2" name="矩形 1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512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38358" y="26479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48158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34158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851296" y="357504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589358" y="401954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947758" y="448944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2" name="矩形 1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14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28794" y="26479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38594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24594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841732" y="357504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579794" y="401954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526069" y="448944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2" name="矩形 1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309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44666" y="26479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54466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40466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571604" y="357504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3595666" y="401954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541941" y="448944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2" name="矩形 1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8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44666" y="26479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54466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40466" y="257174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571604" y="357504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881666" y="401954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541941" y="448944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2" name="矩形 1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105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61964"/>
          </a:xfrm>
        </p:spPr>
        <p:txBody>
          <a:bodyPr/>
          <a:lstStyle/>
          <a:p>
            <a:r>
              <a:rPr lang="zh-CN" altLang="en-US" dirty="0"/>
              <a:t>移动次序</a:t>
            </a: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928794" y="266225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138594" y="258605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424594" y="2586054"/>
            <a:ext cx="838200" cy="2438400"/>
          </a:xfrm>
          <a:prstGeom prst="can">
            <a:avLst>
              <a:gd name="adj" fmla="val 727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203932" y="3589354"/>
            <a:ext cx="1439862" cy="2159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5865794" y="4033854"/>
            <a:ext cx="2159000" cy="252413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5526069" y="4503754"/>
            <a:ext cx="2879725" cy="287338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014558" y="5314944"/>
            <a:ext cx="54864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   A                                 B                                 C</a:t>
            </a:r>
          </a:p>
        </p:txBody>
      </p:sp>
      <p:sp>
        <p:nvSpPr>
          <p:cNvPr id="12" name="矩形 11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15" name="矩形 1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6" name="矩形 1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7" name="矩形 1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8" name="矩形 1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9" name="矩形 1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矩形 1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793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677246"/>
          </a:xfrm>
        </p:spPr>
        <p:txBody>
          <a:bodyPr/>
          <a:lstStyle/>
          <a:p>
            <a:r>
              <a:rPr lang="zh-CN" altLang="en-US" dirty="0"/>
              <a:t>快速排序算法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8429684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对冒泡排序的一种改进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latin typeface="+mj-ea"/>
                <a:ea typeface="+mj-ea"/>
              </a:rPr>
              <a:t>C. A. R. Hoare</a:t>
            </a:r>
            <a:r>
              <a:rPr lang="zh-CN" altLang="en-US" b="1" dirty="0">
                <a:latin typeface="+mj-ea"/>
                <a:ea typeface="+mj-ea"/>
              </a:rPr>
              <a:t>在</a:t>
            </a:r>
            <a:r>
              <a:rPr lang="en-US" altLang="zh-CN" b="1" dirty="0">
                <a:latin typeface="+mj-ea"/>
                <a:ea typeface="+mj-ea"/>
              </a:rPr>
              <a:t>1962</a:t>
            </a:r>
            <a:r>
              <a:rPr lang="zh-CN" altLang="en-US" b="1" dirty="0">
                <a:latin typeface="+mj-ea"/>
                <a:ea typeface="+mj-ea"/>
              </a:rPr>
              <a:t>年提出。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基本思想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通过一趟排序将要排序的数据分割成独立的两部分，其中一部分的所有数据都比另外一部分的所有数据都要小，然后再按此方法对这两部分数据分别进行快速排序，整个排序过程可以递归进行，以此达到整个数据变成有序序列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5133996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5.24】</a:t>
            </a:r>
            <a:r>
              <a:rPr lang="zh-CN" altLang="en-US" dirty="0">
                <a:solidFill>
                  <a:srgbClr val="C00000"/>
                </a:solidFill>
              </a:rPr>
              <a:t>递归程序实现排序。</a:t>
            </a:r>
            <a:endParaRPr lang="en-US" altLang="zh-CN" sz="28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Courier New" pitchFamily="49" charset="0"/>
                <a:cs typeface="Courier New" pitchFamily="49" charset="0"/>
              </a:rPr>
              <a:t>基本思想：</a:t>
            </a:r>
            <a:endParaRPr lang="en-US" altLang="zh-CN" sz="28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Courier New" pitchFamily="49" charset="0"/>
                <a:cs typeface="Courier New" pitchFamily="49" charset="0"/>
              </a:rPr>
              <a:t>枢值归位</a:t>
            </a:r>
            <a:endParaRPr lang="en-US" altLang="zh-CN" dirty="0">
              <a:latin typeface="Courier New" pitchFamily="49" charset="0"/>
              <a:cs typeface="Courier New" pitchFamily="49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Courier New" pitchFamily="49" charset="0"/>
                <a:cs typeface="Courier New" pitchFamily="49" charset="0"/>
              </a:rPr>
              <a:t>枢值是指在排序序列中指定的某个值，一般是排序序列的中间元素的值</a:t>
            </a:r>
            <a:endParaRPr lang="en-US" altLang="zh-CN" dirty="0">
              <a:latin typeface="Courier New" pitchFamily="49" charset="0"/>
              <a:cs typeface="Courier New" pitchFamily="49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Courier New" pitchFamily="49" charset="0"/>
                <a:cs typeface="Courier New" pitchFamily="49" charset="0"/>
              </a:rPr>
              <a:t>在排序过程中，可以多次指定枢值，并放到排序序列（或者子序列）的末尾位置（亦可以放在首位置）</a:t>
            </a:r>
            <a:endParaRPr lang="en-US" altLang="zh-CN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Courier New" pitchFamily="49" charset="0"/>
                <a:cs typeface="Courier New" pitchFamily="49" charset="0"/>
              </a:rPr>
              <a:t>二分有序</a:t>
            </a:r>
            <a:endParaRPr lang="en-US" altLang="zh-CN" dirty="0">
              <a:latin typeface="Courier New" pitchFamily="49" charset="0"/>
              <a:cs typeface="Courier New" pitchFamily="49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Courier New" pitchFamily="49" charset="0"/>
                <a:cs typeface="Courier New" pitchFamily="49" charset="0"/>
              </a:rPr>
              <a:t>将元素序列以枢值为界，分为左右两个部分，左边的值都小于枢值，而右边的值都大于枢值</a:t>
            </a:r>
            <a:endParaRPr lang="en-US" altLang="zh-CN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14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188640"/>
            <a:ext cx="81248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59558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6238"/>
            <a:ext cx="8003232" cy="5937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49239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5133996"/>
          </a:xfrm>
        </p:spPr>
        <p:txBody>
          <a:bodyPr/>
          <a:lstStyle/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cstdlib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ctime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n = 10;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swap 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&amp;,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&amp;);</a:t>
            </a:r>
          </a:p>
          <a:p>
            <a:pPr lvl="1">
              <a:spcBef>
                <a:spcPts val="0"/>
              </a:spcBef>
              <a:buNone/>
            </a:pPr>
            <a:r>
              <a:rPr lang="sv-SE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sv-SE" altLang="zh-CN" sz="2400" b="1" dirty="0">
                <a:latin typeface="Courier New" pitchFamily="49" charset="0"/>
                <a:cs typeface="Courier New" pitchFamily="49" charset="0"/>
              </a:rPr>
              <a:t> findpivot(</a:t>
            </a:r>
            <a:r>
              <a:rPr lang="sv-SE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sv-SE" altLang="zh-CN" sz="2400" b="1" dirty="0">
                <a:latin typeface="Courier New" pitchFamily="49" charset="0"/>
                <a:cs typeface="Courier New" pitchFamily="49" charset="0"/>
              </a:rPr>
              <a:t> [],</a:t>
            </a:r>
            <a:r>
              <a:rPr lang="sv-SE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sv-SE" altLang="zh-CN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sv-SE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sv-SE" altLang="zh-CN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spcBef>
                <a:spcPts val="0"/>
              </a:spcBef>
              <a:buNone/>
            </a:pPr>
            <a:r>
              <a:rPr lang="fr-FR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zh-CN" sz="2400" b="1" dirty="0">
                <a:latin typeface="Courier New" pitchFamily="49" charset="0"/>
                <a:cs typeface="Courier New" pitchFamily="49" charset="0"/>
              </a:rPr>
              <a:t> partition(</a:t>
            </a:r>
            <a:r>
              <a:rPr lang="fr-FR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zh-CN" sz="2400" b="1" dirty="0">
                <a:latin typeface="Courier New" pitchFamily="49" charset="0"/>
                <a:cs typeface="Courier New" pitchFamily="49" charset="0"/>
              </a:rPr>
              <a:t> [],</a:t>
            </a:r>
            <a:r>
              <a:rPr lang="fr-FR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zh-CN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fr-FR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zh-CN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fr-FR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altLang="zh-CN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quickSort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[],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);</a:t>
            </a:r>
            <a:endParaRPr lang="zh-CN" alt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6287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153400" cy="544809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b[n];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srand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unsigned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)time(NULL));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en-US" sz="2800" b="1" dirty="0">
                <a:latin typeface="Courier New" pitchFamily="49" charset="0"/>
                <a:cs typeface="Courier New" pitchFamily="49" charset="0"/>
              </a:rPr>
              <a:t>随机数：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++){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b[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] = rand()%100;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(5)&lt;&lt;b[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((i+1)%10==0)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quickSort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(b,0,n-1);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96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&lt;&lt;"</a:t>
            </a:r>
            <a:r>
              <a:rPr lang="zh-CN" altLang="en-US" sz="2800" b="1" dirty="0">
                <a:latin typeface="Courier New" pitchFamily="49" charset="0"/>
                <a:cs typeface="Courier New" pitchFamily="49" charset="0"/>
              </a:rPr>
              <a:t>排序后：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(5)&lt;&lt;b[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((i+1)%10==0)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  <a:p>
            <a:endParaRPr lang="zh-CN" altLang="en-US" b="1" dirty="0"/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9668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005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函数</a:t>
            </a:r>
            <a:r>
              <a:rPr lang="en-US" altLang="zh-CN" dirty="0"/>
              <a:t>swap</a:t>
            </a:r>
            <a:r>
              <a:rPr lang="zh-CN" altLang="en-US" dirty="0"/>
              <a:t>定义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swap 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&amp;x, 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&amp;y){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temp = x;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   y = temp;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3647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005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函数</a:t>
            </a:r>
            <a:r>
              <a:rPr lang="en-US" altLang="zh-CN" dirty="0" err="1"/>
              <a:t>findpivot</a:t>
            </a:r>
            <a:r>
              <a:rPr lang="zh-CN" altLang="en-US" dirty="0"/>
              <a:t>定义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findpivot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a[],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j)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  <a:r>
              <a:rPr lang="en-US" altLang="zh-CN" sz="2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将中间元素设置为枢值</a:t>
            </a:r>
            <a:endParaRPr lang="en-US" altLang="zh-CN" sz="2800" b="1" dirty="0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i+j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)/2;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877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579296" cy="55201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函数</a:t>
            </a:r>
            <a:r>
              <a:rPr lang="en-US" altLang="zh-CN" dirty="0"/>
              <a:t>partition</a:t>
            </a:r>
            <a:r>
              <a:rPr lang="zh-CN" altLang="en-US" dirty="0"/>
              <a:t>定义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partition(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a[],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l,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r,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pivot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zh-CN" sz="2400" b="1" dirty="0">
                <a:latin typeface="Courier New" pitchFamily="49" charset="0"/>
                <a:cs typeface="Courier New" pitchFamily="49" charset="0"/>
              </a:rPr>
            </a:br>
            <a:r>
              <a:rPr lang="en-US" altLang="zh-CN" sz="24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返回枢值的下标</a:t>
            </a:r>
            <a:endParaRPr lang="en-US" altLang="zh-CN" sz="2800" b="1" dirty="0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(a[++l]&lt;pivot);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(r&amp;&amp;a[--r]&gt;pivot);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swap(a[l],a[r]);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}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(l&lt;r);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swap(a[l],a[r]);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l;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8EEC95-1617-4433-9108-951EF8F55218}"/>
              </a:ext>
            </a:extLst>
          </p:cNvPr>
          <p:cNvSpPr/>
          <p:nvPr/>
        </p:nvSpPr>
        <p:spPr>
          <a:xfrm>
            <a:off x="3131840" y="2996952"/>
            <a:ext cx="66260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04B04C-CC90-413E-808A-14855B032DBF}"/>
              </a:ext>
            </a:extLst>
          </p:cNvPr>
          <p:cNvSpPr/>
          <p:nvPr/>
        </p:nvSpPr>
        <p:spPr>
          <a:xfrm>
            <a:off x="3812264" y="3429000"/>
            <a:ext cx="662607" cy="5040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2966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766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函数</a:t>
            </a:r>
            <a:r>
              <a:rPr lang="en-US" altLang="zh-CN" dirty="0" err="1"/>
              <a:t>quickSort</a:t>
            </a:r>
            <a:r>
              <a:rPr lang="zh-CN" altLang="en-US" dirty="0"/>
              <a:t>定义</a:t>
            </a:r>
            <a:endParaRPr lang="en-US" altLang="zh-CN" dirty="0"/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quickSort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a[],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j)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pivotindex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findpivot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a,i,j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swap(a[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pivotindex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],a[j]);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k = partition(a,i-1,j,a[j]);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swap(a[k],a[j]);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((k-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)&gt;1)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quickSort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(a,i,k-1);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((j-k)&gt;1)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latin typeface="Courier New" pitchFamily="49" charset="0"/>
                <a:cs typeface="Courier New" pitchFamily="49" charset="0"/>
              </a:rPr>
              <a:t>quickSort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(a,k+1,j);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A51958-D642-4A61-8CC8-AFAEFDDB1C44}"/>
              </a:ext>
            </a:extLst>
          </p:cNvPr>
          <p:cNvSpPr/>
          <p:nvPr/>
        </p:nvSpPr>
        <p:spPr>
          <a:xfrm>
            <a:off x="5148064" y="3212976"/>
            <a:ext cx="66260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64D33B-630A-4B0A-A43E-780918374530}"/>
              </a:ext>
            </a:extLst>
          </p:cNvPr>
          <p:cNvSpPr/>
          <p:nvPr/>
        </p:nvSpPr>
        <p:spPr>
          <a:xfrm>
            <a:off x="5940152" y="3212976"/>
            <a:ext cx="288032" cy="5040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hlinkClick r:id="rId2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11" name="矩形 10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12" name="矩形 11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13" name="矩形 12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矩形 13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1388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https://gss1.bdstatic.com/-vo3dSag_xI4khGkpoWK1HF6hhy/baike/c0%3Dbaike72%2C5%2C5%2C72%2C24/sign=e15a5286fbedab64607f4592965fc4a6/b7003af33a87e950707fdf2110385343fbf2b416.jp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6"/>
            <a:ext cx="6048672" cy="462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hlinkClick r:id="rId3" action="ppaction://hlinksldjump"/>
          </p:cNvPr>
          <p:cNvSpPr/>
          <p:nvPr/>
        </p:nvSpPr>
        <p:spPr>
          <a:xfrm>
            <a:off x="0" y="53975"/>
            <a:ext cx="2786063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函数的基本概念 □</a:t>
            </a:r>
          </a:p>
        </p:txBody>
      </p:sp>
      <p:sp>
        <p:nvSpPr>
          <p:cNvPr id="4" name="矩形 3">
            <a:hlinkClick r:id="" action="ppaction://noaction"/>
          </p:cNvPr>
          <p:cNvSpPr/>
          <p:nvPr/>
        </p:nvSpPr>
        <p:spPr>
          <a:xfrm>
            <a:off x="0" y="233363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函数的说明与使用 □</a:t>
            </a:r>
          </a:p>
        </p:txBody>
      </p:sp>
      <p:sp>
        <p:nvSpPr>
          <p:cNvPr id="5" name="矩形 4">
            <a:hlinkClick r:id="" action="ppaction://noaction"/>
          </p:cNvPr>
          <p:cNvSpPr/>
          <p:nvPr/>
        </p:nvSpPr>
        <p:spPr>
          <a:xfrm>
            <a:off x="0" y="414338"/>
            <a:ext cx="2786063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函数的参数传递 □</a:t>
            </a:r>
          </a:p>
        </p:txBody>
      </p:sp>
      <p:sp>
        <p:nvSpPr>
          <p:cNvPr id="6" name="矩形 5">
            <a:hlinkClick r:id="" action="ppaction://noaction"/>
          </p:cNvPr>
          <p:cNvSpPr/>
          <p:nvPr/>
        </p:nvSpPr>
        <p:spPr>
          <a:xfrm>
            <a:off x="0" y="593725"/>
            <a:ext cx="2786063" cy="180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函数的嵌套与递归 ■</a:t>
            </a:r>
          </a:p>
        </p:txBody>
      </p:sp>
      <p:sp>
        <p:nvSpPr>
          <p:cNvPr id="7" name="矩形 6">
            <a:hlinkClick r:id="" action="ppaction://noaction"/>
          </p:cNvPr>
          <p:cNvSpPr/>
          <p:nvPr/>
        </p:nvSpPr>
        <p:spPr>
          <a:xfrm>
            <a:off x="2786063" y="53975"/>
            <a:ext cx="5500687" cy="179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□ 函数的嵌套调用</a:t>
            </a:r>
          </a:p>
        </p:txBody>
      </p:sp>
      <p:sp>
        <p:nvSpPr>
          <p:cNvPr id="8" name="矩形 7">
            <a:hlinkClick r:id="" action="ppaction://noaction"/>
          </p:cNvPr>
          <p:cNvSpPr/>
          <p:nvPr/>
        </p:nvSpPr>
        <p:spPr>
          <a:xfrm>
            <a:off x="2786063" y="233363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200" b="1" dirty="0">
                <a:solidFill>
                  <a:srgbClr val="820064"/>
                </a:solidFill>
                <a:latin typeface="Courier New" pitchFamily="49" charset="0"/>
                <a:cs typeface="Courier New" pitchFamily="49" charset="0"/>
              </a:rPr>
              <a:t>■ 函数的递归调用</a:t>
            </a:r>
          </a:p>
        </p:txBody>
      </p:sp>
      <p:sp>
        <p:nvSpPr>
          <p:cNvPr id="9" name="矩形 8">
            <a:hlinkClick r:id="" action="ppaction://noaction"/>
          </p:cNvPr>
          <p:cNvSpPr/>
          <p:nvPr/>
        </p:nvSpPr>
        <p:spPr>
          <a:xfrm>
            <a:off x="2786063" y="414338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矩形 9">
            <a:hlinkClick r:id="" action="ppaction://noaction"/>
          </p:cNvPr>
          <p:cNvSpPr/>
          <p:nvPr/>
        </p:nvSpPr>
        <p:spPr>
          <a:xfrm>
            <a:off x="2786400" y="594000"/>
            <a:ext cx="5500687" cy="179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200" b="1" dirty="0">
              <a:solidFill>
                <a:srgbClr val="820064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76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880068"/>
      </a:dk2>
      <a:lt2>
        <a:srgbClr val="F4E7ED"/>
      </a:lt2>
      <a:accent1>
        <a:srgbClr val="8800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880068"/>
      </a:hlink>
      <a:folHlink>
        <a:srgbClr val="B83D68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5512</Words>
  <Application>Microsoft Office PowerPoint</Application>
  <PresentationFormat>全屏显示(4:3)</PresentationFormat>
  <Paragraphs>778</Paragraphs>
  <Slides>68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8" baseType="lpstr">
      <vt:lpstr>黑体</vt:lpstr>
      <vt:lpstr>宋体</vt:lpstr>
      <vt:lpstr>幼圆</vt:lpstr>
      <vt:lpstr>Arial</vt:lpstr>
      <vt:lpstr>Calibri</vt:lpstr>
      <vt:lpstr>Courier New</vt:lpstr>
      <vt:lpstr>Symbol</vt:lpstr>
      <vt:lpstr>Tahoma</vt:lpstr>
      <vt:lpstr>Wingdings</vt:lpstr>
      <vt:lpstr>Office 主题</vt:lpstr>
      <vt:lpstr>PowerPoint 演示文稿</vt:lpstr>
      <vt:lpstr>函数的嵌套调用</vt:lpstr>
      <vt:lpstr>函数的嵌套调用</vt:lpstr>
      <vt:lpstr>函数的嵌套调用</vt:lpstr>
      <vt:lpstr>函数的嵌套调用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函数嵌套调用过程中的栈结构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函数的递归调用</vt:lpstr>
      <vt:lpstr>函数的递归调用</vt:lpstr>
      <vt:lpstr>函数的递归调用</vt:lpstr>
      <vt:lpstr>函数的递归调用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快速排序算法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2009-05-27T07:01:46Z</dcterms:created>
  <dcterms:modified xsi:type="dcterms:W3CDTF">2020-12-06T03:14:34Z</dcterms:modified>
</cp:coreProperties>
</file>